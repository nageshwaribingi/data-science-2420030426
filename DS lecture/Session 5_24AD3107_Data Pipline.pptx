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39"/>
  </p:notesMasterIdLst>
  <p:sldIdLst>
    <p:sldId id="256" r:id="rId2"/>
    <p:sldId id="300" r:id="rId3"/>
    <p:sldId id="363" r:id="rId4"/>
    <p:sldId id="382" r:id="rId5"/>
    <p:sldId id="364" r:id="rId6"/>
    <p:sldId id="377" r:id="rId7"/>
    <p:sldId id="378" r:id="rId8"/>
    <p:sldId id="365" r:id="rId9"/>
    <p:sldId id="379" r:id="rId10"/>
    <p:sldId id="366" r:id="rId11"/>
    <p:sldId id="367" r:id="rId12"/>
    <p:sldId id="375" r:id="rId13"/>
    <p:sldId id="374" r:id="rId14"/>
    <p:sldId id="383" r:id="rId15"/>
    <p:sldId id="384" r:id="rId16"/>
    <p:sldId id="385" r:id="rId17"/>
    <p:sldId id="386" r:id="rId18"/>
    <p:sldId id="387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395" r:id="rId27"/>
    <p:sldId id="396" r:id="rId28"/>
    <p:sldId id="397" r:id="rId29"/>
    <p:sldId id="398" r:id="rId30"/>
    <p:sldId id="399" r:id="rId31"/>
    <p:sldId id="400" r:id="rId32"/>
    <p:sldId id="401" r:id="rId33"/>
    <p:sldId id="402" r:id="rId34"/>
    <p:sldId id="403" r:id="rId35"/>
    <p:sldId id="404" r:id="rId36"/>
    <p:sldId id="405" r:id="rId37"/>
    <p:sldId id="304" r:id="rId38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595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7C990-AAAF-4074-A8C9-4B293FE2C43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B170A-ACE9-4F2D-9C96-321FF0FE2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9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 smtClean="0"/>
              <a:t>1. Logical / Conceptual Architecture (Top Part of the Diagram)</a:t>
            </a:r>
          </a:p>
          <a:p>
            <a:r>
              <a:rPr lang="en-IN" dirty="0" smtClean="0"/>
              <a:t>This shows </a:t>
            </a:r>
            <a:r>
              <a:rPr lang="en-IN" b="1" dirty="0" smtClean="0"/>
              <a:t>how data flows conceptually</a:t>
            </a:r>
            <a:r>
              <a:rPr lang="en-IN" dirty="0" smtClean="0"/>
              <a:t> through different stages:</a:t>
            </a:r>
          </a:p>
          <a:p>
            <a:r>
              <a:rPr lang="en-IN" b="1" dirty="0" smtClean="0"/>
              <a:t>Data Sources</a:t>
            </a:r>
            <a:endParaRPr lang="en-IN" dirty="0" smtClean="0"/>
          </a:p>
          <a:p>
            <a:pPr lvl="1"/>
            <a:r>
              <a:rPr lang="en-IN" b="1" dirty="0" smtClean="0"/>
              <a:t>Relational data stores</a:t>
            </a:r>
            <a:r>
              <a:rPr lang="en-IN" dirty="0" smtClean="0"/>
              <a:t> → databases (like MySQL, </a:t>
            </a:r>
            <a:r>
              <a:rPr lang="en-IN" dirty="0" err="1" smtClean="0"/>
              <a:t>PostgreSQL</a:t>
            </a:r>
            <a:r>
              <a:rPr lang="en-IN" dirty="0" smtClean="0"/>
              <a:t>).</a:t>
            </a:r>
          </a:p>
          <a:p>
            <a:pPr lvl="1"/>
            <a:r>
              <a:rPr lang="en-IN" b="1" dirty="0" smtClean="0"/>
              <a:t>Data streams</a:t>
            </a:r>
            <a:r>
              <a:rPr lang="en-IN" dirty="0" smtClean="0"/>
              <a:t> → real-time event data (e.g., IoT sensors, logs, Kafka streams).</a:t>
            </a:r>
          </a:p>
          <a:p>
            <a:r>
              <a:rPr lang="en-IN" b="1" dirty="0" smtClean="0"/>
              <a:t>Staging and Historical Storage</a:t>
            </a:r>
            <a:endParaRPr lang="en-IN" dirty="0" smtClean="0"/>
          </a:p>
          <a:p>
            <a:pPr lvl="1"/>
            <a:r>
              <a:rPr lang="en-IN" b="1" dirty="0" smtClean="0"/>
              <a:t>Data Lake</a:t>
            </a:r>
            <a:r>
              <a:rPr lang="en-IN" dirty="0" smtClean="0"/>
              <a:t> → centralized storage for raw, semi-structured, and structured data.</a:t>
            </a:r>
          </a:p>
          <a:p>
            <a:pPr lvl="1"/>
            <a:r>
              <a:rPr lang="en-IN" b="1" dirty="0" smtClean="0"/>
              <a:t>Data </a:t>
            </a:r>
            <a:r>
              <a:rPr lang="en-IN" b="1" dirty="0" err="1" smtClean="0"/>
              <a:t>Catalog</a:t>
            </a:r>
            <a:r>
              <a:rPr lang="en-IN" dirty="0" smtClean="0"/>
              <a:t> → metadata system to keep track of what data exists and where.</a:t>
            </a:r>
          </a:p>
          <a:p>
            <a:r>
              <a:rPr lang="en-IN" b="1" dirty="0" smtClean="0"/>
              <a:t>Data Preparation</a:t>
            </a:r>
            <a:endParaRPr lang="en-IN" dirty="0" smtClean="0"/>
          </a:p>
          <a:p>
            <a:pPr lvl="1"/>
            <a:r>
              <a:rPr lang="en-IN" b="1" dirty="0" smtClean="0"/>
              <a:t>ETL (Extract, Transform, Load)</a:t>
            </a:r>
            <a:r>
              <a:rPr lang="en-IN" dirty="0" smtClean="0"/>
              <a:t> → processes raw data into structured/clean data.</a:t>
            </a:r>
          </a:p>
          <a:p>
            <a:pPr lvl="1"/>
            <a:r>
              <a:rPr lang="en-IN" b="1" dirty="0" smtClean="0"/>
              <a:t>Partitioned data on object store</a:t>
            </a:r>
            <a:r>
              <a:rPr lang="en-IN" dirty="0" smtClean="0"/>
              <a:t> → optimized storage format (like Parquet, ORC).</a:t>
            </a:r>
          </a:p>
          <a:p>
            <a:r>
              <a:rPr lang="en-IN" b="1" dirty="0" smtClean="0"/>
              <a:t>Analytics and Machine Learning (ML)</a:t>
            </a:r>
            <a:endParaRPr lang="en-IN" dirty="0" smtClean="0"/>
          </a:p>
          <a:p>
            <a:pPr lvl="1"/>
            <a:r>
              <a:rPr lang="en-IN" b="1" dirty="0" smtClean="0"/>
              <a:t>Cloud database</a:t>
            </a:r>
            <a:r>
              <a:rPr lang="en-IN" dirty="0" smtClean="0"/>
              <a:t> → processed/structured data stored for analysis.</a:t>
            </a:r>
          </a:p>
          <a:p>
            <a:pPr lvl="1"/>
            <a:r>
              <a:rPr lang="en-IN" b="1" dirty="0" smtClean="0"/>
              <a:t>Query engines</a:t>
            </a:r>
            <a:r>
              <a:rPr lang="en-IN" dirty="0" smtClean="0"/>
              <a:t> → tools to </a:t>
            </a:r>
            <a:r>
              <a:rPr lang="en-IN" dirty="0" err="1" smtClean="0"/>
              <a:t>analyze</a:t>
            </a:r>
            <a:r>
              <a:rPr lang="en-IN" dirty="0" smtClean="0"/>
              <a:t>/query large datasets (like SQL engines, ML platforms).</a:t>
            </a:r>
          </a:p>
          <a:p>
            <a:r>
              <a:rPr lang="en-IN" dirty="0" smtClean="0"/>
              <a:t>🔑 This part is </a:t>
            </a:r>
            <a:r>
              <a:rPr lang="en-IN" b="1" dirty="0" smtClean="0"/>
              <a:t>technology-independent</a:t>
            </a:r>
            <a:r>
              <a:rPr lang="en-IN" dirty="0" smtClean="0"/>
              <a:t> and explains the logical flow.</a:t>
            </a:r>
          </a:p>
          <a:p>
            <a:r>
              <a:rPr lang="en-IN" b="1" dirty="0" smtClean="0"/>
              <a:t>2. Platform Architecture (Bottom Part of the Diagram)</a:t>
            </a:r>
          </a:p>
          <a:p>
            <a:r>
              <a:rPr lang="en-IN" dirty="0" smtClean="0"/>
              <a:t>This shows the </a:t>
            </a:r>
            <a:r>
              <a:rPr lang="en-IN" b="1" dirty="0" smtClean="0"/>
              <a:t>practical implementation</a:t>
            </a:r>
            <a:r>
              <a:rPr lang="en-IN" dirty="0" smtClean="0"/>
              <a:t> of the logical pipeline using real tools:</a:t>
            </a:r>
          </a:p>
          <a:p>
            <a:r>
              <a:rPr lang="en-IN" b="1" dirty="0" smtClean="0"/>
              <a:t>Data Sources (server logs)</a:t>
            </a:r>
            <a:endParaRPr lang="en-IN" dirty="0" smtClean="0"/>
          </a:p>
          <a:p>
            <a:pPr lvl="1"/>
            <a:r>
              <a:rPr lang="en-IN" dirty="0" smtClean="0"/>
              <a:t>Logs from servers, applications, APIs, etc.</a:t>
            </a:r>
          </a:p>
          <a:p>
            <a:r>
              <a:rPr lang="en-IN" b="1" dirty="0" smtClean="0"/>
              <a:t>Event Processing</a:t>
            </a:r>
            <a:endParaRPr lang="en-IN" dirty="0" smtClean="0"/>
          </a:p>
          <a:p>
            <a:pPr lvl="1"/>
            <a:r>
              <a:rPr lang="en-IN" b="1" dirty="0" smtClean="0"/>
              <a:t>Amazon Kinesis</a:t>
            </a:r>
            <a:r>
              <a:rPr lang="en-IN" dirty="0" smtClean="0"/>
              <a:t> → streaming service to collect, process, and </a:t>
            </a:r>
            <a:r>
              <a:rPr lang="en-IN" dirty="0" err="1" smtClean="0"/>
              <a:t>analyze</a:t>
            </a:r>
            <a:r>
              <a:rPr lang="en-IN" dirty="0" smtClean="0"/>
              <a:t> real-time data.</a:t>
            </a:r>
          </a:p>
          <a:p>
            <a:r>
              <a:rPr lang="en-IN" b="1" dirty="0" smtClean="0"/>
              <a:t>ETL + Storage</a:t>
            </a:r>
            <a:endParaRPr lang="en-IN" dirty="0" smtClean="0"/>
          </a:p>
          <a:p>
            <a:pPr lvl="1"/>
            <a:r>
              <a:rPr lang="en-IN" b="1" dirty="0" smtClean="0"/>
              <a:t>ETL service (symbol </a:t>
            </a:r>
            <a:r>
              <a:rPr lang="el-GR" b="1" dirty="0" smtClean="0"/>
              <a:t>φ)</a:t>
            </a:r>
            <a:r>
              <a:rPr lang="el-GR" dirty="0" smtClean="0"/>
              <a:t> → </a:t>
            </a:r>
            <a:r>
              <a:rPr lang="en-IN" dirty="0" smtClean="0"/>
              <a:t>transformation service (could be AWS Glue, Spark, or custom code).</a:t>
            </a:r>
          </a:p>
          <a:p>
            <a:pPr lvl="1"/>
            <a:r>
              <a:rPr lang="en-IN" b="1" dirty="0" smtClean="0"/>
              <a:t>Amazon S3</a:t>
            </a:r>
            <a:r>
              <a:rPr lang="en-IN" dirty="0" smtClean="0"/>
              <a:t> → object storage where raw + transformed data is stored.</a:t>
            </a:r>
          </a:p>
          <a:p>
            <a:r>
              <a:rPr lang="en-IN" b="1" dirty="0" smtClean="0"/>
              <a:t>Querying</a:t>
            </a:r>
            <a:endParaRPr lang="en-IN" dirty="0" smtClean="0"/>
          </a:p>
          <a:p>
            <a:pPr lvl="1"/>
            <a:r>
              <a:rPr lang="en-IN" b="1" dirty="0" smtClean="0"/>
              <a:t>Amazon Athena</a:t>
            </a:r>
            <a:r>
              <a:rPr lang="en-IN" dirty="0" smtClean="0"/>
              <a:t> → interactive SQL query engine that works directly with S3 data.</a:t>
            </a:r>
          </a:p>
          <a:p>
            <a:r>
              <a:rPr lang="en-IN" b="1" dirty="0" smtClean="0"/>
              <a:t>BI and Analytics</a:t>
            </a:r>
            <a:endParaRPr lang="en-IN" dirty="0" smtClean="0"/>
          </a:p>
          <a:p>
            <a:pPr lvl="1"/>
            <a:r>
              <a:rPr lang="en-IN" b="1" dirty="0" smtClean="0"/>
              <a:t>Looker</a:t>
            </a:r>
            <a:r>
              <a:rPr lang="en-IN" dirty="0" smtClean="0"/>
              <a:t> → business intelligence tool for dashboards, analytics, and reporting.</a:t>
            </a:r>
          </a:p>
          <a:p>
            <a:r>
              <a:rPr lang="en-IN" dirty="0" smtClean="0"/>
              <a:t>🔑 This part is </a:t>
            </a:r>
            <a:r>
              <a:rPr lang="en-IN" b="1" dirty="0" smtClean="0"/>
              <a:t>technology-specific</a:t>
            </a:r>
            <a:r>
              <a:rPr lang="en-IN" dirty="0" smtClean="0"/>
              <a:t> and shows how the conceptual design is implemented on AWS cloud.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EB170A-ACE9-4F2D-9C96-321FF0FE229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197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Left Side: Data Source</a:t>
            </a:r>
          </a:p>
          <a:p>
            <a:r>
              <a:rPr lang="en-US" b="1" dirty="0" smtClean="0"/>
              <a:t>Mobile App Logs</a:t>
            </a:r>
            <a:endParaRPr lang="en-US" dirty="0" smtClean="0"/>
          </a:p>
          <a:p>
            <a:pPr lvl="1"/>
            <a:r>
              <a:rPr lang="en-US" dirty="0" smtClean="0"/>
              <a:t>These are raw data generated by users when they interact with a mobile app.</a:t>
            </a:r>
          </a:p>
          <a:p>
            <a:pPr lvl="1"/>
            <a:r>
              <a:rPr lang="en-US" dirty="0" smtClean="0"/>
              <a:t>Examples: login attempts, clicks, purchases, crashes, navigation, etc.</a:t>
            </a:r>
          </a:p>
          <a:p>
            <a:r>
              <a:rPr lang="en-US" b="1" dirty="0" smtClean="0"/>
              <a:t>🔹 Middle: Data Pipeline Architecture</a:t>
            </a:r>
          </a:p>
          <a:p>
            <a:r>
              <a:rPr lang="en-US" b="1" dirty="0" smtClean="0"/>
              <a:t>Data Ingestion</a:t>
            </a:r>
            <a:endParaRPr lang="en-US" dirty="0" smtClean="0"/>
          </a:p>
          <a:p>
            <a:pPr lvl="1"/>
            <a:r>
              <a:rPr lang="en-US" dirty="0" smtClean="0"/>
              <a:t>Data from mobile apps is collected into the pipeline.</a:t>
            </a:r>
          </a:p>
          <a:p>
            <a:pPr lvl="1"/>
            <a:r>
              <a:rPr lang="en-US" dirty="0" smtClean="0"/>
              <a:t>This step ensures raw logs are captured in real time or batch mode.</a:t>
            </a:r>
          </a:p>
          <a:p>
            <a:r>
              <a:rPr lang="en-US" b="1" dirty="0" smtClean="0"/>
              <a:t>Processing &amp; Transformation</a:t>
            </a:r>
            <a:endParaRPr lang="en-US" dirty="0" smtClean="0"/>
          </a:p>
          <a:p>
            <a:pPr lvl="1"/>
            <a:r>
              <a:rPr lang="en-US" dirty="0" smtClean="0"/>
              <a:t>The data pipeline processes and transforms data into structured formats.</a:t>
            </a:r>
          </a:p>
          <a:p>
            <a:pPr lvl="1"/>
            <a:r>
              <a:rPr lang="en-US" dirty="0" smtClean="0"/>
              <a:t>Example: organizing logs into meaningful events (purchase, crash, active time).</a:t>
            </a:r>
          </a:p>
          <a:p>
            <a:r>
              <a:rPr lang="en-US" b="1" dirty="0" smtClean="0"/>
              <a:t>Storage &amp; Validation</a:t>
            </a:r>
            <a:endParaRPr lang="en-US" dirty="0" smtClean="0"/>
          </a:p>
          <a:p>
            <a:pPr lvl="1"/>
            <a:r>
              <a:rPr lang="en-US" dirty="0" smtClean="0"/>
              <a:t>The processed data is stored in databases, data warehouses, or data lakes.</a:t>
            </a:r>
          </a:p>
          <a:p>
            <a:pPr lvl="1"/>
            <a:r>
              <a:rPr lang="en-US" dirty="0" smtClean="0"/>
              <a:t>It is cleaned, validated, and made ready for analytics.</a:t>
            </a:r>
          </a:p>
          <a:p>
            <a:r>
              <a:rPr lang="en-US" b="1" dirty="0" smtClean="0"/>
              <a:t>🔹 Right Side: End Users of Data</a:t>
            </a:r>
          </a:p>
          <a:p>
            <a:r>
              <a:rPr lang="en-US" dirty="0" smtClean="0"/>
              <a:t>The processed data is consumed by different stakeholders, each asking different questions:</a:t>
            </a:r>
          </a:p>
          <a:p>
            <a:r>
              <a:rPr lang="en-US" b="1" dirty="0" smtClean="0"/>
              <a:t>Data Scientist</a:t>
            </a:r>
            <a:endParaRPr lang="en-US" dirty="0" smtClean="0"/>
          </a:p>
          <a:p>
            <a:pPr lvl="1"/>
            <a:r>
              <a:rPr lang="en-US" dirty="0" smtClean="0"/>
              <a:t>Question: </a:t>
            </a:r>
            <a:r>
              <a:rPr lang="en-US" i="1" dirty="0" smtClean="0"/>
              <a:t>“Which users are most likely to become customers?”</a:t>
            </a:r>
            <a:endParaRPr lang="en-US" dirty="0" smtClean="0"/>
          </a:p>
          <a:p>
            <a:pPr lvl="1"/>
            <a:r>
              <a:rPr lang="en-US" dirty="0" smtClean="0"/>
              <a:t>They use statistical models and machine learning to predict future customer behavior.</a:t>
            </a:r>
          </a:p>
          <a:p>
            <a:r>
              <a:rPr lang="en-US" b="1" dirty="0" smtClean="0"/>
              <a:t>Business Executive</a:t>
            </a:r>
            <a:endParaRPr lang="en-US" dirty="0" smtClean="0"/>
          </a:p>
          <a:p>
            <a:pPr lvl="1"/>
            <a:r>
              <a:rPr lang="en-US" dirty="0" smtClean="0"/>
              <a:t>Question: </a:t>
            </a:r>
            <a:r>
              <a:rPr lang="en-US" i="1" dirty="0" smtClean="0"/>
              <a:t>“How many users became customers last year?”</a:t>
            </a:r>
            <a:endParaRPr lang="en-US" dirty="0" smtClean="0"/>
          </a:p>
          <a:p>
            <a:pPr lvl="1"/>
            <a:r>
              <a:rPr lang="en-US" dirty="0" smtClean="0"/>
              <a:t>They focus on </a:t>
            </a:r>
            <a:r>
              <a:rPr lang="en-US" b="1" dirty="0" smtClean="0"/>
              <a:t>business KPIs</a:t>
            </a:r>
            <a:r>
              <a:rPr lang="en-US" dirty="0" smtClean="0"/>
              <a:t> like conversions, revenue, retention.</a:t>
            </a:r>
          </a:p>
          <a:p>
            <a:pPr lvl="1"/>
            <a:r>
              <a:rPr lang="en-US" dirty="0" smtClean="0"/>
              <a:t>This helps in making strategic decisions.</a:t>
            </a:r>
          </a:p>
          <a:p>
            <a:r>
              <a:rPr lang="en-US" b="1" dirty="0" smtClean="0"/>
              <a:t>Developer</a:t>
            </a:r>
            <a:endParaRPr lang="en-US" dirty="0" smtClean="0"/>
          </a:p>
          <a:p>
            <a:pPr lvl="1"/>
            <a:r>
              <a:rPr lang="en-US" dirty="0" smtClean="0"/>
              <a:t>Question: </a:t>
            </a:r>
            <a:r>
              <a:rPr lang="en-US" i="1" dirty="0" smtClean="0"/>
              <a:t>“Why is the app crashing for some users?”</a:t>
            </a:r>
            <a:endParaRPr lang="en-US" dirty="0" smtClean="0"/>
          </a:p>
          <a:p>
            <a:pPr lvl="1"/>
            <a:r>
              <a:rPr lang="en-US" dirty="0" smtClean="0"/>
              <a:t>They analyze error logs and performance metrics to debug issues.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EB170A-ACE9-4F2D-9C96-321FF0FE229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97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u="sng" dirty="0" smtClean="0"/>
              <a:t>Data Ingestion (Input Layer)</a:t>
            </a:r>
          </a:p>
          <a:p>
            <a:r>
              <a:rPr lang="en-IN" b="1" dirty="0" smtClean="0"/>
              <a:t>Secured tunnel</a:t>
            </a:r>
            <a:r>
              <a:rPr lang="en-IN" dirty="0" smtClean="0"/>
              <a:t> – A secure connection is established for data transfer.</a:t>
            </a:r>
          </a:p>
          <a:p>
            <a:r>
              <a:rPr lang="en-IN" b="1" dirty="0" smtClean="0"/>
              <a:t>AWS DMS (Database Migration Service)</a:t>
            </a:r>
            <a:r>
              <a:rPr lang="en-IN" dirty="0" smtClean="0"/>
              <a:t> – Moves data from on-premises or external databases into AWS.</a:t>
            </a:r>
          </a:p>
          <a:p>
            <a:r>
              <a:rPr lang="en-IN" b="1" dirty="0" smtClean="0"/>
              <a:t>R/M bucket (likely Raw/Managed S3 bucket)</a:t>
            </a:r>
            <a:r>
              <a:rPr lang="en-IN" dirty="0" smtClean="0"/>
              <a:t> – Stores the raw incoming data.</a:t>
            </a:r>
          </a:p>
          <a:p>
            <a:r>
              <a:rPr lang="en-IN" b="1" dirty="0" smtClean="0"/>
              <a:t>Cloud servers / Edge devices</a:t>
            </a:r>
            <a:r>
              <a:rPr lang="en-IN" dirty="0" smtClean="0"/>
              <a:t> – Data can also arrive from IoT devices, web apps, or servers.</a:t>
            </a:r>
          </a:p>
          <a:p>
            <a:r>
              <a:rPr lang="en-IN" b="1" dirty="0" smtClean="0"/>
              <a:t>3rd party hosted / Reference files</a:t>
            </a:r>
            <a:r>
              <a:rPr lang="en-IN" dirty="0" smtClean="0"/>
              <a:t> – External data sources or static files also get ingested.</a:t>
            </a:r>
          </a:p>
          <a:p>
            <a:r>
              <a:rPr lang="en-IN" b="1" dirty="0" smtClean="0"/>
              <a:t>Lambda functions</a:t>
            </a:r>
            <a:r>
              <a:rPr lang="en-IN" dirty="0" smtClean="0"/>
              <a:t> – Perform lightweight, </a:t>
            </a:r>
            <a:r>
              <a:rPr lang="en-IN" dirty="0" err="1" smtClean="0"/>
              <a:t>serverless</a:t>
            </a:r>
            <a:r>
              <a:rPr lang="en-IN" dirty="0" smtClean="0"/>
              <a:t> transformations or triggers before storing data</a:t>
            </a:r>
          </a:p>
          <a:p>
            <a:endParaRPr lang="en-US" dirty="0" smtClean="0"/>
          </a:p>
          <a:p>
            <a:r>
              <a:rPr lang="en-US" b="1" dirty="0" smtClean="0"/>
              <a:t>Landing Zone (Staging Layer)</a:t>
            </a:r>
          </a:p>
          <a:p>
            <a:r>
              <a:rPr lang="en-US" dirty="0" smtClean="0"/>
              <a:t>Data lands in a </a:t>
            </a:r>
            <a:r>
              <a:rPr lang="en-US" b="1" dirty="0" smtClean="0"/>
              <a:t>Landing Catalog</a:t>
            </a:r>
            <a:r>
              <a:rPr lang="en-US" dirty="0" smtClean="0"/>
              <a:t> using:</a:t>
            </a:r>
          </a:p>
          <a:p>
            <a:pPr lvl="1"/>
            <a:r>
              <a:rPr lang="en-US" b="1" dirty="0" smtClean="0"/>
              <a:t>AWS Glue</a:t>
            </a:r>
            <a:r>
              <a:rPr lang="en-US" dirty="0" smtClean="0"/>
              <a:t> – Catalogs metadata and prepares data for queries.</a:t>
            </a:r>
          </a:p>
          <a:p>
            <a:pPr lvl="1"/>
            <a:r>
              <a:rPr lang="en-US" b="1" dirty="0" smtClean="0"/>
              <a:t>Amazon Athena</a:t>
            </a:r>
            <a:r>
              <a:rPr lang="en-US" dirty="0" smtClean="0"/>
              <a:t> – A query service that analyzes data directly in S3 without moving it.</a:t>
            </a:r>
          </a:p>
          <a:p>
            <a:r>
              <a:rPr lang="en-US" dirty="0" smtClean="0"/>
              <a:t>Purpose: Prepare the data for cleaning, transformation, or further processing.</a:t>
            </a:r>
          </a:p>
          <a:p>
            <a:endParaRPr lang="en-US" dirty="0" smtClean="0"/>
          </a:p>
          <a:p>
            <a:r>
              <a:rPr lang="en-IN" b="1" dirty="0" smtClean="0"/>
              <a:t>Processing (Transformation &amp; Enrichment)</a:t>
            </a:r>
          </a:p>
          <a:p>
            <a:r>
              <a:rPr lang="en-IN" b="1" dirty="0" smtClean="0"/>
              <a:t>Machine Learning (Amazon </a:t>
            </a:r>
            <a:r>
              <a:rPr lang="en-IN" b="1" dirty="0" err="1" smtClean="0"/>
              <a:t>SageMaker</a:t>
            </a:r>
            <a:r>
              <a:rPr lang="en-IN" b="1" dirty="0" smtClean="0"/>
              <a:t>)</a:t>
            </a:r>
            <a:endParaRPr lang="en-IN" dirty="0" smtClean="0"/>
          </a:p>
          <a:p>
            <a:pPr lvl="1"/>
            <a:r>
              <a:rPr lang="en-IN" dirty="0" smtClean="0"/>
              <a:t>Uses ML models to enrich the data (e.g., predictions, anomaly detection).</a:t>
            </a:r>
          </a:p>
          <a:p>
            <a:r>
              <a:rPr lang="en-IN" b="1" dirty="0" smtClean="0"/>
              <a:t>ETL Pipeline (AWS Glue)</a:t>
            </a:r>
            <a:endParaRPr lang="en-IN" dirty="0" smtClean="0"/>
          </a:p>
          <a:p>
            <a:pPr lvl="1"/>
            <a:r>
              <a:rPr lang="en-IN" dirty="0" smtClean="0"/>
              <a:t>Extract, Transform, Load process: cleans, transforms, and structures data for analytics.</a:t>
            </a:r>
          </a:p>
          <a:p>
            <a:endParaRPr lang="en-US" dirty="0" smtClean="0"/>
          </a:p>
          <a:p>
            <a:r>
              <a:rPr lang="en-IN" b="1" dirty="0" smtClean="0"/>
              <a:t>Curated Zone (Organized Data Layer)</a:t>
            </a:r>
          </a:p>
          <a:p>
            <a:r>
              <a:rPr lang="en-IN" dirty="0" smtClean="0"/>
              <a:t>Data that is cleaned, validated, and transformed is stored in the </a:t>
            </a:r>
            <a:r>
              <a:rPr lang="en-IN" b="1" dirty="0" smtClean="0"/>
              <a:t>Curated </a:t>
            </a:r>
            <a:r>
              <a:rPr lang="en-IN" b="1" dirty="0" err="1" smtClean="0"/>
              <a:t>Catalog</a:t>
            </a:r>
            <a:r>
              <a:rPr lang="en-IN" dirty="0" smtClean="0"/>
              <a:t>.</a:t>
            </a:r>
          </a:p>
          <a:p>
            <a:r>
              <a:rPr lang="en-IN" dirty="0" smtClean="0"/>
              <a:t>Tools used:</a:t>
            </a:r>
          </a:p>
          <a:p>
            <a:pPr lvl="1"/>
            <a:r>
              <a:rPr lang="en-IN" b="1" dirty="0" smtClean="0"/>
              <a:t>Athena Views</a:t>
            </a:r>
            <a:r>
              <a:rPr lang="en-IN" dirty="0" smtClean="0"/>
              <a:t> – Enables querying of curated datasets.</a:t>
            </a:r>
          </a:p>
          <a:p>
            <a:pPr lvl="1"/>
            <a:r>
              <a:rPr lang="en-IN" b="1" dirty="0" smtClean="0"/>
              <a:t>AWS Glue</a:t>
            </a:r>
            <a:r>
              <a:rPr lang="en-IN" dirty="0" smtClean="0"/>
              <a:t> – Maintains metadata and schema definitions.</a:t>
            </a:r>
          </a:p>
          <a:p>
            <a:pPr lvl="1"/>
            <a:r>
              <a:rPr lang="en-IN" b="1" dirty="0" smtClean="0"/>
              <a:t>Curated bucket (S3)</a:t>
            </a:r>
            <a:r>
              <a:rPr lang="en-IN" dirty="0" smtClean="0"/>
              <a:t> – Stores transformed datasets.</a:t>
            </a:r>
          </a:p>
          <a:p>
            <a:endParaRPr lang="en-US" dirty="0" smtClean="0"/>
          </a:p>
          <a:p>
            <a:r>
              <a:rPr lang="en-US" b="1" dirty="0" smtClean="0"/>
              <a:t>Reporting &amp; Analytics (Output Layer)</a:t>
            </a:r>
          </a:p>
          <a:p>
            <a:r>
              <a:rPr lang="en-US" b="1" dirty="0" smtClean="0"/>
              <a:t>Amazon </a:t>
            </a:r>
            <a:r>
              <a:rPr lang="en-US" b="1" dirty="0" err="1" smtClean="0"/>
              <a:t>QuickSight</a:t>
            </a:r>
            <a:r>
              <a:rPr lang="en-US" dirty="0" smtClean="0"/>
              <a:t> – Visualization and reporting tool.</a:t>
            </a:r>
          </a:p>
          <a:p>
            <a:r>
              <a:rPr lang="en-US" b="1" dirty="0" smtClean="0"/>
              <a:t>Data Analytics Group</a:t>
            </a:r>
            <a:r>
              <a:rPr lang="en-US" dirty="0" smtClean="0"/>
              <a:t> – End users or analysts consume the insights from curated datasets.</a:t>
            </a:r>
          </a:p>
          <a:p>
            <a:endParaRPr lang="en-US" dirty="0" smtClean="0"/>
          </a:p>
          <a:p>
            <a:r>
              <a:rPr lang="en-IN" b="1" dirty="0" smtClean="0"/>
              <a:t>End-to-End Flow</a:t>
            </a:r>
          </a:p>
          <a:p>
            <a:r>
              <a:rPr lang="en-IN" dirty="0" smtClean="0"/>
              <a:t>👉 Raw data (secured tunnel, DMS, Lambda, external sources)</a:t>
            </a:r>
            <a:br>
              <a:rPr lang="en-IN" dirty="0" smtClean="0"/>
            </a:br>
            <a:r>
              <a:rPr lang="en-IN" dirty="0" smtClean="0"/>
              <a:t>➡ Stored in </a:t>
            </a:r>
            <a:r>
              <a:rPr lang="en-IN" b="1" dirty="0" smtClean="0"/>
              <a:t>S3 raw bucket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➡ Metadata + structure defined in </a:t>
            </a:r>
            <a:r>
              <a:rPr lang="en-IN" b="1" dirty="0" smtClean="0"/>
              <a:t>AWS Glue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➡ Query with </a:t>
            </a:r>
            <a:r>
              <a:rPr lang="en-IN" b="1" dirty="0" smtClean="0"/>
              <a:t>Athena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➡ Process/enrich with </a:t>
            </a:r>
            <a:r>
              <a:rPr lang="en-IN" b="1" dirty="0" smtClean="0"/>
              <a:t>ETL &amp; </a:t>
            </a:r>
            <a:r>
              <a:rPr lang="en-IN" b="1" dirty="0" err="1" smtClean="0"/>
              <a:t>SageMaker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➡ Store in </a:t>
            </a:r>
            <a:r>
              <a:rPr lang="en-IN" b="1" dirty="0" smtClean="0"/>
              <a:t>Curated </a:t>
            </a:r>
            <a:r>
              <a:rPr lang="en-IN" b="1" dirty="0" err="1" smtClean="0"/>
              <a:t>Catalog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➡ Query &amp; visualize with </a:t>
            </a:r>
            <a:r>
              <a:rPr lang="en-IN" b="1" dirty="0" smtClean="0"/>
              <a:t>Athena Views + </a:t>
            </a:r>
            <a:r>
              <a:rPr lang="en-IN" b="1" dirty="0" err="1" smtClean="0"/>
              <a:t>QuickSight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➡ Used by </a:t>
            </a:r>
            <a:r>
              <a:rPr lang="en-IN" b="1" dirty="0" smtClean="0"/>
              <a:t>Analytics teams</a:t>
            </a:r>
            <a:r>
              <a:rPr lang="en-IN" dirty="0" smtClean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EB170A-ACE9-4F2D-9C96-321FF0FE229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42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468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274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82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03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231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208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832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202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30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109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29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9304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xmlns="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xmlns="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76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75;p16">
            <a:extLst>
              <a:ext uri="{FF2B5EF4-FFF2-40B4-BE49-F238E27FC236}">
                <a16:creationId xmlns:a16="http://schemas.microsoft.com/office/drawing/2014/main" xmlns="" id="{CB69EC99-FFAF-B3A6-842B-B510C0EAB741}"/>
              </a:ext>
            </a:extLst>
          </p:cNvPr>
          <p:cNvSpPr txBox="1"/>
          <p:nvPr/>
        </p:nvSpPr>
        <p:spPr>
          <a:xfrm>
            <a:off x="2971800" y="762000"/>
            <a:ext cx="5650523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00B0F0"/>
                </a:solidFill>
                <a:cs typeface="Poppins" pitchFamily="2" charset="77"/>
              </a:rPr>
              <a:t>Department of </a:t>
            </a:r>
            <a:r>
              <a:rPr lang="en-US" sz="4000" dirty="0" smtClean="0">
                <a:solidFill>
                  <a:srgbClr val="00B0F0"/>
                </a:solidFill>
                <a:cs typeface="Poppins" pitchFamily="2" charset="77"/>
              </a:rPr>
              <a:t>CSE, CSIT</a:t>
            </a:r>
            <a:endParaRPr lang="en-US" sz="4000" dirty="0">
              <a:solidFill>
                <a:srgbClr val="00B0F0"/>
              </a:solidFill>
              <a:cs typeface="Poppins" pitchFamily="2" charset="77"/>
            </a:endParaRPr>
          </a:p>
        </p:txBody>
      </p:sp>
      <p:sp>
        <p:nvSpPr>
          <p:cNvPr id="6" name="Google Shape;476;p16">
            <a:extLst>
              <a:ext uri="{FF2B5EF4-FFF2-40B4-BE49-F238E27FC236}">
                <a16:creationId xmlns:a16="http://schemas.microsoft.com/office/drawing/2014/main" xmlns="" id="{84A891A9-D46F-5E9B-65D6-C64F832A0362}"/>
              </a:ext>
            </a:extLst>
          </p:cNvPr>
          <p:cNvSpPr txBox="1"/>
          <p:nvPr/>
        </p:nvSpPr>
        <p:spPr>
          <a:xfrm>
            <a:off x="1595120" y="2048911"/>
            <a:ext cx="8218565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NAME: Data </a:t>
            </a:r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science</a:t>
            </a: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00B0F0"/>
                </a:solidFill>
                <a:cs typeface="Poppins" panose="00000500000000000000" pitchFamily="2" charset="0"/>
                <a:sym typeface="BioRhyme ExtraBold"/>
              </a:rPr>
              <a:t>COURSE CODE: </a:t>
            </a:r>
            <a:r>
              <a:rPr lang="en-US" sz="3200" b="1" cap="all" dirty="0" smtClean="0">
                <a:ln/>
                <a:solidFill>
                  <a:srgbClr val="00B0F0"/>
                </a:solidFill>
                <a:cs typeface="Poppins" panose="00000500000000000000" pitchFamily="2" charset="0"/>
                <a:sym typeface="BioRhyme ExtraBold"/>
              </a:rPr>
              <a:t>24AD3107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	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</a:t>
            </a:r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Pipelines</a:t>
            </a: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xmlns="" id="{A5120A7A-ED85-153C-EE7C-2FEB2D482089}"/>
              </a:ext>
            </a:extLst>
          </p:cNvPr>
          <p:cNvSpPr/>
          <p:nvPr/>
        </p:nvSpPr>
        <p:spPr>
          <a:xfrm>
            <a:off x="4876800" y="5410200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- 6</a:t>
            </a:r>
            <a:endParaRPr sz="2800" b="1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376488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C61438-200D-827A-D4DD-5B5127AFA187}"/>
              </a:ext>
            </a:extLst>
          </p:cNvPr>
          <p:cNvSpPr txBox="1"/>
          <p:nvPr/>
        </p:nvSpPr>
        <p:spPr>
          <a:xfrm>
            <a:off x="1110343" y="689854"/>
            <a:ext cx="10731286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</a:t>
            </a:r>
            <a:r>
              <a:rPr lang="en-US" sz="16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</a:t>
            </a:r>
            <a:r>
              <a:rPr lang="en-US" sz="16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Pipelines</a:t>
            </a:r>
            <a:endParaRPr lang="en-US" sz="16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xmlns="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449514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9982200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 </a:t>
            </a:r>
            <a:r>
              <a:rPr lang="en-US" sz="1600" dirty="0">
                <a:latin typeface="Poppins"/>
                <a:cs typeface="Poppins"/>
              </a:rPr>
              <a:t>Introduction to </a:t>
            </a:r>
            <a:r>
              <a:rPr lang="en-US" sz="16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</a:t>
            </a:r>
            <a:r>
              <a:rPr lang="en-US" sz="16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Pipelines</a:t>
            </a:r>
            <a:endParaRPr lang="en-US" sz="16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>
              <a:lnSpc>
                <a:spcPct val="20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xmlns="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xmlns="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xmlns="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xmlns="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B0BB8E68-8B73-12DE-615E-1091F19A9A9A}"/>
              </a:ext>
            </a:extLst>
          </p:cNvPr>
          <p:cNvSpPr txBox="1"/>
          <p:nvPr/>
        </p:nvSpPr>
        <p:spPr>
          <a:xfrm>
            <a:off x="1747684" y="4863626"/>
            <a:ext cx="9906000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 basic knowledge </a:t>
            </a:r>
            <a:r>
              <a:rPr lang="en-US" altLang="en-US" sz="1600" dirty="0">
                <a:latin typeface="Arial"/>
                <a:cs typeface="Arial"/>
              </a:rPr>
              <a:t>of </a:t>
            </a:r>
            <a:r>
              <a:rPr lang="en-US" sz="16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</a:t>
            </a:r>
            <a:r>
              <a:rPr lang="en-US" sz="16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Pipelines</a:t>
            </a:r>
            <a:endParaRPr lang="en-US" sz="16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>
              <a:lnSpc>
                <a:spcPct val="200000"/>
              </a:lnSpc>
            </a:pPr>
            <a:endParaRPr lang="en-US" sz="1600" b="0" i="0" dirty="0">
              <a:effectLst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xmlns="" id="{1FB182DA-8516-88B8-108C-8195B819749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52463"/>
            <a:ext cx="10515600" cy="1325562"/>
          </a:xfrm>
        </p:spPr>
        <p:txBody>
          <a:bodyPr/>
          <a:lstStyle/>
          <a:p>
            <a:r>
              <a:rPr lang="en-US" altLang="en-US" dirty="0"/>
              <a:t>      Key Concepts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xmlns="" id="{56F88FC0-F086-2D56-9F7F-55E81DA658C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9281" y="1316038"/>
            <a:ext cx="11602720" cy="459581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  <a:defRPr/>
            </a:pPr>
            <a:r>
              <a:rPr lang="en-US" sz="2800" dirty="0"/>
              <a:t>Data Pipeline Architecture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sz="2800" dirty="0"/>
              <a:t>Pipeline Architecture Importance with An Example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sz="2800" dirty="0"/>
              <a:t>Components and Building Blocks</a:t>
            </a:r>
          </a:p>
          <a:p>
            <a:pPr marL="0" indent="0"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endParaRPr 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alt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altLang="en-US" sz="2800" dirty="0"/>
          </a:p>
          <a:p>
            <a:pPr marL="0" indent="0">
              <a:buNone/>
              <a:defRPr/>
            </a:pPr>
            <a:endParaRPr lang="en-US" altLang="en-US" sz="4200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Wingdings" pitchFamily="2" charset="2"/>
              <a:buChar char="v"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xmlns="" id="{978A528D-FBDF-73B4-7991-604D89DCAB64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11277599" cy="50292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Pipeline is a series of processes used to collect, transfer, transform, process, and store data from multiple sources into a destination system for analysis and decision-making.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Data Science, data pipelines automate the flow of data from: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systems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and Machine Learning models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pipeline ensures that data moves smoothly and efficiently through different stages without manual intervention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Data </a:t>
            </a:r>
            <a:r>
              <a:rPr 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Pipeline:</a:t>
            </a: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 is an automated workflow that extracts data from various sources, processes it, and delivers it to a destination for analysis, reporting, or machine learning.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A46C155B-F276-4616-AA1B-DCA712C7346A}"/>
              </a:ext>
            </a:extLst>
          </p:cNvPr>
          <p:cNvSpPr/>
          <p:nvPr/>
        </p:nvSpPr>
        <p:spPr>
          <a:xfrm>
            <a:off x="2895600" y="152400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Data Pipeline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1614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A46C155B-F276-4616-AA1B-DCA712C7346A}"/>
              </a:ext>
            </a:extLst>
          </p:cNvPr>
          <p:cNvSpPr/>
          <p:nvPr/>
        </p:nvSpPr>
        <p:spPr>
          <a:xfrm>
            <a:off x="2895600" y="152400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Data Pipeline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636D0E9-3E58-11FC-84EB-E2C46FCD7D09}"/>
              </a:ext>
            </a:extLst>
          </p:cNvPr>
          <p:cNvSpPr txBox="1"/>
          <p:nvPr/>
        </p:nvSpPr>
        <p:spPr>
          <a:xfrm>
            <a:off x="609600" y="838200"/>
            <a:ext cx="109675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logical architecture </a:t>
            </a:r>
            <a:r>
              <a:rPr lang="en-US" sz="20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that outlines the process and transformations a dataset undergoes, from collection to serving (see data architecture components).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specific set of tools and frameworks </a:t>
            </a:r>
            <a:r>
              <a:rPr lang="en-US" sz="20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used in a particular scenario, and the role each of these performs.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D0F33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0CB764C-B354-AC6F-AFFB-C80CABF1B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981200"/>
            <a:ext cx="6781800" cy="394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77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457200"/>
            <a:ext cx="11582399" cy="5638800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3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Logical / Conceptual Architecture (Top Part of the Diagram)</a:t>
            </a:r>
          </a:p>
          <a:p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</a:t>
            </a:r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data flows conceptually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different stages:</a:t>
            </a:r>
          </a:p>
          <a:p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endParaRPr lang="en-IN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 stores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databases (like MySQL, </a:t>
            </a:r>
            <a:r>
              <a:rPr lang="en-IN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streams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real-time event data (e.g., IoT sensors, logs, Kafka streams).</a:t>
            </a:r>
          </a:p>
          <a:p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Staging and Historical Storage</a:t>
            </a:r>
            <a:endParaRPr lang="en-IN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Lake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centralized storage for raw, semi-structured, and structured data.</a:t>
            </a:r>
          </a:p>
          <a:p>
            <a:pPr lvl="1"/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13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metadata system to keep track of what data exists and where.</a:t>
            </a:r>
          </a:p>
          <a:p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  <a:endParaRPr lang="en-IN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ETL (Extract, Transform, Load)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processes raw data into structured/clean data.</a:t>
            </a:r>
          </a:p>
          <a:p>
            <a:pPr lvl="1"/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Partitioned data on object store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optimized storage format (like Parquet, ORC).</a:t>
            </a:r>
          </a:p>
          <a:p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and Machine Learning (ML)</a:t>
            </a:r>
            <a:endParaRPr lang="en-IN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database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processed/structured data stored for analysis.</a:t>
            </a:r>
          </a:p>
          <a:p>
            <a:pPr lvl="1"/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Query engines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tools to </a:t>
            </a:r>
            <a:r>
              <a:rPr lang="en-IN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/query large datasets (like SQL engines, ML platforms).</a:t>
            </a:r>
          </a:p>
          <a:p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🔑 This part is </a:t>
            </a:r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technology-independent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explains the logical flow.</a:t>
            </a:r>
          </a:p>
          <a:p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Platform Architecture (Bottom Part of the Diagram)</a:t>
            </a:r>
          </a:p>
          <a:p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the </a:t>
            </a:r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implementation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the logical pipeline using real tools:</a:t>
            </a:r>
          </a:p>
          <a:p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(server logs)</a:t>
            </a:r>
            <a:endParaRPr lang="en-IN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Logs from servers, applications, APIs, etc.</a:t>
            </a:r>
          </a:p>
          <a:p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Event Processing</a:t>
            </a:r>
            <a:endParaRPr lang="en-IN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Amazon Kinesis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streaming service to collect, process, and </a:t>
            </a:r>
            <a:r>
              <a:rPr lang="en-IN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data.</a:t>
            </a:r>
          </a:p>
          <a:p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ETL + Storage</a:t>
            </a:r>
            <a:endParaRPr lang="en-IN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ETL service (symbol </a:t>
            </a:r>
            <a:r>
              <a:rPr lang="el-GR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φ)</a:t>
            </a:r>
            <a:r>
              <a:rPr lang="el-GR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service (could be AWS Glue, Spark, or custom code).</a:t>
            </a:r>
          </a:p>
          <a:p>
            <a:pPr lvl="1"/>
            <a:r>
              <a:rPr lang="en-IN" sz="1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Amazon S3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object storage where raw + transformed data is stored.</a:t>
            </a:r>
          </a:p>
          <a:p>
            <a:pPr lvl="1"/>
            <a:endParaRPr lang="en-IN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10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609600"/>
            <a:ext cx="10216654" cy="4856745"/>
          </a:xfrm>
        </p:spPr>
        <p:txBody>
          <a:bodyPr>
            <a:normAutofit/>
          </a:bodyPr>
          <a:lstStyle/>
          <a:p>
            <a:pPr algn="just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Querying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Athena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interactive SQL query engine that works directly with S3 data.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 and Analytics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business intelligence tool for dashboards, analytics, and reporting.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🔑 This part is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technology-specific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shows how the conceptual design is implemented on AWS cloud.</a:t>
            </a:r>
          </a:p>
          <a:p>
            <a:pPr algn="just"/>
            <a:endPara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part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(logical) explains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of data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from sources → storage → preparation → analytics.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 part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(platform) shows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Kinesis, S3, Athena, Looker) that implement the same pipeline in practice</a:t>
            </a:r>
          </a:p>
          <a:p>
            <a:pPr algn="just"/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6770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A46C155B-F276-4616-AA1B-DCA712C7346A}"/>
              </a:ext>
            </a:extLst>
          </p:cNvPr>
          <p:cNvSpPr/>
          <p:nvPr/>
        </p:nvSpPr>
        <p:spPr>
          <a:xfrm>
            <a:off x="2721964" y="152400"/>
            <a:ext cx="8458200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2800" dirty="0"/>
              <a:t>Pipeline Architecture Importance with An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636D0E9-3E58-11FC-84EB-E2C46FCD7D09}"/>
              </a:ext>
            </a:extLst>
          </p:cNvPr>
          <p:cNvSpPr txBox="1"/>
          <p:nvPr/>
        </p:nvSpPr>
        <p:spPr>
          <a:xfrm>
            <a:off x="1066800" y="774854"/>
            <a:ext cx="109675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D0F33"/>
                </a:solidFill>
                <a:effectLst/>
                <a:highlight>
                  <a:srgbClr val="FFFFFF"/>
                </a:highlight>
                <a:latin typeface="var(--font-family-primary)"/>
              </a:rPr>
              <a:t>Multiple people in the organization will want to work with that data in different ways: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F33"/>
                </a:solidFill>
                <a:effectLst/>
                <a:highlight>
                  <a:srgbClr val="FFFFFF"/>
                </a:highlight>
                <a:latin typeface="var(--font-family-primary)"/>
              </a:rPr>
              <a:t>Data scientists want to build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var(--font-family-primary)"/>
              </a:rPr>
              <a:t>models that predict user behavior </a:t>
            </a:r>
            <a:r>
              <a:rPr lang="en-US" sz="2000" b="0" i="0" dirty="0">
                <a:solidFill>
                  <a:srgbClr val="0D0F33"/>
                </a:solidFill>
                <a:effectLst/>
                <a:highlight>
                  <a:srgbClr val="FFFFFF"/>
                </a:highlight>
                <a:latin typeface="var(--font-family-primary)"/>
              </a:rPr>
              <a:t>and to test their hypotheses on various historical states of the data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F33"/>
                </a:solidFill>
                <a:effectLst/>
                <a:highlight>
                  <a:srgbClr val="FFFFFF"/>
                </a:highlight>
                <a:latin typeface="var(--font-family-primary)"/>
              </a:rPr>
              <a:t>Developers want to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var(--font-family-primary)"/>
              </a:rPr>
              <a:t>investigate application </a:t>
            </a:r>
            <a:r>
              <a:rPr lang="en-US" sz="2000" b="0" i="0" dirty="0">
                <a:solidFill>
                  <a:srgbClr val="0D0F33"/>
                </a:solidFill>
                <a:effectLst/>
                <a:highlight>
                  <a:srgbClr val="FFFFFF"/>
                </a:highlight>
                <a:latin typeface="var(--font-family-primary)"/>
              </a:rPr>
              <a:t>logs to identify downtime and improve performance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F33"/>
                </a:solidFill>
                <a:effectLst/>
                <a:highlight>
                  <a:srgbClr val="FFFFFF"/>
                </a:highlight>
                <a:latin typeface="var(--font-family-primary)"/>
              </a:rPr>
              <a:t>Business executives want visibility into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var(--font-family-primary)"/>
              </a:rPr>
              <a:t>revenue-driving metrics </a:t>
            </a:r>
            <a:r>
              <a:rPr lang="en-US" sz="2000" b="0" i="0" dirty="0">
                <a:solidFill>
                  <a:srgbClr val="0D0F33"/>
                </a:solidFill>
                <a:effectLst/>
                <a:highlight>
                  <a:srgbClr val="FFFFFF"/>
                </a:highlight>
                <a:latin typeface="var(--font-family-primary)"/>
              </a:rPr>
              <a:t>such as installs and in-app purchases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C59E584-1D09-7909-9C66-AE0FD6576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126" y="2514600"/>
            <a:ext cx="9601200" cy="394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35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11353799" cy="5334000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sz="1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Side: Data Source</a:t>
            </a:r>
          </a:p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Logs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raw data generated by users when they interact with a mobile app.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login attempts, clicks, purchases, crashes, navigation, etc.</a:t>
            </a:r>
          </a:p>
          <a:p>
            <a:pPr marL="0" indent="0">
              <a:buNone/>
            </a:pPr>
            <a:r>
              <a:rPr lang="en-US" sz="13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Middle</a:t>
            </a:r>
            <a:r>
              <a:rPr lang="en-US" sz="1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Pipeline Architecture</a:t>
            </a:r>
          </a:p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from mobile apps is collected into the pipeline.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ensures raw logs are captured in real time or batch mode.</a:t>
            </a:r>
          </a:p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&amp; Transformation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pipeline processes and transforms data into structured formats.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organizing logs into meaningful events (purchase, crash, active time).</a:t>
            </a:r>
          </a:p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&amp; Validation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data is stored in databases, data warehouses, or data lakes.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cleaned, validated, and made ready for analytics.</a:t>
            </a:r>
          </a:p>
          <a:p>
            <a:pPr marL="0" indent="0">
              <a:buNone/>
            </a:pPr>
            <a:r>
              <a:rPr lang="en-US" sz="13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 </a:t>
            </a:r>
            <a:r>
              <a:rPr lang="en-US" sz="1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Side: End Users of Data</a:t>
            </a:r>
          </a:p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data is consumed by different stakeholders, each asking different questions:</a:t>
            </a:r>
          </a:p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</a:t>
            </a: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“Which users are most likely to become customers?”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use statistical models and machine learning to predict future customer behavior.</a:t>
            </a:r>
          </a:p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Executive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</a:t>
            </a: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“How many users became customers last year?”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focus on </a:t>
            </a: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KPIs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conversions, revenue, retention.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 making strategic decisions.</a:t>
            </a:r>
          </a:p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</a:t>
            </a: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“Why is the app crashing for some users?”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analyze error logs and performance metrics to debug issues.</a:t>
            </a:r>
          </a:p>
          <a:p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71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A46C155B-F276-4616-AA1B-DCA712C7346A}"/>
              </a:ext>
            </a:extLst>
          </p:cNvPr>
          <p:cNvSpPr/>
          <p:nvPr/>
        </p:nvSpPr>
        <p:spPr>
          <a:xfrm>
            <a:off x="2721964" y="152400"/>
            <a:ext cx="8458200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3600" dirty="0"/>
              <a:t>Components and Building Blocks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90BBBC1-AB2A-266A-0552-E81F36BCAF3D}"/>
              </a:ext>
            </a:extLst>
          </p:cNvPr>
          <p:cNvSpPr txBox="1"/>
          <p:nvPr/>
        </p:nvSpPr>
        <p:spPr>
          <a:xfrm>
            <a:off x="762000" y="990600"/>
            <a:ext cx="112014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This includes:</a:t>
            </a:r>
          </a:p>
          <a:p>
            <a:pPr algn="just"/>
            <a:endParaRPr lang="en-IN" sz="1600" b="0" i="0" dirty="0">
              <a:solidFill>
                <a:srgbClr val="03062E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Source data is generated from </a:t>
            </a:r>
            <a:r>
              <a:rPr lang="en-US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remote devices, applications, or business systems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and made available via API.</a:t>
            </a:r>
          </a:p>
          <a:p>
            <a:pPr algn="just"/>
            <a:endParaRPr lang="en-US" sz="1600" dirty="0">
              <a:solidFill>
                <a:srgbClr val="03062E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Ingestion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Collected </a:t>
            </a:r>
            <a:r>
              <a:rPr lang="en-US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 is moved to a storage 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layer where it can be further prepared </a:t>
            </a:r>
            <a:r>
              <a:rPr lang="en-US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 analysis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 The storage layer might be a relational database like </a:t>
            </a:r>
            <a:r>
              <a:rPr lang="en-US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or unstructured object storage in a cloud data lake such as AWS S3.</a:t>
            </a:r>
          </a:p>
          <a:p>
            <a:pPr algn="just"/>
            <a:endParaRPr lang="en-US" sz="1600" dirty="0">
              <a:solidFill>
                <a:srgbClr val="03062E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Preparation: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Data is </a:t>
            </a:r>
            <a:r>
              <a:rPr lang="en-US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aggregated, cleansed, and manipulated 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 order to normalize it </a:t>
            </a:r>
            <a:r>
              <a:rPr lang="en-US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 company standards 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and make </a:t>
            </a:r>
            <a:r>
              <a:rPr lang="en-US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 available for further analysis.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This could also include </a:t>
            </a:r>
            <a:r>
              <a:rPr lang="en-US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converting file formats, compressing and partitioning data</a:t>
            </a:r>
            <a:r>
              <a:rPr lang="en-US" sz="1600" b="0" i="0" dirty="0">
                <a:solidFill>
                  <a:srgbClr val="03062E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600" dirty="0">
              <a:solidFill>
                <a:srgbClr val="03062E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rgbClr val="03062E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Consumption:</a:t>
            </a:r>
            <a:r>
              <a:rPr lang="en-US" sz="1600" b="1" i="0" dirty="0">
                <a:solidFill>
                  <a:srgbClr val="0D0F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>
                <a:solidFill>
                  <a:srgbClr val="03062E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Prepared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 is moved to production systems </a:t>
            </a:r>
            <a:r>
              <a:rPr lang="en-US" sz="1600" dirty="0">
                <a:solidFill>
                  <a:srgbClr val="03062E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– analytics and visualization tools, operational data stores, decision engines, or user-facing applications.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87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A46C155B-F276-4616-AA1B-DCA712C7346A}"/>
              </a:ext>
            </a:extLst>
          </p:cNvPr>
          <p:cNvSpPr/>
          <p:nvPr/>
        </p:nvSpPr>
        <p:spPr>
          <a:xfrm>
            <a:off x="2667000" y="0"/>
            <a:ext cx="8458200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3600" dirty="0"/>
              <a:t>Components and Building Blocks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DCB6C27-43F2-CE7D-3DBF-E7E3B95D5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51671"/>
            <a:ext cx="10515600" cy="549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78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1" y="990600"/>
            <a:ext cx="10140454" cy="4475745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diagram represents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lake architecture on AWS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where: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enters via multiple sources.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stored,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transformed.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&amp; ETL pipelines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enrich the data.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Curated datasets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created for reliable analytics.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tools 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QuickSight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visualize insights.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78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57200"/>
            <a:ext cx="11506200" cy="5715000"/>
          </a:xfrm>
        </p:spPr>
        <p:txBody>
          <a:bodyPr numCol="3"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(Input Layer)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Secured tunnel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secure connection is established for data transfer.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DMS (Database Migration Service)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Moves data from on-premises or external databases into AWS.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R/M bucket (likely Raw/Managed S3 bucket)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the raw incoming data.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servers / Edge devices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can also arrive from IoT devices, web apps, or servers.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3rd party hosted / Reference files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External data sources or static files also get ingested.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functions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Perform lightweight,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serverless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transformations or triggers before storing data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Landing Zone (Staging Layer)</a:t>
            </a:r>
          </a:p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lands in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 Catalog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using:</a:t>
            </a:r>
          </a:p>
          <a:p>
            <a:pPr lvl="1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Glue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Catalogs metadata and prepares data for queries.</a:t>
            </a:r>
          </a:p>
          <a:p>
            <a:pPr lvl="1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Athena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query service that analyzes data directly in S3 without moving it.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Prepare the data for cleaning, transformation, or further processing.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(Transformation &amp; Enrichment)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(Amazon </a:t>
            </a: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SageMaker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ML models to enrich the data (e.g., predictions, anomaly detection).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Pipeline (AWS Glue)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Extract, Transform, Load process: cleans, transforms, and structures data for analytics.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Curated Zone (Organized Data Layer)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that is cleaned, validated, and transformed is stored in the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Curated </a:t>
            </a: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pPr lvl="1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Athena Views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querying of curated datasets.</a:t>
            </a:r>
          </a:p>
          <a:p>
            <a:pPr lvl="1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Glue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Maintains metadata and schema definitions.</a:t>
            </a:r>
          </a:p>
          <a:p>
            <a:pPr lvl="1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Curated bucket (S3)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transformed datasets.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&amp; Analytics (Output Layer)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QuickSight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Visualization and reporting tool.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Group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End users or analysts consume the insights from curated datasets.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Flow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Raw data (secured tunnel, DMS, Lambda, external sources)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 Stored in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raw bucket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 Metadata + structure defined in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Glue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 Query with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Athena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 Process/enrich with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&amp; </a:t>
            </a: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SageMaker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 Store in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Curated </a:t>
            </a: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 Query &amp; visualize with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Athena Views + </a:t>
            </a: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QuickSight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 Used by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teams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647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11201400" cy="4876800"/>
          </a:xfrm>
        </p:spPr>
        <p:txBody>
          <a:bodyPr>
            <a:noAutofit/>
          </a:bodyPr>
          <a:lstStyle/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Data Science, Machine Learning, Data Mining, and Pattern Recognition, it is often necessary to compare objects, records, or datasets to determine how similar or different they are.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comparison is done using: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Measures 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Dissimilarity Measures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and dissimilarity are widely used in: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systems 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recognition 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mining 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analytics</a:t>
            </a:r>
          </a:p>
          <a:p>
            <a:pPr algn="just"/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xmlns="" id="{A46C155B-F276-4616-AA1B-DCA712C7346A}"/>
              </a:ext>
            </a:extLst>
          </p:cNvPr>
          <p:cNvSpPr/>
          <p:nvPr/>
        </p:nvSpPr>
        <p:spPr>
          <a:xfrm>
            <a:off x="1451579" y="152400"/>
            <a:ext cx="8458200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600" dirty="0" smtClean="0"/>
              <a:t>Similarity </a:t>
            </a:r>
            <a:r>
              <a:rPr lang="en-IN" sz="3600" dirty="0"/>
              <a:t>and </a:t>
            </a:r>
            <a:r>
              <a:rPr lang="en-IN" sz="3600" dirty="0" smtClean="0"/>
              <a:t>Dissimilarity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88562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11506200" cy="5181600"/>
          </a:xfrm>
        </p:spPr>
        <p:txBody>
          <a:bodyPr>
            <a:no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refers to the degree to which two objects, records, or data points are alike.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two objects are highly similar: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characteristics are nearly the same.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similarity value is high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with similar: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behavior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considered similar.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A46C155B-F276-4616-AA1B-DCA712C7346A}"/>
              </a:ext>
            </a:extLst>
          </p:cNvPr>
          <p:cNvSpPr/>
          <p:nvPr/>
        </p:nvSpPr>
        <p:spPr>
          <a:xfrm>
            <a:off x="1451579" y="152400"/>
            <a:ext cx="8458200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600" dirty="0" smtClean="0"/>
              <a:t>Similarity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41101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11277600" cy="51054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Scale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value → More similar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value → Less similar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similarity measures range between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Where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→ Completely similar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→ Completely different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912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09600"/>
            <a:ext cx="11430000" cy="52578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Example of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Similarity: E-Commerce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compares customers based on: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history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Browsing behavior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ratings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two customers have similar interests, Amazon recommends similar products.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219200"/>
            <a:ext cx="5257800" cy="262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58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10972799" cy="49530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Dissimilarity refers to the degree to which two objects differ from each other.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two objects are very different: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dissimilarity value is high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patients with completely different symptoms have high dissimilarity.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Dissimilarity Scale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value → More different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value → More similar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A46C155B-F276-4616-AA1B-DCA712C7346A}"/>
              </a:ext>
            </a:extLst>
          </p:cNvPr>
          <p:cNvSpPr/>
          <p:nvPr/>
        </p:nvSpPr>
        <p:spPr>
          <a:xfrm>
            <a:off x="1451579" y="152400"/>
            <a:ext cx="8458200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600" dirty="0" smtClean="0"/>
              <a:t>Dissimilarity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09007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10972800" cy="5257800"/>
          </a:xfrm>
        </p:spPr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Fraud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Banks compare transaction patterns.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transaction is highly dissimilar from normal customer behavior: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be flagged as fraudulent.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743200"/>
            <a:ext cx="88646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63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388" y="911551"/>
            <a:ext cx="10506973" cy="4695619"/>
          </a:xfrm>
        </p:spPr>
        <p:txBody>
          <a:bodyPr>
            <a:no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rgbClr val="FF0000"/>
                </a:solidFill>
                <a:latin typeface="Poppins"/>
              </a:rPr>
              <a:t>Distance Measures for Numerical Data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>
              <a:latin typeface="Poppin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latin typeface="Poppins"/>
              </a:rPr>
              <a:t>Euclidean Distance: It is the straight-linei distance between two points in space.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latin typeface="Poppins"/>
              </a:rPr>
              <a:t>√[(x1-y1)² + (x2-y2)² + ... + (xn-yn)²]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dirty="0">
              <a:latin typeface="Poppin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latin typeface="Poppins"/>
              </a:rPr>
              <a:t>Manhattan Distance:It  sums the absolute differences along each dimension. |x1-y1| + |x2-y2| + ... + |xn-yn|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>
              <a:latin typeface="Poppins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dirty="0">
                <a:latin typeface="Poppins"/>
              </a:rPr>
              <a:t>Minkowski Distance: Generalization of Euclidean and Manhattan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20</a:t>
            </a:fld>
            <a:endParaRPr lang="en-IN"/>
          </a:p>
        </p:txBody>
      </p:sp>
      <p:sp>
        <p:nvSpPr>
          <p:cNvPr id="5" name="Rounded Rectangle 17"/>
          <p:cNvSpPr/>
          <p:nvPr/>
        </p:nvSpPr>
        <p:spPr>
          <a:xfrm>
            <a:off x="1750424" y="163632"/>
            <a:ext cx="9366068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dirty="0"/>
              <a:t>Distance Measures for Numerical Data</a:t>
            </a:r>
          </a:p>
        </p:txBody>
      </p:sp>
    </p:spTree>
    <p:extLst>
      <p:ext uri="{BB962C8B-B14F-4D97-AF65-F5344CB8AC3E}">
        <p14:creationId xmlns:p14="http://schemas.microsoft.com/office/powerpoint/2010/main" val="568688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3440" y="812165"/>
            <a:ext cx="10518140" cy="496506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365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Manhattan Distance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0635" y="2015490"/>
            <a:ext cx="9187815" cy="345059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2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340" y="449580"/>
            <a:ext cx="11347450" cy="555053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577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2812" y="1898166"/>
            <a:ext cx="11247120" cy="2190508"/>
          </a:xfrm>
        </p:spPr>
        <p:txBody>
          <a:bodyPr>
            <a:noAutofit/>
          </a:bodyPr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 dirty="0"/>
              <a:t>Similarity Measures for Text or Binary Data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dirty="0"/>
              <a:t>Cosine Similarity: Measures angle between two vectors (used in text)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dirty="0"/>
              <a:t>Jaccard Similarity: Intersection / Union (used for binary/categorical)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dirty="0"/>
              <a:t>Hamming Distance: Number of positions with different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24</a:t>
            </a:fld>
            <a:endParaRPr lang="en-IN"/>
          </a:p>
        </p:txBody>
      </p:sp>
      <p:sp>
        <p:nvSpPr>
          <p:cNvPr id="5" name="Rounded Rectangle 17"/>
          <p:cNvSpPr/>
          <p:nvPr/>
        </p:nvSpPr>
        <p:spPr>
          <a:xfrm>
            <a:off x="2664263" y="402649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dirty="0">
                <a:latin typeface="Poppins"/>
              </a:rPr>
              <a:t>Similarity Measures for Text or Binary Data</a:t>
            </a:r>
          </a:p>
        </p:txBody>
      </p:sp>
    </p:spTree>
    <p:extLst>
      <p:ext uri="{BB962C8B-B14F-4D97-AF65-F5344CB8AC3E}">
        <p14:creationId xmlns:p14="http://schemas.microsoft.com/office/powerpoint/2010/main" val="17225310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</a:rPr>
              <a:t>Cosine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610" y="1534795"/>
            <a:ext cx="9603105" cy="3931285"/>
          </a:xfrm>
        </p:spPr>
        <p:txBody>
          <a:bodyPr/>
          <a:lstStyle/>
          <a:p>
            <a:r>
              <a:rPr lang="en-US" altLang="en-US"/>
              <a:t>Cosine similarity is a measure of similarity between two non-zero vectors of an inner product space that measures the cosine of the angle between them. Similarity = (A.B) / (||A||.||B||) where A and B are vectors. </a:t>
            </a:r>
          </a:p>
          <a:p>
            <a:r>
              <a:rPr lang="en-US" altLang="en-US"/>
              <a:t>Example :</a:t>
            </a:r>
          </a:p>
          <a:p>
            <a:r>
              <a:rPr lang="en-US" altLang="en-US"/>
              <a:t>Text A: "Data science is fun and"</a:t>
            </a:r>
          </a:p>
          <a:p>
            <a:r>
              <a:rPr lang="en-US" altLang="en-US"/>
              <a:t>Text B: "Machine learning is cool and"</a:t>
            </a:r>
          </a:p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97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Represent as Vectors (Bag-of-Words)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26</a:t>
            </a:fld>
            <a:endParaRPr lang="en-IN"/>
          </a:p>
        </p:txBody>
      </p:sp>
      <p:graphicFrame>
        <p:nvGraphicFramePr>
          <p:cNvPr id="5" name="Table 4"/>
          <p:cNvGraphicFramePr/>
          <p:nvPr/>
        </p:nvGraphicFramePr>
        <p:xfrm>
          <a:off x="1350645" y="1691640"/>
          <a:ext cx="9382125" cy="3869055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127375"/>
                <a:gridCol w="3127375"/>
                <a:gridCol w="3127375"/>
              </a:tblGrid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Word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Text A (Vector A)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Text B (Vector B)</a:t>
                      </a:r>
                    </a:p>
                  </a:txBody>
                  <a:tcPr marL="0" marR="0" marT="0" marB="0" anchor="ctr"/>
                </a:tc>
              </a:tr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data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0</a:t>
                      </a:r>
                    </a:p>
                  </a:txBody>
                  <a:tcPr marL="0" marR="0" marT="0" marB="0" anchor="ctr"/>
                </a:tc>
              </a:tr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science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0</a:t>
                      </a:r>
                    </a:p>
                  </a:txBody>
                  <a:tcPr marL="0" marR="0" marT="0" marB="0" anchor="ctr"/>
                </a:tc>
              </a:tr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</a:tr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fun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0</a:t>
                      </a:r>
                    </a:p>
                  </a:txBody>
                  <a:tcPr marL="0" marR="0" marT="0" marB="0" anchor="ctr"/>
                </a:tc>
              </a:tr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and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</a:tr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machine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</a:tr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learning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</a:tr>
              <a:tr h="429895"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cool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/>
                        <a:t>1</a:t>
                      </a: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6330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So the vectors are:</a:t>
            </a:r>
          </a:p>
          <a:p>
            <a:r>
              <a:rPr lang="en-US" altLang="en-US"/>
              <a:t>Vector A: [1, 1, 1, 1, 1, 0, 0, 0]</a:t>
            </a:r>
          </a:p>
          <a:p>
            <a:r>
              <a:rPr lang="en-US" altLang="en-US"/>
              <a:t>Vector B: [0, 0, 1, 0, 1, 1, 1, 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46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610" y="149860"/>
            <a:ext cx="9603105" cy="68389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altLang="en-US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Compute Cosine Similarity</a:t>
            </a:r>
          </a:p>
        </p:txBody>
      </p:sp>
      <p:pic>
        <p:nvPicPr>
          <p:cNvPr id="5" name="Content Placeholder 4" descr="Screenshot 2025-08-05 at 8.27.23 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" y="833755"/>
            <a:ext cx="11222990" cy="512953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967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7155" y="1687195"/>
            <a:ext cx="9687560" cy="3778885"/>
          </a:xfrm>
        </p:spPr>
        <p:txBody>
          <a:bodyPr/>
          <a:lstStyle/>
          <a:p>
            <a:r>
              <a:rPr lang="en-US" altLang="en-US" sz="2400"/>
              <a:t>Cosine Similarity = 0.4 (on a scale of 0 to 1)</a:t>
            </a:r>
          </a:p>
          <a:p>
            <a:r>
              <a:rPr lang="en-US" altLang="en-US" sz="2400"/>
              <a:t>This indicates some similarity, mainly due to shared words like "is" and "and".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5943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Let’s now compute Jaccard Similarity using the same two 5-word texts.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Example Texts (5 words each):</a:t>
            </a:r>
          </a:p>
          <a:p>
            <a:r>
              <a:rPr lang="en-US" altLang="en-US"/>
              <a:t>Text A: "Data science is fun and"</a:t>
            </a:r>
          </a:p>
          <a:p>
            <a:r>
              <a:rPr lang="en-US" altLang="en-US"/>
              <a:t>Text B: "Machine learning is cool and"</a:t>
            </a:r>
          </a:p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5945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Jaccard Similarity?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en-US"/>
                  <a:t>The Jaccard Similarity measures similarity between two sets and is defined as:  </a:t>
                </a:r>
              </a:p>
              <a:p>
                <a:r>
                  <a:rPr lang="en-US" altLang="en-US"/>
                  <a:t>Jaccard Similarity =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A</m:t>
                    </m:r>
                    <m:r>
                      <a:rPr lang="en-US" altLang="en-US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∩ </m:t>
                    </m:r>
                    <m:r>
                      <m:rPr>
                        <m:sty m:val="p"/>
                      </m:rPr>
                      <a:rPr lang="en-US" altLang="en-US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B</m:t>
                    </m:r>
                    <m:r>
                      <a:rPr lang="en-US" altLang="en-US"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  / </m:t>
                    </m:r>
                    <m:r>
                      <a:rPr lang="en-US" altLang="en-US">
                        <a:latin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en-US">
                        <a:latin typeface="Cambria Math" panose="02040503050406030204" charset="0"/>
                        <a:sym typeface="+mn-ea"/>
                      </a:rPr>
                      <m:t> ∪ </m:t>
                    </m:r>
                    <m:r>
                      <a:rPr lang="en-US" altLang="en-US">
                        <a:latin typeface="Cambria Math" panose="02040503050406030204" charset="0"/>
                        <a:sym typeface="+mn-ea"/>
                      </a:rPr>
                      <m:t>𝐵</m:t>
                    </m:r>
                    <m:r>
                      <a:rPr lang="en-US" altLang="en-US">
                        <a:latin typeface="Cambria Math" panose="02040503050406030204" charset="0"/>
                        <a:sym typeface="+mn-ea"/>
                      </a:rPr>
                      <m:t>  </m:t>
                    </m:r>
                  </m:oMath>
                </a14:m>
                <a:endParaRPr lang="en-US" altLang="en-US"/>
              </a:p>
              <a:p>
                <a:endParaRPr lang="en-US" altLang="en-US"/>
              </a:p>
              <a:p>
                <a:r>
                  <a:rPr lang="en-US" altLang="en-US"/>
                  <a:t>Where:</a:t>
                </a:r>
              </a:p>
              <a:p>
                <a:r>
                  <a:rPr lang="en-US" altLang="en-US"/>
                  <a:t>A and B are sets of words from the two texts.</a:t>
                </a:r>
              </a:p>
              <a:p>
                <a:r>
                  <a:rPr lang="en-US" altLang="en-US"/>
                  <a:t>A ∩ B is the intersection (common words).</a:t>
                </a:r>
              </a:p>
              <a:p>
                <a:r>
                  <a:rPr lang="en-US" altLang="en-US"/>
                  <a:t>A ∪ B  is the union (all unique words).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71" t="-177" b="-12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5389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Step 1: Convert to Sets</a:t>
            </a:r>
          </a:p>
          <a:p>
            <a:r>
              <a:rPr lang="en-US" altLang="en-US"/>
              <a:t>Set A: {data, science, is, fun, and}</a:t>
            </a:r>
          </a:p>
          <a:p>
            <a:r>
              <a:rPr lang="en-US" altLang="en-US"/>
              <a:t>Set B: {machine, learning, is, cool, and}</a:t>
            </a:r>
          </a:p>
          <a:p>
            <a:endParaRPr lang="en-US" altLang="en-US"/>
          </a:p>
          <a:p>
            <a:r>
              <a:rPr lang="en-US" altLang="en-US"/>
              <a:t> Step 2 :Compute Intersection and Union</a:t>
            </a:r>
          </a:p>
          <a:p>
            <a:r>
              <a:rPr lang="en-US" altLang="en-US"/>
              <a:t>Intersection: {is, and} → 2 words</a:t>
            </a:r>
          </a:p>
          <a:p>
            <a:r>
              <a:rPr lang="en-US" altLang="en-US"/>
              <a:t>Union: {data, science, is, fun, and, machine, learning, cool} → 8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8613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5235" y="1069340"/>
            <a:ext cx="9809480" cy="4396740"/>
          </a:xfrm>
        </p:spPr>
        <p:txBody>
          <a:bodyPr/>
          <a:lstStyle/>
          <a:p>
            <a:r>
              <a:rPr lang="en-US" altLang="en-US"/>
              <a:t>Step 3 : Compute </a:t>
            </a:r>
          </a:p>
          <a:p>
            <a:r>
              <a:rPr lang="en-US" altLang="en-US"/>
              <a:t>Jaccard Similarity  = 8/2 =0.25</a:t>
            </a: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Final Result </a:t>
            </a:r>
          </a:p>
          <a:p>
            <a:r>
              <a:rPr lang="en-US" altLang="en-US"/>
              <a:t>Jaccard Similarity = 0.25</a:t>
            </a:r>
          </a:p>
          <a:p>
            <a:r>
              <a:rPr lang="en-US" altLang="en-US"/>
              <a:t>It shows that the sets share 25% common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372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Hamming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610" y="1586865"/>
            <a:ext cx="9603105" cy="3879215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Definition:</a:t>
            </a:r>
          </a:p>
          <a:p>
            <a:r>
              <a:rPr lang="en-US" altLang="en-US"/>
              <a:t>Hamming distance measures the number of positions at which two equal-length objects differ.</a:t>
            </a:r>
          </a:p>
          <a:p>
            <a:endParaRPr lang="en-US" altLang="en-US"/>
          </a:p>
          <a:p>
            <a:r>
              <a:rPr lang="zh-CN" altLang="en-US"/>
              <a:t>👉 </a:t>
            </a:r>
            <a:r>
              <a:rPr lang="en-US" altLang="en-US"/>
              <a:t>It is mainly used for:</a:t>
            </a:r>
          </a:p>
          <a:p>
            <a:endParaRPr lang="en-US" altLang="en-US"/>
          </a:p>
          <a:p>
            <a:r>
              <a:rPr lang="en-US" altLang="en-US"/>
              <a:t>Binary data (0/1)</a:t>
            </a:r>
          </a:p>
          <a:p>
            <a:r>
              <a:rPr lang="en-US" altLang="en-US"/>
              <a:t>Categorical data</a:t>
            </a:r>
          </a:p>
          <a:p>
            <a:r>
              <a:rPr lang="en-US" altLang="en-US"/>
              <a:t>Error detection in coding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3176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610" y="487045"/>
            <a:ext cx="9603105" cy="1366520"/>
          </a:xfrm>
        </p:spPr>
        <p:txBody>
          <a:bodyPr>
            <a:normAutofit/>
          </a:bodyPr>
          <a:lstStyle/>
          <a:p>
            <a:r>
              <a:rPr lang="en-US"/>
              <a:t>Example: Hamming distance between two vectors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1580" y="1852930"/>
            <a:ext cx="9603105" cy="40322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5054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610" y="161290"/>
            <a:ext cx="9603105" cy="636270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Applications of Hamming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36</a:t>
            </a:fld>
            <a:endParaRPr lang="en-IN"/>
          </a:p>
        </p:txBody>
      </p:sp>
      <p:graphicFrame>
        <p:nvGraphicFramePr>
          <p:cNvPr id="5" name="Table 4"/>
          <p:cNvGraphicFramePr/>
          <p:nvPr/>
        </p:nvGraphicFramePr>
        <p:xfrm>
          <a:off x="0" y="797560"/>
          <a:ext cx="12192000" cy="698881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482465"/>
                <a:gridCol w="7709535"/>
              </a:tblGrid>
              <a:tr h="557530">
                <a:tc>
                  <a:txBody>
                    <a:bodyPr/>
                    <a:lstStyle/>
                    <a:p>
                      <a:r>
                        <a:rPr sz="2800"/>
                        <a:t>Application Area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800"/>
                        <a:t>Use Case</a:t>
                      </a:r>
                    </a:p>
                  </a:txBody>
                  <a:tcPr marL="0" marR="0" marT="0" marB="0" anchor="ctr"/>
                </a:tc>
              </a:tr>
              <a:tr h="1670050">
                <a:tc>
                  <a:txBody>
                    <a:bodyPr/>
                    <a:lstStyle/>
                    <a:p>
                      <a:r>
                        <a:rPr sz="2800"/>
                        <a:t>Error detection &amp; correction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800"/>
                        <a:t>Used in Hamming codes to detect and correct single-bit errors in data transmission.</a:t>
                      </a:r>
                    </a:p>
                  </a:txBody>
                  <a:tcPr marL="0" marR="0" marT="0" marB="0" anchor="ctr"/>
                </a:tc>
              </a:tr>
              <a:tr h="1111885">
                <a:tc>
                  <a:txBody>
                    <a:bodyPr/>
                    <a:lstStyle/>
                    <a:p>
                      <a:r>
                        <a:rPr sz="2800"/>
                        <a:t>Networking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800"/>
                        <a:t>To verify data integrity in communication systems.</a:t>
                      </a:r>
                    </a:p>
                  </a:txBody>
                  <a:tcPr marL="0" marR="0" marT="0" marB="0" anchor="ctr"/>
                </a:tc>
              </a:tr>
              <a:tr h="1113790">
                <a:tc>
                  <a:txBody>
                    <a:bodyPr/>
                    <a:lstStyle/>
                    <a:p>
                      <a:r>
                        <a:rPr sz="2800"/>
                        <a:t>Genetics/Bioinformatics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800"/>
                        <a:t>Compare DNA sequences to identify mutations.</a:t>
                      </a:r>
                    </a:p>
                  </a:txBody>
                  <a:tcPr marL="0" marR="0" marT="0" marB="0" anchor="ctr"/>
                </a:tc>
              </a:tr>
              <a:tr h="1113790">
                <a:tc>
                  <a:txBody>
                    <a:bodyPr/>
                    <a:lstStyle/>
                    <a:p>
                      <a:r>
                        <a:rPr sz="2800"/>
                        <a:t>Cryptography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800"/>
                        <a:t>Compare encrypted hashes for similarity.</a:t>
                      </a:r>
                    </a:p>
                  </a:txBody>
                  <a:tcPr marL="0" marR="0" marT="0" marB="0" anchor="ctr"/>
                </a:tc>
              </a:tr>
              <a:tr h="1421765">
                <a:tc>
                  <a:txBody>
                    <a:bodyPr/>
                    <a:lstStyle/>
                    <a:p>
                      <a:r>
                        <a:rPr sz="2800"/>
                        <a:t>Machine Learning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2800"/>
                        <a:t>Distance metric in binary feature vectors (e.g., in k-NN or clustering).</a:t>
                      </a: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1503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xmlns="" id="{E792BE84-3448-2348-B352-CD5BC083E5FD}"/>
              </a:ext>
            </a:extLst>
          </p:cNvPr>
          <p:cNvSpPr/>
          <p:nvPr/>
        </p:nvSpPr>
        <p:spPr>
          <a:xfrm>
            <a:off x="2590800" y="1905000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</a:t>
            </a:r>
            <a:r>
              <a:rPr lang="en-US" sz="2400" b="1">
                <a:latin typeface="Poppins" pitchFamily="2" charset="77"/>
                <a:cs typeface="Poppins" pitchFamily="2" charset="77"/>
              </a:rPr>
              <a:t>– </a:t>
            </a:r>
            <a:r>
              <a:rPr lang="en-US" sz="2400" b="1" smtClean="0">
                <a:latin typeface="Poppins" pitchFamily="2" charset="77"/>
                <a:cs typeface="Poppins" pitchFamily="2" charset="77"/>
              </a:rPr>
              <a:t>DS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DAV</Template>
  <TotalTime>778</TotalTime>
  <Words>2905</Words>
  <Application>Microsoft Office PowerPoint</Application>
  <PresentationFormat>Widescreen</PresentationFormat>
  <Paragraphs>429</Paragraphs>
  <Slides>37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Arial</vt:lpstr>
      <vt:lpstr>BioRhyme ExtraBold</vt:lpstr>
      <vt:lpstr>Calibri</vt:lpstr>
      <vt:lpstr>Cambria Math</vt:lpstr>
      <vt:lpstr>DejaVu Math TeX Gyre</vt:lpstr>
      <vt:lpstr>Gill Sans MT</vt:lpstr>
      <vt:lpstr>Poppins</vt:lpstr>
      <vt:lpstr>Times New Roman</vt:lpstr>
      <vt:lpstr>var(--font-family-primary)</vt:lpstr>
      <vt:lpstr>Wingdings</vt:lpstr>
      <vt:lpstr>等线</vt:lpstr>
      <vt:lpstr>Gallery</vt:lpstr>
      <vt:lpstr>PowerPoint Presentation</vt:lpstr>
      <vt:lpstr>PowerPoint Presentation</vt:lpstr>
      <vt:lpstr>      Key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Manhattan Distance</vt:lpstr>
      <vt:lpstr>PowerPoint Presentation</vt:lpstr>
      <vt:lpstr>PowerPoint Presentation</vt:lpstr>
      <vt:lpstr>Cosine Similarity</vt:lpstr>
      <vt:lpstr> Represent as Vectors (Bag-of-Words)</vt:lpstr>
      <vt:lpstr>PowerPoint Presentation</vt:lpstr>
      <vt:lpstr>Compute Cosine Similarity</vt:lpstr>
      <vt:lpstr>Result</vt:lpstr>
      <vt:lpstr>Let’s now compute Jaccard Similarity using the same two 5-word texts.</vt:lpstr>
      <vt:lpstr>What is Jaccard Similarity?</vt:lpstr>
      <vt:lpstr>Computation</vt:lpstr>
      <vt:lpstr>PowerPoint Presentation</vt:lpstr>
      <vt:lpstr>Hamming distance</vt:lpstr>
      <vt:lpstr>Example: Hamming distance between two vectors</vt:lpstr>
      <vt:lpstr>Applications of Hamming Distance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VOCABULARY</dc:title>
  <dc:creator>ramesh babu padamata</dc:creator>
  <cp:lastModifiedBy>Admin</cp:lastModifiedBy>
  <cp:revision>63</cp:revision>
  <dcterms:created xsi:type="dcterms:W3CDTF">2023-10-26T04:57:25Z</dcterms:created>
  <dcterms:modified xsi:type="dcterms:W3CDTF">2026-05-23T08:35:06Z</dcterms:modified>
</cp:coreProperties>
</file>