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6"/>
  </p:notesMasterIdLst>
  <p:sldIdLst>
    <p:sldId id="256" r:id="rId2"/>
    <p:sldId id="300" r:id="rId3"/>
    <p:sldId id="363" r:id="rId4"/>
    <p:sldId id="382" r:id="rId5"/>
    <p:sldId id="364" r:id="rId6"/>
    <p:sldId id="377" r:id="rId7"/>
    <p:sldId id="378" r:id="rId8"/>
    <p:sldId id="365" r:id="rId9"/>
    <p:sldId id="379" r:id="rId10"/>
    <p:sldId id="366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304" r:id="rId3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6" d="100"/>
          <a:sy n="76" d="100"/>
        </p:scale>
        <p:origin x="869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7C990-AAAF-4074-A8C9-4B293FE2C43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170A-ACE9-4F2D-9C96-321FF0FE2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1. Logical / Conceptual Architecture (Top Part of the Diagram)</a:t>
            </a:r>
          </a:p>
          <a:p>
            <a:r>
              <a:rPr lang="en-IN" dirty="0"/>
              <a:t>This shows </a:t>
            </a:r>
            <a:r>
              <a:rPr lang="en-IN" b="1" dirty="0"/>
              <a:t>how data flows conceptually</a:t>
            </a:r>
            <a:r>
              <a:rPr lang="en-IN" dirty="0"/>
              <a:t> through different stages:</a:t>
            </a:r>
          </a:p>
          <a:p>
            <a:r>
              <a:rPr lang="en-IN" b="1" dirty="0"/>
              <a:t>Data Sources</a:t>
            </a:r>
            <a:endParaRPr lang="en-IN" dirty="0"/>
          </a:p>
          <a:p>
            <a:pPr lvl="1"/>
            <a:r>
              <a:rPr lang="en-IN" b="1" dirty="0"/>
              <a:t>Relational data stores</a:t>
            </a:r>
            <a:r>
              <a:rPr lang="en-IN" dirty="0"/>
              <a:t> → databases (like MySQL, </a:t>
            </a:r>
            <a:r>
              <a:rPr lang="en-IN" dirty="0" err="1"/>
              <a:t>PostgreSQL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Data streams</a:t>
            </a:r>
            <a:r>
              <a:rPr lang="en-IN" dirty="0"/>
              <a:t> → real-time event data (e.g., IoT sensors, logs, Kafka streams).</a:t>
            </a:r>
          </a:p>
          <a:p>
            <a:r>
              <a:rPr lang="en-IN" b="1" dirty="0"/>
              <a:t>Staging and Historical Storage</a:t>
            </a:r>
            <a:endParaRPr lang="en-IN" dirty="0"/>
          </a:p>
          <a:p>
            <a:pPr lvl="1"/>
            <a:r>
              <a:rPr lang="en-IN" b="1" dirty="0"/>
              <a:t>Data Lake</a:t>
            </a:r>
            <a:r>
              <a:rPr lang="en-IN" dirty="0"/>
              <a:t> → centralized storage for raw, semi-structured, and structured data.</a:t>
            </a:r>
          </a:p>
          <a:p>
            <a:pPr lvl="1"/>
            <a:r>
              <a:rPr lang="en-IN" b="1" dirty="0"/>
              <a:t>Data </a:t>
            </a:r>
            <a:r>
              <a:rPr lang="en-IN" b="1" dirty="0" err="1"/>
              <a:t>Catalog</a:t>
            </a:r>
            <a:r>
              <a:rPr lang="en-IN" dirty="0"/>
              <a:t> → metadata system to keep track of what data exists and where.</a:t>
            </a:r>
          </a:p>
          <a:p>
            <a:r>
              <a:rPr lang="en-IN" b="1" dirty="0"/>
              <a:t>Data Preparation</a:t>
            </a:r>
            <a:endParaRPr lang="en-IN" dirty="0"/>
          </a:p>
          <a:p>
            <a:pPr lvl="1"/>
            <a:r>
              <a:rPr lang="en-IN" b="1" dirty="0"/>
              <a:t>ETL (Extract, Transform, Load)</a:t>
            </a:r>
            <a:r>
              <a:rPr lang="en-IN" dirty="0"/>
              <a:t> → processes raw data into structured/clean data.</a:t>
            </a:r>
          </a:p>
          <a:p>
            <a:pPr lvl="1"/>
            <a:r>
              <a:rPr lang="en-IN" b="1" dirty="0"/>
              <a:t>Partitioned data on object store</a:t>
            </a:r>
            <a:r>
              <a:rPr lang="en-IN" dirty="0"/>
              <a:t> → optimized storage format (like Parquet, ORC).</a:t>
            </a:r>
          </a:p>
          <a:p>
            <a:r>
              <a:rPr lang="en-IN" b="1" dirty="0"/>
              <a:t>Analytics and Machine Learning (ML)</a:t>
            </a:r>
            <a:endParaRPr lang="en-IN" dirty="0"/>
          </a:p>
          <a:p>
            <a:pPr lvl="1"/>
            <a:r>
              <a:rPr lang="en-IN" b="1" dirty="0"/>
              <a:t>Cloud database</a:t>
            </a:r>
            <a:r>
              <a:rPr lang="en-IN" dirty="0"/>
              <a:t> → processed/structured data stored for analysis.</a:t>
            </a:r>
          </a:p>
          <a:p>
            <a:pPr lvl="1"/>
            <a:r>
              <a:rPr lang="en-IN" b="1" dirty="0"/>
              <a:t>Query engines</a:t>
            </a:r>
            <a:r>
              <a:rPr lang="en-IN" dirty="0"/>
              <a:t> → tools to </a:t>
            </a:r>
            <a:r>
              <a:rPr lang="en-IN" dirty="0" err="1"/>
              <a:t>analyze</a:t>
            </a:r>
            <a:r>
              <a:rPr lang="en-IN" dirty="0"/>
              <a:t>/query large datasets (like SQL engines, ML platforms).</a:t>
            </a:r>
          </a:p>
          <a:p>
            <a:r>
              <a:rPr lang="en-IN" dirty="0"/>
              <a:t>🔑 This part is </a:t>
            </a:r>
            <a:r>
              <a:rPr lang="en-IN" b="1" dirty="0"/>
              <a:t>technology-independent</a:t>
            </a:r>
            <a:r>
              <a:rPr lang="en-IN" dirty="0"/>
              <a:t> and explains the logical flow.</a:t>
            </a:r>
          </a:p>
          <a:p>
            <a:r>
              <a:rPr lang="en-IN" b="1" dirty="0"/>
              <a:t>2. Platform Architecture (Bottom Part of the Diagram)</a:t>
            </a:r>
          </a:p>
          <a:p>
            <a:r>
              <a:rPr lang="en-IN" dirty="0"/>
              <a:t>This shows the </a:t>
            </a:r>
            <a:r>
              <a:rPr lang="en-IN" b="1" dirty="0"/>
              <a:t>practical implementation</a:t>
            </a:r>
            <a:r>
              <a:rPr lang="en-IN" dirty="0"/>
              <a:t> of the logical pipeline using real tools:</a:t>
            </a:r>
          </a:p>
          <a:p>
            <a:r>
              <a:rPr lang="en-IN" b="1" dirty="0"/>
              <a:t>Data Sources (server logs)</a:t>
            </a:r>
            <a:endParaRPr lang="en-IN" dirty="0"/>
          </a:p>
          <a:p>
            <a:pPr lvl="1"/>
            <a:r>
              <a:rPr lang="en-IN" dirty="0"/>
              <a:t>Logs from servers, applications, APIs, etc.</a:t>
            </a:r>
          </a:p>
          <a:p>
            <a:r>
              <a:rPr lang="en-IN" b="1" dirty="0"/>
              <a:t>Event Processing</a:t>
            </a:r>
            <a:endParaRPr lang="en-IN" dirty="0"/>
          </a:p>
          <a:p>
            <a:pPr lvl="1"/>
            <a:r>
              <a:rPr lang="en-IN" b="1" dirty="0"/>
              <a:t>Amazon Kinesis</a:t>
            </a:r>
            <a:r>
              <a:rPr lang="en-IN" dirty="0"/>
              <a:t> → streaming service to collect, process, and </a:t>
            </a:r>
            <a:r>
              <a:rPr lang="en-IN" dirty="0" err="1"/>
              <a:t>analyze</a:t>
            </a:r>
            <a:r>
              <a:rPr lang="en-IN" dirty="0"/>
              <a:t> real-time data.</a:t>
            </a:r>
          </a:p>
          <a:p>
            <a:r>
              <a:rPr lang="en-IN" b="1" dirty="0"/>
              <a:t>ETL + Storage</a:t>
            </a:r>
            <a:endParaRPr lang="en-IN" dirty="0"/>
          </a:p>
          <a:p>
            <a:pPr lvl="1"/>
            <a:r>
              <a:rPr lang="en-IN" b="1" dirty="0"/>
              <a:t>ETL service (symbol </a:t>
            </a:r>
            <a:r>
              <a:rPr lang="el-GR" b="1" dirty="0"/>
              <a:t>φ)</a:t>
            </a:r>
            <a:r>
              <a:rPr lang="el-GR" dirty="0"/>
              <a:t> → </a:t>
            </a:r>
            <a:r>
              <a:rPr lang="en-IN" dirty="0"/>
              <a:t>transformation service (could be AWS Glue, Spark, or custom code).</a:t>
            </a:r>
          </a:p>
          <a:p>
            <a:pPr lvl="1"/>
            <a:r>
              <a:rPr lang="en-IN" b="1" dirty="0"/>
              <a:t>Amazon S3</a:t>
            </a:r>
            <a:r>
              <a:rPr lang="en-IN" dirty="0"/>
              <a:t> → object storage where raw + transformed data is stored.</a:t>
            </a:r>
          </a:p>
          <a:p>
            <a:r>
              <a:rPr lang="en-IN" b="1" dirty="0"/>
              <a:t>Querying</a:t>
            </a:r>
            <a:endParaRPr lang="en-IN" dirty="0"/>
          </a:p>
          <a:p>
            <a:pPr lvl="1"/>
            <a:r>
              <a:rPr lang="en-IN" b="1" dirty="0"/>
              <a:t>Amazon Athena</a:t>
            </a:r>
            <a:r>
              <a:rPr lang="en-IN" dirty="0"/>
              <a:t> → interactive SQL query engine that works directly with S3 data.</a:t>
            </a:r>
          </a:p>
          <a:p>
            <a:r>
              <a:rPr lang="en-IN" b="1" dirty="0"/>
              <a:t>BI and Analytics</a:t>
            </a:r>
            <a:endParaRPr lang="en-IN" dirty="0"/>
          </a:p>
          <a:p>
            <a:pPr lvl="1"/>
            <a:r>
              <a:rPr lang="en-IN" b="1" dirty="0"/>
              <a:t>Looker</a:t>
            </a:r>
            <a:r>
              <a:rPr lang="en-IN" dirty="0"/>
              <a:t> → business intelligence tool for dashboards, analytics, and reporting.</a:t>
            </a:r>
          </a:p>
          <a:p>
            <a:r>
              <a:rPr lang="en-IN" dirty="0"/>
              <a:t>🔑 This part is </a:t>
            </a:r>
            <a:r>
              <a:rPr lang="en-IN" b="1" dirty="0"/>
              <a:t>technology-specific</a:t>
            </a:r>
            <a:r>
              <a:rPr lang="en-IN" dirty="0"/>
              <a:t> and shows how the conceptual design is implemented on AWS cloud.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197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Left Side: Data Source</a:t>
            </a:r>
          </a:p>
          <a:p>
            <a:r>
              <a:rPr lang="en-US" b="1" dirty="0"/>
              <a:t>Mobile App Logs</a:t>
            </a:r>
            <a:endParaRPr lang="en-US" dirty="0"/>
          </a:p>
          <a:p>
            <a:pPr lvl="1"/>
            <a:r>
              <a:rPr lang="en-US" dirty="0"/>
              <a:t>These are raw data generated by users when they interact with a mobile app.</a:t>
            </a:r>
          </a:p>
          <a:p>
            <a:pPr lvl="1"/>
            <a:r>
              <a:rPr lang="en-US" dirty="0"/>
              <a:t>Examples: login attempts, clicks, purchases, crashes, navigation, etc.</a:t>
            </a:r>
          </a:p>
          <a:p>
            <a:r>
              <a:rPr lang="en-US" b="1" dirty="0"/>
              <a:t>🔹 Middle: Data Pipeline Architecture</a:t>
            </a:r>
          </a:p>
          <a:p>
            <a:r>
              <a:rPr lang="en-US" b="1" dirty="0"/>
              <a:t>Data Ingestion</a:t>
            </a:r>
            <a:endParaRPr lang="en-US" dirty="0"/>
          </a:p>
          <a:p>
            <a:pPr lvl="1"/>
            <a:r>
              <a:rPr lang="en-US" dirty="0"/>
              <a:t>Data from mobile apps is collected into the pipeline.</a:t>
            </a:r>
          </a:p>
          <a:p>
            <a:pPr lvl="1"/>
            <a:r>
              <a:rPr lang="en-US" dirty="0"/>
              <a:t>This step ensures raw logs are captured in real time or batch mode.</a:t>
            </a:r>
          </a:p>
          <a:p>
            <a:r>
              <a:rPr lang="en-US" b="1" dirty="0"/>
              <a:t>Processing &amp; Transformation</a:t>
            </a:r>
            <a:endParaRPr lang="en-US" dirty="0"/>
          </a:p>
          <a:p>
            <a:pPr lvl="1"/>
            <a:r>
              <a:rPr lang="en-US" dirty="0"/>
              <a:t>The data pipeline processes and transforms data into structured formats.</a:t>
            </a:r>
          </a:p>
          <a:p>
            <a:pPr lvl="1"/>
            <a:r>
              <a:rPr lang="en-US" dirty="0"/>
              <a:t>Example: organizing logs into meaningful events (purchase, crash, active time).</a:t>
            </a:r>
          </a:p>
          <a:p>
            <a:r>
              <a:rPr lang="en-US" b="1" dirty="0"/>
              <a:t>Storage &amp; Validation</a:t>
            </a:r>
            <a:endParaRPr lang="en-US" dirty="0"/>
          </a:p>
          <a:p>
            <a:pPr lvl="1"/>
            <a:r>
              <a:rPr lang="en-US" dirty="0"/>
              <a:t>The processed data is stored in databases, data warehouses, or data lakes.</a:t>
            </a:r>
          </a:p>
          <a:p>
            <a:pPr lvl="1"/>
            <a:r>
              <a:rPr lang="en-US" dirty="0"/>
              <a:t>It is cleaned, validated, and made ready for analytics.</a:t>
            </a:r>
          </a:p>
          <a:p>
            <a:r>
              <a:rPr lang="en-US" b="1" dirty="0"/>
              <a:t>🔹 Right Side: End Users of Data</a:t>
            </a:r>
          </a:p>
          <a:p>
            <a:r>
              <a:rPr lang="en-US" dirty="0"/>
              <a:t>The processed data is consumed by different stakeholders, each asking different questions:</a:t>
            </a:r>
          </a:p>
          <a:p>
            <a:r>
              <a:rPr lang="en-US" b="1" dirty="0"/>
              <a:t>Data Scientist</a:t>
            </a:r>
            <a:endParaRPr lang="en-US" dirty="0"/>
          </a:p>
          <a:p>
            <a:pPr lvl="1"/>
            <a:r>
              <a:rPr lang="en-US" dirty="0"/>
              <a:t>Question: </a:t>
            </a:r>
            <a:r>
              <a:rPr lang="en-US" i="1" dirty="0"/>
              <a:t>“Which users are most likely to become customers?”</a:t>
            </a:r>
            <a:endParaRPr lang="en-US" dirty="0"/>
          </a:p>
          <a:p>
            <a:pPr lvl="1"/>
            <a:r>
              <a:rPr lang="en-US" dirty="0"/>
              <a:t>They use statistical models and machine learning to predict future customer behavior.</a:t>
            </a:r>
          </a:p>
          <a:p>
            <a:r>
              <a:rPr lang="en-US" b="1" dirty="0"/>
              <a:t>Business Executive</a:t>
            </a:r>
            <a:endParaRPr lang="en-US" dirty="0"/>
          </a:p>
          <a:p>
            <a:pPr lvl="1"/>
            <a:r>
              <a:rPr lang="en-US" dirty="0"/>
              <a:t>Question: </a:t>
            </a:r>
            <a:r>
              <a:rPr lang="en-US" i="1" dirty="0"/>
              <a:t>“How many users became customers last year?”</a:t>
            </a:r>
            <a:endParaRPr lang="en-US" dirty="0"/>
          </a:p>
          <a:p>
            <a:pPr lvl="1"/>
            <a:r>
              <a:rPr lang="en-US" dirty="0"/>
              <a:t>They focus on </a:t>
            </a:r>
            <a:r>
              <a:rPr lang="en-US" b="1" dirty="0"/>
              <a:t>business KPIs</a:t>
            </a:r>
            <a:r>
              <a:rPr lang="en-US" dirty="0"/>
              <a:t> like conversions, revenue, retention.</a:t>
            </a:r>
          </a:p>
          <a:p>
            <a:pPr lvl="1"/>
            <a:r>
              <a:rPr lang="en-US" dirty="0"/>
              <a:t>This helps in making strategic decisions.</a:t>
            </a:r>
          </a:p>
          <a:p>
            <a:r>
              <a:rPr lang="en-US" b="1" dirty="0"/>
              <a:t>Developer</a:t>
            </a:r>
            <a:endParaRPr lang="en-US" dirty="0"/>
          </a:p>
          <a:p>
            <a:pPr lvl="1"/>
            <a:r>
              <a:rPr lang="en-US" dirty="0"/>
              <a:t>Question: </a:t>
            </a:r>
            <a:r>
              <a:rPr lang="en-US" i="1" dirty="0"/>
              <a:t>“Why is the app crashing for some users?”</a:t>
            </a:r>
            <a:endParaRPr lang="en-US" dirty="0"/>
          </a:p>
          <a:p>
            <a:pPr lvl="1"/>
            <a:r>
              <a:rPr lang="en-US" dirty="0"/>
              <a:t>They analyze error logs and performance metrics to debug issues.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9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CSE, CSIT</a:t>
            </a: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science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- 6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10343" y="689854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to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Pipelines</a:t>
            </a: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</a:t>
            </a:r>
            <a:r>
              <a:rPr lang="en-US" altLang="en-US" sz="1600" dirty="0">
                <a:latin typeface="Arial"/>
                <a:cs typeface="Arial"/>
              </a:rPr>
              <a:t>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Pipelines</a:t>
            </a: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FB182DA-8516-88B8-108C-8195B81974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52463"/>
            <a:ext cx="10515600" cy="1325562"/>
          </a:xfrm>
        </p:spPr>
        <p:txBody>
          <a:bodyPr/>
          <a:lstStyle/>
          <a:p>
            <a:r>
              <a:rPr lang="en-US" altLang="en-US" dirty="0"/>
              <a:t>      Key Concepts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6F88FC0-F086-2D56-9F7F-55E81DA658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9281" y="1316038"/>
            <a:ext cx="11602720" cy="45958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Data Pipeline Architecture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Pipeline Architecture Importance with An Example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Components and Building Blocks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 marL="0" indent="0"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11277599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Pipeline is a series of processes used to collect, transfer, transform, process, and store data from multiple sources into a destination system for analysis and decision-making.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Science, data pipelines automate the flow of data from: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Machine Learning models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pipeline ensures that data moves smoothly and efficiently through different stages without manual intervention.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Data Pipeline: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Pipeline is an automated workflow that extracts data from various sources, processes it, and delivers it to a destination for analysis, reporting, or machine learning.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895600" y="1524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 Pipeline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16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895600" y="1524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 Pipeline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6D0E9-3E58-11FC-84EB-E2C46FCD7D09}"/>
              </a:ext>
            </a:extLst>
          </p:cNvPr>
          <p:cNvSpPr txBox="1"/>
          <p:nvPr/>
        </p:nvSpPr>
        <p:spPr>
          <a:xfrm>
            <a:off x="609600" y="838200"/>
            <a:ext cx="109675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logical architecture </a:t>
            </a:r>
            <a:r>
              <a:rPr lang="en-US" sz="20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that outlines the process and transformations a dataset undergoes, from collection to serving (see data architecture components).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set of tools and frameworks </a:t>
            </a:r>
            <a:r>
              <a:rPr lang="en-US" sz="20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used in a particular scenario, and the role each of these performs.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D0F33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B764C-B354-AC6F-AFFB-C80CABF1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81200"/>
            <a:ext cx="6781800" cy="394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77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11582399" cy="56388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/ Conceptual Architecture (Top Part of the Diagram)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flows conceptually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different stages: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stores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databases (like MySQL,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streams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real-time event data (e.g., IoT sensors, logs, Kafka streams).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 and Historical Storage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centralized storage for raw, semi-structured, and structured data.</a:t>
            </a: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metadata system to keep track of what data exists and where.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(Extract, Transform, Load)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processes raw data into structured/clean data.</a:t>
            </a: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Partitioned data on object store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optimized storage format (like Parquet, ORC).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Machine Learning (ML)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processed/structured data stored for analysis.</a:t>
            </a: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engines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tools to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/query large datasets (like SQL engines, ML platforms).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This part is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technology-independent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explains the logical flow.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Platform Architecture (Bottom Part of the Diagram)</a:t>
            </a: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logical pipeline using real tools: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(server logs)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from servers, applications, APIs, etc.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Processing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Kinesis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streaming service to collect, process, and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data.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+ Storage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service (symbol </a:t>
            </a:r>
            <a:r>
              <a:rPr lang="el-G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φ)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service (could be AWS Glue, Spark, or custom code).</a:t>
            </a:r>
          </a:p>
          <a:p>
            <a:pPr lvl="1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object storage where raw + transformed data is stored.</a:t>
            </a:r>
          </a:p>
          <a:p>
            <a:pPr lvl="1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0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609600"/>
            <a:ext cx="10216654" cy="4856745"/>
          </a:xfrm>
        </p:spPr>
        <p:txBody>
          <a:bodyPr>
            <a:norm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Athena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interactive SQL query engine that works directly with S3 data.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and Analytics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business intelligence tool for dashboards, analytics, and reporting.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This part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technology-specific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shows how the conceptual design is implemented on AWS cloud.</a:t>
            </a:r>
          </a:p>
          <a:p>
            <a:pPr algn="just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(logical) explains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from sources → storage → preparation → analytics.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part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(platform) shows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Kinesis, S3, Athena, Looker) that implement the same pipeline in practice</a:t>
            </a:r>
          </a:p>
          <a:p>
            <a:pPr algn="just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6770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800" dirty="0"/>
              <a:t>Pipeline Architecture Importance with An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6D0E9-3E58-11FC-84EB-E2C46FCD7D09}"/>
              </a:ext>
            </a:extLst>
          </p:cNvPr>
          <p:cNvSpPr txBox="1"/>
          <p:nvPr/>
        </p:nvSpPr>
        <p:spPr>
          <a:xfrm>
            <a:off x="1066800" y="774854"/>
            <a:ext cx="109675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Multiple people in the organization will want to work with that data in different ways: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Data scientists want to build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models that predict user behavior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and to test their hypotheses on various historical states of the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Developers want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investigate application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logs to identify downtime and improve performance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Business executives want visibility into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revenue-driving metrics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such as installs and in-app purchases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9E584-1D09-7909-9C66-AE0FD6576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26" y="2514600"/>
            <a:ext cx="9601200" cy="394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5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11353799" cy="53340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Side: Data Source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Logs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raw data generated by users when they interact with a mobile app.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login attempts, clicks, purchases, crashes, navigation, etc.</a:t>
            </a:r>
          </a:p>
          <a:p>
            <a:pPr marL="0" indent="0">
              <a:buNone/>
            </a:pP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Middle: Data Pipeline Architecture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mobile apps is collected into the pipeline.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ensures raw logs are captured in real time or batch mode.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Transformation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pipeline processes and transforms data into structured formats.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organizing logs into meaningful events (purchase, crash, active time).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Validation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stored in databases, data warehouses, or data lakes.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cleaned, validated, and made ready for analytics.</a:t>
            </a:r>
          </a:p>
          <a:p>
            <a:pPr marL="0" indent="0">
              <a:buNone/>
            </a:pP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Side: End Users of Data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consumed by different stakeholders, each asking different questions: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“Which users are most likely to become customers?”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statistical models and machine learning to predict future customer behavior.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Executive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many users became customers last year?”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focus on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KPIs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conversions, revenue, retention.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making strategic decisions.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“Why is the app crashing for some users?”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analyze error logs and performance metrics to debug issues.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Components and Building Blocks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BBBC1-AB2A-266A-0552-E81F36BCAF3D}"/>
              </a:ext>
            </a:extLst>
          </p:cNvPr>
          <p:cNvSpPr txBox="1"/>
          <p:nvPr/>
        </p:nvSpPr>
        <p:spPr>
          <a:xfrm>
            <a:off x="762000" y="990600"/>
            <a:ext cx="112014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includes:</a:t>
            </a:r>
          </a:p>
          <a:p>
            <a:pPr algn="just"/>
            <a:endParaRPr lang="en-IN" sz="1600" b="0" i="0" dirty="0">
              <a:solidFill>
                <a:srgbClr val="03062E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Source data is generated from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remote devices, applications, or business systems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and made available via API.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Collected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is moved to a storage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layer where it can be further prepared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analysis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The storage layer might be a relational database like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or unstructured object storage in a cloud data lake such as AWS S3.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Preparation: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Data is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aggregated, cleansed, and manipulated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order to normalize it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company standards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and make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available for further analysis.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This could also include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converting file formats, compressing and partitioning data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Consumption:</a:t>
            </a:r>
            <a:r>
              <a:rPr lang="en-US" sz="1600" b="1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Prepared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is moved to production systems </a:t>
            </a:r>
            <a:r>
              <a:rPr lang="en-US" sz="1600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– analytics and visualization tools, operational data stores, decision engines, or user-facing applications.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870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11201400" cy="5181600"/>
          </a:xfrm>
        </p:spPr>
        <p:txBody>
          <a:bodyPr>
            <a:no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Science, Machine Learning, Data Mining, and Pattern Recognition, it is often necessary to compare objects, records, or datasets to determine how similar or different they are.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is done using: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Measures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Measures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and dissimilarity are widely used in: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</a:t>
            </a:r>
          </a:p>
          <a:p>
            <a:pPr marL="914400" lvl="2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/>
              <a:t>Similarity and Dissimilarity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8562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11506200" cy="518160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refers to the degree to which two objects, records, or data points are alike.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objects are highly similar: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characteristics are nearly the same.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similarity value is high.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students with similar: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behavior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are considered similar.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/>
              <a:t>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4110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11277600" cy="51054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Scale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More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→ Less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similarity measures range between: 0 and 1 Where: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Completely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→ Completely different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91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11430000" cy="5257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 of Similarity: E-Commerce Recommendation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compares customers based 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history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Browsing behavior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ratings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customers have similar interests, Amazon recommends similar products.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219200"/>
            <a:ext cx="5257800" cy="262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5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10972799" cy="495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refers to the degree to which two objects differ from each other.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objects are very different: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dissimilarity value is high.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patients with completely different symptoms have high dissimilarity.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Scale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More different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→ More similar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/>
              <a:t>Dissimilarity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0900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10972800" cy="5257800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 Fraud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compare transaction patterns.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transaction is highly dissimilar from normal customer behavior: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be flagged as fraudulent.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8864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63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388" y="911551"/>
            <a:ext cx="10506973" cy="4695619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FF0000"/>
                </a:solidFill>
                <a:latin typeface="Poppins"/>
              </a:rPr>
              <a:t>Distance Measures for Numerical Data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Euclidean Distance: It is the straight-linei distance between two points in space.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√[(x1-y1)² + (x2-y2)² + ... + (xn-yn)²]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Manhattan Distance:It  sums the absolute differences along each dimension. |x1-y1| + |x2-y2| + ... + |xn-yn|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Minkowski Distance: Generalization of Euclidean and Manhattan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1750424" y="163632"/>
            <a:ext cx="9366068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/>
              <a:t>Distance Measures for Numerical Data</a:t>
            </a:r>
          </a:p>
        </p:txBody>
      </p:sp>
    </p:spTree>
    <p:extLst>
      <p:ext uri="{BB962C8B-B14F-4D97-AF65-F5344CB8AC3E}">
        <p14:creationId xmlns:p14="http://schemas.microsoft.com/office/powerpoint/2010/main" val="568688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440" y="812165"/>
            <a:ext cx="10518140" cy="49650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65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Manhattan Distance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635" y="2015490"/>
            <a:ext cx="9187815" cy="34505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2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340" y="449580"/>
            <a:ext cx="11347450" cy="55505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57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812" y="1898166"/>
            <a:ext cx="11247120" cy="2190508"/>
          </a:xfrm>
        </p:spPr>
        <p:txBody>
          <a:bodyPr>
            <a:noAutofit/>
          </a:bodyPr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dirty="0"/>
              <a:t>Similarity Measures for Text or Binary Data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Cosine Similarity: Measures angle between two vectors (used in text)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Jaccard Similarity: Intersection / Union (used for binary/categorical)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Hamming Distance: Number of positions with different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2664263" y="402649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latin typeface="Poppins"/>
              </a:rPr>
              <a:t>Similarity Measures for Text or Binary Data</a:t>
            </a:r>
          </a:p>
        </p:txBody>
      </p:sp>
    </p:spTree>
    <p:extLst>
      <p:ext uri="{BB962C8B-B14F-4D97-AF65-F5344CB8AC3E}">
        <p14:creationId xmlns:p14="http://schemas.microsoft.com/office/powerpoint/2010/main" val="1722531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</a:rPr>
              <a:t>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1534795"/>
            <a:ext cx="9603105" cy="3931285"/>
          </a:xfrm>
        </p:spPr>
        <p:txBody>
          <a:bodyPr/>
          <a:lstStyle/>
          <a:p>
            <a:r>
              <a:rPr lang="en-US" altLang="en-US"/>
              <a:t>Cosine similarity is a measure of similarity between two non-zero vectors of an inner product space that measures the cosine of the angle between them. Similarity = (A.B) / (||A||.||B||) where A and B are vectors. </a:t>
            </a:r>
          </a:p>
          <a:p>
            <a:r>
              <a:rPr lang="en-US" altLang="en-US"/>
              <a:t>Example :</a:t>
            </a:r>
          </a:p>
          <a:p>
            <a:r>
              <a:rPr lang="en-US" altLang="en-US"/>
              <a:t>Text A: "Data science is fun and"</a:t>
            </a:r>
          </a:p>
          <a:p>
            <a:r>
              <a:rPr lang="en-US" altLang="en-US"/>
              <a:t>Text B: "Machine learning is cool and"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7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Represent as Vectors (Bag-of-Words)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graphicFrame>
        <p:nvGraphicFramePr>
          <p:cNvPr id="5" name="Table 4"/>
          <p:cNvGraphicFramePr/>
          <p:nvPr/>
        </p:nvGraphicFramePr>
        <p:xfrm>
          <a:off x="1350645" y="1691640"/>
          <a:ext cx="9382125" cy="386905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12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Word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Text A (Vector A)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Text B (Vector B)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science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fun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and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machine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cool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633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 the vectors are:</a:t>
            </a:r>
          </a:p>
          <a:p>
            <a:r>
              <a:rPr lang="en-US" altLang="en-US"/>
              <a:t>Vector A: [1, 1, 1, 1, 1, 0, 0, 0]</a:t>
            </a:r>
          </a:p>
          <a:p>
            <a:r>
              <a:rPr lang="en-US" altLang="en-US"/>
              <a:t>Vector B: [0, 0, 1, 0, 1, 1, 1,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46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149860"/>
            <a:ext cx="9603105" cy="68389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Compute Cosine Similarity</a:t>
            </a:r>
          </a:p>
        </p:txBody>
      </p:sp>
      <p:pic>
        <p:nvPicPr>
          <p:cNvPr id="5" name="Content Placeholder 4" descr="Screenshot 2025-08-05 at 8.27.23 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" y="833755"/>
            <a:ext cx="11222990" cy="51295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967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155" y="1687195"/>
            <a:ext cx="9687560" cy="3778885"/>
          </a:xfrm>
        </p:spPr>
        <p:txBody>
          <a:bodyPr/>
          <a:lstStyle/>
          <a:p>
            <a:r>
              <a:rPr lang="en-US" altLang="en-US" sz="2400"/>
              <a:t>Cosine Similarity = 0.4 (on a scale of 0 to 1)</a:t>
            </a:r>
          </a:p>
          <a:p>
            <a:r>
              <a:rPr lang="en-US" altLang="en-US" sz="2400"/>
              <a:t>This indicates some similarity, mainly due to shared words like "is" and "and".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94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Let’s now compute Jaccard Similarity using the same two 5-word texts.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Example Texts (5 words each):</a:t>
            </a:r>
          </a:p>
          <a:p>
            <a:r>
              <a:rPr lang="en-US" altLang="en-US"/>
              <a:t>Text A: "Data science is fun and"</a:t>
            </a:r>
          </a:p>
          <a:p>
            <a:r>
              <a:rPr lang="en-US" altLang="en-US"/>
              <a:t>Text B: "Machine learning is cool and"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94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Jaccard Similarity?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/>
                  <a:t>The Jaccard Similarity measures similarity between two sets and is defined as:  </a:t>
                </a:r>
              </a:p>
              <a:p>
                <a:r>
                  <a:rPr lang="en-US" altLang="en-US"/>
                  <a:t>Jaccard Similarity =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A</m:t>
                    </m:r>
                    <m: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∩ </m:t>
                    </m:r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B</m:t>
                    </m:r>
                    <m: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 / 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 ∪ 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  </m:t>
                    </m:r>
                  </m:oMath>
                </a14:m>
                <a:endParaRPr lang="en-US" altLang="en-US"/>
              </a:p>
              <a:p>
                <a:endParaRPr lang="en-US" altLang="en-US"/>
              </a:p>
              <a:p>
                <a:r>
                  <a:rPr lang="en-US" altLang="en-US"/>
                  <a:t>Where:</a:t>
                </a:r>
              </a:p>
              <a:p>
                <a:r>
                  <a:rPr lang="en-US" altLang="en-US"/>
                  <a:t>A and B are sets of words from the two texts.</a:t>
                </a:r>
              </a:p>
              <a:p>
                <a:r>
                  <a:rPr lang="en-US" altLang="en-US"/>
                  <a:t>A ∩ B is the intersection (common words).</a:t>
                </a:r>
              </a:p>
              <a:p>
                <a:r>
                  <a:rPr lang="en-US" altLang="en-US"/>
                  <a:t>A ∪ B  is the union (all unique words).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71" t="-177" b="-1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5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Step 1: Convert to Sets</a:t>
            </a:r>
          </a:p>
          <a:p>
            <a:r>
              <a:rPr lang="en-US" altLang="en-US"/>
              <a:t>Set A: {data, science, is, fun, and}</a:t>
            </a:r>
          </a:p>
          <a:p>
            <a:r>
              <a:rPr lang="en-US" altLang="en-US"/>
              <a:t>Set B: {machine, learning, is, cool, and}</a:t>
            </a:r>
          </a:p>
          <a:p>
            <a:endParaRPr lang="en-US" altLang="en-US"/>
          </a:p>
          <a:p>
            <a:r>
              <a:rPr lang="en-US" altLang="en-US"/>
              <a:t> Step 2 :Compute Intersection and Union</a:t>
            </a:r>
          </a:p>
          <a:p>
            <a:r>
              <a:rPr lang="en-US" altLang="en-US"/>
              <a:t>Intersection: {is, and} → 2 words</a:t>
            </a:r>
          </a:p>
          <a:p>
            <a:r>
              <a:rPr lang="en-US" altLang="en-US"/>
              <a:t>Union: {data, science, is, fun, and, machine, learning, cool} → 8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61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235" y="1069340"/>
            <a:ext cx="9809480" cy="4396740"/>
          </a:xfrm>
        </p:spPr>
        <p:txBody>
          <a:bodyPr/>
          <a:lstStyle/>
          <a:p>
            <a:r>
              <a:rPr lang="en-US" altLang="en-US" dirty="0"/>
              <a:t>Step 3 : Compute </a:t>
            </a:r>
          </a:p>
          <a:p>
            <a:r>
              <a:rPr lang="en-US" altLang="en-US" dirty="0"/>
              <a:t>Jaccard Similarity  = 2/8=0.25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Final Result </a:t>
            </a:r>
          </a:p>
          <a:p>
            <a:r>
              <a:rPr lang="en-US" altLang="en-US" dirty="0"/>
              <a:t>Jaccard Similarity = 0.25</a:t>
            </a:r>
          </a:p>
          <a:p>
            <a:r>
              <a:rPr lang="en-US" altLang="en-US" dirty="0"/>
              <a:t>It shows that the sets share 25% common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72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Hamming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1586865"/>
            <a:ext cx="9603105" cy="387921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Definition:</a:t>
            </a:r>
          </a:p>
          <a:p>
            <a:r>
              <a:rPr lang="en-US" altLang="en-US"/>
              <a:t>Hamming distance measures the number of positions at which two equal-length objects differ.</a:t>
            </a:r>
          </a:p>
          <a:p>
            <a:endParaRPr lang="en-US" altLang="en-US"/>
          </a:p>
          <a:p>
            <a:r>
              <a:rPr lang="zh-CN" altLang="en-US"/>
              <a:t>👉 </a:t>
            </a:r>
            <a:r>
              <a:rPr lang="en-US" altLang="en-US"/>
              <a:t>It is mainly used for:</a:t>
            </a:r>
          </a:p>
          <a:p>
            <a:endParaRPr lang="en-US" altLang="en-US"/>
          </a:p>
          <a:p>
            <a:r>
              <a:rPr lang="en-US" altLang="en-US"/>
              <a:t>Binary data (0/1)</a:t>
            </a:r>
          </a:p>
          <a:p>
            <a:r>
              <a:rPr lang="en-US" altLang="en-US"/>
              <a:t>Categorical data</a:t>
            </a:r>
          </a:p>
          <a:p>
            <a:r>
              <a:rPr lang="en-US" altLang="en-US"/>
              <a:t>Error detection in coding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17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487045"/>
            <a:ext cx="9603105" cy="1366520"/>
          </a:xfrm>
        </p:spPr>
        <p:txBody>
          <a:bodyPr>
            <a:normAutofit/>
          </a:bodyPr>
          <a:lstStyle/>
          <a:p>
            <a:r>
              <a:rPr lang="en-US"/>
              <a:t>Example: Hamming distance between two vectors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580" y="1852930"/>
            <a:ext cx="9603105" cy="40322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5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161290"/>
            <a:ext cx="9603105" cy="63627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Applications of Hamming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33</a:t>
            </a:fld>
            <a:endParaRPr lang="en-IN"/>
          </a:p>
        </p:txBody>
      </p:sp>
      <p:graphicFrame>
        <p:nvGraphicFramePr>
          <p:cNvPr id="5" name="Table 4"/>
          <p:cNvGraphicFramePr/>
          <p:nvPr/>
        </p:nvGraphicFramePr>
        <p:xfrm>
          <a:off x="0" y="797560"/>
          <a:ext cx="12192000" cy="698881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482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530">
                <a:tc>
                  <a:txBody>
                    <a:bodyPr/>
                    <a:lstStyle/>
                    <a:p>
                      <a:r>
                        <a:rPr sz="2800"/>
                        <a:t>Application Area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Use Case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0">
                <a:tc>
                  <a:txBody>
                    <a:bodyPr/>
                    <a:lstStyle/>
                    <a:p>
                      <a:r>
                        <a:rPr sz="2800"/>
                        <a:t>Error detection &amp; correction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Used in Hamming codes to detect and correct single-bit errors in data transmission.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1885">
                <a:tc>
                  <a:txBody>
                    <a:bodyPr/>
                    <a:lstStyle/>
                    <a:p>
                      <a:r>
                        <a:rPr sz="2800"/>
                        <a:t>Networking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To verify data integrity in communication systems.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790">
                <a:tc>
                  <a:txBody>
                    <a:bodyPr/>
                    <a:lstStyle/>
                    <a:p>
                      <a:r>
                        <a:rPr sz="2800"/>
                        <a:t>Genetics/Bioinformatics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Compare DNA sequences to identify mutations.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3790">
                <a:tc>
                  <a:txBody>
                    <a:bodyPr/>
                    <a:lstStyle/>
                    <a:p>
                      <a:r>
                        <a:rPr sz="2800"/>
                        <a:t>Cryptography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Compare encrypted hashes for similarity.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765">
                <a:tc>
                  <a:txBody>
                    <a:bodyPr/>
                    <a:lstStyle/>
                    <a:p>
                      <a:r>
                        <a:rPr sz="2800"/>
                        <a:t>Machine 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Distance metric in binary feature vectors (e.g., in k-NN or clustering).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150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90800" y="1905000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905</TotalTime>
  <Words>2522</Words>
  <Application>Microsoft Office PowerPoint</Application>
  <PresentationFormat>Widescreen</PresentationFormat>
  <Paragraphs>356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BioRhyme ExtraBold</vt:lpstr>
      <vt:lpstr>Calibri</vt:lpstr>
      <vt:lpstr>Cambria Math</vt:lpstr>
      <vt:lpstr>Gill Sans MT</vt:lpstr>
      <vt:lpstr>Poppins</vt:lpstr>
      <vt:lpstr>Times New Roman</vt:lpstr>
      <vt:lpstr>var(--font-family-primary)</vt:lpstr>
      <vt:lpstr>Wingdings</vt:lpstr>
      <vt:lpstr>Gallery</vt:lpstr>
      <vt:lpstr>PowerPoint Presentation</vt:lpstr>
      <vt:lpstr>PowerPoint Presentation</vt:lpstr>
      <vt:lpstr>     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Manhattan Distance</vt:lpstr>
      <vt:lpstr>PowerPoint Presentation</vt:lpstr>
      <vt:lpstr>PowerPoint Presentation</vt:lpstr>
      <vt:lpstr>Cosine Similarity</vt:lpstr>
      <vt:lpstr> Represent as Vectors (Bag-of-Words)</vt:lpstr>
      <vt:lpstr>PowerPoint Presentation</vt:lpstr>
      <vt:lpstr>Compute Cosine Similarity</vt:lpstr>
      <vt:lpstr>Result</vt:lpstr>
      <vt:lpstr>Let’s now compute Jaccard Similarity using the same two 5-word texts.</vt:lpstr>
      <vt:lpstr>What is Jaccard Similarity?</vt:lpstr>
      <vt:lpstr>Computation</vt:lpstr>
      <vt:lpstr>PowerPoint Presentation</vt:lpstr>
      <vt:lpstr>Hamming distance</vt:lpstr>
      <vt:lpstr>Example: Hamming distance between two vectors</vt:lpstr>
      <vt:lpstr>Applications of Hamming Distance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sunanda nalajala</cp:lastModifiedBy>
  <cp:revision>65</cp:revision>
  <dcterms:created xsi:type="dcterms:W3CDTF">2023-10-26T04:57:25Z</dcterms:created>
  <dcterms:modified xsi:type="dcterms:W3CDTF">2026-08-08T07:07:03Z</dcterms:modified>
</cp:coreProperties>
</file>