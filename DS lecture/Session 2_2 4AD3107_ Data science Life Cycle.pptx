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25"/>
  </p:notesMasterIdLst>
  <p:sldIdLst>
    <p:sldId id="256" r:id="rId2"/>
    <p:sldId id="300" r:id="rId3"/>
    <p:sldId id="414" r:id="rId4"/>
    <p:sldId id="415" r:id="rId5"/>
    <p:sldId id="261" r:id="rId6"/>
    <p:sldId id="423" r:id="rId7"/>
    <p:sldId id="263" r:id="rId8"/>
    <p:sldId id="264" r:id="rId9"/>
    <p:sldId id="266" r:id="rId10"/>
    <p:sldId id="267" r:id="rId11"/>
    <p:sldId id="400" r:id="rId12"/>
    <p:sldId id="401" r:id="rId13"/>
    <p:sldId id="412" r:id="rId14"/>
    <p:sldId id="402" r:id="rId15"/>
    <p:sldId id="403" r:id="rId16"/>
    <p:sldId id="404" r:id="rId17"/>
    <p:sldId id="363" r:id="rId18"/>
    <p:sldId id="418" r:id="rId19"/>
    <p:sldId id="419" r:id="rId20"/>
    <p:sldId id="420" r:id="rId21"/>
    <p:sldId id="421" r:id="rId22"/>
    <p:sldId id="422" r:id="rId23"/>
    <p:sldId id="304" r:id="rId24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247" autoAdjust="0"/>
  </p:normalViewPr>
  <p:slideViewPr>
    <p:cSldViewPr>
      <p:cViewPr varScale="1">
        <p:scale>
          <a:sx n="71" d="100"/>
          <a:sy n="71" d="100"/>
        </p:scale>
        <p:origin x="1032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2C877A-E39B-4B1C-B3FF-C155CCCC698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3D5C3F-221C-401B-B292-1EA1E23D9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231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3D5C3F-221C-401B-B292-1EA1E23D9B2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73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2468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8274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82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031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231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2208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832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2202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30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4109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1295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29304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08000" y="213359"/>
            <a:ext cx="11176000" cy="546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070"/>
              </a:lnSpc>
            </a:pPr>
            <a:r>
              <a:rPr dirty="0"/>
              <a:t>Canadian</a:t>
            </a:r>
            <a:r>
              <a:rPr spc="-25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dirty="0"/>
              <a:t>Science</a:t>
            </a:r>
            <a:r>
              <a:rPr spc="-25" dirty="0"/>
              <a:t> </a:t>
            </a:r>
            <a:r>
              <a:rPr spc="-5" dirty="0"/>
              <a:t>Workshop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09855">
              <a:lnSpc>
                <a:spcPts val="1070"/>
              </a:lnSpc>
            </a:pPr>
            <a:fld id="{81D60167-4931-47E6-BA6A-407CBD079E47}" type="slidenum">
              <a:rPr dirty="0"/>
              <a:pPr marL="109855">
                <a:lnSpc>
                  <a:spcPts val="1070"/>
                </a:lnSpc>
              </a:pPr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8033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76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aths/qualitative-data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geeksforgeeks.org/dbms/what-is-semi-structured-data/" TargetMode="External"/><Relationship Id="rId5" Type="http://schemas.openxmlformats.org/officeDocument/2006/relationships/hyperlink" Target="https://www.geeksforgeeks.org/data-science/what-is-unstructured-data/" TargetMode="External"/><Relationship Id="rId4" Type="http://schemas.openxmlformats.org/officeDocument/2006/relationships/hyperlink" Target="https://www.geeksforgeeks.org/dbms/what-is-structured-data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75;p16">
            <a:extLst>
              <a:ext uri="{FF2B5EF4-FFF2-40B4-BE49-F238E27FC236}">
                <a16:creationId xmlns:a16="http://schemas.microsoft.com/office/drawing/2014/main" id="{CB69EC99-FFAF-B3A6-842B-B510C0EAB741}"/>
              </a:ext>
            </a:extLst>
          </p:cNvPr>
          <p:cNvSpPr txBox="1"/>
          <p:nvPr/>
        </p:nvSpPr>
        <p:spPr>
          <a:xfrm>
            <a:off x="2971800" y="762000"/>
            <a:ext cx="5650523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00B0F0"/>
                </a:solidFill>
                <a:cs typeface="Poppins" pitchFamily="2" charset="77"/>
              </a:rPr>
              <a:t>Department of CSE, CSIT </a:t>
            </a:r>
          </a:p>
        </p:txBody>
      </p:sp>
      <p:sp>
        <p:nvSpPr>
          <p:cNvPr id="6" name="Google Shape;476;p16">
            <a:extLst>
              <a:ext uri="{FF2B5EF4-FFF2-40B4-BE49-F238E27FC236}">
                <a16:creationId xmlns:a16="http://schemas.microsoft.com/office/drawing/2014/main" id="{84A891A9-D46F-5E9B-65D6-C64F832A0362}"/>
              </a:ext>
            </a:extLst>
          </p:cNvPr>
          <p:cNvSpPr txBox="1"/>
          <p:nvPr/>
        </p:nvSpPr>
        <p:spPr>
          <a:xfrm>
            <a:off x="1595120" y="2048911"/>
            <a:ext cx="8218565" cy="2185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COURSE NAME: Data science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00B0F0"/>
                </a:solidFill>
                <a:cs typeface="Poppins" panose="00000500000000000000" pitchFamily="2" charset="0"/>
                <a:sym typeface="BioRhyme ExtraBold"/>
              </a:rPr>
              <a:t>COURSE CODE: 24AD3107</a:t>
            </a: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	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</a:rPr>
              <a:t>Data science LIFE CYCLE</a:t>
            </a:r>
            <a:endParaRPr lang="en-US" sz="3200" b="1" cap="all" dirty="0">
              <a:ln/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5120A7A-ED85-153C-EE7C-2FEB2D482089}"/>
              </a:ext>
            </a:extLst>
          </p:cNvPr>
          <p:cNvSpPr/>
          <p:nvPr/>
        </p:nvSpPr>
        <p:spPr>
          <a:xfrm>
            <a:off x="4876800" y="5410200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- 2</a:t>
            </a:r>
            <a:endParaRPr sz="2800" b="1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3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376488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1371599" y="689855"/>
            <a:ext cx="10470029" cy="87716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</a:t>
            </a:r>
            <a:r>
              <a:rPr lang="en-US" sz="1600" dirty="0">
                <a:latin typeface="Poppins"/>
                <a:cs typeface="Poppins"/>
              </a:rPr>
              <a:t>Data</a:t>
            </a:r>
            <a:r>
              <a:rPr lang="en-US" dirty="0"/>
              <a:t> Science  and it’s Challenges</a:t>
            </a:r>
            <a:endParaRPr lang="en-US" sz="1600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449514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9982200" cy="5623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 Understand the Data</a:t>
            </a:r>
            <a:r>
              <a:rPr lang="en-US" dirty="0"/>
              <a:t> Science  and it’s Challenges</a:t>
            </a:r>
            <a:endParaRPr lang="en-US" sz="1600" b="0" i="0" dirty="0">
              <a:effectLst/>
              <a:latin typeface="Poppins"/>
              <a:cs typeface="Poppins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47684" y="4863626"/>
            <a:ext cx="9906000" cy="50834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 realize the Various Challenges </a:t>
            </a:r>
            <a:r>
              <a:rPr lang="en-US" altLang="en-US" sz="1600" dirty="0">
                <a:latin typeface="Arial"/>
                <a:cs typeface="Arial"/>
              </a:rPr>
              <a:t>of Data Science</a:t>
            </a:r>
            <a:endParaRPr lang="en-US" sz="1600" b="0" i="0" dirty="0">
              <a:effectLst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1752600"/>
            <a:ext cx="4645152" cy="4419600"/>
          </a:xfrm>
        </p:spPr>
        <p:txBody>
          <a:bodyPr>
            <a:noAutofit/>
          </a:bodyPr>
          <a:lstStyle/>
          <a:p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Key Concepts for Data Science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:-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Data Collection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Data Cleaning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Exploratory Data Analysis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Machine Learning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Predictive Modeling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Data Visualization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Statistical Analysis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Decision Making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1828801"/>
            <a:ext cx="4645152" cy="4267200"/>
          </a:xfrm>
        </p:spPr>
        <p:txBody>
          <a:bodyPr>
            <a:noAutofit/>
          </a:bodyPr>
          <a:lstStyle/>
          <a:p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Challenge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s:-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Data Quality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Data Privacy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Scalability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Model Interpretability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Over fitting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Model Deployment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Talent Gap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Ethical Concerns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978A528D-FBDF-73B4-7991-604D89DCA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457200"/>
            <a:ext cx="9605962" cy="68580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642911"/>
          </a:xfrm>
        </p:spPr>
        <p:txBody>
          <a:bodyPr>
            <a:normAutofit/>
          </a:bodyPr>
          <a:lstStyle/>
          <a:p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   KEY CONCEPTS AND CHALLENGES FOR DATASCIENCE </a:t>
            </a:r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063803" y="2057400"/>
            <a:ext cx="3994722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39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1447800" y="1981200"/>
            <a:ext cx="4645025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1892663" y="6524300"/>
            <a:ext cx="14732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70"/>
              </a:lnSpc>
            </a:pPr>
            <a:r>
              <a:rPr sz="1000" dirty="0">
                <a:solidFill>
                  <a:srgbClr val="888888"/>
                </a:solidFill>
                <a:latin typeface="Arial MT"/>
                <a:cs typeface="Arial MT"/>
              </a:rPr>
              <a:t>4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A089155C-E23B-0296-9020-64F94D8F977B}"/>
              </a:ext>
            </a:extLst>
          </p:cNvPr>
          <p:cNvSpPr/>
          <p:nvPr/>
        </p:nvSpPr>
        <p:spPr>
          <a:xfrm>
            <a:off x="2579174" y="228600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DATA COLLECTION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219201"/>
            <a:ext cx="96774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Data collection refers to the process of </a:t>
            </a:r>
            <a:r>
              <a:rPr lang="en-US" sz="25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gathering and acquiring 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data from </a:t>
            </a:r>
            <a:r>
              <a:rPr lang="en-US" sz="25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various sources, such as surveys, sensors, or web scraping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, to build datasets for analysis.</a:t>
            </a:r>
          </a:p>
          <a:p>
            <a:endParaRPr lang="en-US" sz="25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Key Points:-</a:t>
            </a:r>
          </a:p>
          <a:p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Sources of Data</a:t>
            </a:r>
          </a:p>
          <a:p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Types of Data (Structured, Unstructured)</a:t>
            </a:r>
          </a:p>
          <a:p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Importance of Ethical and Legal Compliance</a:t>
            </a:r>
          </a:p>
          <a:p>
            <a:endParaRPr lang="en-US" sz="25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Visual: Icons representing different data sources (e.g., survey form, sensor, web page) and a database symbol to represent data collection.</a:t>
            </a:r>
            <a:br>
              <a:rPr lang="en-US" sz="2500" dirty="0">
                <a:latin typeface="Times New Roman" pitchFamily="18" charset="0"/>
                <a:cs typeface="Times New Roman" pitchFamily="18" charset="0"/>
              </a:rPr>
            </a:br>
            <a:endParaRPr lang="en-US" sz="25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96106D-81D0-7720-1A06-F03BA116E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066800"/>
            <a:ext cx="5791200" cy="381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188A5F-D0DB-CF82-B8E8-11652C0AEBD4}"/>
              </a:ext>
            </a:extLst>
          </p:cNvPr>
          <p:cNvSpPr txBox="1"/>
          <p:nvPr/>
        </p:nvSpPr>
        <p:spPr>
          <a:xfrm>
            <a:off x="6138135" y="228600"/>
            <a:ext cx="6104964" cy="5711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100"/>
              </a:lnSpc>
              <a:spcBef>
                <a:spcPts val="1800"/>
              </a:spcBef>
              <a:spcAft>
                <a:spcPts val="1800"/>
              </a:spcAft>
              <a:buNone/>
            </a:pPr>
            <a:endParaRPr lang="en-US" b="1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l" rtl="0" fontAlgn="base">
              <a:spcAft>
                <a:spcPts val="750"/>
              </a:spcAft>
              <a:buNone/>
            </a:pPr>
            <a:r>
              <a:rPr lang="en-US" b="0" i="0" u="sng" dirty="0">
                <a:solidFill>
                  <a:srgbClr val="357960"/>
                </a:solidFill>
                <a:effectLst/>
                <a:latin typeface="Nunito" pitchFamily="2" charset="0"/>
                <a:hlinkClick r:id="rId3"/>
              </a:rPr>
              <a:t>Quantitative data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is information that can be measured, counted and expressed in numerical form. It provides objective values that can be analyzed statistically to identify patterns, trends and relationships.</a:t>
            </a:r>
          </a:p>
          <a:p>
            <a:pPr fontAlgn="base">
              <a:spcAft>
                <a:spcPts val="750"/>
              </a:spcAft>
            </a:pPr>
            <a:r>
              <a:rPr lang="en-US" u="sng" dirty="0">
                <a:hlinkClick r:id="rId3"/>
              </a:rPr>
              <a:t>Qualitative data</a:t>
            </a:r>
            <a:r>
              <a:rPr lang="en-US" dirty="0"/>
              <a:t> is descriptive, non-numeric information that explains qualities, characteristics or categories rather than quantities. It helps understand opinions, experiences and meanings behind behaviors.</a:t>
            </a:r>
          </a:p>
          <a:p>
            <a:pPr fontAlgn="base">
              <a:spcAft>
                <a:spcPts val="750"/>
              </a:spcAft>
            </a:pPr>
            <a:r>
              <a:rPr lang="en-US" u="sng" dirty="0">
                <a:hlinkClick r:id="rId4"/>
              </a:rPr>
              <a:t>Structured data</a:t>
            </a:r>
            <a:r>
              <a:rPr lang="en-US" dirty="0"/>
              <a:t> is information organized into a predefined format (rows and columns) that makes it easily searchable and manageable by traditional databases.</a:t>
            </a:r>
          </a:p>
          <a:p>
            <a:pPr fontAlgn="base">
              <a:spcAft>
                <a:spcPts val="750"/>
              </a:spcAft>
            </a:pPr>
            <a:r>
              <a:rPr lang="en-US" u="sng" dirty="0">
                <a:hlinkClick r:id="rId5"/>
              </a:rPr>
              <a:t>Unstructured data</a:t>
            </a:r>
            <a:r>
              <a:rPr lang="en-US" dirty="0"/>
              <a:t> is raw information that does not follow a predefined structure or format making it harder to organize and analyze with conventional tools.</a:t>
            </a:r>
          </a:p>
          <a:p>
            <a:pPr fontAlgn="base">
              <a:spcAft>
                <a:spcPts val="750"/>
              </a:spcAft>
            </a:pPr>
            <a:r>
              <a:rPr lang="en-US" u="sng" dirty="0">
                <a:hlinkClick r:id="rId6"/>
              </a:rPr>
              <a:t>Semi-structured data</a:t>
            </a:r>
            <a:r>
              <a:rPr lang="en-US" dirty="0"/>
              <a:t> combines aspects of structured and unstructured data. It does not reside in traditional tables but still contains tags or markers that provide a loose structure.</a:t>
            </a:r>
            <a:endParaRPr lang="en-US" b="0" i="0" dirty="0">
              <a:solidFill>
                <a:srgbClr val="273239"/>
              </a:solidFill>
              <a:effectLst/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927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1919714" y="6523031"/>
            <a:ext cx="9652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70"/>
              </a:lnSpc>
            </a:pPr>
            <a:r>
              <a:rPr sz="1000" dirty="0">
                <a:solidFill>
                  <a:srgbClr val="888888"/>
                </a:solidFill>
                <a:latin typeface="Arial MT"/>
                <a:cs typeface="Arial MT"/>
              </a:rPr>
              <a:t>5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16B68C-1471-F9EE-82DD-AD43E8CBCAC6}"/>
              </a:ext>
            </a:extLst>
          </p:cNvPr>
          <p:cNvSpPr txBox="1"/>
          <p:nvPr/>
        </p:nvSpPr>
        <p:spPr>
          <a:xfrm>
            <a:off x="1219200" y="735538"/>
            <a:ext cx="9448800" cy="5863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Data cleaning, also known as data cleansing or data preprocessing, is the process of </a:t>
            </a:r>
            <a:r>
              <a:rPr lang="en-US" sz="25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detecting and correcting errors, inconsistencies, and inaccuracies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 in datasets to ensure data quality and reliability for analysis.</a:t>
            </a:r>
          </a:p>
          <a:p>
            <a:endParaRPr lang="en-US" sz="25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Key Points:</a:t>
            </a:r>
          </a:p>
          <a:p>
            <a:pPr lvl="1"/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Identifying Missing Values</a:t>
            </a:r>
          </a:p>
          <a:p>
            <a:pPr lvl="1"/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Handling Duplicates</a:t>
            </a:r>
          </a:p>
          <a:p>
            <a:pPr lvl="1"/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Standardizing Data Formats</a:t>
            </a:r>
          </a:p>
          <a:p>
            <a:pPr lvl="1"/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Addressing Outliers and Anomalies</a:t>
            </a:r>
          </a:p>
          <a:p>
            <a:br>
              <a:rPr lang="en-US" sz="2500" dirty="0">
                <a:latin typeface="Times New Roman" pitchFamily="18" charset="0"/>
                <a:cs typeface="Times New Roman" pitchFamily="18" charset="0"/>
              </a:rPr>
            </a:b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 Visual: Icons representing data cleaning tasks (e.g., magnifying glass for identifying missing values, trash can for removing duplicates), and a visual depiction of data being refined or cleaned.</a:t>
            </a:r>
          </a:p>
          <a:p>
            <a:endParaRPr lang="en-US" sz="2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DB0CD9C8-2251-D250-708A-6C12DFAC92E3}"/>
              </a:ext>
            </a:extLst>
          </p:cNvPr>
          <p:cNvSpPr/>
          <p:nvPr/>
        </p:nvSpPr>
        <p:spPr>
          <a:xfrm>
            <a:off x="2776024" y="228600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DATA CLEANING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08000" y="762001"/>
            <a:ext cx="10998200" cy="6465873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Definition:- </a:t>
            </a: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EDA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is the process of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analyzing data sets to summarize their main characteristics, often with visual methods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It helps uncover patterns,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identify anomalies, and test assumptions before applying more advanced analysis techniques.</a:t>
            </a:r>
          </a:p>
          <a:p>
            <a:pPr lvl="1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Key Components:-</a:t>
            </a:r>
          </a:p>
          <a:p>
            <a:pPr lvl="1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Summary Statistics</a:t>
            </a:r>
          </a:p>
          <a:p>
            <a:pPr lvl="1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Data Visualization</a:t>
            </a:r>
          </a:p>
          <a:p>
            <a:pPr lvl="1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Data Cleaning and Preprocessing</a:t>
            </a:r>
          </a:p>
          <a:p>
            <a:pPr lvl="1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Definition:- </a:t>
            </a: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Machine Learning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a subset of artificial intelligence that focuses on the development of algorithms allowing computers to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learn from and make predictions or decisions based on data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without being explicitly programmed.</a:t>
            </a:r>
          </a:p>
          <a:p>
            <a:pPr lvl="1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Key Components:-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Training Data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Model Building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Prediction or Decision Making</a:t>
            </a:r>
          </a:p>
          <a:p>
            <a:pPr lvl="1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919714" y="6523031"/>
            <a:ext cx="9652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70"/>
              </a:lnSpc>
            </a:pPr>
            <a:r>
              <a:rPr sz="1000" dirty="0">
                <a:solidFill>
                  <a:srgbClr val="888888"/>
                </a:solidFill>
                <a:latin typeface="Arial MT"/>
                <a:cs typeface="Arial MT"/>
              </a:rPr>
              <a:t>5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C872C3B7-119E-6F9C-1ACB-E81F2C34BB0E}"/>
              </a:ext>
            </a:extLst>
          </p:cNvPr>
          <p:cNvSpPr/>
          <p:nvPr/>
        </p:nvSpPr>
        <p:spPr>
          <a:xfrm>
            <a:off x="2590800" y="0"/>
            <a:ext cx="8077200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WHAT IS EXPLORATORY DATA ANALYSIS(EDA)and ML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80"/>
              </a:lnSpc>
            </a:pPr>
            <a:r>
              <a:rPr dirty="0"/>
              <a:t>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1295400"/>
            <a:ext cx="10820400" cy="4980851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825500" marR="5080" indent="-812800" algn="just">
              <a:lnSpc>
                <a:spcPts val="3800"/>
              </a:lnSpc>
              <a:spcBef>
                <a:spcPts val="24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Definition:- Predictive modeling is the process of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using historical data to make predictions about future outcomes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It involves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building statistical models that can forecast or estimate the likelihood of future events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based on patterns and relationships identified in past data.</a:t>
            </a:r>
          </a:p>
          <a:p>
            <a:pPr marL="825500" marR="5080" indent="-812800" algn="just">
              <a:lnSpc>
                <a:spcPts val="3800"/>
              </a:lnSpc>
              <a:spcBef>
                <a:spcPts val="24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Importance:- Predictive modeling is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crucial in various fields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such as finance, healthcare, marketing, and manufacturing, as it helps organizations make informed decisions, anticipate trends, mitigate risks, and optimize processes.</a:t>
            </a:r>
          </a:p>
          <a:p>
            <a:pPr marL="825500" marR="5080" indent="-812800" algn="just">
              <a:lnSpc>
                <a:spcPts val="3800"/>
              </a:lnSpc>
              <a:spcBef>
                <a:spcPts val="24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Examples: Predicting customer churn, forecasting stock prices, diagnosing diseases, and detecting fraudulent activities.</a:t>
            </a:r>
          </a:p>
          <a:p>
            <a:pPr marL="825500" marR="5080" indent="-812800" algn="just">
              <a:lnSpc>
                <a:spcPts val="3800"/>
              </a:lnSpc>
              <a:spcBef>
                <a:spcPts val="240"/>
              </a:spcBef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13B7BBE1-D169-27E0-EC58-A0947C966D03}"/>
              </a:ext>
            </a:extLst>
          </p:cNvPr>
          <p:cNvSpPr/>
          <p:nvPr/>
        </p:nvSpPr>
        <p:spPr>
          <a:xfrm>
            <a:off x="2852224" y="228600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WHAT IS PREDICTIVE MODELING?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451579" y="914400"/>
            <a:ext cx="9603275" cy="5181600"/>
          </a:xfrm>
        </p:spPr>
        <p:txBody>
          <a:bodyPr>
            <a:no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Definition: Data visualization is the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graphical representation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of information and data. It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transforms complex datasets into visual formats, such as charts, graphs, and maps,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to facilitate understanding, analysis, and communication.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Importance: Data visualization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enables individuals and organizations to gain insights, identify patterns, detect trends, and communicate findings effectively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It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helps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in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conveying information clearly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and concisely,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making it easier for stakeholders to make data-driven decisions.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Tools: Popular data visualization tools include Tableau, Power BI, ggplot2 (R),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matplotlib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(Python), and D3.js.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80"/>
              </a:lnSpc>
            </a:pPr>
            <a:r>
              <a:rPr dirty="0"/>
              <a:t>8</a:t>
            </a:r>
          </a:p>
        </p:txBody>
      </p:sp>
      <p:sp>
        <p:nvSpPr>
          <p:cNvPr id="13" name="Rounded Rectangle 17">
            <a:extLst>
              <a:ext uri="{FF2B5EF4-FFF2-40B4-BE49-F238E27FC236}">
                <a16:creationId xmlns:a16="http://schemas.microsoft.com/office/drawing/2014/main" id="{4DF644C1-D688-0E53-B57B-AD7AC2C03A6F}"/>
              </a:ext>
            </a:extLst>
          </p:cNvPr>
          <p:cNvSpPr/>
          <p:nvPr/>
        </p:nvSpPr>
        <p:spPr>
          <a:xfrm>
            <a:off x="3048000" y="97041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WHAT IS DATA VISUALIZATION?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0C02CF45-4078-F3B5-F2F9-95D83651D362}"/>
              </a:ext>
            </a:extLst>
          </p:cNvPr>
          <p:cNvSpPr/>
          <p:nvPr/>
        </p:nvSpPr>
        <p:spPr>
          <a:xfrm>
            <a:off x="3048000" y="97041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Statistical Analysis and Decision making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451579" y="1143000"/>
            <a:ext cx="9603275" cy="4953000"/>
          </a:xfrm>
        </p:spPr>
        <p:txBody>
          <a:bodyPr>
            <a:no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Definition: Statistical analysis is the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process of collecting, exploring, summarizing, and interpreting data to uncover patterns, trends, relationships, and insights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It involves using statistical methods and techniques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to analyze datasets and draw meaningful conclusions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Importance: Statistical analysis is essential in various fields, including science, business, economics, social sciences, and healthcare. It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helps in understanding data distributions, making predictions, testing hypotheses, and making informed decisions based on data-driven evidence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Examples: Analyzing survey data,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comparing treatment outcomes in clinical trials, predicting sales trends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and testing the effectiveness of marketing campaigns.</a:t>
            </a:r>
          </a:p>
        </p:txBody>
      </p:sp>
    </p:spTree>
    <p:extLst>
      <p:ext uri="{BB962C8B-B14F-4D97-AF65-F5344CB8AC3E}">
        <p14:creationId xmlns:p14="http://schemas.microsoft.com/office/powerpoint/2010/main" val="3973978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1FB75-AB73-7AE0-3F8E-3863114A6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838200"/>
            <a:ext cx="11201400" cy="5181600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Definition: Decision making is the process of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selecting the best course of action from available alternatives to achieve a specific goal or objective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It involves identifying, evaluating, and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choosing among different options based on available information, preferences, and constraints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Importance: Decision making is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crucial in both personal and professional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contexts,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influencing outcomes and shaping future directions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Effective decision making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enables individuals and organizations to solve problems, seize opportunities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manage risks, and achieve desired outcomes.</a:t>
            </a:r>
          </a:p>
          <a:p>
            <a:pPr algn="just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Examples: Personal decisions such as choosing a career path, and organizational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decisions such as launching a new product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investing in technology, or expanding into new markets.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229C6C7A-CCAA-72B4-5D41-2130EC127CE2}"/>
              </a:ext>
            </a:extLst>
          </p:cNvPr>
          <p:cNvSpPr/>
          <p:nvPr/>
        </p:nvSpPr>
        <p:spPr>
          <a:xfrm>
            <a:off x="3048000" y="97041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Statistical Analysis and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1926332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3057E-697A-A0DA-D764-941F11C04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7074"/>
            <a:ext cx="10991499" cy="5106526"/>
          </a:xfrm>
        </p:spPr>
        <p:txBody>
          <a:bodyPr>
            <a:normAutofit/>
          </a:bodyPr>
          <a:lstStyle/>
          <a:p>
            <a:r>
              <a:rPr lang="en-US" sz="2200" b="1" u="sng" dirty="0">
                <a:latin typeface="Times New Roman" pitchFamily="18" charset="0"/>
                <a:cs typeface="Times New Roman" pitchFamily="18" charset="0"/>
              </a:rPr>
              <a:t>Data Quality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:-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Definition: Data quality refers to the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accuracy, completeness, consistency, and reliability of data.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Poor data quality can lead to inaccurate analysis and flawed insights.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Challenges:</a:t>
            </a: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Missing Values: Incomplete or missing data points in datasets.</a:t>
            </a: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Inconsistencies: Discrepancies or errors in data formatting or labeling.</a:t>
            </a: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Data Bias: Systematic errors or inaccuracies in data collection that skew results.</a:t>
            </a: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Data Integration: Difficulty in combining and reconciling data from multiple sources.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Impact: Poor data quality undermines the credibility and reliability of analytical findings, leading to incorrect conclusions and misguided decisions.</a:t>
            </a:r>
          </a:p>
        </p:txBody>
      </p:sp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FBB6AE58-11E1-358A-FBDB-6114B4E9BFBF}"/>
              </a:ext>
            </a:extLst>
          </p:cNvPr>
          <p:cNvSpPr/>
          <p:nvPr/>
        </p:nvSpPr>
        <p:spPr>
          <a:xfrm>
            <a:off x="3048000" y="97041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Various Challenges for Data Science</a:t>
            </a:r>
          </a:p>
        </p:txBody>
      </p:sp>
    </p:spTree>
    <p:extLst>
      <p:ext uri="{BB962C8B-B14F-4D97-AF65-F5344CB8AC3E}">
        <p14:creationId xmlns:p14="http://schemas.microsoft.com/office/powerpoint/2010/main" val="3257052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3057E-697A-A0DA-D764-941F11C04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57199"/>
            <a:ext cx="11353799" cy="6303759"/>
          </a:xfrm>
        </p:spPr>
        <p:txBody>
          <a:bodyPr>
            <a:noAutofit/>
          </a:bodyPr>
          <a:lstStyle/>
          <a:p>
            <a:r>
              <a:rPr lang="en-US" sz="2200" b="1" u="sng" dirty="0">
                <a:latin typeface="Times New Roman" pitchFamily="18" charset="0"/>
                <a:cs typeface="Times New Roman" pitchFamily="18" charset="0"/>
              </a:rPr>
              <a:t>Data Privacy and Security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:-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Definition: Data privacy and security involve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protecting sensitive information from unauthorized access, disclosure, or misuse.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Challenges:</a:t>
            </a: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Compliance: Adhering to regulations such as GDPR(</a:t>
            </a:r>
            <a:r>
              <a:rPr lang="en-IN" sz="2400" dirty="0"/>
              <a:t>General Data Protection Regulation)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HIPAA (</a:t>
            </a:r>
            <a:r>
              <a:rPr lang="en-US" sz="2400" dirty="0"/>
              <a:t>Health Insurance Portability and Accountability Act)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or CCPA</a:t>
            </a:r>
            <a:r>
              <a:rPr lang="en-IN" sz="2400" dirty="0"/>
              <a:t>(California Consumer Privacy Act)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that govern data privacy.</a:t>
            </a: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Cyber security Threats: Risks of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data breaches, hacking, and malicious attacks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on data systems.</a:t>
            </a: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Insider Threats: Unauthorized access or misuse of data by employees or insiders.</a:t>
            </a: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Data Anonymization: Ensuring that personally identifiable information (PII) is properly anonymized to preserve privacy.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Impact: Failure to address data privacy and security challenges can result in legal liabilities,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reputational damage, and loss of customer trust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FD9B4000-5F01-488A-AB44-C51622D93AFE}"/>
              </a:ext>
            </a:extLst>
          </p:cNvPr>
          <p:cNvSpPr/>
          <p:nvPr/>
        </p:nvSpPr>
        <p:spPr>
          <a:xfrm>
            <a:off x="3048000" y="97041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Various Challenges for Data Science</a:t>
            </a:r>
          </a:p>
        </p:txBody>
      </p:sp>
    </p:spTree>
    <p:extLst>
      <p:ext uri="{BB962C8B-B14F-4D97-AF65-F5344CB8AC3E}">
        <p14:creationId xmlns:p14="http://schemas.microsoft.com/office/powerpoint/2010/main" val="3652587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06F7F-5091-CE2C-6FBF-2F7F3D1A3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5800"/>
            <a:ext cx="10744201" cy="5410200"/>
          </a:xfrm>
        </p:spPr>
        <p:txBody>
          <a:bodyPr>
            <a:noAutofit/>
          </a:bodyPr>
          <a:lstStyle/>
          <a:p>
            <a:pPr algn="just"/>
            <a:r>
              <a:rPr lang="en-US" sz="2100" b="1" u="sng" dirty="0">
                <a:latin typeface="Times New Roman" pitchFamily="18" charset="0"/>
                <a:cs typeface="Times New Roman" pitchFamily="18" charset="0"/>
              </a:rPr>
              <a:t>Scalability and Performance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:-</a:t>
            </a:r>
          </a:p>
          <a:p>
            <a:pPr algn="just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Definition: Scalability and performance refer to the </a:t>
            </a:r>
            <a:r>
              <a:rPr lang="en-US" sz="21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ability of data systems and algorithms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to handle </a:t>
            </a:r>
            <a:r>
              <a:rPr lang="en-US" sz="21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increasing volumes of data and deliver results in a timely manner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Challenges:</a:t>
            </a:r>
          </a:p>
          <a:p>
            <a:pPr lvl="1" algn="just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Big Data Processing: Managing and processing large-scale datasets efficiently.</a:t>
            </a:r>
          </a:p>
          <a:p>
            <a:pPr lvl="1" algn="just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Computational Resources: Availability of sufficient computing power and storage capacity.</a:t>
            </a:r>
          </a:p>
          <a:p>
            <a:pPr lvl="1" algn="just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Algorithm Efficiency: Optimizing algorithms to perform effectively on massive datasets.</a:t>
            </a:r>
          </a:p>
          <a:p>
            <a:pPr lvl="1" algn="just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Real-Time Processing: Meeting the demand for real-time or near-real-time analysis and decision making.</a:t>
            </a:r>
          </a:p>
          <a:p>
            <a:pPr algn="just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Impact: Inadequate scalability and performance can lead to bottlenecks, delays, and inefficiencies in data processing, hindering business operations and decision making.</a:t>
            </a: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835CD254-6204-A4F0-FDBD-F5C006A1F7E6}"/>
              </a:ext>
            </a:extLst>
          </p:cNvPr>
          <p:cNvSpPr/>
          <p:nvPr/>
        </p:nvSpPr>
        <p:spPr>
          <a:xfrm>
            <a:off x="1676400" y="97041"/>
            <a:ext cx="8839200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Various Challenges for Data Science</a:t>
            </a:r>
          </a:p>
        </p:txBody>
      </p:sp>
    </p:spTree>
    <p:extLst>
      <p:ext uri="{BB962C8B-B14F-4D97-AF65-F5344CB8AC3E}">
        <p14:creationId xmlns:p14="http://schemas.microsoft.com/office/powerpoint/2010/main" val="316903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6E62B-59E4-FDB1-2340-5A5C8740B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685800"/>
            <a:ext cx="11049000" cy="5638800"/>
          </a:xfrm>
        </p:spPr>
        <p:txBody>
          <a:bodyPr>
            <a:noAutofit/>
          </a:bodyPr>
          <a:lstStyle/>
          <a:p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Interpretability and Explainability:-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Definition: Interpretability and explainability involve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understanding and explaining the results and decisions made by data-driven models and algorithms.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Challenges: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Black-Box Models: Lack of transparency in complex machine learning models, making it difficult to understand their inner workings.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Bias and Fairness: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Ensuring that models are fair and unbiased in their predictions and decisions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Model Complexity: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Balancing model complexity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with interpretability, especially in highly complex or nonlinear models.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Stakeholder Understanding: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Communicating technical insights and findings to non-technical stakeholders effectively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Impact: Lack of interpretability and explainability can erode trust in data-driven systems, limit their adoption, and lead to unintended consequences or ethical issues.</a:t>
            </a: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1790D77A-46E5-FA6F-1F63-3A96DEC081EE}"/>
              </a:ext>
            </a:extLst>
          </p:cNvPr>
          <p:cNvSpPr/>
          <p:nvPr/>
        </p:nvSpPr>
        <p:spPr>
          <a:xfrm>
            <a:off x="3048000" y="97041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Various Challenges for Data Science</a:t>
            </a:r>
          </a:p>
        </p:txBody>
      </p:sp>
    </p:spTree>
    <p:extLst>
      <p:ext uri="{BB962C8B-B14F-4D97-AF65-F5344CB8AC3E}">
        <p14:creationId xmlns:p14="http://schemas.microsoft.com/office/powerpoint/2010/main" val="1254611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56F88FC0-F086-2D56-9F7F-55E81DA658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827" y="2133600"/>
            <a:ext cx="4645152" cy="3448595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  <a:defRPr/>
            </a:pP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Predictive Analytics</a:t>
            </a:r>
          </a:p>
          <a:p>
            <a:pPr>
              <a:buFont typeface="Wingdings" pitchFamily="2" charset="2"/>
              <a:buChar char="v"/>
              <a:defRPr/>
            </a:pPr>
            <a:r>
              <a:rPr lang="en-US" altLang="en-US" sz="2700" dirty="0">
                <a:latin typeface="Times New Roman" pitchFamily="18" charset="0"/>
                <a:cs typeface="Times New Roman" pitchFamily="18" charset="0"/>
              </a:rPr>
              <a:t>Machine Leaning</a:t>
            </a:r>
          </a:p>
          <a:p>
            <a:pPr>
              <a:buFont typeface="Wingdings" pitchFamily="2" charset="2"/>
              <a:buChar char="v"/>
              <a:defRPr/>
            </a:pP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Data Visualization</a:t>
            </a:r>
          </a:p>
          <a:p>
            <a:pPr>
              <a:buFont typeface="Wingdings" pitchFamily="2" charset="2"/>
              <a:buChar char="v"/>
              <a:defRPr/>
            </a:pP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Natural Language Processing(NLP)</a:t>
            </a:r>
          </a:p>
          <a:p>
            <a:pPr>
              <a:buFont typeface="Wingdings" pitchFamily="2" charset="2"/>
              <a:buChar char="v"/>
              <a:defRPr/>
            </a:pP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Big Data Analytics</a:t>
            </a:r>
          </a:p>
          <a:p>
            <a:pPr>
              <a:buNone/>
              <a:defRPr/>
            </a:pPr>
            <a:endParaRPr lang="en-US" sz="27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  <a:defRPr/>
            </a:pPr>
            <a:endParaRPr lang="en-US" altLang="en-US" sz="27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  <a:defRPr/>
            </a:pPr>
            <a:endParaRPr lang="en-US" altLang="en-US" sz="27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None/>
              <a:defRPr/>
            </a:pPr>
            <a:endParaRPr lang="en-US" altLang="en-US" sz="27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None/>
              <a:defRPr/>
            </a:pPr>
            <a:endParaRPr lang="en-US" altLang="en-US" sz="27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Data Scientist</a:t>
            </a:r>
          </a:p>
          <a:p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Machine Learning Engineers</a:t>
            </a:r>
          </a:p>
          <a:p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Data Engineer</a:t>
            </a:r>
          </a:p>
          <a:p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Business Analyst</a:t>
            </a:r>
          </a:p>
          <a:p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Data Architect</a:t>
            </a:r>
          </a:p>
        </p:txBody>
      </p:sp>
      <p:sp>
        <p:nvSpPr>
          <p:cNvPr id="2" name="Rounded Rectangle 17">
            <a:extLst>
              <a:ext uri="{FF2B5EF4-FFF2-40B4-BE49-F238E27FC236}">
                <a16:creationId xmlns:a16="http://schemas.microsoft.com/office/drawing/2014/main" id="{978A528D-FBDF-73B4-7991-604D89DCAB64}"/>
              </a:ext>
            </a:extLst>
          </p:cNvPr>
          <p:cNvSpPr/>
          <p:nvPr/>
        </p:nvSpPr>
        <p:spPr>
          <a:xfrm>
            <a:off x="3200400" y="609600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Key Concepts  for Data science themes and roles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1892663" y="6524300"/>
            <a:ext cx="14732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70"/>
              </a:lnSpc>
            </a:pPr>
            <a:r>
              <a:rPr sz="1000" dirty="0">
                <a:solidFill>
                  <a:srgbClr val="888888"/>
                </a:solidFill>
                <a:latin typeface="Arial MT"/>
                <a:cs typeface="Arial MT"/>
              </a:rPr>
              <a:t>4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A089155C-E23B-0296-9020-64F94D8F977B}"/>
              </a:ext>
            </a:extLst>
          </p:cNvPr>
          <p:cNvSpPr/>
          <p:nvPr/>
        </p:nvSpPr>
        <p:spPr>
          <a:xfrm>
            <a:off x="2579174" y="228600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DATA SCIENCE THEMES AND ROLES</a:t>
            </a:r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44550" y="838200"/>
            <a:ext cx="982345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8915400" y="5181600"/>
            <a:ext cx="1600200" cy="381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1919714" y="6523031"/>
            <a:ext cx="9652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70"/>
              </a:lnSpc>
            </a:pPr>
            <a:r>
              <a:rPr sz="1000" dirty="0">
                <a:solidFill>
                  <a:srgbClr val="888888"/>
                </a:solidFill>
                <a:latin typeface="Arial MT"/>
                <a:cs typeface="Arial MT"/>
              </a:rPr>
              <a:t>5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16B68C-1471-F9EE-82DD-AD43E8CBCAC6}"/>
              </a:ext>
            </a:extLst>
          </p:cNvPr>
          <p:cNvSpPr txBox="1"/>
          <p:nvPr/>
        </p:nvSpPr>
        <p:spPr>
          <a:xfrm>
            <a:off x="1219200" y="1066800"/>
            <a:ext cx="10058400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700" b="1" dirty="0">
                <a:latin typeface="Times New Roman" pitchFamily="18" charset="0"/>
                <a:cs typeface="Times New Roman" pitchFamily="18" charset="0"/>
              </a:rPr>
              <a:t>Predictive Analytics</a:t>
            </a: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: Predictive analytics involves </a:t>
            </a:r>
            <a:r>
              <a:rPr lang="en-US" sz="27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using historical data and statistical algorithms to forecast future outcomes</a:t>
            </a: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. It is applied in </a:t>
            </a:r>
            <a:r>
              <a:rPr lang="en-US" sz="27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various fields </a:t>
            </a: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such as finance, marketing, healthcare, and manufacturing </a:t>
            </a:r>
            <a:r>
              <a:rPr lang="en-US" sz="27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to make informed decisions </a:t>
            </a: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and anticipate trends.</a:t>
            </a:r>
          </a:p>
          <a:p>
            <a:pPr algn="just"/>
            <a:endParaRPr lang="en-US" sz="27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700" b="1" dirty="0">
                <a:latin typeface="Times New Roman" pitchFamily="18" charset="0"/>
                <a:cs typeface="Times New Roman" pitchFamily="18" charset="0"/>
              </a:rPr>
              <a:t>Machine Learning</a:t>
            </a: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: Machine learning is a subset of artificial intelligence (AI) that focuses on developing algorithms and models that </a:t>
            </a:r>
            <a:r>
              <a:rPr lang="en-US" sz="27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enable computers to learn from data and make predictions or decisions without being explicitly programmed</a:t>
            </a: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. It encompasses techniques such as </a:t>
            </a:r>
            <a:r>
              <a:rPr lang="en-US" sz="27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supervised learning, unsupervised learning, and reinforcement learning</a:t>
            </a: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DB0CD9C8-2251-D250-708A-6C12DFAC92E3}"/>
              </a:ext>
            </a:extLst>
          </p:cNvPr>
          <p:cNvSpPr/>
          <p:nvPr/>
        </p:nvSpPr>
        <p:spPr>
          <a:xfrm>
            <a:off x="2776024" y="228600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 DATA SCIENCE  THEMES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08000" y="1143000"/>
            <a:ext cx="11226800" cy="5003934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algn="just"/>
            <a:r>
              <a:rPr lang="en-US" sz="2500" b="1" dirty="0">
                <a:latin typeface="Times New Roman" pitchFamily="18" charset="0"/>
                <a:cs typeface="Times New Roman" pitchFamily="18" charset="0"/>
              </a:rPr>
              <a:t>Data Visualization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: Data visualization is the </a:t>
            </a:r>
            <a:r>
              <a:rPr lang="en-US" sz="25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graphical representation of data and information to facilitate understanding, 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analysis, and communication. It involves creating visualizations such as charts, graphs, and maps to uncover patterns, trends, and insights in datasets.</a:t>
            </a:r>
          </a:p>
          <a:p>
            <a:pPr algn="just"/>
            <a:r>
              <a:rPr lang="en-US" sz="2500" b="1" dirty="0">
                <a:latin typeface="Times New Roman" pitchFamily="18" charset="0"/>
                <a:cs typeface="Times New Roman" pitchFamily="18" charset="0"/>
              </a:rPr>
              <a:t>Natural Language Processing (NLP): 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Natural language processing is a </a:t>
            </a:r>
            <a:r>
              <a:rPr lang="en-US" sz="25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branch of AI 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that deals with the </a:t>
            </a:r>
            <a:r>
              <a:rPr lang="en-US" sz="25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interaction between computers and human languages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. It enables computers to understand, interpret, and generate human language, </a:t>
            </a:r>
            <a:r>
              <a:rPr lang="en-US" sz="25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allowing for tasks such as sentiment analysis, text summarization, and language translation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500" b="1" dirty="0">
                <a:latin typeface="Times New Roman" pitchFamily="18" charset="0"/>
                <a:cs typeface="Times New Roman" pitchFamily="18" charset="0"/>
              </a:rPr>
              <a:t>Big Data Analytics: 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Big data analytics involves the </a:t>
            </a:r>
            <a:r>
              <a:rPr lang="en-US" sz="25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analysis of large and complex datasets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 that exceed the capabilities of traditional data processing applications. It encompasses </a:t>
            </a:r>
            <a:r>
              <a:rPr lang="en-US" sz="25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techniques for storing, managing, and analyzing massive volumes of structured and unstructured data to extract valuable insights and support decision making.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919714" y="6523031"/>
            <a:ext cx="9652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70"/>
              </a:lnSpc>
            </a:pPr>
            <a:r>
              <a:rPr sz="1000" dirty="0">
                <a:solidFill>
                  <a:srgbClr val="888888"/>
                </a:solidFill>
                <a:latin typeface="Arial MT"/>
                <a:cs typeface="Arial MT"/>
              </a:rPr>
              <a:t>5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C872C3B7-119E-6F9C-1ACB-E81F2C34BB0E}"/>
              </a:ext>
            </a:extLst>
          </p:cNvPr>
          <p:cNvSpPr/>
          <p:nvPr/>
        </p:nvSpPr>
        <p:spPr>
          <a:xfrm>
            <a:off x="2895600" y="304800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 DATA SCIENCE  THEMES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80"/>
              </a:lnSpc>
            </a:pPr>
            <a:r>
              <a:rPr dirty="0"/>
              <a:t>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7800" y="1447800"/>
            <a:ext cx="9601200" cy="34163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algn="just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Data Scientist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Data scientists are professionals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who use their expertise in statistics, programming, and domain knowledge to analyze data, develop predictive models, and extract actionable insights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They often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work with large datasets to solve complex problems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and drive data-driven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decision making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Machine Learning Engineer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Machine learning engineers specialize in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developing and implementing machine learning algorithms and models.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They are responsible for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training, testing, and deploying machine learning systems to solve specific business problems or automate tasks.</a:t>
            </a: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13B7BBE1-D169-27E0-EC58-A0947C966D03}"/>
              </a:ext>
            </a:extLst>
          </p:cNvPr>
          <p:cNvSpPr/>
          <p:nvPr/>
        </p:nvSpPr>
        <p:spPr>
          <a:xfrm>
            <a:off x="2895600" y="452446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DATA SCIENCE ROLES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752600" y="914400"/>
            <a:ext cx="9603275" cy="5181600"/>
          </a:xfrm>
        </p:spPr>
        <p:txBody>
          <a:bodyPr>
            <a:noAutofit/>
          </a:bodyPr>
          <a:lstStyle/>
          <a:p>
            <a:pPr algn="just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Data Engineer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Data engineers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design, build, and maintain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infrastructure and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systems for storing, processing, and analyzing data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They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develop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data pipelines,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databases, and data warehouses to ensure data availability, reliability, and scalability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for analytics and machine learning applications.</a:t>
            </a:r>
          </a:p>
          <a:p>
            <a:pPr algn="just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Business Analyst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Business analysts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bridge the gap between data science and business stakeholders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by translating business requirements into data-driven solutions. They conduct data analysis,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generate reports, and provide insights to support strategic decision making and operational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improvements.</a:t>
            </a:r>
          </a:p>
          <a:p>
            <a:pPr algn="just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Data Architect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Data architects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design the overall structure and architecture of data systems and databases to ensure efficient data storage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retrieval, and analysis. They define data models, schemas, and integration strategies to support the organization's data needs and objectives.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80"/>
              </a:lnSpc>
            </a:pPr>
            <a:r>
              <a:rPr dirty="0"/>
              <a:t>8</a:t>
            </a:r>
          </a:p>
        </p:txBody>
      </p:sp>
      <p:sp>
        <p:nvSpPr>
          <p:cNvPr id="13" name="Rounded Rectangle 17">
            <a:extLst>
              <a:ext uri="{FF2B5EF4-FFF2-40B4-BE49-F238E27FC236}">
                <a16:creationId xmlns:a16="http://schemas.microsoft.com/office/drawing/2014/main" id="{4DF644C1-D688-0E53-B57B-AD7AC2C03A6F}"/>
              </a:ext>
            </a:extLst>
          </p:cNvPr>
          <p:cNvSpPr/>
          <p:nvPr/>
        </p:nvSpPr>
        <p:spPr>
          <a:xfrm>
            <a:off x="3048000" y="97041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DATA SCIENCE  ROLES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</a:t>
            </a:r>
            <a:r>
              <a:rPr lang="en-US" sz="2400" b="1">
                <a:latin typeface="Poppins" pitchFamily="2" charset="77"/>
                <a:cs typeface="Poppins" pitchFamily="2" charset="77"/>
              </a:rPr>
              <a:t>– DS</a:t>
            </a:r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DAV</Template>
  <TotalTime>1009</TotalTime>
  <Words>2040</Words>
  <Application>Microsoft Office PowerPoint</Application>
  <PresentationFormat>Widescreen</PresentationFormat>
  <Paragraphs>182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Arial</vt:lpstr>
      <vt:lpstr>Arial MT</vt:lpstr>
      <vt:lpstr>BioRhyme ExtraBold</vt:lpstr>
      <vt:lpstr>Calibri</vt:lpstr>
      <vt:lpstr>Gill Sans MT</vt:lpstr>
      <vt:lpstr>Nunito</vt:lpstr>
      <vt:lpstr>Poppins</vt:lpstr>
      <vt:lpstr>Times New Roman</vt:lpstr>
      <vt:lpstr>Wingdings</vt:lpstr>
      <vt:lpstr>Gallery</vt:lpstr>
      <vt:lpstr>PowerPoint Presentation</vt:lpstr>
      <vt:lpstr>PowerPoint Presentation</vt:lpstr>
      <vt:lpstr>SESSION INTRODUCTION </vt:lpstr>
      <vt:lpstr>   KEY CONCEPTS AND CHALLENGES FOR DATASCIENCE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VOCABULARY</dc:title>
  <dc:creator>ramesh babu padamata</dc:creator>
  <cp:lastModifiedBy>sunanda nalajala</cp:lastModifiedBy>
  <cp:revision>67</cp:revision>
  <dcterms:created xsi:type="dcterms:W3CDTF">2023-10-26T04:57:25Z</dcterms:created>
  <dcterms:modified xsi:type="dcterms:W3CDTF">2026-05-27T05:46:29Z</dcterms:modified>
</cp:coreProperties>
</file>