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300" r:id="rId3"/>
    <p:sldId id="363" r:id="rId4"/>
    <p:sldId id="263" r:id="rId5"/>
    <p:sldId id="261" r:id="rId6"/>
    <p:sldId id="415" r:id="rId7"/>
    <p:sldId id="414" r:id="rId8"/>
    <p:sldId id="416" r:id="rId9"/>
    <p:sldId id="413" r:id="rId10"/>
    <p:sldId id="267" r:id="rId11"/>
    <p:sldId id="400" r:id="rId12"/>
    <p:sldId id="401" r:id="rId13"/>
    <p:sldId id="412" r:id="rId14"/>
    <p:sldId id="399" r:id="rId15"/>
    <p:sldId id="304" r:id="rId16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8000" y="213359"/>
            <a:ext cx="11176000" cy="54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0"/>
              </a:lnSpc>
            </a:pPr>
            <a:r>
              <a:rPr dirty="0"/>
              <a:t>Canadian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  <a:r>
              <a:rPr spc="-25" dirty="0"/>
              <a:t> </a:t>
            </a:r>
            <a:r>
              <a:rPr spc="-5" dirty="0"/>
              <a:t>Workshop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dirty="0"/>
              <a:pPr marL="109855">
                <a:lnSpc>
                  <a:spcPts val="107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803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CSE,CSIT</a:t>
            </a: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science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3200" b="1" cap="all" dirty="0">
              <a:ln/>
              <a:solidFill>
                <a:srgbClr val="C00000"/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IN" sz="3200" b="1" cap="all" dirty="0">
                <a:ln/>
                <a:solidFill>
                  <a:srgbClr val="C00000"/>
                </a:solidFill>
                <a:ea typeface="BioRhyme ExtraBold"/>
                <a:cs typeface="Poppins" panose="00000500000000000000" pitchFamily="2" charset="0"/>
              </a:rPr>
              <a:t>Data Science Lifecycle –</a:t>
            </a:r>
            <a:r>
              <a:rPr lang="en-IN" sz="3200" dirty="0"/>
              <a:t>	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CRISP-DM METHODOLOGY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10343" y="689854"/>
            <a:ext cx="10731286" cy="41601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CRISP-DM Methodology in Data science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about CRISP-DM Methodology in  Data Science 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about C</a:t>
            </a:r>
            <a:r>
              <a:rPr lang="en-US" sz="1600" dirty="0">
                <a:latin typeface="Poppins"/>
                <a:cs typeface="Poppins"/>
              </a:rPr>
              <a:t>RISP-DM Methodology</a:t>
            </a: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FB182DA-8516-88B8-108C-8195B81974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52463"/>
            <a:ext cx="10515600" cy="642937"/>
          </a:xfrm>
        </p:spPr>
        <p:txBody>
          <a:bodyPr>
            <a:normAutofit/>
          </a:bodyPr>
          <a:lstStyle/>
          <a:p>
            <a:r>
              <a:rPr lang="en-US" altLang="en-US" dirty="0"/>
              <a:t>     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Key Concepts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6F88FC0-F086-2D56-9F7F-55E81DA658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9281" y="1316038"/>
            <a:ext cx="10535919" cy="432276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Business Understanding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Understanding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Preparation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Modeling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Evaluation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Deployment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en-US" sz="4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919714" y="6523031"/>
            <a:ext cx="965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6B68C-1471-F9EE-82DD-AD43E8CBCAC6}"/>
              </a:ext>
            </a:extLst>
          </p:cNvPr>
          <p:cNvSpPr txBox="1"/>
          <p:nvPr/>
        </p:nvSpPr>
        <p:spPr>
          <a:xfrm>
            <a:off x="381000" y="990600"/>
            <a:ext cx="1143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Introduction:-CRISP-DM (Cross-Industry Standard Process for Data Mining)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process is a robust, systematic framework for data mining projects. Its versatility has made it the industry standard for both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small and large scale projects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across various sectors.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:-CRISP-DM stands for Cross-Industry Standard Process for Data Mining. It is a cyclical process that provides a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structured approach to planning, organizing, and implementing a data mining project.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process consists of the below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six major phases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B0CD9C8-2251-D250-708A-6C12DFAC92E3}"/>
              </a:ext>
            </a:extLst>
          </p:cNvPr>
          <p:cNvSpPr/>
          <p:nvPr/>
        </p:nvSpPr>
        <p:spPr>
          <a:xfrm>
            <a:off x="277602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IS CRISP-DM METHODOLOGY?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892663" y="6524300"/>
            <a:ext cx="147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A089155C-E23B-0296-9020-64F94D8F977B}"/>
              </a:ext>
            </a:extLst>
          </p:cNvPr>
          <p:cNvSpPr/>
          <p:nvPr/>
        </p:nvSpPr>
        <p:spPr>
          <a:xfrm>
            <a:off x="257917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CRISP-DM METHODOLOGY</a:t>
            </a:r>
          </a:p>
        </p:txBody>
      </p:sp>
      <p:pic>
        <p:nvPicPr>
          <p:cNvPr id="19458" name="Picture 2" descr="https://miro.medium.com/v2/resize:fit:700/1*JYbymHifAk7aQ1pHm_IdMQ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295400"/>
            <a:ext cx="7924800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10515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Business Understanding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This initial phase focuses on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understanding the objectives and requirements of the project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from a business perspective.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Defining business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Assessing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current situation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Determining data mining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goals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Producing a project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plan</a:t>
            </a: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872C3B7-119E-6F9C-1ACB-E81F2C34BB0E}"/>
              </a:ext>
            </a:extLst>
          </p:cNvPr>
          <p:cNvSpPr/>
          <p:nvPr/>
        </p:nvSpPr>
        <p:spPr>
          <a:xfrm>
            <a:off x="2895600" y="152400"/>
            <a:ext cx="6639951" cy="6304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The Six Phases of CRISP-DM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476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990600"/>
            <a:ext cx="10292854" cy="4475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Data Understanding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Here,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scientist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begins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initial data collection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familiarizes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themselves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with the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Gathering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initial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Describing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Exploring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Verifying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quality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3B7BBE1-D169-27E0-EC58-A0947C966D03}"/>
              </a:ext>
            </a:extLst>
          </p:cNvPr>
          <p:cNvSpPr/>
          <p:nvPr/>
        </p:nvSpPr>
        <p:spPr>
          <a:xfrm>
            <a:off x="2895600" y="304801"/>
            <a:ext cx="6639951" cy="4572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Six Phases of CRISP-DM</a:t>
            </a:r>
          </a:p>
        </p:txBody>
      </p:sp>
    </p:spTree>
    <p:extLst>
      <p:ext uri="{BB962C8B-B14F-4D97-AF65-F5344CB8AC3E}">
        <p14:creationId xmlns:p14="http://schemas.microsoft.com/office/powerpoint/2010/main" val="26915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1066800"/>
            <a:ext cx="10292854" cy="4399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Data Preparation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is rarely clean. This phase is dedicated to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cleaning and transforming raw data into a suitable format for modeling.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Cleaning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Constructing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(feature engineering)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Integrating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Formatting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3B7BBE1-D169-27E0-EC58-A0947C966D03}"/>
              </a:ext>
            </a:extLst>
          </p:cNvPr>
          <p:cNvSpPr/>
          <p:nvPr/>
        </p:nvSpPr>
        <p:spPr>
          <a:xfrm>
            <a:off x="2895600" y="304801"/>
            <a:ext cx="6639951" cy="4572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Six Phases of CRISP-DM</a:t>
            </a:r>
          </a:p>
        </p:txBody>
      </p:sp>
    </p:spTree>
    <p:extLst>
      <p:ext uri="{BB962C8B-B14F-4D97-AF65-F5344CB8AC3E}">
        <p14:creationId xmlns:p14="http://schemas.microsoft.com/office/powerpoint/2010/main" val="302402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09600" y="838200"/>
            <a:ext cx="8534400" cy="45598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Modeling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clean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hand, various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modeling techniques are applied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Each method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 specific data formats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so it’s not uncommon to loop back to the data preparation phase.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Selecting modeling techniques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tests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Building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model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Assessing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model</a:t>
            </a:r>
          </a:p>
          <a:p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3B7BBE1-D169-27E0-EC58-A0947C966D03}"/>
              </a:ext>
            </a:extLst>
          </p:cNvPr>
          <p:cNvSpPr/>
          <p:nvPr/>
        </p:nvSpPr>
        <p:spPr>
          <a:xfrm>
            <a:off x="2895600" y="304801"/>
            <a:ext cx="6639951" cy="4572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Six Phases of CRISP-DM</a:t>
            </a:r>
          </a:p>
        </p:txBody>
      </p:sp>
    </p:spTree>
    <p:extLst>
      <p:ext uri="{BB962C8B-B14F-4D97-AF65-F5344CB8AC3E}">
        <p14:creationId xmlns:p14="http://schemas.microsoft.com/office/powerpoint/2010/main" val="257018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0" y="838200"/>
            <a:ext cx="9603275" cy="4648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200" b="1" u="sng" dirty="0">
                <a:latin typeface="Times New Roman" pitchFamily="18" charset="0"/>
                <a:cs typeface="Times New Roman" pitchFamily="18" charset="0"/>
              </a:rPr>
              <a:t>Evaluation</a:t>
            </a:r>
          </a:p>
          <a:p>
            <a:pPr algn="just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Before proceeding to deployment, the model’s performance is thoroughly evaluated. This ensures that it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meets the business objectives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in the first phase.</a:t>
            </a:r>
          </a:p>
          <a:p>
            <a:pPr algn="just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Evaluating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Reviewing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process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Determining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next steps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80"/>
              </a:lnSpc>
            </a:pPr>
            <a:r>
              <a:rPr dirty="0"/>
              <a:t>8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4DF644C1-D688-0E53-B57B-AD7AC2C03A6F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Six Phases of CRISP-DM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02CF45-4078-F3B5-F2F9-95D83651D362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Six Phases of CRISP-DM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90600" y="838200"/>
            <a:ext cx="9603275" cy="4724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200" b="1" u="sng" dirty="0">
                <a:latin typeface="Times New Roman" pitchFamily="18" charset="0"/>
                <a:cs typeface="Times New Roman" pitchFamily="18" charset="0"/>
              </a:rPr>
              <a:t>Deployment</a:t>
            </a: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The final phase involves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deploying the model into a real-world environment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This can be as simple as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generating a report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 as complex as implementing a repeatable data mining process. </a:t>
            </a: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Key tasks include: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deployment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Monitoring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maintenance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Reviewing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project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Finalizing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project</a:t>
            </a:r>
          </a:p>
          <a:p>
            <a:pPr>
              <a:buNone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97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1FB75-AB73-7AE0-3F8E-3863114A6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1201400" cy="3505200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Versatility: It’s industry-agnostic, meaning it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 be applied across various sectors and business problems.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Structured Approach: It provides 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clear roadmap for data mining projects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ensuring that crucial steps aren’t overlooked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Iterative: Given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its cyclical nature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it encourages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continuous improvement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If 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arises in one phase, you can loop back to an earlier phase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29C6C7A-CCAA-72B4-5D41-2130EC127CE2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         Why Use CRISP-DM?</a:t>
            </a:r>
          </a:p>
        </p:txBody>
      </p:sp>
    </p:spTree>
    <p:extLst>
      <p:ext uri="{BB962C8B-B14F-4D97-AF65-F5344CB8AC3E}">
        <p14:creationId xmlns:p14="http://schemas.microsoft.com/office/powerpoint/2010/main" val="192633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057E-697A-A0DA-D764-941F11C04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52600"/>
            <a:ext cx="10134601" cy="312420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CRISP-DM process offers 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robust framework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that guides data scientists and analysts in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executing successful data mining projects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Its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structured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yet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flexible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approach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ensures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that all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critical aspects of a project are addressed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understanding the business problem to deploying the solution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Whether you’re new to data science or a seasoned pro, incorporating CRISP-DM into your workflow can enhance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efficiency and effectiveness of your projects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D9B4000-5F01-488A-AB44-C51622D93AFE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25705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DD76A-5A1F-BA4D-5F20-59E937B4B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914400"/>
            <a:ext cx="4263421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/>
              <a:t>A</a:t>
            </a:r>
            <a:r>
              <a:rPr lang="en-US" sz="2600" dirty="0"/>
              <a:t>. </a:t>
            </a:r>
            <a:r>
              <a:rPr lang="en-US" sz="2600" b="1" dirty="0"/>
              <a:t>Programming Languages</a:t>
            </a:r>
          </a:p>
          <a:p>
            <a:pPr>
              <a:spcBef>
                <a:spcPts val="600"/>
              </a:spcBef>
            </a:pPr>
            <a:r>
              <a:rPr lang="en-IN" sz="2600" dirty="0"/>
              <a:t>Python</a:t>
            </a:r>
          </a:p>
          <a:p>
            <a:pPr>
              <a:spcBef>
                <a:spcPts val="600"/>
              </a:spcBef>
            </a:pPr>
            <a:r>
              <a:rPr lang="en-IN" sz="2600" dirty="0"/>
              <a:t>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600" b="1" dirty="0"/>
              <a:t>B. Data Visualization Tools</a:t>
            </a:r>
          </a:p>
          <a:p>
            <a:r>
              <a:rPr lang="en-IN" sz="3400" dirty="0"/>
              <a:t>Tableau</a:t>
            </a:r>
          </a:p>
          <a:p>
            <a:r>
              <a:rPr lang="en-IN" sz="3400" dirty="0"/>
              <a:t>Power BI</a:t>
            </a:r>
          </a:p>
          <a:p>
            <a:pPr marL="0" indent="0">
              <a:buNone/>
            </a:pPr>
            <a:r>
              <a:rPr lang="en-US" sz="2900" b="1" dirty="0"/>
              <a:t>C. Machine Learning Libraries</a:t>
            </a:r>
            <a:endParaRPr lang="en-US" b="1" dirty="0"/>
          </a:p>
          <a:p>
            <a:r>
              <a:rPr lang="en-US" sz="2600" dirty="0"/>
              <a:t>Scikit-learn</a:t>
            </a:r>
          </a:p>
          <a:p>
            <a:r>
              <a:rPr lang="en-US" sz="2600" dirty="0"/>
              <a:t>TensorFlow</a:t>
            </a:r>
          </a:p>
          <a:p>
            <a:pPr marL="0" indent="0">
              <a:buNone/>
            </a:pPr>
            <a:r>
              <a:rPr lang="en-US" sz="2600" b="1" dirty="0"/>
              <a:t>D. Big Data Frameworks</a:t>
            </a:r>
          </a:p>
          <a:p>
            <a:r>
              <a:rPr lang="en-US" sz="2900" dirty="0"/>
              <a:t>Apache </a:t>
            </a:r>
            <a:r>
              <a:rPr lang="en-US" sz="2900" dirty="0" err="1"/>
              <a:t>HadooP</a:t>
            </a:r>
            <a:endParaRPr lang="en-US" sz="2900" dirty="0"/>
          </a:p>
          <a:p>
            <a:r>
              <a:rPr lang="en-US" sz="2900" dirty="0"/>
              <a:t>Apache Spark</a:t>
            </a:r>
            <a:br>
              <a:rPr lang="en-US" sz="2900" dirty="0"/>
            </a:br>
            <a:endParaRPr lang="en-IN" sz="29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EB0453F-B62F-3814-FEF8-DC990E80183C}"/>
              </a:ext>
            </a:extLst>
          </p:cNvPr>
          <p:cNvSpPr/>
          <p:nvPr/>
        </p:nvSpPr>
        <p:spPr>
          <a:xfrm>
            <a:off x="277602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SCIENCE TOOLS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2792884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686</TotalTime>
  <Words>672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MT</vt:lpstr>
      <vt:lpstr>BioRhyme ExtraBold</vt:lpstr>
      <vt:lpstr>Calibri</vt:lpstr>
      <vt:lpstr>Gill Sans MT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     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sunanda nalajala</cp:lastModifiedBy>
  <cp:revision>60</cp:revision>
  <dcterms:created xsi:type="dcterms:W3CDTF">2023-10-26T04:57:25Z</dcterms:created>
  <dcterms:modified xsi:type="dcterms:W3CDTF">2026-05-25T07:56:50Z</dcterms:modified>
</cp:coreProperties>
</file>