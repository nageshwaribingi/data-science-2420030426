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8"/>
  </p:notesMasterIdLst>
  <p:sldIdLst>
    <p:sldId id="256" r:id="rId2"/>
    <p:sldId id="300" r:id="rId3"/>
    <p:sldId id="363" r:id="rId4"/>
    <p:sldId id="434" r:id="rId5"/>
    <p:sldId id="433" r:id="rId6"/>
    <p:sldId id="435" r:id="rId7"/>
    <p:sldId id="436" r:id="rId8"/>
    <p:sldId id="437" r:id="rId9"/>
    <p:sldId id="444" r:id="rId10"/>
    <p:sldId id="445" r:id="rId11"/>
    <p:sldId id="446" r:id="rId12"/>
    <p:sldId id="447" r:id="rId13"/>
    <p:sldId id="448" r:id="rId14"/>
    <p:sldId id="449" r:id="rId15"/>
    <p:sldId id="438" r:id="rId16"/>
    <p:sldId id="440" r:id="rId17"/>
    <p:sldId id="450" r:id="rId18"/>
    <p:sldId id="451" r:id="rId19"/>
    <p:sldId id="452" r:id="rId20"/>
    <p:sldId id="439" r:id="rId21"/>
    <p:sldId id="453" r:id="rId22"/>
    <p:sldId id="454" r:id="rId23"/>
    <p:sldId id="441" r:id="rId24"/>
    <p:sldId id="443" r:id="rId25"/>
    <p:sldId id="442" r:id="rId26"/>
    <p:sldId id="304" r:id="rId27"/>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400" autoAdjust="0"/>
  </p:normalViewPr>
  <p:slideViewPr>
    <p:cSldViewPr>
      <p:cViewPr varScale="1">
        <p:scale>
          <a:sx n="89" d="100"/>
          <a:sy n="89" d="100"/>
        </p:scale>
        <p:origin x="403" y="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9FD6B53-6537-48F3-87E5-68222CA0CA7E}" type="datetimeFigureOut">
              <a:rPr lang="en-IN" smtClean="0"/>
              <a:t>23-05-2026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95C5F2B-B60F-42B8-9A7D-16BDB2414ED5}" type="slidenum">
              <a:rPr lang="en-IN" smtClean="0"/>
              <a:t>‹#›</a:t>
            </a:fld>
            <a:endParaRPr lang="en-IN"/>
          </a:p>
        </p:txBody>
      </p:sp>
    </p:spTree>
    <p:extLst>
      <p:ext uri="{BB962C8B-B14F-4D97-AF65-F5344CB8AC3E}">
        <p14:creationId xmlns:p14="http://schemas.microsoft.com/office/powerpoint/2010/main" val="338975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72246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1878274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4282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1031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5/23/2026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923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5/23/2026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892208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362832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8220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5/23/2026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38302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04109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129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52930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5/23/2026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8107654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7.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00B0F0"/>
                </a:solidFill>
                <a:cs typeface="Poppins" pitchFamily="2" charset="77"/>
              </a:rPr>
              <a:t>Department of </a:t>
            </a:r>
            <a:r>
              <a:rPr lang="en-US" sz="4000" dirty="0" smtClean="0">
                <a:solidFill>
                  <a:srgbClr val="00B0F0"/>
                </a:solidFill>
                <a:cs typeface="Poppins" pitchFamily="2" charset="77"/>
              </a:rPr>
              <a:t>CSE, CSIT, </a:t>
            </a:r>
            <a:endParaRPr lang="en-US" sz="4000" dirty="0">
              <a:solidFill>
                <a:srgbClr val="00B0F0"/>
              </a:solidFill>
              <a:cs typeface="Poppins" pitchFamily="2" charset="77"/>
            </a:endParaRPr>
          </a:p>
        </p:txBody>
      </p:sp>
      <p:sp>
        <p:nvSpPr>
          <p:cNvPr id="6" name="Google Shape;476;p16">
            <a:extLst>
              <a:ext uri="{FF2B5EF4-FFF2-40B4-BE49-F238E27FC236}">
                <a16:creationId xmlns="" xmlns:a16="http://schemas.microsoft.com/office/drawing/2014/main" id="{84A891A9-D46F-5E9B-65D6-C64F832A0362}"/>
              </a:ext>
            </a:extLst>
          </p:cNvPr>
          <p:cNvSpPr txBox="1"/>
          <p:nvPr/>
        </p:nvSpPr>
        <p:spPr>
          <a:xfrm>
            <a:off x="1595120" y="2048911"/>
            <a:ext cx="8218565" cy="3170058"/>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Data </a:t>
            </a:r>
            <a:r>
              <a:rPr lang="en-US" sz="3200" b="1" cap="all" dirty="0" smtClean="0">
                <a:ln/>
                <a:solidFill>
                  <a:srgbClr val="C00000"/>
                </a:solidFill>
                <a:cs typeface="Poppins" panose="00000500000000000000" pitchFamily="2" charset="0"/>
                <a:sym typeface="BioRhyme ExtraBold"/>
              </a:rPr>
              <a:t>science</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ln/>
                <a:solidFill>
                  <a:srgbClr val="00B0F0"/>
                </a:solidFill>
                <a:cs typeface="Poppins" panose="00000500000000000000" pitchFamily="2" charset="0"/>
                <a:sym typeface="BioRhyme ExtraBold"/>
              </a:rPr>
              <a:t>COURSE CODE: </a:t>
            </a:r>
            <a:r>
              <a:rPr lang="en-US" sz="3200" b="1" cap="all" dirty="0" smtClean="0">
                <a:ln/>
                <a:solidFill>
                  <a:srgbClr val="00B0F0"/>
                </a:solidFill>
                <a:cs typeface="Poppins" panose="00000500000000000000" pitchFamily="2" charset="0"/>
                <a:sym typeface="BioRhyme ExtraBold"/>
              </a:rPr>
              <a:t>24AD3107</a:t>
            </a:r>
            <a:r>
              <a:rPr lang="en-US" sz="3200" b="1" cap="all" dirty="0">
                <a:ln/>
                <a:solidFill>
                  <a:srgbClr val="C00000"/>
                </a:solidFill>
                <a:cs typeface="Poppins" panose="00000500000000000000" pitchFamily="2" charset="0"/>
                <a:sym typeface="BioRhyme ExtraBold"/>
              </a:rPr>
              <a:t>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3200" b="1" cap="all" dirty="0">
                <a:ln/>
                <a:solidFill>
                  <a:srgbClr val="C00000"/>
                </a:solidFill>
                <a:cs typeface="Poppins" panose="00000500000000000000" pitchFamily="2" charset="0"/>
                <a:sym typeface="BioRhyme ExtraBold"/>
              </a:rPr>
              <a:t>Data </a:t>
            </a:r>
            <a:r>
              <a:rPr lang="en-US" sz="3200" b="1" cap="all" dirty="0" smtClean="0">
                <a:ln/>
                <a:solidFill>
                  <a:srgbClr val="C00000"/>
                </a:solidFill>
                <a:cs typeface="Poppins" panose="00000500000000000000" pitchFamily="2" charset="0"/>
                <a:sym typeface="BioRhyme ExtraBold"/>
              </a:rPr>
              <a:t>Quality </a:t>
            </a:r>
            <a:r>
              <a:rPr lang="en-US" sz="3200" b="1" cap="all" dirty="0">
                <a:ln/>
                <a:solidFill>
                  <a:srgbClr val="C00000"/>
                </a:solidFill>
                <a:cs typeface="Poppins" panose="00000500000000000000" pitchFamily="2" charset="0"/>
              </a:rPr>
              <a:t>Issues, </a:t>
            </a:r>
            <a:r>
              <a:rPr lang="en-US" sz="3200" b="1" cap="all" dirty="0" smtClean="0">
                <a:ln/>
                <a:solidFill>
                  <a:srgbClr val="C00000"/>
                </a:solidFill>
                <a:cs typeface="Poppins" panose="00000500000000000000" pitchFamily="2" charset="0"/>
              </a:rPr>
              <a:t>Missing Data</a:t>
            </a:r>
            <a:r>
              <a:rPr lang="en-US" sz="3200" b="1" cap="all" dirty="0">
                <a:ln/>
                <a:solidFill>
                  <a:srgbClr val="C00000"/>
                </a:solidFill>
                <a:cs typeface="Poppins" panose="00000500000000000000" pitchFamily="2" charset="0"/>
              </a:rPr>
              <a:t>, </a:t>
            </a:r>
            <a:r>
              <a:rPr lang="en-US" sz="3200" b="1" cap="all" dirty="0" smtClean="0">
                <a:ln/>
                <a:solidFill>
                  <a:srgbClr val="C00000"/>
                </a:solidFill>
                <a:cs typeface="Poppins" panose="00000500000000000000" pitchFamily="2" charset="0"/>
              </a:rPr>
              <a:t>Noise</a:t>
            </a:r>
            <a:endParaRPr lang="en-US" sz="3200" dirty="0"/>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p:txBody>
      </p:sp>
      <p:sp>
        <p:nvSpPr>
          <p:cNvPr id="7" name="Google Shape;502;p17">
            <a:extLst>
              <a:ext uri="{FF2B5EF4-FFF2-40B4-BE49-F238E27FC236}">
                <a16:creationId xmlns=""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ea typeface="Calibri"/>
                <a:cs typeface="Poppins" panose="00000500000000000000" pitchFamily="2" charset="0"/>
                <a:sym typeface="Calibri"/>
              </a:rPr>
              <a:t>Session - </a:t>
            </a:r>
            <a:r>
              <a:rPr lang="en-US" sz="2800" b="1" dirty="0" smtClean="0">
                <a:solidFill>
                  <a:schemeClr val="lt1"/>
                </a:solidFill>
                <a:ea typeface="Calibri"/>
                <a:cs typeface="Poppins" panose="00000500000000000000" pitchFamily="2" charset="0"/>
                <a:sym typeface="Calibri"/>
              </a:rPr>
              <a:t>5</a:t>
            </a:r>
            <a:endParaRPr sz="2800" b="1" dirty="0">
              <a:solidFill>
                <a:schemeClr val="lt1"/>
              </a:solidFill>
              <a:ea typeface="Calibri"/>
              <a:cs typeface="Poppins" panose="00000500000000000000" pitchFamily="2" charset="0"/>
              <a:sym typeface="Calibri"/>
            </a:endParaRP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Data science</a:t>
            </a:r>
          </a:p>
        </p:txBody>
      </p:sp>
      <p:sp>
        <p:nvSpPr>
          <p:cNvPr id="7" name="Rounded Rectangle 17">
            <a:extLst>
              <a:ext uri="{FF2B5EF4-FFF2-40B4-BE49-F238E27FC236}">
                <a16:creationId xmlns=""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 xmlns:a16="http://schemas.microsoft.com/office/drawing/2014/main" id="{2B5EAD4E-C007-9DE7-A40A-12802D3C9611}"/>
              </a:ext>
            </a:extLst>
          </p:cNvPr>
          <p:cNvSpPr txBox="1"/>
          <p:nvPr/>
        </p:nvSpPr>
        <p:spPr>
          <a:xfrm>
            <a:off x="1752600" y="2438605"/>
            <a:ext cx="9982200" cy="51020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r>
              <a:rPr lang="en-US" sz="1600" b="1" cap="all" dirty="0">
                <a:ln/>
                <a:solidFill>
                  <a:srgbClr val="C00000"/>
                </a:solidFill>
                <a:cs typeface="Poppins" panose="00000500000000000000" pitchFamily="2" charset="0"/>
                <a:sym typeface="BioRhyme ExtraBold"/>
              </a:rPr>
              <a:t>Data Quality </a:t>
            </a:r>
            <a:r>
              <a:rPr lang="en-US" sz="1600" b="1" cap="all" dirty="0">
                <a:ln/>
                <a:solidFill>
                  <a:srgbClr val="C00000"/>
                </a:solidFill>
                <a:cs typeface="Poppins" panose="00000500000000000000" pitchFamily="2" charset="0"/>
              </a:rPr>
              <a:t>Issues, Missing Data, </a:t>
            </a:r>
            <a:r>
              <a:rPr lang="en-US" sz="1600" b="1" cap="all" dirty="0" smtClean="0">
                <a:ln/>
                <a:solidFill>
                  <a:srgbClr val="C00000"/>
                </a:solidFill>
                <a:cs typeface="Poppins" panose="00000500000000000000" pitchFamily="2" charset="0"/>
              </a:rPr>
              <a:t>Noise</a:t>
            </a:r>
            <a:endParaRPr lang="en-US" sz="1600" dirty="0"/>
          </a:p>
        </p:txBody>
      </p:sp>
      <p:pic>
        <p:nvPicPr>
          <p:cNvPr id="11" name="Graphic 10" descr="Bullseye outline">
            <a:extLst>
              <a:ext uri="{FF2B5EF4-FFF2-40B4-BE49-F238E27FC236}">
                <a16:creationId xmlns=""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 xmlns:a16="http://schemas.microsoft.com/office/drawing/2014/main" id="{B0BB8E68-8B73-12DE-615E-1091F19A9A9A}"/>
              </a:ext>
            </a:extLst>
          </p:cNvPr>
          <p:cNvSpPr txBox="1"/>
          <p:nvPr/>
        </p:nvSpPr>
        <p:spPr>
          <a:xfrm>
            <a:off x="1747684" y="4863626"/>
            <a:ext cx="9906000" cy="51020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 </a:t>
            </a:r>
            <a:r>
              <a:rPr lang="en-US" sz="1600" b="1" cap="all" dirty="0">
                <a:ln/>
                <a:solidFill>
                  <a:srgbClr val="C00000"/>
                </a:solidFill>
                <a:cs typeface="Poppins" panose="00000500000000000000" pitchFamily="2" charset="0"/>
                <a:sym typeface="BioRhyme ExtraBold"/>
              </a:rPr>
              <a:t>Data Quality </a:t>
            </a:r>
            <a:r>
              <a:rPr lang="en-US" sz="1600" b="1" cap="all" dirty="0">
                <a:ln/>
                <a:solidFill>
                  <a:srgbClr val="C00000"/>
                </a:solidFill>
                <a:cs typeface="Poppins" panose="00000500000000000000" pitchFamily="2" charset="0"/>
              </a:rPr>
              <a:t>Issues, Missing Data, </a:t>
            </a:r>
            <a:r>
              <a:rPr lang="en-US" sz="1600" b="1" cap="all" dirty="0" smtClean="0">
                <a:ln/>
                <a:solidFill>
                  <a:srgbClr val="C00000"/>
                </a:solidFill>
                <a:cs typeface="Poppins" panose="00000500000000000000" pitchFamily="2" charset="0"/>
              </a:rPr>
              <a:t>Noise</a:t>
            </a:r>
            <a:endParaRPr lang="en-US" sz="1600" dirty="0"/>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 xmlns:a16="http://schemas.microsoft.com/office/drawing/2014/main" id="{56F88FC0-F086-2D56-9F7F-55E81DA658CB}"/>
              </a:ext>
            </a:extLst>
          </p:cNvPr>
          <p:cNvSpPr>
            <a:spLocks noGrp="1"/>
          </p:cNvSpPr>
          <p:nvPr>
            <p:ph idx="4294967295"/>
          </p:nvPr>
        </p:nvSpPr>
        <p:spPr>
          <a:xfrm>
            <a:off x="589281" y="1316038"/>
            <a:ext cx="11602720" cy="4595812"/>
          </a:xfrm>
        </p:spPr>
        <p:txBody>
          <a:bodyPr>
            <a:normAutofit/>
          </a:bodyPr>
          <a:lstStyle/>
          <a:p>
            <a:pPr>
              <a:buFont typeface="Wingdings" pitchFamily="2" charset="2"/>
              <a:buChar char="v"/>
              <a:defRPr/>
            </a:pPr>
            <a:r>
              <a:rPr lang="en-US" sz="2800" dirty="0"/>
              <a:t>Definition of Quality</a:t>
            </a:r>
          </a:p>
          <a:p>
            <a:pPr>
              <a:buFont typeface="Wingdings" pitchFamily="2" charset="2"/>
              <a:buChar char="v"/>
              <a:defRPr/>
            </a:pPr>
            <a:r>
              <a:rPr lang="en-US" altLang="en-US" sz="2800" dirty="0"/>
              <a:t>Definition of Process </a:t>
            </a:r>
            <a:r>
              <a:rPr lang="en-US" altLang="en-US" sz="2800" dirty="0" smtClean="0"/>
              <a:t>Quality</a:t>
            </a:r>
          </a:p>
          <a:p>
            <a:pPr>
              <a:buFont typeface="Wingdings" pitchFamily="2" charset="2"/>
              <a:buChar char="v"/>
              <a:defRPr/>
            </a:pPr>
            <a:r>
              <a:rPr lang="en-US" altLang="en-US" sz="2800" dirty="0" smtClean="0"/>
              <a:t>Missing Data</a:t>
            </a:r>
          </a:p>
          <a:p>
            <a:pPr>
              <a:buFont typeface="Wingdings" pitchFamily="2" charset="2"/>
              <a:buChar char="v"/>
              <a:defRPr/>
            </a:pPr>
            <a:r>
              <a:rPr lang="en-US" altLang="en-US" sz="2800" dirty="0" smtClean="0"/>
              <a:t>Noise</a:t>
            </a:r>
            <a:endParaRPr lang="en-US" altLang="en-US" sz="2800" dirty="0"/>
          </a:p>
          <a:p>
            <a:pPr marL="0" indent="0">
              <a:buNone/>
              <a:defRPr/>
            </a:pPr>
            <a:endParaRPr lang="en-US" sz="2800" dirty="0"/>
          </a:p>
          <a:p>
            <a:pPr>
              <a:buFont typeface="Wingdings" pitchFamily="2" charset="2"/>
              <a:buChar char="v"/>
              <a:defRPr/>
            </a:pPr>
            <a:endParaRPr lang="en-US" sz="2800" dirty="0"/>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wipe(left)">
                                      <p:cBhvr>
                                        <p:cTn id="17" dur="500"/>
                                        <p:tgtEl>
                                          <p:spTgt spid="1843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wipe(left)">
                                      <p:cBhvr>
                                        <p:cTn id="22"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45513"/>
            <a:ext cx="9603275" cy="573687"/>
          </a:xfrm>
        </p:spPr>
        <p:txBody>
          <a:bodyPr/>
          <a:lstStyle/>
          <a:p>
            <a:r>
              <a:rPr lang="en-US" cap="none" dirty="0"/>
              <a:t>Data Quality Issues</a:t>
            </a:r>
            <a:endParaRPr lang="en-IN" dirty="0"/>
          </a:p>
        </p:txBody>
      </p:sp>
      <p:sp>
        <p:nvSpPr>
          <p:cNvPr id="3" name="Content Placeholder 2"/>
          <p:cNvSpPr>
            <a:spLocks noGrp="1"/>
          </p:cNvSpPr>
          <p:nvPr>
            <p:ph idx="1"/>
          </p:nvPr>
        </p:nvSpPr>
        <p:spPr>
          <a:xfrm>
            <a:off x="457200" y="1214215"/>
            <a:ext cx="11353800" cy="4729385"/>
          </a:xfrm>
        </p:spPr>
        <p:txBody>
          <a:bodyPr>
            <a:normAutofit/>
          </a:bodyPr>
          <a:lstStyle/>
          <a:p>
            <a:pPr algn="just"/>
            <a:r>
              <a:rPr lang="en-IN" dirty="0" smtClean="0">
                <a:latin typeface="Times New Roman" panose="02020603050405020304" pitchFamily="18" charset="0"/>
                <a:cs typeface="Times New Roman" panose="02020603050405020304" pitchFamily="18" charset="0"/>
              </a:rPr>
              <a:t>Data </a:t>
            </a:r>
            <a:r>
              <a:rPr lang="en-IN" dirty="0">
                <a:latin typeface="Times New Roman" panose="02020603050405020304" pitchFamily="18" charset="0"/>
                <a:cs typeface="Times New Roman" panose="02020603050405020304" pitchFamily="18" charset="0"/>
              </a:rPr>
              <a:t>quality is the bedrock of any reliable machine learning or analytics system. </a:t>
            </a:r>
            <a:endParaRPr lang="en-IN" dirty="0" smtClean="0">
              <a:latin typeface="Times New Roman" panose="02020603050405020304" pitchFamily="18" charset="0"/>
              <a:cs typeface="Times New Roman" panose="02020603050405020304" pitchFamily="18" charset="0"/>
            </a:endParaRPr>
          </a:p>
          <a:p>
            <a:pPr algn="just"/>
            <a:r>
              <a:rPr lang="en-IN" dirty="0" smtClean="0">
                <a:latin typeface="Times New Roman" panose="02020603050405020304" pitchFamily="18" charset="0"/>
                <a:cs typeface="Times New Roman" panose="02020603050405020304" pitchFamily="18" charset="0"/>
              </a:rPr>
              <a:t>Poor-quality </a:t>
            </a:r>
            <a:r>
              <a:rPr lang="en-IN" dirty="0">
                <a:latin typeface="Times New Roman" panose="02020603050405020304" pitchFamily="18" charset="0"/>
                <a:cs typeface="Times New Roman" panose="02020603050405020304" pitchFamily="18" charset="0"/>
              </a:rPr>
              <a:t>data leads to inaccurate models, misleading insights, and bad decisions — a concept often summarized as "garbage in, garbage </a:t>
            </a:r>
            <a:r>
              <a:rPr lang="en-IN" dirty="0" smtClean="0">
                <a:latin typeface="Times New Roman" panose="02020603050405020304" pitchFamily="18" charset="0"/>
                <a:cs typeface="Times New Roman" panose="02020603050405020304" pitchFamily="18" charset="0"/>
              </a:rPr>
              <a:t>out.</a:t>
            </a:r>
          </a:p>
          <a:p>
            <a:pPr algn="just"/>
            <a:r>
              <a:rPr lang="en-US" dirty="0">
                <a:latin typeface="Times New Roman" panose="02020603050405020304" pitchFamily="18" charset="0"/>
                <a:cs typeface="Times New Roman" panose="02020603050405020304" pitchFamily="18" charset="0"/>
              </a:rPr>
              <a:t>Data quality issues are problems or errors in data that reduce its usefulness, reliability, and accuracy for analysis and decision-making</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Poor-quality data leads to:</a:t>
            </a:r>
          </a:p>
          <a:p>
            <a:r>
              <a:rPr lang="en-US" dirty="0">
                <a:latin typeface="Times New Roman" panose="02020603050405020304" pitchFamily="18" charset="0"/>
                <a:cs typeface="Times New Roman" panose="02020603050405020304" pitchFamily="18" charset="0"/>
              </a:rPr>
              <a:t>Wrong predictions </a:t>
            </a:r>
          </a:p>
          <a:p>
            <a:r>
              <a:rPr lang="en-US" dirty="0">
                <a:latin typeface="Times New Roman" panose="02020603050405020304" pitchFamily="18" charset="0"/>
                <a:cs typeface="Times New Roman" panose="02020603050405020304" pitchFamily="18" charset="0"/>
              </a:rPr>
              <a:t>Inaccurate analysis </a:t>
            </a:r>
          </a:p>
          <a:p>
            <a:r>
              <a:rPr lang="en-US" dirty="0">
                <a:latin typeface="Times New Roman" panose="02020603050405020304" pitchFamily="18" charset="0"/>
                <a:cs typeface="Times New Roman" panose="02020603050405020304" pitchFamily="18" charset="0"/>
              </a:rPr>
              <a:t>Poor business decisions </a:t>
            </a:r>
          </a:p>
          <a:p>
            <a:r>
              <a:rPr lang="en-US" dirty="0">
                <a:latin typeface="Times New Roman" panose="02020603050405020304" pitchFamily="18" charset="0"/>
                <a:cs typeface="Times New Roman" panose="02020603050405020304" pitchFamily="18" charset="0"/>
              </a:rPr>
              <a:t>Reduced Machine Learning performance </a:t>
            </a: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DATA QUALITY ISSUES</a:t>
            </a:r>
            <a:endParaRPr lang="en-US" sz="2400" dirty="0"/>
          </a:p>
        </p:txBody>
      </p:sp>
    </p:spTree>
    <p:extLst>
      <p:ext uri="{BB962C8B-B14F-4D97-AF65-F5344CB8AC3E}">
        <p14:creationId xmlns:p14="http://schemas.microsoft.com/office/powerpoint/2010/main" val="2160907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838200"/>
            <a:ext cx="10896600" cy="4800600"/>
          </a:xfrm>
        </p:spPr>
        <p:txBody>
          <a:bodyPr/>
          <a:lstStyle/>
          <a:p>
            <a:r>
              <a:rPr lang="en-US" dirty="0" smtClean="0">
                <a:latin typeface="Times New Roman" panose="02020603050405020304" pitchFamily="18" charset="0"/>
                <a:cs typeface="Times New Roman" panose="02020603050405020304" pitchFamily="18" charset="0"/>
              </a:rPr>
              <a:t>Therefore</a:t>
            </a:r>
            <a:r>
              <a:rPr lang="en-US" dirty="0">
                <a:latin typeface="Times New Roman" panose="02020603050405020304" pitchFamily="18" charset="0"/>
                <a:cs typeface="Times New Roman" panose="02020603050405020304" pitchFamily="18" charset="0"/>
              </a:rPr>
              <a:t>, identifying and resolving data quality issues is one of the most important tasks in Data Science</a:t>
            </a:r>
          </a:p>
          <a:p>
            <a:endParaRPr lang="en-IN" dirty="0">
              <a:latin typeface="Times New Roman" panose="02020603050405020304" pitchFamily="18" charset="0"/>
              <a:cs typeface="Times New Roman" panose="02020603050405020304" pitchFamily="18" charset="0"/>
            </a:endParaRPr>
          </a:p>
          <a:p>
            <a:endParaRPr lang="en-IN" dirty="0"/>
          </a:p>
        </p:txBody>
      </p:sp>
      <p:pic>
        <p:nvPicPr>
          <p:cNvPr id="4" name="Content Placeholder 4"/>
          <p:cNvPicPr>
            <a:picLocks noChangeAspect="1"/>
          </p:cNvPicPr>
          <p:nvPr/>
        </p:nvPicPr>
        <p:blipFill>
          <a:blip r:embed="rId2"/>
          <a:stretch>
            <a:fillRect/>
          </a:stretch>
        </p:blipFill>
        <p:spPr>
          <a:xfrm>
            <a:off x="3352800" y="1371600"/>
            <a:ext cx="6459980" cy="4111625"/>
          </a:xfrm>
          <a:prstGeom prst="rect">
            <a:avLst/>
          </a:prstGeom>
        </p:spPr>
      </p:pic>
    </p:spTree>
    <p:extLst>
      <p:ext uri="{BB962C8B-B14F-4D97-AF65-F5344CB8AC3E}">
        <p14:creationId xmlns:p14="http://schemas.microsoft.com/office/powerpoint/2010/main" val="2077014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277600" cy="5181600"/>
          </a:xfrm>
        </p:spPr>
        <p:txBody>
          <a:bodyPr numCol="1">
            <a:noAutofit/>
          </a:bodyPr>
          <a:lstStyle/>
          <a:p>
            <a:r>
              <a:rPr lang="en-IN" dirty="0" smtClean="0">
                <a:latin typeface="Times New Roman" panose="02020603050405020304" pitchFamily="18" charset="0"/>
                <a:cs typeface="Times New Roman" panose="02020603050405020304" pitchFamily="18" charset="0"/>
              </a:rPr>
              <a:t>Missing </a:t>
            </a:r>
            <a:r>
              <a:rPr lang="en-IN" dirty="0">
                <a:latin typeface="Times New Roman" panose="02020603050405020304" pitchFamily="18" charset="0"/>
                <a:cs typeface="Times New Roman" panose="02020603050405020304" pitchFamily="18" charset="0"/>
              </a:rPr>
              <a:t>Data </a:t>
            </a:r>
            <a:endParaRPr lang="en-IN" dirty="0" smtClean="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Noisy Data </a:t>
            </a:r>
            <a:endParaRPr lang="en-IN" dirty="0" smtClean="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Outliers</a:t>
            </a:r>
          </a:p>
          <a:p>
            <a:r>
              <a:rPr lang="en-IN" dirty="0">
                <a:latin typeface="Times New Roman" panose="02020603050405020304" pitchFamily="18" charset="0"/>
                <a:cs typeface="Times New Roman" panose="02020603050405020304" pitchFamily="18" charset="0"/>
              </a:rPr>
              <a:t>Inconsistent Data/Incorrect Data  </a:t>
            </a:r>
          </a:p>
          <a:p>
            <a:r>
              <a:rPr lang="en-IN" dirty="0" smtClean="0">
                <a:latin typeface="Times New Roman" panose="02020603050405020304" pitchFamily="18" charset="0"/>
                <a:cs typeface="Times New Roman" panose="02020603050405020304" pitchFamily="18" charset="0"/>
              </a:rPr>
              <a:t>Duplicate </a:t>
            </a:r>
            <a:r>
              <a:rPr lang="en-IN" dirty="0">
                <a:latin typeface="Times New Roman" panose="02020603050405020304" pitchFamily="18" charset="0"/>
                <a:cs typeface="Times New Roman" panose="02020603050405020304" pitchFamily="18" charset="0"/>
              </a:rPr>
              <a:t>Data </a:t>
            </a:r>
          </a:p>
          <a:p>
            <a:r>
              <a:rPr lang="en-IN" dirty="0" smtClean="0">
                <a:latin typeface="Times New Roman" panose="02020603050405020304" pitchFamily="18" charset="0"/>
                <a:cs typeface="Times New Roman" panose="02020603050405020304" pitchFamily="18" charset="0"/>
              </a:rPr>
              <a:t>Class Imbalance</a:t>
            </a:r>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Data Drift</a:t>
            </a:r>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Selection/Sampling Bias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MAJOR DATA QUALITY ISSUES</a:t>
            </a:r>
            <a:endParaRPr lang="en-US" sz="2400" dirty="0"/>
          </a:p>
        </p:txBody>
      </p:sp>
    </p:spTree>
    <p:extLst>
      <p:ext uri="{BB962C8B-B14F-4D97-AF65-F5344CB8AC3E}">
        <p14:creationId xmlns:p14="http://schemas.microsoft.com/office/powerpoint/2010/main" val="329809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11277599" cy="5257800"/>
          </a:xfrm>
        </p:spPr>
        <p:txBody>
          <a:bodyPr>
            <a:noAutofit/>
          </a:bodyPr>
          <a:lstStyle/>
          <a:p>
            <a:pPr algn="just"/>
            <a:r>
              <a:rPr lang="en-IN" b="1" dirty="0">
                <a:latin typeface="Times New Roman" panose="02020603050405020304" pitchFamily="18" charset="0"/>
                <a:cs typeface="Times New Roman" panose="02020603050405020304" pitchFamily="18" charset="0"/>
              </a:rPr>
              <a:t>Missing Data</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Missing data occurs when one or more values are absent for an observation. It's one of the most common real-world data problems and, if unhandled, silently distorts model training and evaluation.</a:t>
            </a:r>
          </a:p>
          <a:p>
            <a:pPr algn="just"/>
            <a:r>
              <a:rPr lang="en-IN" b="1" dirty="0">
                <a:latin typeface="Times New Roman" panose="02020603050405020304" pitchFamily="18" charset="0"/>
                <a:cs typeface="Times New Roman" panose="02020603050405020304" pitchFamily="18" charset="0"/>
              </a:rPr>
              <a:t>Types of </a:t>
            </a:r>
            <a:r>
              <a:rPr lang="en-IN" b="1" dirty="0" err="1">
                <a:latin typeface="Times New Roman" panose="02020603050405020304" pitchFamily="18" charset="0"/>
                <a:cs typeface="Times New Roman" panose="02020603050405020304" pitchFamily="18" charset="0"/>
              </a:rPr>
              <a:t>Missingness</a:t>
            </a:r>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MCAR — Missing Completely at Random</a:t>
            </a:r>
            <a:r>
              <a:rPr lang="en-IN" dirty="0">
                <a:latin typeface="Times New Roman" panose="02020603050405020304" pitchFamily="18" charset="0"/>
                <a:cs typeface="Times New Roman" panose="02020603050405020304" pitchFamily="18" charset="0"/>
              </a:rPr>
              <a:t> Values are missing with no relationship to any other variable. Example: a survey respondent skips a question by accident. This is the most benign form — the observed data is still an unbiased sample of the full dataset. Deletion is safe here.</a:t>
            </a:r>
          </a:p>
          <a:p>
            <a:pPr algn="just"/>
            <a:r>
              <a:rPr lang="en-IN" b="1" dirty="0">
                <a:latin typeface="Times New Roman" panose="02020603050405020304" pitchFamily="18" charset="0"/>
                <a:cs typeface="Times New Roman" panose="02020603050405020304" pitchFamily="18" charset="0"/>
              </a:rPr>
              <a:t>MAR — Missing at Random</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Missingness</a:t>
            </a:r>
            <a:r>
              <a:rPr lang="en-IN" dirty="0">
                <a:latin typeface="Times New Roman" panose="02020603050405020304" pitchFamily="18" charset="0"/>
                <a:cs typeface="Times New Roman" panose="02020603050405020304" pitchFamily="18" charset="0"/>
              </a:rPr>
              <a:t> depends on other </a:t>
            </a:r>
            <a:r>
              <a:rPr lang="en-IN" i="1" dirty="0">
                <a:latin typeface="Times New Roman" panose="02020603050405020304" pitchFamily="18" charset="0"/>
                <a:cs typeface="Times New Roman" panose="02020603050405020304" pitchFamily="18" charset="0"/>
              </a:rPr>
              <a:t>observed</a:t>
            </a:r>
            <a:r>
              <a:rPr lang="en-IN" dirty="0">
                <a:latin typeface="Times New Roman" panose="02020603050405020304" pitchFamily="18" charset="0"/>
                <a:cs typeface="Times New Roman" panose="02020603050405020304" pitchFamily="18" charset="0"/>
              </a:rPr>
              <a:t> variables, but not on the missing value itself. Example: younger respondents skip income questions more often, but age is recorded. Once you account for age, the </a:t>
            </a:r>
            <a:r>
              <a:rPr lang="en-IN" dirty="0" err="1">
                <a:latin typeface="Times New Roman" panose="02020603050405020304" pitchFamily="18" charset="0"/>
                <a:cs typeface="Times New Roman" panose="02020603050405020304" pitchFamily="18" charset="0"/>
              </a:rPr>
              <a:t>missingness</a:t>
            </a:r>
            <a:r>
              <a:rPr lang="en-IN" dirty="0">
                <a:latin typeface="Times New Roman" panose="02020603050405020304" pitchFamily="18" charset="0"/>
                <a:cs typeface="Times New Roman" panose="02020603050405020304" pitchFamily="18" charset="0"/>
              </a:rPr>
              <a:t> is random. This is treatable with careful imputation</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MISSING DATA</a:t>
            </a:r>
            <a:endParaRPr lang="en-US" sz="2400" dirty="0"/>
          </a:p>
        </p:txBody>
      </p:sp>
    </p:spTree>
    <p:extLst>
      <p:ext uri="{BB962C8B-B14F-4D97-AF65-F5344CB8AC3E}">
        <p14:creationId xmlns:p14="http://schemas.microsoft.com/office/powerpoint/2010/main" val="2999235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762000"/>
            <a:ext cx="10820399" cy="4876800"/>
          </a:xfrm>
        </p:spPr>
        <p:txBody>
          <a:bodyPr>
            <a:normAutofit/>
          </a:bodyPr>
          <a:lstStyle/>
          <a:p>
            <a:pPr algn="just"/>
            <a:r>
              <a:rPr lang="en-IN" b="1" dirty="0">
                <a:latin typeface="Times New Roman" panose="02020603050405020304" pitchFamily="18" charset="0"/>
                <a:cs typeface="Times New Roman" panose="02020603050405020304" pitchFamily="18" charset="0"/>
              </a:rPr>
              <a:t>MNAR — Missing Not at Random</a:t>
            </a:r>
            <a:r>
              <a:rPr lang="en-IN" dirty="0">
                <a:latin typeface="Times New Roman" panose="02020603050405020304" pitchFamily="18" charset="0"/>
                <a:cs typeface="Times New Roman" panose="02020603050405020304" pitchFamily="18" charset="0"/>
              </a:rPr>
              <a:t> The </a:t>
            </a:r>
            <a:r>
              <a:rPr lang="en-IN" dirty="0" err="1">
                <a:latin typeface="Times New Roman" panose="02020603050405020304" pitchFamily="18" charset="0"/>
                <a:cs typeface="Times New Roman" panose="02020603050405020304" pitchFamily="18" charset="0"/>
              </a:rPr>
              <a:t>missingness</a:t>
            </a:r>
            <a:r>
              <a:rPr lang="en-IN" dirty="0">
                <a:latin typeface="Times New Roman" panose="02020603050405020304" pitchFamily="18" charset="0"/>
                <a:cs typeface="Times New Roman" panose="02020603050405020304" pitchFamily="18" charset="0"/>
              </a:rPr>
              <a:t> depends on the unobserved value itself. Example: people with very high or very low incomes avoid disclosing it. This is the most dangerous type — it introduces systematic bias that is very hard to correct without domain knowledge.</a:t>
            </a:r>
          </a:p>
          <a:p>
            <a:pPr algn="just"/>
            <a:r>
              <a:rPr lang="en-IN" b="1" dirty="0">
                <a:latin typeface="Times New Roman" panose="02020603050405020304" pitchFamily="18" charset="0"/>
                <a:cs typeface="Times New Roman" panose="02020603050405020304" pitchFamily="18" charset="0"/>
              </a:rPr>
              <a:t>Impact on Models</a:t>
            </a:r>
            <a:endParaRPr lang="en-IN"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Algorithms like linear regression and neural networks cannot process </a:t>
            </a:r>
            <a:r>
              <a:rPr lang="en-IN" dirty="0" err="1">
                <a:latin typeface="Times New Roman" panose="02020603050405020304" pitchFamily="18" charset="0"/>
                <a:cs typeface="Times New Roman" panose="02020603050405020304" pitchFamily="18" charset="0"/>
              </a:rPr>
              <a:t>NaN</a:t>
            </a:r>
            <a:r>
              <a:rPr lang="en-IN" dirty="0">
                <a:latin typeface="Times New Roman" panose="02020603050405020304" pitchFamily="18" charset="0"/>
                <a:cs typeface="Times New Roman" panose="02020603050405020304" pitchFamily="18" charset="0"/>
              </a:rPr>
              <a:t> values natively.</a:t>
            </a:r>
          </a:p>
          <a:p>
            <a:pPr lvl="0" algn="just"/>
            <a:r>
              <a:rPr lang="en-IN" dirty="0">
                <a:latin typeface="Times New Roman" panose="02020603050405020304" pitchFamily="18" charset="0"/>
                <a:cs typeface="Times New Roman" panose="02020603050405020304" pitchFamily="18" charset="0"/>
              </a:rPr>
              <a:t>Ignored missing data causes biased parameter estimates.</a:t>
            </a:r>
          </a:p>
          <a:p>
            <a:pPr lvl="0" algn="just"/>
            <a:r>
              <a:rPr lang="en-IN" dirty="0">
                <a:latin typeface="Times New Roman" panose="02020603050405020304" pitchFamily="18" charset="0"/>
                <a:cs typeface="Times New Roman" panose="02020603050405020304" pitchFamily="18" charset="0"/>
              </a:rPr>
              <a:t>If </a:t>
            </a:r>
            <a:r>
              <a:rPr lang="en-IN" dirty="0" err="1">
                <a:latin typeface="Times New Roman" panose="02020603050405020304" pitchFamily="18" charset="0"/>
                <a:cs typeface="Times New Roman" panose="02020603050405020304" pitchFamily="18" charset="0"/>
              </a:rPr>
              <a:t>missingness</a:t>
            </a:r>
            <a:r>
              <a:rPr lang="en-IN" dirty="0">
                <a:latin typeface="Times New Roman" panose="02020603050405020304" pitchFamily="18" charset="0"/>
                <a:cs typeface="Times New Roman" panose="02020603050405020304" pitchFamily="18" charset="0"/>
              </a:rPr>
              <a:t> is MNAR, even sophisticated imputation can mislead the model.</a:t>
            </a:r>
          </a:p>
          <a:p>
            <a:pPr algn="just"/>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p:cNvPicPr>
            <a:picLocks noChangeAspect="1"/>
          </p:cNvPicPr>
          <p:nvPr/>
        </p:nvPicPr>
        <p:blipFill>
          <a:blip r:embed="rId2"/>
          <a:stretch>
            <a:fillRect/>
          </a:stretch>
        </p:blipFill>
        <p:spPr>
          <a:xfrm>
            <a:off x="2209800" y="3962400"/>
            <a:ext cx="5029200" cy="2092093"/>
          </a:xfrm>
          <a:prstGeom prst="rect">
            <a:avLst/>
          </a:prstGeom>
        </p:spPr>
      </p:pic>
      <p:sp>
        <p:nvSpPr>
          <p:cNvPr id="5"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MISSING DATA</a:t>
            </a:r>
            <a:endParaRPr lang="en-US" sz="2400" dirty="0"/>
          </a:p>
        </p:txBody>
      </p:sp>
    </p:spTree>
    <p:extLst>
      <p:ext uri="{BB962C8B-B14F-4D97-AF65-F5344CB8AC3E}">
        <p14:creationId xmlns:p14="http://schemas.microsoft.com/office/powerpoint/2010/main" val="2288906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9</a:t>
            </a:fld>
            <a:endParaRPr lang="en-IN"/>
          </a:p>
        </p:txBody>
      </p:sp>
      <p:sp>
        <p:nvSpPr>
          <p:cNvPr id="3" name="Content Placeholder 2"/>
          <p:cNvSpPr>
            <a:spLocks noGrp="1"/>
          </p:cNvSpPr>
          <p:nvPr>
            <p:ph idx="4294967295"/>
          </p:nvPr>
        </p:nvSpPr>
        <p:spPr>
          <a:xfrm>
            <a:off x="989045" y="1209822"/>
            <a:ext cx="11000791" cy="4843317"/>
          </a:xfrm>
        </p:spPr>
        <p:txBody>
          <a:bodyPr>
            <a:noAutofit/>
          </a:bodyPr>
          <a:lstStyle/>
          <a:p>
            <a:pPr>
              <a:lnSpc>
                <a:spcPct val="100000"/>
              </a:lnSpc>
            </a:pPr>
            <a:r>
              <a:rPr lang="en-US" sz="2800" dirty="0">
                <a:latin typeface="Times New Roman" panose="02020603050405020304" pitchFamily="16" charset="0"/>
                <a:cs typeface="Times New Roman" panose="02020603050405020304" pitchFamily="16" charset="0"/>
              </a:rPr>
              <a:t>Data is not always available</a:t>
            </a:r>
          </a:p>
          <a:p>
            <a:pPr lvl="1">
              <a:lnSpc>
                <a:spcPct val="100000"/>
              </a:lnSpc>
            </a:pPr>
            <a:r>
              <a:rPr lang="en-US" sz="2400" dirty="0">
                <a:latin typeface="Times New Roman" panose="02020603050405020304" pitchFamily="16" charset="0"/>
                <a:cs typeface="Times New Roman" panose="02020603050405020304" pitchFamily="16" charset="0"/>
              </a:rPr>
              <a:t>E.g., many tuples have no recorded value for several attributes, such as customer income in sales data</a:t>
            </a:r>
          </a:p>
          <a:p>
            <a:pPr>
              <a:lnSpc>
                <a:spcPct val="100000"/>
              </a:lnSpc>
            </a:pPr>
            <a:r>
              <a:rPr lang="en-US" sz="2800" dirty="0">
                <a:latin typeface="Times New Roman" panose="02020603050405020304" pitchFamily="16" charset="0"/>
                <a:cs typeface="Times New Roman" panose="02020603050405020304" pitchFamily="16" charset="0"/>
              </a:rPr>
              <a:t>Missing data may be due to</a:t>
            </a:r>
          </a:p>
          <a:p>
            <a:pPr lvl="1">
              <a:lnSpc>
                <a:spcPct val="100000"/>
              </a:lnSpc>
            </a:pPr>
            <a:r>
              <a:rPr lang="en-US" sz="2400" dirty="0">
                <a:latin typeface="Times New Roman" panose="02020603050405020304" pitchFamily="16" charset="0"/>
                <a:cs typeface="Times New Roman" panose="02020603050405020304" pitchFamily="16" charset="0"/>
              </a:rPr>
              <a:t>Equipment malfunction</a:t>
            </a:r>
          </a:p>
          <a:p>
            <a:pPr lvl="1">
              <a:lnSpc>
                <a:spcPct val="100000"/>
              </a:lnSpc>
            </a:pPr>
            <a:r>
              <a:rPr lang="en-US" sz="2400" dirty="0">
                <a:latin typeface="Times New Roman" panose="02020603050405020304" pitchFamily="16" charset="0"/>
                <a:cs typeface="Times New Roman" panose="02020603050405020304" pitchFamily="16" charset="0"/>
              </a:rPr>
              <a:t>Inconsistent with other recorded data and thus deleted</a:t>
            </a:r>
          </a:p>
          <a:p>
            <a:pPr lvl="1">
              <a:lnSpc>
                <a:spcPct val="100000"/>
              </a:lnSpc>
            </a:pPr>
            <a:r>
              <a:rPr lang="en-US" sz="2400" dirty="0">
                <a:latin typeface="Times New Roman" panose="02020603050405020304" pitchFamily="16" charset="0"/>
                <a:cs typeface="Times New Roman" panose="02020603050405020304" pitchFamily="16" charset="0"/>
              </a:rPr>
              <a:t>Data not entered due to misunderstanding</a:t>
            </a:r>
          </a:p>
          <a:p>
            <a:pPr lvl="1">
              <a:lnSpc>
                <a:spcPct val="100000"/>
              </a:lnSpc>
            </a:pPr>
            <a:r>
              <a:rPr lang="en-US" sz="2400" dirty="0">
                <a:latin typeface="Times New Roman" panose="02020603050405020304" pitchFamily="16" charset="0"/>
                <a:cs typeface="Times New Roman" panose="02020603050405020304" pitchFamily="16" charset="0"/>
              </a:rPr>
              <a:t>Certain data may not be considered important at the time of entry</a:t>
            </a:r>
          </a:p>
          <a:p>
            <a:pPr lvl="1">
              <a:lnSpc>
                <a:spcPct val="100000"/>
              </a:lnSpc>
            </a:pPr>
            <a:r>
              <a:rPr lang="en-US" sz="2400" dirty="0">
                <a:latin typeface="Times New Roman" panose="02020603050405020304" pitchFamily="16" charset="0"/>
                <a:cs typeface="Times New Roman" panose="02020603050405020304" pitchFamily="16" charset="0"/>
              </a:rPr>
              <a:t>Not register history or changes of the data</a:t>
            </a:r>
          </a:p>
          <a:p>
            <a:pPr>
              <a:lnSpc>
                <a:spcPct val="100000"/>
              </a:lnSpc>
            </a:pPr>
            <a:r>
              <a:rPr lang="en-US" sz="2800" dirty="0">
                <a:latin typeface="Times New Roman" panose="02020603050405020304" pitchFamily="16" charset="0"/>
                <a:cs typeface="Times New Roman" panose="02020603050405020304" pitchFamily="16" charset="0"/>
              </a:rPr>
              <a:t>Missing data may need to be inferred.</a:t>
            </a:r>
            <a:endParaRPr lang="en-IN" sz="2800" dirty="0">
              <a:latin typeface="Times New Roman" panose="02020603050405020304" pitchFamily="16" charset="0"/>
              <a:cs typeface="Times New Roman" panose="02020603050405020304" pitchFamily="16" charset="0"/>
            </a:endParaRPr>
          </a:p>
        </p:txBody>
      </p:sp>
      <p:sp>
        <p:nvSpPr>
          <p:cNvPr id="5"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MISSING DATA</a:t>
            </a:r>
            <a:endParaRPr lang="en-US" sz="2400" dirty="0"/>
          </a:p>
        </p:txBody>
      </p:sp>
    </p:spTree>
    <p:extLst>
      <p:ext uri="{BB962C8B-B14F-4D97-AF65-F5344CB8AC3E}">
        <p14:creationId xmlns:p14="http://schemas.microsoft.com/office/powerpoint/2010/main" val="186595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10</a:t>
            </a:fld>
            <a:endParaRPr lang="en-IN"/>
          </a:p>
        </p:txBody>
      </p:sp>
      <p:sp>
        <p:nvSpPr>
          <p:cNvPr id="3" name="Content Placeholder 2"/>
          <p:cNvSpPr>
            <a:spLocks noGrp="1"/>
          </p:cNvSpPr>
          <p:nvPr>
            <p:ph idx="4294967295"/>
          </p:nvPr>
        </p:nvSpPr>
        <p:spPr>
          <a:xfrm>
            <a:off x="727789" y="1209822"/>
            <a:ext cx="11084766" cy="4939051"/>
          </a:xfrm>
        </p:spPr>
        <p:txBody>
          <a:bodyPr>
            <a:noAutofit/>
          </a:bodyPr>
          <a:lstStyle/>
          <a:p>
            <a:pPr algn="just">
              <a:lnSpc>
                <a:spcPct val="100000"/>
              </a:lnSpc>
            </a:pPr>
            <a:r>
              <a:rPr lang="en-US" sz="2600" dirty="0">
                <a:latin typeface="Times New Roman" panose="02020603050405020304" pitchFamily="16" charset="0"/>
                <a:cs typeface="Times New Roman" panose="02020603050405020304" pitchFamily="16" charset="0"/>
              </a:rPr>
              <a:t>Ignore the tuple: usually done when class label is missing (assuming the tasks in classification—not effective when the percentage of missing values per attribute varies considerably.</a:t>
            </a:r>
          </a:p>
          <a:p>
            <a:pPr algn="just">
              <a:lnSpc>
                <a:spcPct val="100000"/>
              </a:lnSpc>
            </a:pPr>
            <a:r>
              <a:rPr lang="en-US" sz="2600" dirty="0">
                <a:latin typeface="Times New Roman" panose="02020603050405020304" pitchFamily="16" charset="0"/>
                <a:cs typeface="Times New Roman" panose="02020603050405020304" pitchFamily="16" charset="0"/>
              </a:rPr>
              <a:t>Fill in the missing value manually: tedious + infeasible?</a:t>
            </a:r>
          </a:p>
          <a:p>
            <a:pPr algn="just">
              <a:lnSpc>
                <a:spcPct val="100000"/>
              </a:lnSpc>
            </a:pPr>
            <a:r>
              <a:rPr lang="en-US" sz="2600" dirty="0">
                <a:latin typeface="Times New Roman" panose="02020603050405020304" pitchFamily="16" charset="0"/>
                <a:cs typeface="Times New Roman" panose="02020603050405020304" pitchFamily="16" charset="0"/>
              </a:rPr>
              <a:t>Use a global constant to fill in the missing value: e.g., “unknown”, a new class?!</a:t>
            </a:r>
          </a:p>
          <a:p>
            <a:pPr algn="just">
              <a:lnSpc>
                <a:spcPct val="100000"/>
              </a:lnSpc>
            </a:pPr>
            <a:r>
              <a:rPr lang="en-US" sz="2600" dirty="0">
                <a:latin typeface="Times New Roman" panose="02020603050405020304" pitchFamily="16" charset="0"/>
                <a:cs typeface="Times New Roman" panose="02020603050405020304" pitchFamily="16" charset="0"/>
              </a:rPr>
              <a:t>Imputation: Use the attribute mean to fill in the missing value, or use the attribute mean for all samples belonging to the same class to fill in the missing value: smarter</a:t>
            </a:r>
          </a:p>
          <a:p>
            <a:pPr algn="just">
              <a:lnSpc>
                <a:spcPct val="100000"/>
              </a:lnSpc>
            </a:pPr>
            <a:r>
              <a:rPr lang="en-US" sz="2600" dirty="0">
                <a:latin typeface="Times New Roman" panose="02020603050405020304" pitchFamily="16" charset="0"/>
                <a:cs typeface="Times New Roman" panose="02020603050405020304" pitchFamily="16" charset="0"/>
              </a:rPr>
              <a:t>Use the most probable value to fill in the missing value: inference-based such as Bayesian formula or decision tree</a:t>
            </a:r>
            <a:endParaRPr lang="en-IN" sz="26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3536301" y="121696"/>
            <a:ext cx="6148875"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Handling Missing Data</a:t>
            </a:r>
          </a:p>
        </p:txBody>
      </p:sp>
    </p:spTree>
    <p:extLst>
      <p:ext uri="{BB962C8B-B14F-4D97-AF65-F5344CB8AC3E}">
        <p14:creationId xmlns:p14="http://schemas.microsoft.com/office/powerpoint/2010/main" val="73912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11</a:t>
            </a:fld>
            <a:endParaRPr lang="en-IN"/>
          </a:p>
        </p:txBody>
      </p:sp>
      <p:sp>
        <p:nvSpPr>
          <p:cNvPr id="3" name="Content Placeholder 2"/>
          <p:cNvSpPr>
            <a:spLocks noGrp="1"/>
          </p:cNvSpPr>
          <p:nvPr>
            <p:ph idx="4294967295"/>
          </p:nvPr>
        </p:nvSpPr>
        <p:spPr>
          <a:xfrm>
            <a:off x="888302" y="1350497"/>
            <a:ext cx="10289771" cy="4639755"/>
          </a:xfrm>
        </p:spPr>
        <p:txBody>
          <a:bodyPr>
            <a:normAutofit/>
          </a:bodyPr>
          <a:lstStyle/>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We want to transform all dates to the same format internally</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Some systems accept dates in many formats</a:t>
            </a:r>
          </a:p>
          <a:p>
            <a:pPr lvl="1" algn="just">
              <a:lnSpc>
                <a:spcPct val="100000"/>
              </a:lnSpc>
              <a:spcBef>
                <a:spcPts val="0"/>
              </a:spcBef>
            </a:pPr>
            <a:r>
              <a:rPr lang="en-US" sz="2800" dirty="0">
                <a:latin typeface="Times New Roman" panose="02020603050405020304" pitchFamily="16" charset="0"/>
                <a:cs typeface="Times New Roman" panose="02020603050405020304" pitchFamily="16" charset="0"/>
              </a:rPr>
              <a:t>e.g. “Sep 24, 2003”, 9/24/03, 24.09.03, </a:t>
            </a:r>
            <a:r>
              <a:rPr lang="en-US" sz="2800" dirty="0" err="1">
                <a:latin typeface="Times New Roman" panose="02020603050405020304" pitchFamily="16" charset="0"/>
                <a:cs typeface="Times New Roman" panose="02020603050405020304" pitchFamily="16" charset="0"/>
              </a:rPr>
              <a:t>etc</a:t>
            </a:r>
            <a:endParaRPr lang="en-US" sz="2800" dirty="0">
              <a:latin typeface="Times New Roman" panose="02020603050405020304" pitchFamily="16" charset="0"/>
              <a:cs typeface="Times New Roman" panose="02020603050405020304" pitchFamily="16" charset="0"/>
            </a:endParaRPr>
          </a:p>
          <a:p>
            <a:pPr lvl="1" algn="just">
              <a:lnSpc>
                <a:spcPct val="100000"/>
              </a:lnSpc>
              <a:spcBef>
                <a:spcPts val="0"/>
              </a:spcBef>
            </a:pPr>
            <a:r>
              <a:rPr lang="en-US" sz="2800" dirty="0">
                <a:latin typeface="Times New Roman" panose="02020603050405020304" pitchFamily="16" charset="0"/>
                <a:cs typeface="Times New Roman" panose="02020603050405020304" pitchFamily="16" charset="0"/>
              </a:rPr>
              <a:t>dates are transformed internally to a standard value</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Frequently, just the year (YYYY) is sufficient</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For more details, we may need the month, the day, the hour, </a:t>
            </a:r>
            <a:r>
              <a:rPr lang="en-US" sz="2800" dirty="0" err="1">
                <a:latin typeface="Times New Roman" panose="02020603050405020304" pitchFamily="16" charset="0"/>
                <a:cs typeface="Times New Roman" panose="02020603050405020304" pitchFamily="16" charset="0"/>
              </a:rPr>
              <a:t>etc</a:t>
            </a:r>
            <a:endParaRPr lang="en-US" sz="2800" dirty="0">
              <a:latin typeface="Times New Roman" panose="02020603050405020304" pitchFamily="16" charset="0"/>
              <a:cs typeface="Times New Roman" panose="02020603050405020304" pitchFamily="16" charset="0"/>
            </a:endParaRP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Representing date as YYYYMM or YYYYMMDD can be OK, but has problems</a:t>
            </a:r>
            <a:endParaRPr lang="en-IN" sz="28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3424335" y="180806"/>
            <a:ext cx="5850294"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smtClean="0"/>
              <a:t>Unified </a:t>
            </a:r>
            <a:r>
              <a:rPr lang="en-US" sz="3200" b="1" cap="all" dirty="0"/>
              <a:t>Date Format</a:t>
            </a:r>
          </a:p>
        </p:txBody>
      </p:sp>
    </p:spTree>
    <p:extLst>
      <p:ext uri="{BB962C8B-B14F-4D97-AF65-F5344CB8AC3E}">
        <p14:creationId xmlns:p14="http://schemas.microsoft.com/office/powerpoint/2010/main" val="308772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12</a:t>
            </a:fld>
            <a:endParaRPr lang="en-IN"/>
          </a:p>
        </p:txBody>
      </p:sp>
      <p:sp>
        <p:nvSpPr>
          <p:cNvPr id="3" name="Content Placeholder 2"/>
          <p:cNvSpPr>
            <a:spLocks noGrp="1"/>
          </p:cNvSpPr>
          <p:nvPr>
            <p:ph idx="4294967295"/>
          </p:nvPr>
        </p:nvSpPr>
        <p:spPr>
          <a:xfrm>
            <a:off x="862644" y="1195753"/>
            <a:ext cx="9604375" cy="4878475"/>
          </a:xfrm>
        </p:spPr>
        <p:txBody>
          <a:bodyPr>
            <a:normAutofit/>
          </a:bodyPr>
          <a:lstStyle/>
          <a:p>
            <a:pPr>
              <a:spcBef>
                <a:spcPts val="0"/>
              </a:spcBef>
            </a:pPr>
            <a:r>
              <a:rPr lang="en-US" sz="3200" dirty="0">
                <a:latin typeface="Times New Roman" panose="02020603050405020304" pitchFamily="16" charset="0"/>
                <a:cs typeface="Times New Roman" panose="02020603050405020304" pitchFamily="16" charset="0"/>
              </a:rPr>
              <a:t>To preserve intervals, we can use</a:t>
            </a:r>
          </a:p>
          <a:p>
            <a:pPr lvl="1">
              <a:spcBef>
                <a:spcPts val="0"/>
              </a:spcBef>
            </a:pPr>
            <a:r>
              <a:rPr lang="en-US" sz="2800" dirty="0">
                <a:latin typeface="Times New Roman" panose="02020603050405020304" pitchFamily="16" charset="0"/>
                <a:cs typeface="Times New Roman" panose="02020603050405020304" pitchFamily="16" charset="0"/>
              </a:rPr>
              <a:t>Unix system date: Number of seconds since 1970</a:t>
            </a:r>
          </a:p>
          <a:p>
            <a:pPr lvl="1">
              <a:spcBef>
                <a:spcPts val="0"/>
              </a:spcBef>
            </a:pPr>
            <a:r>
              <a:rPr lang="en-US" sz="2800" dirty="0">
                <a:latin typeface="Times New Roman" panose="02020603050405020304" pitchFamily="16" charset="0"/>
                <a:cs typeface="Times New Roman" panose="02020603050405020304" pitchFamily="16" charset="0"/>
              </a:rPr>
              <a:t>Number of days since Jan 1, 1960 (SAS)</a:t>
            </a:r>
          </a:p>
          <a:p>
            <a:pPr>
              <a:spcBef>
                <a:spcPts val="0"/>
              </a:spcBef>
            </a:pPr>
            <a:r>
              <a:rPr lang="en-US" sz="3200" dirty="0">
                <a:latin typeface="Times New Roman" panose="02020603050405020304" pitchFamily="16" charset="0"/>
                <a:cs typeface="Times New Roman" panose="02020603050405020304" pitchFamily="16" charset="0"/>
              </a:rPr>
              <a:t>Problem:</a:t>
            </a:r>
          </a:p>
          <a:p>
            <a:pPr lvl="1">
              <a:spcBef>
                <a:spcPts val="0"/>
              </a:spcBef>
            </a:pPr>
            <a:r>
              <a:rPr lang="en-US" sz="2800" dirty="0">
                <a:latin typeface="Times New Roman" panose="02020603050405020304" pitchFamily="16" charset="0"/>
                <a:cs typeface="Times New Roman" panose="02020603050405020304" pitchFamily="16" charset="0"/>
              </a:rPr>
              <a:t>values are non-obvious</a:t>
            </a:r>
          </a:p>
          <a:p>
            <a:pPr lvl="1">
              <a:spcBef>
                <a:spcPts val="0"/>
              </a:spcBef>
            </a:pPr>
            <a:r>
              <a:rPr lang="en-US" sz="2800" dirty="0">
                <a:latin typeface="Times New Roman" panose="02020603050405020304" pitchFamily="16" charset="0"/>
                <a:cs typeface="Times New Roman" panose="02020603050405020304" pitchFamily="16" charset="0"/>
              </a:rPr>
              <a:t>don’t help intuition and knowledge discovery</a:t>
            </a:r>
          </a:p>
          <a:p>
            <a:pPr lvl="1">
              <a:spcBef>
                <a:spcPts val="0"/>
              </a:spcBef>
            </a:pPr>
            <a:r>
              <a:rPr lang="en-US" sz="2800" dirty="0">
                <a:latin typeface="Times New Roman" panose="02020603050405020304" pitchFamily="16" charset="0"/>
                <a:cs typeface="Times New Roman" panose="02020603050405020304" pitchFamily="16" charset="0"/>
              </a:rPr>
              <a:t>harder to verify, easier to make an error</a:t>
            </a:r>
            <a:endParaRPr lang="en-IN" sz="28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2535998" y="180806"/>
            <a:ext cx="7931021"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Unified Date Format Options</a:t>
            </a:r>
          </a:p>
        </p:txBody>
      </p:sp>
    </p:spTree>
    <p:extLst>
      <p:ext uri="{BB962C8B-B14F-4D97-AF65-F5344CB8AC3E}">
        <p14:creationId xmlns:p14="http://schemas.microsoft.com/office/powerpoint/2010/main" val="254320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13</a:t>
            </a:fld>
            <a:endParaRPr lang="en-IN"/>
          </a:p>
        </p:txBody>
      </p:sp>
      <p:sp>
        <p:nvSpPr>
          <p:cNvPr id="3" name="Content Placeholder 2"/>
          <p:cNvSpPr>
            <a:spLocks noGrp="1"/>
          </p:cNvSpPr>
          <p:nvPr>
            <p:ph idx="4294967295"/>
          </p:nvPr>
        </p:nvSpPr>
        <p:spPr>
          <a:xfrm>
            <a:off x="866159" y="1139482"/>
            <a:ext cx="10459682" cy="4897423"/>
          </a:xfrm>
        </p:spPr>
        <p:txBody>
          <a:bodyPr>
            <a:normAutofit/>
          </a:bodyPr>
          <a:lstStyle/>
          <a:p>
            <a:pPr algn="just">
              <a:lnSpc>
                <a:spcPct val="100000"/>
              </a:lnSpc>
              <a:spcBef>
                <a:spcPts val="0"/>
              </a:spcBef>
            </a:pPr>
            <a:r>
              <a:rPr lang="en-US" sz="3200" dirty="0">
                <a:latin typeface="Times New Roman" panose="02020603050405020304" pitchFamily="16" charset="0"/>
                <a:cs typeface="Times New Roman" panose="02020603050405020304" pitchFamily="16" charset="0"/>
              </a:rPr>
              <a:t>Some tools can deal with nominal values internally</a:t>
            </a:r>
          </a:p>
          <a:p>
            <a:pPr algn="just">
              <a:lnSpc>
                <a:spcPct val="100000"/>
              </a:lnSpc>
              <a:spcBef>
                <a:spcPts val="0"/>
              </a:spcBef>
            </a:pPr>
            <a:r>
              <a:rPr lang="en-US" sz="3200" dirty="0">
                <a:latin typeface="Times New Roman" panose="02020603050405020304" pitchFamily="16" charset="0"/>
                <a:cs typeface="Times New Roman" panose="02020603050405020304" pitchFamily="16" charset="0"/>
              </a:rPr>
              <a:t>Other methods (neural nets, regression, nearest neighbor) require only numeric inputs</a:t>
            </a:r>
          </a:p>
          <a:p>
            <a:pPr algn="just">
              <a:lnSpc>
                <a:spcPct val="100000"/>
              </a:lnSpc>
              <a:spcBef>
                <a:spcPts val="0"/>
              </a:spcBef>
            </a:pPr>
            <a:r>
              <a:rPr lang="en-US" sz="3200" dirty="0">
                <a:latin typeface="Times New Roman" panose="02020603050405020304" pitchFamily="16" charset="0"/>
                <a:cs typeface="Times New Roman" panose="02020603050405020304" pitchFamily="16" charset="0"/>
              </a:rPr>
              <a:t>To use nominal fields in such methods need to convert them to a numeric value</a:t>
            </a:r>
          </a:p>
          <a:p>
            <a:pPr lvl="1" algn="just">
              <a:lnSpc>
                <a:spcPct val="100000"/>
              </a:lnSpc>
              <a:spcBef>
                <a:spcPts val="0"/>
              </a:spcBef>
            </a:pPr>
            <a:r>
              <a:rPr lang="en-US" sz="2800" b="1" dirty="0">
                <a:solidFill>
                  <a:srgbClr val="7030A0"/>
                </a:solidFill>
                <a:latin typeface="Times New Roman" panose="02020603050405020304" pitchFamily="16" charset="0"/>
                <a:cs typeface="Times New Roman" panose="02020603050405020304" pitchFamily="16" charset="0"/>
              </a:rPr>
              <a:t>Q: Why not ignore nominal fields altogether?</a:t>
            </a:r>
          </a:p>
          <a:p>
            <a:pPr lvl="1" algn="just">
              <a:lnSpc>
                <a:spcPct val="100000"/>
              </a:lnSpc>
              <a:spcBef>
                <a:spcPts val="0"/>
              </a:spcBef>
            </a:pPr>
            <a:r>
              <a:rPr lang="en-US" sz="2800" b="1" dirty="0">
                <a:solidFill>
                  <a:srgbClr val="7030A0"/>
                </a:solidFill>
                <a:latin typeface="Times New Roman" panose="02020603050405020304" pitchFamily="16" charset="0"/>
                <a:cs typeface="Times New Roman" panose="02020603050405020304" pitchFamily="16" charset="0"/>
              </a:rPr>
              <a:t>A: They may contain valuable information</a:t>
            </a:r>
          </a:p>
          <a:p>
            <a:pPr algn="just">
              <a:lnSpc>
                <a:spcPct val="100000"/>
              </a:lnSpc>
              <a:spcBef>
                <a:spcPts val="0"/>
              </a:spcBef>
            </a:pPr>
            <a:r>
              <a:rPr lang="en-US" sz="3200" dirty="0">
                <a:latin typeface="Times New Roman" panose="02020603050405020304" pitchFamily="16" charset="0"/>
                <a:cs typeface="Times New Roman" panose="02020603050405020304" pitchFamily="16" charset="0"/>
              </a:rPr>
              <a:t>Different strategies for binary, ordered, multi-valued nominal fields</a:t>
            </a:r>
            <a:endParaRPr lang="en-IN" sz="32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2005643" y="180806"/>
            <a:ext cx="8724561"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Conversion: Nominal to Numeric</a:t>
            </a:r>
          </a:p>
        </p:txBody>
      </p:sp>
    </p:spTree>
    <p:extLst>
      <p:ext uri="{BB962C8B-B14F-4D97-AF65-F5344CB8AC3E}">
        <p14:creationId xmlns:p14="http://schemas.microsoft.com/office/powerpoint/2010/main" val="13328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14</a:t>
            </a:fld>
            <a:endParaRPr lang="en-IN"/>
          </a:p>
        </p:txBody>
      </p:sp>
      <p:sp>
        <p:nvSpPr>
          <p:cNvPr id="3" name="Content Placeholder 2"/>
          <p:cNvSpPr>
            <a:spLocks noGrp="1"/>
          </p:cNvSpPr>
          <p:nvPr>
            <p:ph idx="4294967295"/>
          </p:nvPr>
        </p:nvSpPr>
        <p:spPr>
          <a:xfrm>
            <a:off x="1477282" y="1294228"/>
            <a:ext cx="9604375" cy="4350792"/>
          </a:xfrm>
        </p:spPr>
        <p:txBody>
          <a:bodyPr>
            <a:normAutofit/>
          </a:bodyPr>
          <a:lstStyle/>
          <a:p>
            <a:r>
              <a:rPr lang="en-IN" sz="3600" dirty="0">
                <a:latin typeface="Times New Roman" panose="02020603050405020304" pitchFamily="16" charset="0"/>
                <a:cs typeface="Times New Roman" panose="02020603050405020304" pitchFamily="16" charset="0"/>
              </a:rPr>
              <a:t>Binary fields</a:t>
            </a:r>
          </a:p>
          <a:p>
            <a:pPr lvl="1"/>
            <a:r>
              <a:rPr lang="en-IN" sz="3200" dirty="0">
                <a:latin typeface="Times New Roman" panose="02020603050405020304" pitchFamily="16" charset="0"/>
                <a:cs typeface="Times New Roman" panose="02020603050405020304" pitchFamily="16" charset="0"/>
              </a:rPr>
              <a:t>E.g. Gender = M, F</a:t>
            </a:r>
          </a:p>
          <a:p>
            <a:r>
              <a:rPr lang="en-IN" sz="3600" dirty="0">
                <a:latin typeface="Times New Roman" panose="02020603050405020304" pitchFamily="16" charset="0"/>
                <a:cs typeface="Times New Roman" panose="02020603050405020304" pitchFamily="16" charset="0"/>
              </a:rPr>
              <a:t>Convert to Field_0_1 with 0, 1 values</a:t>
            </a:r>
          </a:p>
          <a:p>
            <a:pPr lvl="1"/>
            <a:r>
              <a:rPr lang="en-IN" sz="3200" dirty="0">
                <a:latin typeface="Times New Roman" panose="02020603050405020304" pitchFamily="16" charset="0"/>
                <a:cs typeface="Times New Roman" panose="02020603050405020304" pitchFamily="16" charset="0"/>
              </a:rPr>
              <a:t>e.g. Gender = M </a:t>
            </a:r>
            <a:r>
              <a:rPr lang="en-IN" sz="3200" dirty="0">
                <a:latin typeface="Times New Roman" panose="02020603050405020304" pitchFamily="16" charset="0"/>
                <a:cs typeface="Times New Roman" panose="02020603050405020304" pitchFamily="16" charset="0"/>
                <a:sym typeface="Wingdings" panose="05000000000000000000" pitchFamily="2" charset="2"/>
              </a:rPr>
              <a:t> </a:t>
            </a:r>
            <a:r>
              <a:rPr lang="en-IN" sz="3200" dirty="0">
                <a:latin typeface="Times New Roman" panose="02020603050405020304" pitchFamily="16" charset="0"/>
                <a:cs typeface="Times New Roman" panose="02020603050405020304" pitchFamily="16" charset="0"/>
              </a:rPr>
              <a:t>Gender_0_1 = 0</a:t>
            </a:r>
          </a:p>
          <a:p>
            <a:pPr lvl="1"/>
            <a:r>
              <a:rPr lang="en-IN" sz="3200" dirty="0">
                <a:latin typeface="Times New Roman" panose="02020603050405020304" pitchFamily="16" charset="0"/>
                <a:cs typeface="Times New Roman" panose="02020603050405020304" pitchFamily="16" charset="0"/>
              </a:rPr>
              <a:t>Gender = F </a:t>
            </a:r>
            <a:r>
              <a:rPr lang="en-IN" sz="3200" dirty="0">
                <a:latin typeface="Times New Roman" panose="02020603050405020304" pitchFamily="16" charset="0"/>
                <a:cs typeface="Times New Roman" panose="02020603050405020304" pitchFamily="16" charset="0"/>
                <a:sym typeface="Wingdings" panose="05000000000000000000" pitchFamily="2" charset="2"/>
              </a:rPr>
              <a:t> </a:t>
            </a:r>
            <a:r>
              <a:rPr lang="en-IN" sz="3200" dirty="0">
                <a:latin typeface="Times New Roman" panose="02020603050405020304" pitchFamily="16" charset="0"/>
                <a:cs typeface="Times New Roman" panose="02020603050405020304" pitchFamily="16" charset="0"/>
              </a:rPr>
              <a:t>Gender_0_1 = 1</a:t>
            </a:r>
          </a:p>
        </p:txBody>
      </p:sp>
      <p:sp>
        <p:nvSpPr>
          <p:cNvPr id="6" name="Rounded Rectangle 17"/>
          <p:cNvSpPr/>
          <p:nvPr/>
        </p:nvSpPr>
        <p:spPr>
          <a:xfrm>
            <a:off x="2136709" y="180806"/>
            <a:ext cx="8649479"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Conversion: Binary to Numeric</a:t>
            </a:r>
          </a:p>
        </p:txBody>
      </p:sp>
    </p:spTree>
    <p:extLst>
      <p:ext uri="{BB962C8B-B14F-4D97-AF65-F5344CB8AC3E}">
        <p14:creationId xmlns:p14="http://schemas.microsoft.com/office/powerpoint/2010/main" val="98194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838200"/>
            <a:ext cx="10667999" cy="4876800"/>
          </a:xfrm>
        </p:spPr>
        <p:txBody>
          <a:bodyPr>
            <a:noAutofit/>
          </a:bodyPr>
          <a:lstStyle/>
          <a:p>
            <a:pPr algn="just"/>
            <a:r>
              <a:rPr lang="en-IN" b="1" dirty="0" smtClean="0">
                <a:latin typeface="Times New Roman" panose="02020603050405020304" pitchFamily="18" charset="0"/>
                <a:cs typeface="Times New Roman" panose="02020603050405020304" pitchFamily="18" charset="0"/>
              </a:rPr>
              <a:t>Noise in Data</a:t>
            </a:r>
            <a:endParaRPr lang="en-IN" dirty="0" smtClean="0">
              <a:latin typeface="Times New Roman" panose="02020603050405020304" pitchFamily="18" charset="0"/>
              <a:cs typeface="Times New Roman" panose="02020603050405020304" pitchFamily="18" charset="0"/>
            </a:endParaRPr>
          </a:p>
          <a:p>
            <a:pPr algn="just"/>
            <a:r>
              <a:rPr lang="en-IN" dirty="0" smtClean="0">
                <a:latin typeface="Times New Roman" panose="02020603050405020304" pitchFamily="18" charset="0"/>
                <a:cs typeface="Times New Roman" panose="02020603050405020304" pitchFamily="18" charset="0"/>
              </a:rPr>
              <a:t>Noise refers to random errors or variance in the measured variables that obscure the true underlying signal. Unlike missing data, noisy values </a:t>
            </a:r>
            <a:r>
              <a:rPr lang="en-IN" i="1" dirty="0" smtClean="0">
                <a:latin typeface="Times New Roman" panose="02020603050405020304" pitchFamily="18" charset="0"/>
                <a:cs typeface="Times New Roman" panose="02020603050405020304" pitchFamily="18" charset="0"/>
              </a:rPr>
              <a:t>are</a:t>
            </a:r>
            <a:r>
              <a:rPr lang="en-IN" dirty="0" smtClean="0">
                <a:latin typeface="Times New Roman" panose="02020603050405020304" pitchFamily="18" charset="0"/>
                <a:cs typeface="Times New Roman" panose="02020603050405020304" pitchFamily="18" charset="0"/>
              </a:rPr>
              <a:t> present — they just don't accurately represent reality.</a:t>
            </a:r>
          </a:p>
          <a:p>
            <a:pPr algn="just"/>
            <a:r>
              <a:rPr lang="en-IN" b="1" dirty="0" smtClean="0">
                <a:latin typeface="Times New Roman" panose="02020603050405020304" pitchFamily="18" charset="0"/>
                <a:cs typeface="Times New Roman" panose="02020603050405020304" pitchFamily="18" charset="0"/>
              </a:rPr>
              <a:t>Sources of Noise:</a:t>
            </a:r>
          </a:p>
          <a:p>
            <a:pPr algn="just"/>
            <a:r>
              <a:rPr lang="en-IN" b="1" dirty="0" smtClean="0">
                <a:latin typeface="Times New Roman" panose="02020603050405020304" pitchFamily="18" charset="0"/>
                <a:cs typeface="Times New Roman" panose="02020603050405020304" pitchFamily="18" charset="0"/>
              </a:rPr>
              <a:t>Sensor/instrument noise</a:t>
            </a:r>
            <a:r>
              <a:rPr lang="en-IN" dirty="0" smtClean="0">
                <a:latin typeface="Times New Roman" panose="02020603050405020304" pitchFamily="18" charset="0"/>
                <a:cs typeface="Times New Roman" panose="02020603050405020304" pitchFamily="18" charset="0"/>
              </a:rPr>
              <a:t> — hardware limitations, calibration drift, electrical interference. Common in IoT, medical devices, and industrial monitoring.</a:t>
            </a:r>
          </a:p>
          <a:p>
            <a:pPr algn="just"/>
            <a:r>
              <a:rPr lang="en-IN" b="1" dirty="0" smtClean="0">
                <a:latin typeface="Times New Roman" panose="02020603050405020304" pitchFamily="18" charset="0"/>
                <a:cs typeface="Times New Roman" panose="02020603050405020304" pitchFamily="18" charset="0"/>
              </a:rPr>
              <a:t>Label noise</a:t>
            </a:r>
            <a:r>
              <a:rPr lang="en-IN" dirty="0" smtClean="0">
                <a:latin typeface="Times New Roman" panose="02020603050405020304" pitchFamily="18" charset="0"/>
                <a:cs typeface="Times New Roman" panose="02020603050405020304" pitchFamily="18" charset="0"/>
              </a:rPr>
              <a:t> — incorrect annotations by human </a:t>
            </a:r>
            <a:r>
              <a:rPr lang="en-IN" dirty="0" err="1" smtClean="0">
                <a:latin typeface="Times New Roman" panose="02020603050405020304" pitchFamily="18" charset="0"/>
                <a:cs typeface="Times New Roman" panose="02020603050405020304" pitchFamily="18" charset="0"/>
              </a:rPr>
              <a:t>labelers</a:t>
            </a:r>
            <a:r>
              <a:rPr lang="en-IN" dirty="0" smtClean="0">
                <a:latin typeface="Times New Roman" panose="02020603050405020304" pitchFamily="18" charset="0"/>
                <a:cs typeface="Times New Roman" panose="02020603050405020304" pitchFamily="18" charset="0"/>
              </a:rPr>
              <a:t>, especially in large-scale crowd sourced datasets. A misclassified image (a dog </a:t>
            </a:r>
            <a:r>
              <a:rPr lang="en-IN" dirty="0" err="1" smtClean="0">
                <a:latin typeface="Times New Roman" panose="02020603050405020304" pitchFamily="18" charset="0"/>
                <a:cs typeface="Times New Roman" panose="02020603050405020304" pitchFamily="18" charset="0"/>
              </a:rPr>
              <a:t>labeled</a:t>
            </a:r>
            <a:r>
              <a:rPr lang="en-IN" dirty="0" smtClean="0">
                <a:latin typeface="Times New Roman" panose="02020603050405020304" pitchFamily="18" charset="0"/>
                <a:cs typeface="Times New Roman" panose="02020603050405020304" pitchFamily="18" charset="0"/>
              </a:rPr>
              <a:t> "cat") directly poisons supervised learning.</a:t>
            </a:r>
          </a:p>
          <a:p>
            <a:pPr algn="just"/>
            <a:r>
              <a:rPr lang="en-IN" b="1" dirty="0" smtClean="0">
                <a:latin typeface="Times New Roman" panose="02020603050405020304" pitchFamily="18" charset="0"/>
                <a:cs typeface="Times New Roman" panose="02020603050405020304" pitchFamily="18" charset="0"/>
              </a:rPr>
              <a:t>Sampling noise</a:t>
            </a:r>
            <a:r>
              <a:rPr lang="en-IN" dirty="0" smtClean="0">
                <a:latin typeface="Times New Roman" panose="02020603050405020304" pitchFamily="18" charset="0"/>
                <a:cs typeface="Times New Roman" panose="02020603050405020304" pitchFamily="18" charset="0"/>
              </a:rPr>
              <a:t> — randomness inherent in taking a finite sample from a larger population. Unavoidable, but reducible with larger sample sizes.</a:t>
            </a:r>
          </a:p>
          <a:p>
            <a:pPr algn="just"/>
            <a:r>
              <a:rPr lang="en-IN" b="1" dirty="0" smtClean="0">
                <a:latin typeface="Times New Roman" panose="02020603050405020304" pitchFamily="18" charset="0"/>
                <a:cs typeface="Times New Roman" panose="02020603050405020304" pitchFamily="18" charset="0"/>
              </a:rPr>
              <a:t>Transcription/entry errors</a:t>
            </a:r>
            <a:r>
              <a:rPr lang="en-IN" dirty="0" smtClean="0">
                <a:latin typeface="Times New Roman" panose="02020603050405020304" pitchFamily="18" charset="0"/>
                <a:cs typeface="Times New Roman" panose="02020603050405020304" pitchFamily="18" charset="0"/>
              </a:rPr>
              <a:t> — typos, unit mismatches, copy-paste errors in manually entered data.</a:t>
            </a: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NOISE</a:t>
            </a:r>
            <a:endParaRPr lang="en-US" sz="2400" dirty="0"/>
          </a:p>
        </p:txBody>
      </p:sp>
    </p:spTree>
    <p:extLst>
      <p:ext uri="{BB962C8B-B14F-4D97-AF65-F5344CB8AC3E}">
        <p14:creationId xmlns:p14="http://schemas.microsoft.com/office/powerpoint/2010/main" val="179654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11125199" cy="5257800"/>
          </a:xfrm>
        </p:spPr>
        <p:txBody>
          <a:bodyPr>
            <a:normAutofit/>
          </a:bodyPr>
          <a:lstStyle/>
          <a:p>
            <a:pPr algn="just"/>
            <a:r>
              <a:rPr lang="en-IN" b="1" dirty="0" smtClean="0">
                <a:latin typeface="Times New Roman" panose="02020603050405020304" pitchFamily="18" charset="0"/>
                <a:cs typeface="Times New Roman" panose="02020603050405020304" pitchFamily="18" charset="0"/>
              </a:rPr>
              <a:t>Measurement noise</a:t>
            </a:r>
            <a:r>
              <a:rPr lang="en-IN" dirty="0" smtClean="0">
                <a:latin typeface="Times New Roman" panose="02020603050405020304" pitchFamily="18" charset="0"/>
                <a:cs typeface="Times New Roman" panose="02020603050405020304" pitchFamily="18" charset="0"/>
              </a:rPr>
              <a:t> — the act of measurement itself introduces error (e.g., rounding a continuous reading, discretizing a signal).</a:t>
            </a:r>
          </a:p>
          <a:p>
            <a:pPr algn="just"/>
            <a:r>
              <a:rPr lang="en-IN" b="1" dirty="0" smtClean="0">
                <a:latin typeface="Times New Roman" panose="02020603050405020304" pitchFamily="18" charset="0"/>
                <a:cs typeface="Times New Roman" panose="02020603050405020304" pitchFamily="18" charset="0"/>
              </a:rPr>
              <a:t>Impact on Models</a:t>
            </a:r>
            <a:endParaRPr lang="en-IN" dirty="0" smtClean="0">
              <a:latin typeface="Times New Roman" panose="02020603050405020304" pitchFamily="18" charset="0"/>
              <a:cs typeface="Times New Roman" panose="02020603050405020304" pitchFamily="18" charset="0"/>
            </a:endParaRPr>
          </a:p>
          <a:p>
            <a:pPr lvl="0" algn="just"/>
            <a:r>
              <a:rPr lang="en-IN" dirty="0" err="1" smtClean="0">
                <a:latin typeface="Times New Roman" panose="02020603050405020304" pitchFamily="18" charset="0"/>
                <a:cs typeface="Times New Roman" panose="02020603050405020304" pitchFamily="18" charset="0"/>
              </a:rPr>
              <a:t>Overfitting</a:t>
            </a:r>
            <a:r>
              <a:rPr lang="en-IN" dirty="0" smtClean="0">
                <a:latin typeface="Times New Roman" panose="02020603050405020304" pitchFamily="18" charset="0"/>
                <a:cs typeface="Times New Roman" panose="02020603050405020304" pitchFamily="18" charset="0"/>
              </a:rPr>
              <a:t>: a model trained on noisy data may memorize the noise rather than the true pattern.</a:t>
            </a:r>
          </a:p>
          <a:p>
            <a:pPr lvl="0" algn="just"/>
            <a:r>
              <a:rPr lang="en-IN" dirty="0" err="1" smtClean="0">
                <a:latin typeface="Times New Roman" panose="02020603050405020304" pitchFamily="18" charset="0"/>
                <a:cs typeface="Times New Roman" panose="02020603050405020304" pitchFamily="18" charset="0"/>
              </a:rPr>
              <a:t>Underfitting</a:t>
            </a:r>
            <a:r>
              <a:rPr lang="en-IN" dirty="0" smtClean="0">
                <a:latin typeface="Times New Roman" panose="02020603050405020304" pitchFamily="18" charset="0"/>
                <a:cs typeface="Times New Roman" panose="02020603050405020304" pitchFamily="18" charset="0"/>
              </a:rPr>
              <a:t>: excessive noise can mask real patterns entirely.</a:t>
            </a:r>
          </a:p>
          <a:p>
            <a:pPr lvl="0" algn="just"/>
            <a:r>
              <a:rPr lang="en-IN" dirty="0" smtClean="0">
                <a:latin typeface="Times New Roman" panose="02020603050405020304" pitchFamily="18" charset="0"/>
                <a:cs typeface="Times New Roman" panose="02020603050405020304" pitchFamily="18" charset="0"/>
              </a:rPr>
              <a:t>Degraded decision boundaries in classifiers.</a:t>
            </a:r>
          </a:p>
          <a:p>
            <a:pPr lvl="0" algn="just"/>
            <a:r>
              <a:rPr lang="en-IN" dirty="0" smtClean="0">
                <a:latin typeface="Times New Roman" panose="02020603050405020304" pitchFamily="18" charset="0"/>
                <a:cs typeface="Times New Roman" panose="02020603050405020304" pitchFamily="18" charset="0"/>
              </a:rPr>
              <a:t>Inflated error metrics that misrepresent model performance.</a:t>
            </a:r>
          </a:p>
          <a:p>
            <a:pPr algn="just"/>
            <a:endParaRPr lang="en-IN" dirty="0" smtClean="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9557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17</a:t>
            </a:fld>
            <a:endParaRPr lang="en-IN"/>
          </a:p>
        </p:txBody>
      </p:sp>
      <p:sp>
        <p:nvSpPr>
          <p:cNvPr id="3" name="Content Placeholder 2"/>
          <p:cNvSpPr>
            <a:spLocks noGrp="1"/>
          </p:cNvSpPr>
          <p:nvPr>
            <p:ph idx="4294967295"/>
          </p:nvPr>
        </p:nvSpPr>
        <p:spPr>
          <a:xfrm>
            <a:off x="783771" y="961053"/>
            <a:ext cx="11019453" cy="5150498"/>
          </a:xfrm>
        </p:spPr>
        <p:txBody>
          <a:bodyPr>
            <a:normAutofit/>
          </a:bodyPr>
          <a:lstStyle/>
          <a:p>
            <a:pPr>
              <a:spcBef>
                <a:spcPts val="0"/>
              </a:spcBef>
            </a:pPr>
            <a:r>
              <a:rPr lang="en-US" sz="2800" dirty="0">
                <a:latin typeface="Times New Roman" panose="02020603050405020304" pitchFamily="16" charset="0"/>
                <a:cs typeface="Times New Roman" panose="02020603050405020304" pitchFamily="16" charset="0"/>
              </a:rPr>
              <a:t>Binning method:</a:t>
            </a:r>
          </a:p>
          <a:p>
            <a:pPr lvl="1">
              <a:spcBef>
                <a:spcPts val="0"/>
              </a:spcBef>
            </a:pPr>
            <a:r>
              <a:rPr lang="en-US" sz="2400" dirty="0">
                <a:latin typeface="Times New Roman" panose="02020603050405020304" pitchFamily="16" charset="0"/>
                <a:cs typeface="Times New Roman" panose="02020603050405020304" pitchFamily="16" charset="0"/>
              </a:rPr>
              <a:t>first sort data and partition into (</a:t>
            </a:r>
            <a:r>
              <a:rPr lang="en-US" sz="2400" dirty="0" err="1">
                <a:latin typeface="Times New Roman" panose="02020603050405020304" pitchFamily="16" charset="0"/>
                <a:cs typeface="Times New Roman" panose="02020603050405020304" pitchFamily="16" charset="0"/>
              </a:rPr>
              <a:t>equi</a:t>
            </a:r>
            <a:r>
              <a:rPr lang="en-US" sz="2400" dirty="0">
                <a:latin typeface="Times New Roman" panose="02020603050405020304" pitchFamily="16" charset="0"/>
                <a:cs typeface="Times New Roman" panose="02020603050405020304" pitchFamily="16" charset="0"/>
              </a:rPr>
              <a:t>-depth) bins</a:t>
            </a:r>
          </a:p>
          <a:p>
            <a:pPr lvl="1">
              <a:spcBef>
                <a:spcPts val="0"/>
              </a:spcBef>
            </a:pPr>
            <a:r>
              <a:rPr lang="en-US" sz="2400" dirty="0">
                <a:latin typeface="Times New Roman" panose="02020603050405020304" pitchFamily="16" charset="0"/>
                <a:cs typeface="Times New Roman" panose="02020603050405020304" pitchFamily="16" charset="0"/>
              </a:rPr>
              <a:t>then one can smooth by bin means, smooth by bin median, smooth by bin boundaries, etc.</a:t>
            </a:r>
          </a:p>
          <a:p>
            <a:pPr>
              <a:spcBef>
                <a:spcPts val="0"/>
              </a:spcBef>
            </a:pPr>
            <a:r>
              <a:rPr lang="en-US" sz="2800" dirty="0">
                <a:latin typeface="Times New Roman" panose="02020603050405020304" pitchFamily="16" charset="0"/>
                <a:cs typeface="Times New Roman" panose="02020603050405020304" pitchFamily="16" charset="0"/>
              </a:rPr>
              <a:t>Clustering</a:t>
            </a:r>
          </a:p>
          <a:p>
            <a:pPr lvl="1">
              <a:spcBef>
                <a:spcPts val="0"/>
              </a:spcBef>
            </a:pPr>
            <a:r>
              <a:rPr lang="en-US" sz="2400" dirty="0">
                <a:latin typeface="Times New Roman" panose="02020603050405020304" pitchFamily="16" charset="0"/>
                <a:cs typeface="Times New Roman" panose="02020603050405020304" pitchFamily="16" charset="0"/>
              </a:rPr>
              <a:t>detect and remove outliers</a:t>
            </a:r>
          </a:p>
          <a:p>
            <a:pPr>
              <a:spcBef>
                <a:spcPts val="0"/>
              </a:spcBef>
            </a:pPr>
            <a:r>
              <a:rPr lang="en-US" sz="2800" dirty="0">
                <a:latin typeface="Times New Roman" panose="02020603050405020304" pitchFamily="16" charset="0"/>
                <a:cs typeface="Times New Roman" panose="02020603050405020304" pitchFamily="16" charset="0"/>
              </a:rPr>
              <a:t>Combined computer and human inspection</a:t>
            </a:r>
          </a:p>
          <a:p>
            <a:pPr lvl="1">
              <a:spcBef>
                <a:spcPts val="0"/>
              </a:spcBef>
            </a:pPr>
            <a:r>
              <a:rPr lang="en-US" sz="2400" dirty="0">
                <a:latin typeface="Times New Roman" panose="02020603050405020304" pitchFamily="16" charset="0"/>
                <a:cs typeface="Times New Roman" panose="02020603050405020304" pitchFamily="16" charset="0"/>
              </a:rPr>
              <a:t>detect suspicious values and check by human</a:t>
            </a:r>
          </a:p>
          <a:p>
            <a:pPr>
              <a:spcBef>
                <a:spcPts val="0"/>
              </a:spcBef>
            </a:pPr>
            <a:r>
              <a:rPr lang="en-US" sz="2800" dirty="0">
                <a:latin typeface="Times New Roman" panose="02020603050405020304" pitchFamily="16" charset="0"/>
                <a:cs typeface="Times New Roman" panose="02020603050405020304" pitchFamily="16" charset="0"/>
              </a:rPr>
              <a:t>Regression</a:t>
            </a:r>
          </a:p>
          <a:p>
            <a:pPr lvl="1">
              <a:spcBef>
                <a:spcPts val="0"/>
              </a:spcBef>
            </a:pPr>
            <a:r>
              <a:rPr lang="en-US" sz="2400" dirty="0">
                <a:latin typeface="Times New Roman" panose="02020603050405020304" pitchFamily="16" charset="0"/>
                <a:cs typeface="Times New Roman" panose="02020603050405020304" pitchFamily="16" charset="0"/>
              </a:rPr>
              <a:t>smooth by fitting the data into regression functions</a:t>
            </a:r>
            <a:endParaRPr lang="en-IN" sz="24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2397967" y="180806"/>
            <a:ext cx="6802017"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Handling Noisy Data</a:t>
            </a:r>
          </a:p>
        </p:txBody>
      </p:sp>
    </p:spTree>
    <p:extLst>
      <p:ext uri="{BB962C8B-B14F-4D97-AF65-F5344CB8AC3E}">
        <p14:creationId xmlns:p14="http://schemas.microsoft.com/office/powerpoint/2010/main" val="139188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18</a:t>
            </a:fld>
            <a:endParaRPr lang="en-IN"/>
          </a:p>
        </p:txBody>
      </p:sp>
      <p:sp>
        <p:nvSpPr>
          <p:cNvPr id="3" name="Content Placeholder 2"/>
          <p:cNvSpPr>
            <a:spLocks noGrp="1"/>
          </p:cNvSpPr>
          <p:nvPr>
            <p:ph idx="4294967295"/>
          </p:nvPr>
        </p:nvSpPr>
        <p:spPr>
          <a:xfrm>
            <a:off x="888302" y="890016"/>
            <a:ext cx="10914922" cy="5212204"/>
          </a:xfrm>
        </p:spPr>
        <p:txBody>
          <a:bodyPr>
            <a:noAutofit/>
          </a:bodyPr>
          <a:lstStyle/>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Equal-width(distance) partitioning:</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It divides the range into N intervals of equal size: uniform grid</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if A and B are the lowest and highest values of the attribute, the width of intervals will be: W = (B-A)/N.</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The most straightforward</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But outliers may dominate presentation</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Skewed data is not handled well.</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Equal-depth(frequency) partitioning:</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It divides the range into N intervals, each containing approximately same number of samples</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Good data scaling</a:t>
            </a:r>
          </a:p>
          <a:p>
            <a:pPr algn="just">
              <a:lnSpc>
                <a:spcPct val="100000"/>
              </a:lnSpc>
              <a:spcBef>
                <a:spcPts val="0"/>
              </a:spcBef>
            </a:pPr>
            <a:r>
              <a:rPr lang="en-US" sz="2800" dirty="0">
                <a:latin typeface="Times New Roman" panose="02020603050405020304" pitchFamily="16" charset="0"/>
                <a:cs typeface="Times New Roman" panose="02020603050405020304" pitchFamily="16" charset="0"/>
              </a:rPr>
              <a:t>Managing categorical attributes can be tricky.</a:t>
            </a:r>
            <a:endParaRPr lang="en-IN" sz="28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1392999" y="180806"/>
            <a:ext cx="10217020"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Simple Discretization Methods: Binning</a:t>
            </a:r>
          </a:p>
        </p:txBody>
      </p:sp>
    </p:spTree>
    <p:extLst>
      <p:ext uri="{BB962C8B-B14F-4D97-AF65-F5344CB8AC3E}">
        <p14:creationId xmlns:p14="http://schemas.microsoft.com/office/powerpoint/2010/main" val="262632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19</a:t>
            </a:fld>
            <a:endParaRPr lang="en-IN"/>
          </a:p>
        </p:txBody>
      </p:sp>
      <p:sp>
        <p:nvSpPr>
          <p:cNvPr id="3" name="Content Placeholder 2"/>
          <p:cNvSpPr>
            <a:spLocks noGrp="1"/>
          </p:cNvSpPr>
          <p:nvPr>
            <p:ph idx="4294967295"/>
          </p:nvPr>
        </p:nvSpPr>
        <p:spPr>
          <a:xfrm>
            <a:off x="1699321" y="890017"/>
            <a:ext cx="9604375" cy="5221534"/>
          </a:xfrm>
        </p:spPr>
        <p:txBody>
          <a:bodyPr>
            <a:normAutofit/>
          </a:bodyPr>
          <a:lstStyle/>
          <a:p>
            <a:pPr>
              <a:spcBef>
                <a:spcPts val="0"/>
              </a:spcBef>
            </a:pPr>
            <a:r>
              <a:rPr lang="en-US" sz="2400" dirty="0">
                <a:latin typeface="Times New Roman" panose="02020603050405020304" pitchFamily="16" charset="0"/>
                <a:cs typeface="Times New Roman" panose="02020603050405020304" pitchFamily="16" charset="0"/>
              </a:rPr>
              <a:t>Sorted data for price (in dollars): 4, 8, 9, 15, 21, 21, 24, 25, 26, 28, 29, 34</a:t>
            </a:r>
          </a:p>
          <a:p>
            <a:pPr>
              <a:spcBef>
                <a:spcPts val="0"/>
              </a:spcBef>
            </a:pPr>
            <a:r>
              <a:rPr lang="en-US" sz="2400" dirty="0">
                <a:latin typeface="Times New Roman" panose="02020603050405020304" pitchFamily="16" charset="0"/>
                <a:cs typeface="Times New Roman" panose="02020603050405020304" pitchFamily="16" charset="0"/>
              </a:rPr>
              <a:t> Partition into (</a:t>
            </a:r>
            <a:r>
              <a:rPr lang="en-US" sz="2400" dirty="0" err="1">
                <a:latin typeface="Times New Roman" panose="02020603050405020304" pitchFamily="16" charset="0"/>
                <a:cs typeface="Times New Roman" panose="02020603050405020304" pitchFamily="16" charset="0"/>
              </a:rPr>
              <a:t>equi</a:t>
            </a:r>
            <a:r>
              <a:rPr lang="en-US" sz="2400" dirty="0">
                <a:latin typeface="Times New Roman" panose="02020603050405020304" pitchFamily="16" charset="0"/>
                <a:cs typeface="Times New Roman" panose="02020603050405020304" pitchFamily="16" charset="0"/>
              </a:rPr>
              <a:t>-depth) bins:</a:t>
            </a:r>
          </a:p>
          <a:p>
            <a:pPr lvl="1">
              <a:spcBef>
                <a:spcPts val="0"/>
              </a:spcBef>
            </a:pPr>
            <a:r>
              <a:rPr lang="en-US" sz="2000" dirty="0">
                <a:latin typeface="Times New Roman" panose="02020603050405020304" pitchFamily="16" charset="0"/>
                <a:cs typeface="Times New Roman" panose="02020603050405020304" pitchFamily="16" charset="0"/>
              </a:rPr>
              <a:t>-Bin 1: 4, 8, 9, 15</a:t>
            </a:r>
          </a:p>
          <a:p>
            <a:pPr lvl="1">
              <a:spcBef>
                <a:spcPts val="0"/>
              </a:spcBef>
            </a:pPr>
            <a:r>
              <a:rPr lang="en-US" sz="2000" dirty="0">
                <a:latin typeface="Times New Roman" panose="02020603050405020304" pitchFamily="16" charset="0"/>
                <a:cs typeface="Times New Roman" panose="02020603050405020304" pitchFamily="16" charset="0"/>
              </a:rPr>
              <a:t>-Bin 2: 21, 21, 24, 25</a:t>
            </a:r>
          </a:p>
          <a:p>
            <a:pPr lvl="1">
              <a:spcBef>
                <a:spcPts val="0"/>
              </a:spcBef>
            </a:pPr>
            <a:r>
              <a:rPr lang="en-US" sz="2000" dirty="0">
                <a:latin typeface="Times New Roman" panose="02020603050405020304" pitchFamily="16" charset="0"/>
                <a:cs typeface="Times New Roman" panose="02020603050405020304" pitchFamily="16" charset="0"/>
              </a:rPr>
              <a:t>-Bin 3: 26, 28, 29, 34</a:t>
            </a:r>
          </a:p>
          <a:p>
            <a:pPr>
              <a:spcBef>
                <a:spcPts val="0"/>
              </a:spcBef>
            </a:pPr>
            <a:r>
              <a:rPr lang="en-US" sz="2400" dirty="0">
                <a:latin typeface="Times New Roman" panose="02020603050405020304" pitchFamily="16" charset="0"/>
                <a:cs typeface="Times New Roman" panose="02020603050405020304" pitchFamily="16" charset="0"/>
              </a:rPr>
              <a:t> Smoothing by bin means:</a:t>
            </a:r>
          </a:p>
          <a:p>
            <a:pPr lvl="1">
              <a:spcBef>
                <a:spcPts val="0"/>
              </a:spcBef>
            </a:pPr>
            <a:r>
              <a:rPr lang="en-US" sz="2000" dirty="0">
                <a:latin typeface="Times New Roman" panose="02020603050405020304" pitchFamily="16" charset="0"/>
                <a:cs typeface="Times New Roman" panose="02020603050405020304" pitchFamily="16" charset="0"/>
              </a:rPr>
              <a:t>-Bin 1: 9, 9, 9, 9</a:t>
            </a:r>
          </a:p>
          <a:p>
            <a:pPr lvl="1">
              <a:spcBef>
                <a:spcPts val="0"/>
              </a:spcBef>
            </a:pPr>
            <a:r>
              <a:rPr lang="en-US" sz="2000" dirty="0">
                <a:latin typeface="Times New Roman" panose="02020603050405020304" pitchFamily="16" charset="0"/>
                <a:cs typeface="Times New Roman" panose="02020603050405020304" pitchFamily="16" charset="0"/>
              </a:rPr>
              <a:t>-Bin 2: 23, 23, 23, 23</a:t>
            </a:r>
          </a:p>
          <a:p>
            <a:pPr lvl="1">
              <a:spcBef>
                <a:spcPts val="0"/>
              </a:spcBef>
            </a:pPr>
            <a:r>
              <a:rPr lang="en-US" sz="2000" dirty="0">
                <a:latin typeface="Times New Roman" panose="02020603050405020304" pitchFamily="16" charset="0"/>
                <a:cs typeface="Times New Roman" panose="02020603050405020304" pitchFamily="16" charset="0"/>
              </a:rPr>
              <a:t>-Bin 3: 29, 29, 29, 29</a:t>
            </a:r>
          </a:p>
          <a:p>
            <a:pPr>
              <a:spcBef>
                <a:spcPts val="0"/>
              </a:spcBef>
            </a:pPr>
            <a:r>
              <a:rPr lang="en-US" sz="2400" dirty="0">
                <a:latin typeface="Times New Roman" panose="02020603050405020304" pitchFamily="16" charset="0"/>
                <a:cs typeface="Times New Roman" panose="02020603050405020304" pitchFamily="16" charset="0"/>
              </a:rPr>
              <a:t> Smoothing by bin boundaries:</a:t>
            </a:r>
          </a:p>
          <a:p>
            <a:pPr lvl="1">
              <a:spcBef>
                <a:spcPts val="0"/>
              </a:spcBef>
            </a:pPr>
            <a:r>
              <a:rPr lang="en-US" sz="2000" dirty="0">
                <a:latin typeface="Times New Roman" panose="02020603050405020304" pitchFamily="16" charset="0"/>
                <a:cs typeface="Times New Roman" panose="02020603050405020304" pitchFamily="16" charset="0"/>
              </a:rPr>
              <a:t>-Bin 1: 4, 4, 4, 15</a:t>
            </a:r>
          </a:p>
          <a:p>
            <a:pPr lvl="1">
              <a:spcBef>
                <a:spcPts val="0"/>
              </a:spcBef>
            </a:pPr>
            <a:r>
              <a:rPr lang="en-US" sz="2000" dirty="0">
                <a:latin typeface="Times New Roman" panose="02020603050405020304" pitchFamily="16" charset="0"/>
                <a:cs typeface="Times New Roman" panose="02020603050405020304" pitchFamily="16" charset="0"/>
              </a:rPr>
              <a:t>-Bin 2: 21, 21, 25, 25</a:t>
            </a:r>
          </a:p>
          <a:p>
            <a:pPr lvl="1">
              <a:spcBef>
                <a:spcPts val="0"/>
              </a:spcBef>
            </a:pPr>
            <a:r>
              <a:rPr lang="en-US" sz="2000" dirty="0">
                <a:latin typeface="Times New Roman" panose="02020603050405020304" pitchFamily="16" charset="0"/>
                <a:cs typeface="Times New Roman" panose="02020603050405020304" pitchFamily="16" charset="0"/>
              </a:rPr>
              <a:t>-Bin 3: 26, 26, 26, 34</a:t>
            </a:r>
            <a:endParaRPr lang="en-IN" sz="2000" dirty="0">
              <a:latin typeface="Times New Roman" panose="02020603050405020304" pitchFamily="16" charset="0"/>
              <a:cs typeface="Times New Roman" panose="02020603050405020304" pitchFamily="16" charset="0"/>
            </a:endParaRPr>
          </a:p>
        </p:txBody>
      </p:sp>
      <p:sp>
        <p:nvSpPr>
          <p:cNvPr id="6" name="Rounded Rectangle 17"/>
          <p:cNvSpPr/>
          <p:nvPr/>
        </p:nvSpPr>
        <p:spPr>
          <a:xfrm>
            <a:off x="1392999" y="180806"/>
            <a:ext cx="10217020"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Binning Methods for Data Smoothing</a:t>
            </a:r>
          </a:p>
        </p:txBody>
      </p:sp>
    </p:spTree>
    <p:extLst>
      <p:ext uri="{BB962C8B-B14F-4D97-AF65-F5344CB8AC3E}">
        <p14:creationId xmlns:p14="http://schemas.microsoft.com/office/powerpoint/2010/main" val="297006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wipe(left)">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left)">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left)">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wipe(left)">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wipe(left)">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wipe(left)">
                                      <p:cBhvr>
                                        <p:cTn id="6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143000"/>
            <a:ext cx="10744200" cy="4495800"/>
          </a:xfrm>
        </p:spPr>
        <p:txBody>
          <a:bodyPr>
            <a:noAutofit/>
          </a:bodyPr>
          <a:lstStyle/>
          <a:p>
            <a:pPr algn="just"/>
            <a:r>
              <a:rPr lang="en-IN" b="1" dirty="0" smtClean="0">
                <a:latin typeface="Times New Roman" panose="02020603050405020304" pitchFamily="18" charset="0"/>
                <a:cs typeface="Times New Roman" panose="02020603050405020304" pitchFamily="18" charset="0"/>
              </a:rPr>
              <a:t>Handling </a:t>
            </a:r>
            <a:r>
              <a:rPr lang="en-IN" b="1" dirty="0" smtClean="0">
                <a:latin typeface="Times New Roman" panose="02020603050405020304" pitchFamily="18" charset="0"/>
                <a:cs typeface="Times New Roman" panose="02020603050405020304" pitchFamily="18" charset="0"/>
              </a:rPr>
              <a:t>Strategies:</a:t>
            </a:r>
            <a:endParaRPr lang="en-IN" dirty="0">
              <a:latin typeface="Times New Roman" panose="02020603050405020304" pitchFamily="18" charset="0"/>
              <a:cs typeface="Times New Roman" panose="02020603050405020304" pitchFamily="18" charset="0"/>
            </a:endParaRPr>
          </a:p>
          <a:p>
            <a:pPr lvl="0" algn="just"/>
            <a:r>
              <a:rPr lang="en-IN" b="1" dirty="0">
                <a:latin typeface="Times New Roman" panose="02020603050405020304" pitchFamily="18" charset="0"/>
                <a:cs typeface="Times New Roman" panose="02020603050405020304" pitchFamily="18" charset="0"/>
              </a:rPr>
              <a:t>Smoothing</a:t>
            </a:r>
            <a:r>
              <a:rPr lang="en-IN" dirty="0">
                <a:latin typeface="Times New Roman" panose="02020603050405020304" pitchFamily="18" charset="0"/>
                <a:cs typeface="Times New Roman" panose="02020603050405020304" pitchFamily="18" charset="0"/>
              </a:rPr>
              <a:t>: moving averages, Gaussian smoothing, </a:t>
            </a:r>
            <a:r>
              <a:rPr lang="en-IN" dirty="0" err="1">
                <a:latin typeface="Times New Roman" panose="02020603050405020304" pitchFamily="18" charset="0"/>
                <a:cs typeface="Times New Roman" panose="02020603050405020304" pitchFamily="18" charset="0"/>
              </a:rPr>
              <a:t>Savitzky-Golay</a:t>
            </a:r>
            <a:r>
              <a:rPr lang="en-IN" dirty="0">
                <a:latin typeface="Times New Roman" panose="02020603050405020304" pitchFamily="18" charset="0"/>
                <a:cs typeface="Times New Roman" panose="02020603050405020304" pitchFamily="18" charset="0"/>
              </a:rPr>
              <a:t> filters for time series</a:t>
            </a:r>
            <a:r>
              <a:rPr lang="en-IN" dirty="0" smtClean="0">
                <a:latin typeface="Times New Roman" panose="02020603050405020304" pitchFamily="18" charset="0"/>
                <a:cs typeface="Times New Roman" panose="02020603050405020304" pitchFamily="18" charset="0"/>
              </a:rPr>
              <a:t>.</a:t>
            </a:r>
          </a:p>
          <a:p>
            <a:pPr algn="just"/>
            <a:r>
              <a:rPr lang="en-IN" b="1" dirty="0">
                <a:latin typeface="Times New Roman" panose="02020603050405020304" pitchFamily="18" charset="0"/>
                <a:cs typeface="Times New Roman" panose="02020603050405020304" pitchFamily="18" charset="0"/>
              </a:rPr>
              <a:t>Dimensionality reduction</a:t>
            </a:r>
            <a:r>
              <a:rPr lang="en-IN" dirty="0">
                <a:latin typeface="Times New Roman" panose="02020603050405020304" pitchFamily="18" charset="0"/>
                <a:cs typeface="Times New Roman" panose="02020603050405020304" pitchFamily="18" charset="0"/>
              </a:rPr>
              <a:t>: PCA can separate signal dimensions from noise dimensions.</a:t>
            </a:r>
          </a:p>
          <a:p>
            <a:pPr lvl="0" algn="just"/>
            <a:r>
              <a:rPr lang="en-IN" b="1" dirty="0" smtClean="0">
                <a:latin typeface="Times New Roman" panose="02020603050405020304" pitchFamily="18" charset="0"/>
                <a:cs typeface="Times New Roman" panose="02020603050405020304" pitchFamily="18" charset="0"/>
              </a:rPr>
              <a:t>Robust </a:t>
            </a:r>
            <a:r>
              <a:rPr lang="en-IN" b="1" dirty="0">
                <a:latin typeface="Times New Roman" panose="02020603050405020304" pitchFamily="18" charset="0"/>
                <a:cs typeface="Times New Roman" panose="02020603050405020304" pitchFamily="18" charset="0"/>
              </a:rPr>
              <a:t>loss functions</a:t>
            </a:r>
            <a:r>
              <a:rPr lang="en-IN" dirty="0">
                <a:latin typeface="Times New Roman" panose="02020603050405020304" pitchFamily="18" charset="0"/>
                <a:cs typeface="Times New Roman" panose="02020603050405020304" pitchFamily="18" charset="0"/>
              </a:rPr>
              <a:t>: Huber loss instead of MSE reduces sensitivity to label noise.</a:t>
            </a:r>
          </a:p>
          <a:p>
            <a:pPr lvl="0" algn="just"/>
            <a:r>
              <a:rPr lang="en-IN" b="1" dirty="0">
                <a:latin typeface="Times New Roman" panose="02020603050405020304" pitchFamily="18" charset="0"/>
                <a:cs typeface="Times New Roman" panose="02020603050405020304" pitchFamily="18" charset="0"/>
              </a:rPr>
              <a:t>Data augmentation</a:t>
            </a:r>
            <a:r>
              <a:rPr lang="en-IN" dirty="0">
                <a:latin typeface="Times New Roman" panose="02020603050405020304" pitchFamily="18" charset="0"/>
                <a:cs typeface="Times New Roman" panose="02020603050405020304" pitchFamily="18" charset="0"/>
              </a:rPr>
              <a:t>: strategically adding noise during training to build robustness.</a:t>
            </a:r>
          </a:p>
          <a:p>
            <a:pPr lvl="0" algn="just"/>
            <a:r>
              <a:rPr lang="en-IN" b="1" dirty="0">
                <a:latin typeface="Times New Roman" panose="02020603050405020304" pitchFamily="18" charset="0"/>
                <a:cs typeface="Times New Roman" panose="02020603050405020304" pitchFamily="18" charset="0"/>
              </a:rPr>
              <a:t>Ensemble methods</a:t>
            </a:r>
            <a:r>
              <a:rPr lang="en-IN" dirty="0">
                <a:latin typeface="Times New Roman" panose="02020603050405020304" pitchFamily="18" charset="0"/>
                <a:cs typeface="Times New Roman" panose="02020603050405020304" pitchFamily="18" charset="0"/>
              </a:rPr>
              <a:t>: averaging across many models reduces noise sensitivity.</a:t>
            </a:r>
          </a:p>
          <a:p>
            <a:pPr lvl="0" algn="just"/>
            <a:r>
              <a:rPr lang="en-IN" b="1" dirty="0">
                <a:latin typeface="Times New Roman" panose="02020603050405020304" pitchFamily="18" charset="0"/>
                <a:cs typeface="Times New Roman" panose="02020603050405020304" pitchFamily="18" charset="0"/>
              </a:rPr>
              <a:t>Noise-tolerant algorithms</a:t>
            </a:r>
            <a:r>
              <a:rPr lang="en-IN" dirty="0">
                <a:latin typeface="Times New Roman" panose="02020603050405020304" pitchFamily="18" charset="0"/>
                <a:cs typeface="Times New Roman" panose="02020603050405020304" pitchFamily="18" charset="0"/>
              </a:rPr>
              <a:t>: decision trees with pruning, robust SVMs.</a:t>
            </a:r>
          </a:p>
          <a:p>
            <a:pPr lvl="0" algn="just"/>
            <a:r>
              <a:rPr lang="en-IN" b="1" dirty="0">
                <a:latin typeface="Times New Roman" panose="02020603050405020304" pitchFamily="18" charset="0"/>
                <a:cs typeface="Times New Roman" panose="02020603050405020304" pitchFamily="18" charset="0"/>
              </a:rPr>
              <a:t>Re-</a:t>
            </a:r>
            <a:r>
              <a:rPr lang="en-IN" b="1" dirty="0" err="1">
                <a:latin typeface="Times New Roman" panose="02020603050405020304" pitchFamily="18" charset="0"/>
                <a:cs typeface="Times New Roman" panose="02020603050405020304" pitchFamily="18" charset="0"/>
              </a:rPr>
              <a:t>labeling</a:t>
            </a:r>
            <a:r>
              <a:rPr lang="en-IN" b="1" dirty="0">
                <a:latin typeface="Times New Roman" panose="02020603050405020304" pitchFamily="18" charset="0"/>
                <a:cs typeface="Times New Roman" panose="02020603050405020304" pitchFamily="18" charset="0"/>
              </a:rPr>
              <a:t> campaigns</a:t>
            </a:r>
            <a:r>
              <a:rPr lang="en-IN" dirty="0">
                <a:latin typeface="Times New Roman" panose="02020603050405020304" pitchFamily="18" charset="0"/>
                <a:cs typeface="Times New Roman" panose="02020603050405020304" pitchFamily="18" charset="0"/>
              </a:rPr>
              <a:t>: for label noise, use multiple annotators and majority voting.</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3602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21</a:t>
            </a:fld>
            <a:endParaRPr lang="en-IN"/>
          </a:p>
        </p:txBody>
      </p:sp>
      <p:sp>
        <p:nvSpPr>
          <p:cNvPr id="3" name="Content Placeholder 2"/>
          <p:cNvSpPr>
            <a:spLocks noGrp="1"/>
          </p:cNvSpPr>
          <p:nvPr>
            <p:ph idx="4294967295"/>
          </p:nvPr>
        </p:nvSpPr>
        <p:spPr>
          <a:xfrm>
            <a:off x="594888" y="1026367"/>
            <a:ext cx="4856163" cy="5001209"/>
          </a:xfrm>
        </p:spPr>
        <p:txBody>
          <a:bodyPr>
            <a:noAutofit/>
          </a:bodyPr>
          <a:lstStyle/>
          <a:p>
            <a:pPr algn="just">
              <a:lnSpc>
                <a:spcPct val="100000"/>
              </a:lnSpc>
            </a:pPr>
            <a:r>
              <a:rPr lang="en-US" sz="2800" dirty="0">
                <a:latin typeface="Times New Roman" panose="02020603050405020304" pitchFamily="16" charset="0"/>
                <a:cs typeface="Times New Roman" panose="02020603050405020304" pitchFamily="16" charset="0"/>
              </a:rPr>
              <a:t>Linear regression involves finding the “best” line to fit two attributes (or variables), so that one attribute can be used to predict the other. </a:t>
            </a:r>
          </a:p>
          <a:p>
            <a:pPr algn="just">
              <a:lnSpc>
                <a:spcPct val="100000"/>
              </a:lnSpc>
            </a:pPr>
            <a:r>
              <a:rPr lang="en-US" sz="2800" dirty="0">
                <a:latin typeface="Times New Roman" panose="02020603050405020304" pitchFamily="16" charset="0"/>
                <a:cs typeface="Times New Roman" panose="02020603050405020304" pitchFamily="16" charset="0"/>
              </a:rPr>
              <a:t>Multiple linear regression is an extension of linear regression, where more than two attributes are involved and the data are fit to a multidimensional surface.</a:t>
            </a:r>
            <a:endParaRPr lang="en-IN" sz="2800" dirty="0">
              <a:latin typeface="Times New Roman" panose="02020603050405020304" pitchFamily="16" charset="0"/>
              <a:cs typeface="Times New Roman" panose="02020603050405020304" pitchFamily="16" charset="0"/>
            </a:endParaRPr>
          </a:p>
        </p:txBody>
      </p:sp>
      <p:pic>
        <p:nvPicPr>
          <p:cNvPr id="6" name="Picture 5"/>
          <p:cNvPicPr>
            <a:picLocks noChangeAspect="1"/>
          </p:cNvPicPr>
          <p:nvPr/>
        </p:nvPicPr>
        <p:blipFill>
          <a:blip r:embed="rId2"/>
          <a:stretch>
            <a:fillRect/>
          </a:stretch>
        </p:blipFill>
        <p:spPr>
          <a:xfrm>
            <a:off x="5787027" y="1511559"/>
            <a:ext cx="6279845" cy="3928188"/>
          </a:xfrm>
          <a:prstGeom prst="rect">
            <a:avLst/>
          </a:prstGeom>
        </p:spPr>
      </p:pic>
      <p:sp>
        <p:nvSpPr>
          <p:cNvPr id="7" name="Rounded Rectangle 17"/>
          <p:cNvSpPr/>
          <p:nvPr/>
        </p:nvSpPr>
        <p:spPr>
          <a:xfrm>
            <a:off x="2211355" y="180806"/>
            <a:ext cx="7893698"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Data smoothing - Regression</a:t>
            </a:r>
          </a:p>
        </p:txBody>
      </p:sp>
    </p:spTree>
    <p:extLst>
      <p:ext uri="{BB962C8B-B14F-4D97-AF65-F5344CB8AC3E}">
        <p14:creationId xmlns:p14="http://schemas.microsoft.com/office/powerpoint/2010/main" val="305886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22</a:t>
            </a:fld>
            <a:endParaRPr lang="en-IN"/>
          </a:p>
        </p:txBody>
      </p:sp>
      <p:sp>
        <p:nvSpPr>
          <p:cNvPr id="3" name="Content Placeholder 2"/>
          <p:cNvSpPr>
            <a:spLocks noGrp="1"/>
          </p:cNvSpPr>
          <p:nvPr>
            <p:ph idx="4294967295"/>
          </p:nvPr>
        </p:nvSpPr>
        <p:spPr>
          <a:xfrm>
            <a:off x="242596" y="1353650"/>
            <a:ext cx="4338735" cy="4627271"/>
          </a:xfrm>
        </p:spPr>
        <p:txBody>
          <a:bodyPr>
            <a:noAutofit/>
          </a:bodyPr>
          <a:lstStyle/>
          <a:p>
            <a:pPr algn="just"/>
            <a:r>
              <a:rPr lang="en-US" sz="2800" dirty="0">
                <a:latin typeface="Times New Roman" panose="02020603050405020304" pitchFamily="16" charset="0"/>
                <a:cs typeface="Times New Roman" panose="02020603050405020304" pitchFamily="16" charset="0"/>
              </a:rPr>
              <a:t>Outliers may be detected by clustering, for example, where similar values are organized into groups, or “clusters.” </a:t>
            </a:r>
          </a:p>
          <a:p>
            <a:pPr algn="just"/>
            <a:r>
              <a:rPr lang="en-US" sz="2800" dirty="0">
                <a:latin typeface="Times New Roman" panose="02020603050405020304" pitchFamily="16" charset="0"/>
                <a:cs typeface="Times New Roman" panose="02020603050405020304" pitchFamily="16" charset="0"/>
              </a:rPr>
              <a:t>Intuitively, values that fall outside of the set of clusters may be considered outliers</a:t>
            </a:r>
            <a:endParaRPr lang="en-IN" sz="2800" dirty="0">
              <a:latin typeface="Times New Roman" panose="02020603050405020304" pitchFamily="16" charset="0"/>
              <a:cs typeface="Times New Roman" panose="02020603050405020304" pitchFamily="16" charset="0"/>
            </a:endParaRPr>
          </a:p>
        </p:txBody>
      </p:sp>
      <p:pic>
        <p:nvPicPr>
          <p:cNvPr id="6" name="Picture 5"/>
          <p:cNvPicPr>
            <a:picLocks noChangeAspect="1"/>
          </p:cNvPicPr>
          <p:nvPr/>
        </p:nvPicPr>
        <p:blipFill>
          <a:blip r:embed="rId2"/>
          <a:stretch>
            <a:fillRect/>
          </a:stretch>
        </p:blipFill>
        <p:spPr>
          <a:xfrm>
            <a:off x="5690491" y="1466956"/>
            <a:ext cx="5381872" cy="4627271"/>
          </a:xfrm>
          <a:prstGeom prst="rect">
            <a:avLst/>
          </a:prstGeom>
        </p:spPr>
      </p:pic>
      <p:sp>
        <p:nvSpPr>
          <p:cNvPr id="7" name="Rounded Rectangle 17"/>
          <p:cNvSpPr/>
          <p:nvPr/>
        </p:nvSpPr>
        <p:spPr>
          <a:xfrm>
            <a:off x="1782147" y="180806"/>
            <a:ext cx="9215227" cy="709210"/>
          </a:xfrm>
          <a:prstGeom prst="roundRect">
            <a:avLst>
              <a:gd name="adj" fmla="val 0"/>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3200" b="1" cap="all" dirty="0"/>
              <a:t>Data smoothing - Outlier analysis</a:t>
            </a:r>
          </a:p>
        </p:txBody>
      </p:sp>
    </p:spTree>
    <p:extLst>
      <p:ext uri="{BB962C8B-B14F-4D97-AF65-F5344CB8AC3E}">
        <p14:creationId xmlns:p14="http://schemas.microsoft.com/office/powerpoint/2010/main" val="266236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0"/>
            <a:ext cx="11658600" cy="5257800"/>
          </a:xfrm>
        </p:spPr>
        <p:txBody>
          <a:bodyPr>
            <a:noAutofit/>
          </a:bodyPr>
          <a:lstStyle/>
          <a:p>
            <a:pPr algn="just"/>
            <a:r>
              <a:rPr lang="en-IN" b="1" dirty="0" smtClean="0">
                <a:latin typeface="Times New Roman" panose="02020603050405020304" pitchFamily="18" charset="0"/>
                <a:cs typeface="Times New Roman" panose="02020603050405020304" pitchFamily="18" charset="0"/>
              </a:rPr>
              <a:t>Outliers</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Outliers are abnormal values significantly different from normal </a:t>
            </a:r>
            <a:r>
              <a:rPr lang="en-US" dirty="0" smtClean="0">
                <a:latin typeface="Times New Roman" panose="02020603050405020304" pitchFamily="18" charset="0"/>
                <a:cs typeface="Times New Roman" panose="02020603050405020304" pitchFamily="18" charset="0"/>
              </a:rPr>
              <a:t>data.</a:t>
            </a:r>
            <a:endParaRPr lang="en-US" dirty="0"/>
          </a:p>
          <a:p>
            <a:pPr algn="just"/>
            <a:r>
              <a:rPr lang="en-IN" dirty="0" smtClean="0">
                <a:latin typeface="Times New Roman" panose="02020603050405020304" pitchFamily="18" charset="0"/>
                <a:cs typeface="Times New Roman" panose="02020603050405020304" pitchFamily="18" charset="0"/>
              </a:rPr>
              <a:t>Values </a:t>
            </a:r>
            <a:r>
              <a:rPr lang="en-IN" dirty="0">
                <a:latin typeface="Times New Roman" panose="02020603050405020304" pitchFamily="18" charset="0"/>
                <a:cs typeface="Times New Roman" panose="02020603050405020304" pitchFamily="18" charset="0"/>
              </a:rPr>
              <a:t>that are statistically far from the rest of the distribution. Outliers can be genuine (a real but rare event) or erroneous (a sensor spike). They inflate variance and distort means, regression coefficients, and distance-based algorithms.</a:t>
            </a:r>
          </a:p>
          <a:p>
            <a:pPr algn="just"/>
            <a:r>
              <a:rPr lang="en-IN" dirty="0">
                <a:latin typeface="Times New Roman" panose="02020603050405020304" pitchFamily="18" charset="0"/>
                <a:cs typeface="Times New Roman" panose="02020603050405020304" pitchFamily="18" charset="0"/>
              </a:rPr>
              <a:t>Detection methods: Z-score (beyond ±3σ), IQR method (below Q1 − 1.5×IQR or above Q3 + 1.5×IQR), isolation forests, DBSCAN-based detection</a:t>
            </a:r>
            <a:r>
              <a:rPr lang="en-IN"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Example: Student marks: 45, 50, 48, 1000 where 1000 is an outlier.</a:t>
            </a:r>
          </a:p>
          <a:p>
            <a:pPr algn="just"/>
            <a:r>
              <a:rPr lang="en-IN" b="1" dirty="0" smtClean="0">
                <a:latin typeface="Times New Roman" panose="02020603050405020304" pitchFamily="18" charset="0"/>
                <a:cs typeface="Times New Roman" panose="02020603050405020304" pitchFamily="18" charset="0"/>
              </a:rPr>
              <a:t>Inconsistent </a:t>
            </a:r>
            <a:r>
              <a:rPr lang="en-IN" b="1" dirty="0">
                <a:latin typeface="Times New Roman" panose="02020603050405020304" pitchFamily="18" charset="0"/>
                <a:cs typeface="Times New Roman" panose="02020603050405020304" pitchFamily="18" charset="0"/>
              </a:rPr>
              <a:t>/ Incorrect Data</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Values that violate domain constraints (e.g., a person's age recorded as −5 or 900), mixed formats (dates as "Jan 3" </a:t>
            </a:r>
            <a:r>
              <a:rPr lang="en-IN" dirty="0" err="1">
                <a:latin typeface="Times New Roman" panose="02020603050405020304" pitchFamily="18" charset="0"/>
                <a:cs typeface="Times New Roman" panose="02020603050405020304" pitchFamily="18" charset="0"/>
              </a:rPr>
              <a:t>vs</a:t>
            </a:r>
            <a:r>
              <a:rPr lang="en-IN" dirty="0">
                <a:latin typeface="Times New Roman" panose="02020603050405020304" pitchFamily="18" charset="0"/>
                <a:cs typeface="Times New Roman" panose="02020603050405020304" pitchFamily="18" charset="0"/>
              </a:rPr>
              <a:t> "2024-01-03"), or conflicting records across sources. Requires domain-aware validation rules and schema enforcement</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4" name="Rounded Rectangle 17">
            <a:extLst>
              <a:ext uri="{FF2B5EF4-FFF2-40B4-BE49-F238E27FC236}">
                <a16:creationId xmlns=""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Other Major Data Quality Issues</a:t>
            </a:r>
            <a:endParaRPr lang="en-US" sz="2400" dirty="0"/>
          </a:p>
        </p:txBody>
      </p:sp>
    </p:spTree>
    <p:extLst>
      <p:ext uri="{BB962C8B-B14F-4D97-AF65-F5344CB8AC3E}">
        <p14:creationId xmlns:p14="http://schemas.microsoft.com/office/powerpoint/2010/main" val="1239865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11277599" cy="5105400"/>
          </a:xfrm>
        </p:spPr>
        <p:txBody>
          <a:bodyPr>
            <a:normAutofit fontScale="92500"/>
          </a:bodyPr>
          <a:lstStyle/>
          <a:p>
            <a:pPr algn="just"/>
            <a:r>
              <a:rPr lang="en-IN" b="1" dirty="0">
                <a:latin typeface="Times New Roman" panose="02020603050405020304" pitchFamily="18" charset="0"/>
                <a:cs typeface="Times New Roman" panose="02020603050405020304" pitchFamily="18" charset="0"/>
              </a:rPr>
              <a:t>Duplicate Records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same entity appears multiple times, often from merging datasets. Duplicates artificially inflate class frequencies and leak information from training into test sets. Fixed with </a:t>
            </a:r>
            <a:r>
              <a:rPr lang="en-IN" dirty="0" err="1">
                <a:latin typeface="Times New Roman" panose="02020603050405020304" pitchFamily="18" charset="0"/>
                <a:cs typeface="Times New Roman" panose="02020603050405020304" pitchFamily="18" charset="0"/>
              </a:rPr>
              <a:t>deduplication</a:t>
            </a:r>
            <a:r>
              <a:rPr lang="en-IN" dirty="0">
                <a:latin typeface="Times New Roman" panose="02020603050405020304" pitchFamily="18" charset="0"/>
                <a:cs typeface="Times New Roman" panose="02020603050405020304" pitchFamily="18" charset="0"/>
              </a:rPr>
              <a:t> via exact matching, fuzzy matching, or entity resolution</a:t>
            </a:r>
            <a:r>
              <a:rPr lang="en-IN" dirty="0" smtClean="0">
                <a:latin typeface="Times New Roman" panose="02020603050405020304" pitchFamily="18" charset="0"/>
                <a:cs typeface="Times New Roman" panose="02020603050405020304" pitchFamily="18" charset="0"/>
              </a:rPr>
              <a:t>. Ex: </a:t>
            </a:r>
            <a:r>
              <a:rPr lang="en-US" sz="2100" dirty="0">
                <a:latin typeface="Times New Roman" panose="02020603050405020304" pitchFamily="18" charset="0"/>
                <a:cs typeface="Times New Roman" panose="02020603050405020304" pitchFamily="18" charset="0"/>
              </a:rPr>
              <a:t>Banking </a:t>
            </a:r>
            <a:r>
              <a:rPr lang="en-US" sz="2100" dirty="0" smtClean="0">
                <a:latin typeface="Times New Roman" panose="02020603050405020304" pitchFamily="18" charset="0"/>
                <a:cs typeface="Times New Roman" panose="02020603050405020304" pitchFamily="18" charset="0"/>
              </a:rPr>
              <a:t>System - A </a:t>
            </a:r>
            <a:r>
              <a:rPr lang="en-US" sz="2100" dirty="0">
                <a:latin typeface="Times New Roman" panose="02020603050405020304" pitchFamily="18" charset="0"/>
                <a:cs typeface="Times New Roman" panose="02020603050405020304" pitchFamily="18" charset="0"/>
              </a:rPr>
              <a:t>customer may accidentally create multiple accounts with the same details.</a:t>
            </a:r>
          </a:p>
          <a:p>
            <a:pPr algn="just"/>
            <a:r>
              <a:rPr lang="en-IN" b="1" dirty="0" smtClean="0">
                <a:latin typeface="Times New Roman" panose="02020603050405020304" pitchFamily="18" charset="0"/>
                <a:cs typeface="Times New Roman" panose="02020603050405020304" pitchFamily="18" charset="0"/>
              </a:rPr>
              <a:t>Class </a:t>
            </a:r>
            <a:r>
              <a:rPr lang="en-IN" b="1" dirty="0">
                <a:latin typeface="Times New Roman" panose="02020603050405020304" pitchFamily="18" charset="0"/>
                <a:cs typeface="Times New Roman" panose="02020603050405020304" pitchFamily="18" charset="0"/>
              </a:rPr>
              <a:t>Imbalance</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One class vastly outnumbers another (e.g., 99% non-fraud </a:t>
            </a:r>
            <a:r>
              <a:rPr lang="en-IN" dirty="0" err="1">
                <a:latin typeface="Times New Roman" panose="02020603050405020304" pitchFamily="18" charset="0"/>
                <a:cs typeface="Times New Roman" panose="02020603050405020304" pitchFamily="18" charset="0"/>
              </a:rPr>
              <a:t>vs</a:t>
            </a:r>
            <a:r>
              <a:rPr lang="en-IN" dirty="0">
                <a:latin typeface="Times New Roman" panose="02020603050405020304" pitchFamily="18" charset="0"/>
                <a:cs typeface="Times New Roman" panose="02020603050405020304" pitchFamily="18" charset="0"/>
              </a:rPr>
              <a:t> 1% fraud). A model that predicts the majority class always achieves high accuracy but zero utility. Fixed with oversampling (SMOTE), </a:t>
            </a:r>
            <a:r>
              <a:rPr lang="en-IN" dirty="0" err="1">
                <a:latin typeface="Times New Roman" panose="02020603050405020304" pitchFamily="18" charset="0"/>
                <a:cs typeface="Times New Roman" panose="02020603050405020304" pitchFamily="18" charset="0"/>
              </a:rPr>
              <a:t>undersampling</a:t>
            </a:r>
            <a:r>
              <a:rPr lang="en-IN" dirty="0">
                <a:latin typeface="Times New Roman" panose="02020603050405020304" pitchFamily="18" charset="0"/>
                <a:cs typeface="Times New Roman" panose="02020603050405020304" pitchFamily="18" charset="0"/>
              </a:rPr>
              <a:t>, class-weighted loss, or threshold tuning.</a:t>
            </a:r>
          </a:p>
          <a:p>
            <a:pPr algn="just"/>
            <a:r>
              <a:rPr lang="en-IN" b="1" dirty="0">
                <a:latin typeface="Times New Roman" panose="02020603050405020304" pitchFamily="18" charset="0"/>
                <a:cs typeface="Times New Roman" panose="02020603050405020304" pitchFamily="18" charset="0"/>
              </a:rPr>
              <a:t>Data Drift</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statistical distribution of input features changes over time after deployment, silently degrading model performance. Monitored with PSI (Population Stability Index), KS tests, and model performance dashboards.</a:t>
            </a:r>
          </a:p>
          <a:p>
            <a:pPr algn="just"/>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41955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838200"/>
            <a:ext cx="10292854" cy="4628145"/>
          </a:xfrm>
        </p:spPr>
        <p:txBody>
          <a:bodyPr>
            <a:noAutofit/>
          </a:bodyPr>
          <a:lstStyle/>
          <a:p>
            <a:pPr algn="just"/>
            <a:r>
              <a:rPr lang="en-IN" b="1" dirty="0" smtClean="0">
                <a:latin typeface="Times New Roman" panose="02020603050405020304" pitchFamily="18" charset="0"/>
                <a:cs typeface="Times New Roman" panose="02020603050405020304" pitchFamily="18" charset="0"/>
              </a:rPr>
              <a:t>Selection </a:t>
            </a:r>
            <a:r>
              <a:rPr lang="en-IN" b="1" dirty="0">
                <a:latin typeface="Times New Roman" panose="02020603050405020304" pitchFamily="18" charset="0"/>
                <a:cs typeface="Times New Roman" panose="02020603050405020304" pitchFamily="18" charset="0"/>
              </a:rPr>
              <a:t>/ Sampling Bias</a:t>
            </a:r>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data collection process systematically </a:t>
            </a:r>
            <a:r>
              <a:rPr lang="en-IN" dirty="0" err="1">
                <a:latin typeface="Times New Roman" panose="02020603050405020304" pitchFamily="18" charset="0"/>
                <a:cs typeface="Times New Roman" panose="02020603050405020304" pitchFamily="18" charset="0"/>
              </a:rPr>
              <a:t>favors</a:t>
            </a:r>
            <a:r>
              <a:rPr lang="en-IN" dirty="0">
                <a:latin typeface="Times New Roman" panose="02020603050405020304" pitchFamily="18" charset="0"/>
                <a:cs typeface="Times New Roman" panose="02020603050405020304" pitchFamily="18" charset="0"/>
              </a:rPr>
              <a:t> certain subpopulations, so the training set doesn't represent the real-world distribution. A classic example is training a facial recognition system on predominantly light-skinned faces — it performs poorly on darker skin tones.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883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t>
            </a:r>
            <a:r>
              <a:rPr lang="en-US" sz="2400" b="1" dirty="0" smtClean="0">
                <a:latin typeface="Poppins" pitchFamily="2" charset="77"/>
                <a:cs typeface="Poppins" pitchFamily="2" charset="77"/>
              </a:rPr>
              <a:t>DS</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DAV</Template>
  <TotalTime>2517</TotalTime>
  <Words>1944</Words>
  <Application>Microsoft Office PowerPoint</Application>
  <PresentationFormat>Widescreen</PresentationFormat>
  <Paragraphs>205</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BioRhyme ExtraBold</vt:lpstr>
      <vt:lpstr>Calibri</vt:lpstr>
      <vt:lpstr>Gill Sans MT</vt:lpstr>
      <vt:lpstr>Poppins</vt:lpstr>
      <vt:lpstr>Times New Roman</vt:lpstr>
      <vt:lpstr>Wingdings</vt:lpstr>
      <vt:lpstr>Gallery</vt:lpstr>
      <vt:lpstr>PowerPoint Presentation</vt:lpstr>
      <vt:lpstr>PowerPoint Presentation</vt:lpstr>
      <vt:lpstr>      Key Concepts</vt:lpstr>
      <vt:lpstr>Data Quality Issues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VOCABULARY</dc:title>
  <dc:creator>ramesh babu padamata</dc:creator>
  <cp:lastModifiedBy>Admin</cp:lastModifiedBy>
  <cp:revision>100</cp:revision>
  <dcterms:created xsi:type="dcterms:W3CDTF">2023-10-26T04:57:25Z</dcterms:created>
  <dcterms:modified xsi:type="dcterms:W3CDTF">2026-05-23T08:40:32Z</dcterms:modified>
</cp:coreProperties>
</file>