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42"/>
  </p:notesMasterIdLst>
  <p:sldIdLst>
    <p:sldId id="256" r:id="rId2"/>
    <p:sldId id="300" r:id="rId3"/>
    <p:sldId id="363" r:id="rId4"/>
    <p:sldId id="261" r:id="rId5"/>
    <p:sldId id="437" r:id="rId6"/>
    <p:sldId id="263" r:id="rId7"/>
    <p:sldId id="264" r:id="rId8"/>
    <p:sldId id="438" r:id="rId9"/>
    <p:sldId id="439" r:id="rId10"/>
    <p:sldId id="458" r:id="rId11"/>
    <p:sldId id="441" r:id="rId12"/>
    <p:sldId id="444" r:id="rId13"/>
    <p:sldId id="453" r:id="rId14"/>
    <p:sldId id="445" r:id="rId15"/>
    <p:sldId id="446" r:id="rId16"/>
    <p:sldId id="448" r:id="rId17"/>
    <p:sldId id="454" r:id="rId18"/>
    <p:sldId id="449" r:id="rId19"/>
    <p:sldId id="459" r:id="rId20"/>
    <p:sldId id="460" r:id="rId21"/>
    <p:sldId id="468" r:id="rId22"/>
    <p:sldId id="461" r:id="rId23"/>
    <p:sldId id="462" r:id="rId24"/>
    <p:sldId id="408" r:id="rId25"/>
    <p:sldId id="409" r:id="rId26"/>
    <p:sldId id="419" r:id="rId27"/>
    <p:sldId id="410" r:id="rId28"/>
    <p:sldId id="411" r:id="rId29"/>
    <p:sldId id="420" r:id="rId30"/>
    <p:sldId id="421" r:id="rId31"/>
    <p:sldId id="422" r:id="rId32"/>
    <p:sldId id="423" r:id="rId33"/>
    <p:sldId id="424" r:id="rId34"/>
    <p:sldId id="425" r:id="rId35"/>
    <p:sldId id="426" r:id="rId36"/>
    <p:sldId id="465" r:id="rId37"/>
    <p:sldId id="466" r:id="rId38"/>
    <p:sldId id="467" r:id="rId39"/>
    <p:sldId id="397" r:id="rId40"/>
    <p:sldId id="304" r:id="rId41"/>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8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9D50C3E-414B-418F-BA6A-4605B09BD045}" type="datetimeFigureOut">
              <a:rPr lang="en-IN" smtClean="0"/>
              <a:t>20-07-2026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62E3151-E170-41ED-8ECA-18A47DB26642}" type="slidenum">
              <a:rPr lang="en-IN" smtClean="0"/>
              <a:t>‹#›</a:t>
            </a:fld>
            <a:endParaRPr lang="en-IN"/>
          </a:p>
        </p:txBody>
      </p:sp>
    </p:spTree>
    <p:extLst>
      <p:ext uri="{BB962C8B-B14F-4D97-AF65-F5344CB8AC3E}">
        <p14:creationId xmlns:p14="http://schemas.microsoft.com/office/powerpoint/2010/main" val="162041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3911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7/20/2026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7/20/2026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7/20/2026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7/20/2026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7/20/2026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869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7/20/2026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80" r:id="rId13"/>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of CSE, CSIT</a:t>
            </a: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595120" y="2048911"/>
            <a:ext cx="8218565"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science</a:t>
            </a: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24AD3107</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3200" b="1" cap="all" dirty="0">
                <a:ln/>
                <a:solidFill>
                  <a:srgbClr val="C00000"/>
                </a:solidFill>
                <a:cs typeface="Poppins" panose="00000500000000000000" pitchFamily="2" charset="0"/>
              </a:rPr>
              <a:t>Introduction to Data Science</a:t>
            </a:r>
            <a:r>
              <a:rPr lang="en-US" sz="3200" dirty="0"/>
              <a:t>	</a:t>
            </a: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- 1</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Data science</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dirty="0">
                <a:latin typeface="Poppins"/>
                <a:cs typeface="Poppins"/>
              </a:rPr>
              <a:t>Introduction to Data science and Evolution of Data Science</a:t>
            </a:r>
            <a:endParaRPr lang="en-US" sz="1600" b="0" i="0" dirty="0">
              <a:effectLst/>
              <a:latin typeface="Poppins"/>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basic knowledge </a:t>
            </a:r>
            <a:r>
              <a:rPr lang="en-US" altLang="en-US" sz="1600" dirty="0">
                <a:latin typeface="Arial"/>
                <a:cs typeface="Arial"/>
              </a:rPr>
              <a:t>of Data Science</a:t>
            </a:r>
            <a:endParaRPr lang="en-US" sz="1600" b="0" i="0" dirty="0">
              <a:effectLst/>
              <a:latin typeface="Arial"/>
              <a:cs typeface="Arial"/>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altLang="en-US" sz="2800" dirty="0"/>
              <a:t>Introduction of Data Science</a:t>
            </a:r>
            <a:r>
              <a:rPr lang="en-US" dirty="0"/>
              <a:t>	</a:t>
            </a:r>
          </a:p>
          <a:p>
            <a:pPr>
              <a:buFont typeface="Wingdings" pitchFamily="2" charset="2"/>
              <a:buChar char="v"/>
              <a:defRPr/>
            </a:pPr>
            <a:r>
              <a:rPr lang="en-US" sz="2800" dirty="0"/>
              <a:t>Scope of Data Science </a:t>
            </a:r>
          </a:p>
          <a:p>
            <a:pPr>
              <a:buFont typeface="Wingdings" pitchFamily="2" charset="2"/>
              <a:buChar char="v"/>
              <a:defRPr/>
            </a:pPr>
            <a:r>
              <a:rPr lang="en-US" sz="2800" dirty="0"/>
              <a:t>Need and Career Opportunities</a:t>
            </a:r>
          </a:p>
          <a:p>
            <a:pPr>
              <a:buFont typeface="Wingdings" pitchFamily="2" charset="2"/>
              <a:buChar char="v"/>
              <a:defRPr/>
            </a:pPr>
            <a:r>
              <a:rPr lang="en-US" sz="2800" dirty="0"/>
              <a:t>Applications of Data Science in Real-world	</a:t>
            </a:r>
          </a:p>
          <a:p>
            <a:pPr>
              <a:buFont typeface="Wingdings" pitchFamily="2" charset="2"/>
              <a:buChar char="v"/>
              <a:defRPr/>
            </a:pPr>
            <a:endParaRPr lang="en-US" sz="2800" dirty="0"/>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animEffect transition="in" filter="wipe(left)">
                                      <p:cBhvr>
                                        <p:cTn id="11" dur="500"/>
                                        <p:tgtEl>
                                          <p:spTgt spid="1843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wipe(left)">
                                      <p:cBhvr>
                                        <p:cTn id="15" dur="500"/>
                                        <p:tgtEl>
                                          <p:spTgt spid="1843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435">
                                            <p:txEl>
                                              <p:pRg st="3" end="3"/>
                                            </p:txEl>
                                          </p:spTgt>
                                        </p:tgtEl>
                                        <p:attrNameLst>
                                          <p:attrName>style.visibility</p:attrName>
                                        </p:attrNameLst>
                                      </p:cBhvr>
                                      <p:to>
                                        <p:strVal val="visible"/>
                                      </p:to>
                                    </p:set>
                                    <p:animEffect transition="in" filter="wipe(left)">
                                      <p:cBhvr>
                                        <p:cTn id="20"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143000" y="762000"/>
            <a:ext cx="9512300" cy="4953000"/>
          </a:xfrm>
          <a:prstGeom prst="rect">
            <a:avLst/>
          </a:prstGeom>
        </p:spPr>
      </p:pic>
      <p:sp>
        <p:nvSpPr>
          <p:cNvPr id="5" name="object 5"/>
          <p:cNvSpPr txBox="1"/>
          <p:nvPr/>
        </p:nvSpPr>
        <p:spPr>
          <a:xfrm>
            <a:off x="11892663" y="6524300"/>
            <a:ext cx="147320" cy="152400"/>
          </a:xfrm>
          <a:prstGeom prst="rect">
            <a:avLst/>
          </a:prstGeom>
        </p:spPr>
        <p:txBody>
          <a:bodyPr vert="horz" wrap="square" lIns="0" tIns="0" rIns="0" bIns="0" rtlCol="0">
            <a:spAutoFit/>
          </a:bodyPr>
          <a:lstStyle/>
          <a:p>
            <a:pPr marL="38100">
              <a:lnSpc>
                <a:spcPts val="1070"/>
              </a:lnSpc>
            </a:pPr>
            <a:r>
              <a:rPr sz="1000" dirty="0">
                <a:solidFill>
                  <a:srgbClr val="888888"/>
                </a:solidFill>
                <a:latin typeface="Arial MT"/>
                <a:cs typeface="Arial MT"/>
              </a:rPr>
              <a:t>4</a:t>
            </a:r>
            <a:endParaRPr sz="1000">
              <a:latin typeface="Arial MT"/>
              <a:cs typeface="Arial MT"/>
            </a:endParaRPr>
          </a:p>
        </p:txBody>
      </p:sp>
      <p:sp>
        <p:nvSpPr>
          <p:cNvPr id="6" name="Rounded Rectangle 17">
            <a:extLst>
              <a:ext uri="{FF2B5EF4-FFF2-40B4-BE49-F238E27FC236}">
                <a16:creationId xmlns:a16="http://schemas.microsoft.com/office/drawing/2014/main" id="{A089155C-E23B-0296-9020-64F94D8F977B}"/>
              </a:ext>
            </a:extLst>
          </p:cNvPr>
          <p:cNvSpPr/>
          <p:nvPr/>
        </p:nvSpPr>
        <p:spPr>
          <a:xfrm>
            <a:off x="2579174" y="2286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DATA SCIENCE VOCABULARY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80000">
            <a:off x="-609600" y="4632960"/>
            <a:ext cx="13411200" cy="219456"/>
          </a:xfrm>
          <a:prstGeom prst="rect">
            <a:avLst/>
          </a:prstGeom>
          <a:solidFill>
            <a:srgbClr val="2E86AB"/>
          </a:solidFill>
          <a:ln/>
        </p:spPr>
      </p:sp>
      <p:sp>
        <p:nvSpPr>
          <p:cNvPr id="3" name="Shape 1"/>
          <p:cNvSpPr/>
          <p:nvPr/>
        </p:nvSpPr>
        <p:spPr>
          <a:xfrm rot="-180000">
            <a:off x="-609600" y="4998720"/>
            <a:ext cx="13411200" cy="73152"/>
          </a:xfrm>
          <a:prstGeom prst="rect">
            <a:avLst/>
          </a:prstGeom>
          <a:solidFill>
            <a:srgbClr val="F18F01"/>
          </a:solidFill>
          <a:ln/>
        </p:spPr>
      </p:sp>
      <p:sp>
        <p:nvSpPr>
          <p:cNvPr id="4" name="Text 2"/>
          <p:cNvSpPr/>
          <p:nvPr/>
        </p:nvSpPr>
        <p:spPr>
          <a:xfrm>
            <a:off x="1219200" y="853440"/>
            <a:ext cx="9753600" cy="731520"/>
          </a:xfrm>
          <a:prstGeom prst="rect">
            <a:avLst/>
          </a:prstGeom>
          <a:noFill/>
          <a:ln/>
        </p:spPr>
        <p:txBody>
          <a:bodyPr wrap="square" rtlCol="0" anchor="ctr"/>
          <a:lstStyle/>
          <a:p>
            <a:pPr algn="ctr"/>
            <a:r>
              <a:rPr lang="en-US" sz="2933" dirty="0">
                <a:solidFill>
                  <a:srgbClr val="BDC3C7"/>
                </a:solidFill>
                <a:latin typeface="Calibri Light" pitchFamily="34" charset="0"/>
                <a:ea typeface="Calibri Light" pitchFamily="34" charset="-122"/>
                <a:cs typeface="Calibri Light" pitchFamily="34" charset="-120"/>
              </a:rPr>
              <a:t>Introduction to</a:t>
            </a:r>
            <a:endParaRPr lang="en-US" sz="2933" dirty="0"/>
          </a:p>
        </p:txBody>
      </p:sp>
      <p:sp>
        <p:nvSpPr>
          <p:cNvPr id="5" name="Text 3"/>
          <p:cNvSpPr/>
          <p:nvPr/>
        </p:nvSpPr>
        <p:spPr>
          <a:xfrm>
            <a:off x="609600" y="1463040"/>
            <a:ext cx="10972800" cy="1706880"/>
          </a:xfrm>
          <a:prstGeom prst="rect">
            <a:avLst/>
          </a:prstGeom>
          <a:noFill/>
          <a:ln/>
        </p:spPr>
        <p:txBody>
          <a:bodyPr wrap="square" rtlCol="0" anchor="ctr"/>
          <a:lstStyle/>
          <a:p>
            <a:pPr algn="ctr"/>
            <a:r>
              <a:rPr lang="en-US" sz="8266" b="1" dirty="0">
                <a:solidFill>
                  <a:srgbClr val="002060"/>
                </a:solidFill>
                <a:latin typeface="Calibri" pitchFamily="34" charset="0"/>
                <a:ea typeface="Calibri" pitchFamily="34" charset="-122"/>
                <a:cs typeface="Calibri" pitchFamily="34" charset="-120"/>
              </a:rPr>
              <a:t>Data Science</a:t>
            </a:r>
            <a:endParaRPr lang="en-US" sz="8266" dirty="0">
              <a:solidFill>
                <a:srgbClr val="002060"/>
              </a:solidFill>
            </a:endParaRPr>
          </a:p>
        </p:txBody>
      </p:sp>
      <p:sp>
        <p:nvSpPr>
          <p:cNvPr id="7" name="Shape 5"/>
          <p:cNvSpPr/>
          <p:nvPr/>
        </p:nvSpPr>
        <p:spPr>
          <a:xfrm>
            <a:off x="975360" y="5425440"/>
            <a:ext cx="1828800" cy="670560"/>
          </a:xfrm>
          <a:prstGeom prst="rect">
            <a:avLst/>
          </a:prstGeom>
          <a:solidFill>
            <a:srgbClr val="1B4F72"/>
          </a:solidFill>
          <a:ln/>
          <a:effectLst>
            <a:outerShdw blurRad="101600" dist="38100" dir="8100000" algn="bl" rotWithShape="0">
              <a:srgbClr val="000000">
                <a:alpha val="18000"/>
              </a:srgbClr>
            </a:outerShdw>
          </a:effectLst>
        </p:spPr>
      </p:sp>
      <p:sp>
        <p:nvSpPr>
          <p:cNvPr id="8" name="Text 6"/>
          <p:cNvSpPr/>
          <p:nvPr/>
        </p:nvSpPr>
        <p:spPr>
          <a:xfrm>
            <a:off x="975360" y="5425440"/>
            <a:ext cx="1828800" cy="6705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Data Types</a:t>
            </a:r>
            <a:endParaRPr lang="en-US" sz="1333" dirty="0"/>
          </a:p>
        </p:txBody>
      </p:sp>
      <p:sp>
        <p:nvSpPr>
          <p:cNvPr id="9" name="Shape 7"/>
          <p:cNvSpPr/>
          <p:nvPr/>
        </p:nvSpPr>
        <p:spPr>
          <a:xfrm>
            <a:off x="3048000" y="5425440"/>
            <a:ext cx="1828800" cy="670560"/>
          </a:xfrm>
          <a:prstGeom prst="rect">
            <a:avLst/>
          </a:prstGeom>
          <a:solidFill>
            <a:srgbClr val="1B4F72"/>
          </a:solidFill>
          <a:ln/>
          <a:effectLst>
            <a:outerShdw blurRad="101600" dist="38100" dir="8100000" algn="bl" rotWithShape="0">
              <a:srgbClr val="000000">
                <a:alpha val="18000"/>
              </a:srgbClr>
            </a:outerShdw>
          </a:effectLst>
        </p:spPr>
      </p:sp>
      <p:sp>
        <p:nvSpPr>
          <p:cNvPr id="10" name="Text 8"/>
          <p:cNvSpPr/>
          <p:nvPr/>
        </p:nvSpPr>
        <p:spPr>
          <a:xfrm>
            <a:off x="3048000" y="5425440"/>
            <a:ext cx="1828800" cy="6705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Python</a:t>
            </a:r>
            <a:endParaRPr lang="en-US" sz="1333" dirty="0"/>
          </a:p>
        </p:txBody>
      </p:sp>
      <p:sp>
        <p:nvSpPr>
          <p:cNvPr id="11" name="Shape 9"/>
          <p:cNvSpPr/>
          <p:nvPr/>
        </p:nvSpPr>
        <p:spPr>
          <a:xfrm>
            <a:off x="5120640" y="5425440"/>
            <a:ext cx="1828800" cy="670560"/>
          </a:xfrm>
          <a:prstGeom prst="rect">
            <a:avLst/>
          </a:prstGeom>
          <a:solidFill>
            <a:srgbClr val="1B4F72"/>
          </a:solidFill>
          <a:ln/>
          <a:effectLst>
            <a:outerShdw blurRad="101600" dist="38100" dir="8100000" algn="bl" rotWithShape="0">
              <a:srgbClr val="000000">
                <a:alpha val="18000"/>
              </a:srgbClr>
            </a:outerShdw>
          </a:effectLst>
        </p:spPr>
      </p:sp>
      <p:sp>
        <p:nvSpPr>
          <p:cNvPr id="12" name="Text 10"/>
          <p:cNvSpPr/>
          <p:nvPr/>
        </p:nvSpPr>
        <p:spPr>
          <a:xfrm>
            <a:off x="5120640" y="5425440"/>
            <a:ext cx="1828800" cy="6705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NumPy</a:t>
            </a:r>
            <a:endParaRPr lang="en-US" sz="1333" dirty="0"/>
          </a:p>
        </p:txBody>
      </p:sp>
      <p:sp>
        <p:nvSpPr>
          <p:cNvPr id="13" name="Shape 11"/>
          <p:cNvSpPr/>
          <p:nvPr/>
        </p:nvSpPr>
        <p:spPr>
          <a:xfrm>
            <a:off x="7193280" y="5425440"/>
            <a:ext cx="1828800" cy="670560"/>
          </a:xfrm>
          <a:prstGeom prst="rect">
            <a:avLst/>
          </a:prstGeom>
          <a:solidFill>
            <a:srgbClr val="1B4F72"/>
          </a:solidFill>
          <a:ln/>
          <a:effectLst>
            <a:outerShdw blurRad="101600" dist="38100" dir="8100000" algn="bl" rotWithShape="0">
              <a:srgbClr val="000000">
                <a:alpha val="18000"/>
              </a:srgbClr>
            </a:outerShdw>
          </a:effectLst>
        </p:spPr>
      </p:sp>
      <p:sp>
        <p:nvSpPr>
          <p:cNvPr id="14" name="Text 12"/>
          <p:cNvSpPr/>
          <p:nvPr/>
        </p:nvSpPr>
        <p:spPr>
          <a:xfrm>
            <a:off x="7193280" y="5425440"/>
            <a:ext cx="1828800" cy="6705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Pandas</a:t>
            </a:r>
            <a:endParaRPr lang="en-US" sz="1333" dirty="0"/>
          </a:p>
        </p:txBody>
      </p:sp>
      <p:sp>
        <p:nvSpPr>
          <p:cNvPr id="15" name="Shape 13"/>
          <p:cNvSpPr/>
          <p:nvPr/>
        </p:nvSpPr>
        <p:spPr>
          <a:xfrm>
            <a:off x="9265920" y="5425440"/>
            <a:ext cx="1828800" cy="670560"/>
          </a:xfrm>
          <a:prstGeom prst="rect">
            <a:avLst/>
          </a:prstGeom>
          <a:solidFill>
            <a:srgbClr val="1B4F72"/>
          </a:solidFill>
          <a:ln/>
          <a:effectLst>
            <a:outerShdw blurRad="101600" dist="38100" dir="8100000" algn="bl" rotWithShape="0">
              <a:srgbClr val="000000">
                <a:alpha val="18000"/>
              </a:srgbClr>
            </a:outerShdw>
          </a:effectLst>
        </p:spPr>
      </p:sp>
      <p:sp>
        <p:nvSpPr>
          <p:cNvPr id="16" name="Text 14"/>
          <p:cNvSpPr/>
          <p:nvPr/>
        </p:nvSpPr>
        <p:spPr>
          <a:xfrm>
            <a:off x="9265920" y="5425440"/>
            <a:ext cx="1828800" cy="6705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Pipelines</a:t>
            </a:r>
            <a:endParaRPr lang="en-US" sz="1333" dirty="0"/>
          </a:p>
        </p:txBody>
      </p:sp>
      <p:sp>
        <p:nvSpPr>
          <p:cNvPr id="17" name="Text 15"/>
          <p:cNvSpPr/>
          <p:nvPr/>
        </p:nvSpPr>
        <p:spPr>
          <a:xfrm>
            <a:off x="1219200" y="6278880"/>
            <a:ext cx="9753600" cy="365760"/>
          </a:xfrm>
          <a:prstGeom prst="rect">
            <a:avLst/>
          </a:prstGeom>
          <a:noFill/>
          <a:ln/>
        </p:spPr>
        <p:txBody>
          <a:bodyPr wrap="square" rtlCol="0" anchor="ctr"/>
          <a:lstStyle/>
          <a:p>
            <a:pPr algn="ctr"/>
            <a:r>
              <a:rPr lang="en-US" sz="1467" dirty="0">
                <a:solidFill>
                  <a:srgbClr val="BDC3C7"/>
                </a:solidFill>
                <a:latin typeface="Calibri" pitchFamily="34" charset="0"/>
                <a:ea typeface="Calibri" pitchFamily="34" charset="-122"/>
                <a:cs typeface="Calibri" pitchFamily="34" charset="-120"/>
              </a:rPr>
              <a:t>B.Tech ·  Academic Year 2025–26</a:t>
            </a:r>
            <a:endParaRPr lang="en-US" sz="1467" dirty="0"/>
          </a:p>
        </p:txBody>
      </p:sp>
    </p:spTree>
    <p:extLst>
      <p:ext uri="{BB962C8B-B14F-4D97-AF65-F5344CB8AC3E}">
        <p14:creationId xmlns:p14="http://schemas.microsoft.com/office/powerpoint/2010/main" val="3138330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1919714" y="6523031"/>
            <a:ext cx="96520" cy="152400"/>
          </a:xfrm>
          <a:prstGeom prst="rect">
            <a:avLst/>
          </a:prstGeom>
        </p:spPr>
        <p:txBody>
          <a:bodyPr vert="horz" wrap="square" lIns="0" tIns="0" rIns="0" bIns="0" rtlCol="0">
            <a:spAutoFit/>
          </a:bodyPr>
          <a:lstStyle/>
          <a:p>
            <a:pPr marL="12700">
              <a:lnSpc>
                <a:spcPts val="1070"/>
              </a:lnSpc>
            </a:pPr>
            <a:r>
              <a:rPr sz="1000" dirty="0">
                <a:solidFill>
                  <a:srgbClr val="888888"/>
                </a:solidFill>
                <a:latin typeface="Arial MT"/>
                <a:cs typeface="Arial MT"/>
              </a:rPr>
              <a:t>5</a:t>
            </a:r>
            <a:endParaRPr sz="1000">
              <a:latin typeface="Arial MT"/>
              <a:cs typeface="Arial MT"/>
            </a:endParaRPr>
          </a:p>
        </p:txBody>
      </p:sp>
      <p:sp>
        <p:nvSpPr>
          <p:cNvPr id="9" name="TextBox 8">
            <a:extLst>
              <a:ext uri="{FF2B5EF4-FFF2-40B4-BE49-F238E27FC236}">
                <a16:creationId xmlns:a16="http://schemas.microsoft.com/office/drawing/2014/main" id="{E116B68C-1471-F9EE-82DD-AD43E8CBCAC6}"/>
              </a:ext>
            </a:extLst>
          </p:cNvPr>
          <p:cNvSpPr txBox="1"/>
          <p:nvPr/>
        </p:nvSpPr>
        <p:spPr>
          <a:xfrm>
            <a:off x="304800" y="838200"/>
            <a:ext cx="11711434" cy="470898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Data science is the study of data to </a:t>
            </a:r>
            <a:r>
              <a:rPr lang="en-US" sz="2000" dirty="0">
                <a:solidFill>
                  <a:srgbClr val="FF0000"/>
                </a:solidFill>
                <a:latin typeface="Times New Roman" panose="02020603050405020304" pitchFamily="18" charset="0"/>
                <a:cs typeface="Times New Roman" panose="02020603050405020304" pitchFamily="18" charset="0"/>
              </a:rPr>
              <a:t>extract meaningful insights for business and decision making</a:t>
            </a:r>
            <a:r>
              <a:rPr lang="en-US" sz="2000" dirty="0">
                <a:latin typeface="Times New Roman" panose="02020603050405020304" pitchFamily="18" charset="0"/>
                <a:cs typeface="Times New Roman" panose="02020603050405020304" pitchFamily="18" charset="0"/>
              </a:rPr>
              <a:t>. It is a multidisciplinary approach that </a:t>
            </a:r>
            <a:r>
              <a:rPr lang="en-US" sz="2000" dirty="0">
                <a:solidFill>
                  <a:srgbClr val="FF0000"/>
                </a:solidFill>
                <a:latin typeface="Times New Roman" panose="02020603050405020304" pitchFamily="18" charset="0"/>
                <a:cs typeface="Times New Roman" panose="02020603050405020304" pitchFamily="18" charset="0"/>
              </a:rPr>
              <a:t>combines</a:t>
            </a:r>
            <a:r>
              <a:rPr lang="en-US" sz="2000" dirty="0">
                <a:latin typeface="Times New Roman" panose="02020603050405020304" pitchFamily="18" charset="0"/>
                <a:cs typeface="Times New Roman" panose="02020603050405020304" pitchFamily="18" charset="0"/>
              </a:rPr>
              <a:t> principles and practices from the </a:t>
            </a:r>
            <a:r>
              <a:rPr lang="en-US" sz="2000" dirty="0">
                <a:solidFill>
                  <a:srgbClr val="FF0000"/>
                </a:solidFill>
                <a:latin typeface="Times New Roman" panose="02020603050405020304" pitchFamily="18" charset="0"/>
                <a:cs typeface="Times New Roman" panose="02020603050405020304" pitchFamily="18" charset="0"/>
              </a:rPr>
              <a:t>fields of mathematics, statistics, artificial intelligence, </a:t>
            </a:r>
            <a:r>
              <a:rPr lang="en-IN" sz="2000" dirty="0">
                <a:latin typeface="Times New Roman" panose="02020603050405020304" pitchFamily="18" charset="0"/>
                <a:cs typeface="Times New Roman" panose="02020603050405020304" pitchFamily="18" charset="0"/>
              </a:rPr>
              <a:t>machine learning, visualization </a:t>
            </a:r>
            <a:r>
              <a:rPr lang="en-US" sz="2000" dirty="0">
                <a:solidFill>
                  <a:srgbClr val="FF0000"/>
                </a:solidFill>
                <a:latin typeface="Times New Roman" panose="02020603050405020304" pitchFamily="18" charset="0"/>
                <a:cs typeface="Times New Roman" panose="02020603050405020304" pitchFamily="18" charset="0"/>
              </a:rPr>
              <a:t>and computer engineering</a:t>
            </a:r>
            <a:r>
              <a:rPr lang="en-US" sz="2000" dirty="0">
                <a:latin typeface="Times New Roman" panose="02020603050405020304" pitchFamily="18" charset="0"/>
                <a:cs typeface="Times New Roman" panose="02020603050405020304" pitchFamily="18" charset="0"/>
              </a:rPr>
              <a:t> to </a:t>
            </a:r>
            <a:r>
              <a:rPr lang="en-US" sz="2000" dirty="0">
                <a:solidFill>
                  <a:srgbClr val="FF0000"/>
                </a:solidFill>
                <a:latin typeface="Times New Roman" panose="02020603050405020304" pitchFamily="18" charset="0"/>
                <a:cs typeface="Times New Roman" panose="02020603050405020304" pitchFamily="18" charset="0"/>
              </a:rPr>
              <a:t>analyze large </a:t>
            </a:r>
            <a:r>
              <a:rPr lang="en-US" sz="2000" dirty="0">
                <a:latin typeface="Times New Roman" panose="02020603050405020304" pitchFamily="18" charset="0"/>
                <a:cs typeface="Times New Roman" panose="02020603050405020304" pitchFamily="18" charset="0"/>
              </a:rPr>
              <a:t>amounts of </a:t>
            </a:r>
            <a:r>
              <a:rPr lang="en-US" sz="2000" dirty="0">
                <a:solidFill>
                  <a:srgbClr val="FF0000"/>
                </a:solidFill>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It combines:</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Statistics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Mathematics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Computer Science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Artificial Intelligence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Domain Knowledge </a:t>
            </a:r>
          </a:p>
          <a:p>
            <a:pPr algn="just"/>
            <a:r>
              <a:rPr lang="en-US" sz="2000" dirty="0">
                <a:latin typeface="Times New Roman" panose="02020603050405020304" pitchFamily="18" charset="0"/>
                <a:cs typeface="Times New Roman" panose="02020603050405020304" pitchFamily="18" charset="0"/>
              </a:rPr>
              <a:t>The primary objective of Data Science is to </a:t>
            </a:r>
            <a:r>
              <a:rPr lang="en-US" sz="2000" dirty="0">
                <a:solidFill>
                  <a:srgbClr val="FF0000"/>
                </a:solidFill>
                <a:latin typeface="Times New Roman" panose="02020603050405020304" pitchFamily="18" charset="0"/>
                <a:cs typeface="Times New Roman" panose="02020603050405020304" pitchFamily="18" charset="0"/>
              </a:rPr>
              <a:t>analyze data and transform</a:t>
            </a:r>
            <a:r>
              <a:rPr lang="en-US" sz="2000" dirty="0">
                <a:latin typeface="Times New Roman" panose="02020603050405020304" pitchFamily="18" charset="0"/>
                <a:cs typeface="Times New Roman" panose="02020603050405020304" pitchFamily="18" charset="0"/>
              </a:rPr>
              <a:t> it into meaningful information for decision-making.</a:t>
            </a:r>
          </a:p>
          <a:p>
            <a:pPr algn="just"/>
            <a:endParaRPr lang="en-IN" sz="2000" dirty="0">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DB0CD9C8-2251-D250-708A-6C12DFAC92E3}"/>
              </a:ext>
            </a:extLst>
          </p:cNvPr>
          <p:cNvSpPr/>
          <p:nvPr/>
        </p:nvSpPr>
        <p:spPr>
          <a:xfrm>
            <a:off x="2776024" y="2286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WHAT IS DATA SCIENCE?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8000" y="937260"/>
            <a:ext cx="11226800" cy="2832891"/>
          </a:xfrm>
          <a:prstGeom prst="rect">
            <a:avLst/>
          </a:prstGeom>
        </p:spPr>
        <p:txBody>
          <a:bodyPr vert="horz" wrap="square" lIns="0" tIns="2540" rIns="0" bIns="0" rtlCol="0">
            <a:spAutoFit/>
          </a:bodyPr>
          <a:lstStyle/>
          <a:p>
            <a:pPr marL="241300" marR="5080" indent="-228600" algn="just">
              <a:lnSpc>
                <a:spcPct val="120800"/>
              </a:lnSpc>
              <a:spcBef>
                <a:spcPts val="1025"/>
              </a:spcBef>
              <a:buClr>
                <a:srgbClr val="B71E42"/>
              </a:buClr>
              <a:buFontTx/>
              <a:buChar char="•"/>
              <a:tabLst>
                <a:tab pos="241300" algn="l"/>
              </a:tabLst>
            </a:pPr>
            <a:r>
              <a:rPr lang="en-US" sz="2000" dirty="0">
                <a:latin typeface="Times New Roman" panose="02020603050405020304" pitchFamily="18" charset="0"/>
                <a:cs typeface="Times New Roman" panose="02020603050405020304" pitchFamily="18" charset="0"/>
              </a:rPr>
              <a:t>Data science </a:t>
            </a:r>
            <a:r>
              <a:rPr lang="en-US" sz="2000" dirty="0">
                <a:solidFill>
                  <a:srgbClr val="FF0000"/>
                </a:solidFill>
                <a:latin typeface="Times New Roman" panose="02020603050405020304" pitchFamily="18" charset="0"/>
                <a:cs typeface="Times New Roman" panose="02020603050405020304" pitchFamily="18" charset="0"/>
              </a:rPr>
              <a:t>starts with data</a:t>
            </a:r>
            <a:r>
              <a:rPr lang="en-US" sz="2000" dirty="0">
                <a:latin typeface="Times New Roman" panose="02020603050405020304" pitchFamily="18" charset="0"/>
                <a:cs typeface="Times New Roman" panose="02020603050405020304" pitchFamily="18" charset="0"/>
              </a:rPr>
              <a:t>, which can range from a </a:t>
            </a:r>
            <a:r>
              <a:rPr lang="en-US" sz="2000" dirty="0">
                <a:solidFill>
                  <a:srgbClr val="FF0000"/>
                </a:solidFill>
                <a:latin typeface="Times New Roman" panose="02020603050405020304" pitchFamily="18" charset="0"/>
                <a:cs typeface="Times New Roman" panose="02020603050405020304" pitchFamily="18" charset="0"/>
              </a:rPr>
              <a:t>simple array</a:t>
            </a:r>
            <a:r>
              <a:rPr lang="en-US" sz="2000" dirty="0">
                <a:latin typeface="Times New Roman" panose="02020603050405020304" pitchFamily="18" charset="0"/>
                <a:cs typeface="Times New Roman" panose="02020603050405020304" pitchFamily="18" charset="0"/>
              </a:rPr>
              <a:t> of a few numeric observations </a:t>
            </a:r>
            <a:r>
              <a:rPr lang="en-US" sz="2000" dirty="0">
                <a:solidFill>
                  <a:srgbClr val="FF0000"/>
                </a:solidFill>
                <a:latin typeface="Times New Roman" panose="02020603050405020304" pitchFamily="18" charset="0"/>
                <a:cs typeface="Times New Roman" panose="02020603050405020304" pitchFamily="18" charset="0"/>
              </a:rPr>
              <a:t>to a complex </a:t>
            </a:r>
            <a:r>
              <a:rPr lang="en-US" sz="2000" dirty="0">
                <a:latin typeface="Times New Roman" panose="02020603050405020304" pitchFamily="18" charset="0"/>
                <a:cs typeface="Times New Roman" panose="02020603050405020304" pitchFamily="18" charset="0"/>
              </a:rPr>
              <a:t>matrix of </a:t>
            </a:r>
            <a:r>
              <a:rPr lang="en-US" sz="2000" dirty="0">
                <a:solidFill>
                  <a:srgbClr val="FF0000"/>
                </a:solidFill>
                <a:latin typeface="Times New Roman" panose="02020603050405020304" pitchFamily="18" charset="0"/>
                <a:cs typeface="Times New Roman" panose="02020603050405020304" pitchFamily="18" charset="0"/>
              </a:rPr>
              <a:t>millions of observations</a:t>
            </a:r>
            <a:r>
              <a:rPr lang="en-US" sz="2000" dirty="0">
                <a:latin typeface="Times New Roman" panose="02020603050405020304" pitchFamily="18" charset="0"/>
                <a:cs typeface="Times New Roman" panose="02020603050405020304" pitchFamily="18" charset="0"/>
              </a:rPr>
              <a:t> with thousands of </a:t>
            </a:r>
            <a:r>
              <a:rPr lang="en-US" sz="2000" dirty="0">
                <a:solidFill>
                  <a:srgbClr val="FF0000"/>
                </a:solidFill>
                <a:latin typeface="Times New Roman" panose="02020603050405020304" pitchFamily="18" charset="0"/>
                <a:cs typeface="Times New Roman" panose="02020603050405020304" pitchFamily="18" charset="0"/>
              </a:rPr>
              <a:t>variables</a:t>
            </a:r>
            <a:r>
              <a:rPr lang="en-US" sz="2000" dirty="0">
                <a:latin typeface="Times New Roman" panose="02020603050405020304" pitchFamily="18" charset="0"/>
                <a:cs typeface="Times New Roman" panose="02020603050405020304" pitchFamily="18" charset="0"/>
              </a:rPr>
              <a:t>. </a:t>
            </a:r>
          </a:p>
          <a:p>
            <a:pPr marL="241300" marR="5080" indent="-228600" algn="just">
              <a:lnSpc>
                <a:spcPct val="120800"/>
              </a:lnSpc>
              <a:spcBef>
                <a:spcPts val="1025"/>
              </a:spcBef>
              <a:buClr>
                <a:srgbClr val="B71E42"/>
              </a:buClr>
              <a:buFontTx/>
              <a:buChar char="•"/>
              <a:tabLst>
                <a:tab pos="241300" algn="l"/>
              </a:tabLst>
            </a:pPr>
            <a:r>
              <a:rPr lang="en-US" sz="2000" dirty="0">
                <a:latin typeface="Times New Roman" panose="02020603050405020304" pitchFamily="18" charset="0"/>
                <a:cs typeface="Times New Roman" panose="02020603050405020304" pitchFamily="18" charset="0"/>
              </a:rPr>
              <a:t>Data science </a:t>
            </a:r>
            <a:r>
              <a:rPr lang="en-US" sz="2000" dirty="0">
                <a:solidFill>
                  <a:srgbClr val="FF0000"/>
                </a:solidFill>
                <a:latin typeface="Times New Roman" panose="02020603050405020304" pitchFamily="18" charset="0"/>
                <a:cs typeface="Times New Roman" panose="02020603050405020304" pitchFamily="18" charset="0"/>
              </a:rPr>
              <a:t>utilizes</a:t>
            </a:r>
            <a:r>
              <a:rPr lang="en-US" sz="2000" dirty="0">
                <a:latin typeface="Times New Roman" panose="02020603050405020304" pitchFamily="18" charset="0"/>
                <a:cs typeface="Times New Roman" panose="02020603050405020304" pitchFamily="18" charset="0"/>
              </a:rPr>
              <a:t> certain </a:t>
            </a:r>
            <a:r>
              <a:rPr lang="en-US" sz="2000" dirty="0">
                <a:solidFill>
                  <a:srgbClr val="FF0000"/>
                </a:solidFill>
                <a:latin typeface="Times New Roman" panose="02020603050405020304" pitchFamily="18" charset="0"/>
                <a:cs typeface="Times New Roman" panose="02020603050405020304" pitchFamily="18" charset="0"/>
              </a:rPr>
              <a:t>specialized</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computational methods </a:t>
            </a:r>
            <a:r>
              <a:rPr lang="en-US" sz="2000" dirty="0">
                <a:latin typeface="Times New Roman" panose="02020603050405020304" pitchFamily="18" charset="0"/>
                <a:cs typeface="Times New Roman" panose="02020603050405020304" pitchFamily="18" charset="0"/>
              </a:rPr>
              <a:t>in order </a:t>
            </a:r>
            <a:r>
              <a:rPr lang="en-US" sz="2000" dirty="0">
                <a:solidFill>
                  <a:srgbClr val="FF0000"/>
                </a:solidFill>
                <a:latin typeface="Times New Roman" panose="02020603050405020304" pitchFamily="18" charset="0"/>
                <a:cs typeface="Times New Roman" panose="02020603050405020304" pitchFamily="18" charset="0"/>
              </a:rPr>
              <a:t>to discover meaningful and useful structures within a dataset</a:t>
            </a:r>
            <a:r>
              <a:rPr lang="en-US" sz="2000" dirty="0">
                <a:latin typeface="Times New Roman" panose="02020603050405020304" pitchFamily="18" charset="0"/>
                <a:cs typeface="Times New Roman" panose="02020603050405020304" pitchFamily="18" charset="0"/>
              </a:rPr>
              <a:t>.</a:t>
            </a:r>
          </a:p>
          <a:p>
            <a:pPr marL="241300" marR="5080" indent="-228600" algn="just">
              <a:lnSpc>
                <a:spcPct val="120800"/>
              </a:lnSpc>
              <a:spcBef>
                <a:spcPts val="1025"/>
              </a:spcBef>
              <a:buClr>
                <a:srgbClr val="B71E42"/>
              </a:buClr>
              <a:buFontTx/>
              <a:buChar char="•"/>
              <a:tabLst>
                <a:tab pos="241300" algn="l"/>
              </a:tabLst>
            </a:pPr>
            <a:r>
              <a:rPr lang="en-US" sz="2000" dirty="0">
                <a:latin typeface="Times New Roman" panose="02020603050405020304" pitchFamily="18" charset="0"/>
                <a:cs typeface="Times New Roman" panose="02020603050405020304" pitchFamily="18" charset="0"/>
              </a:rPr>
              <a:t>The discipline of data science </a:t>
            </a:r>
            <a:r>
              <a:rPr lang="en-US" sz="2000" dirty="0">
                <a:solidFill>
                  <a:srgbClr val="FF0000"/>
                </a:solidFill>
                <a:latin typeface="Times New Roman" panose="02020603050405020304" pitchFamily="18" charset="0"/>
                <a:cs typeface="Times New Roman" panose="02020603050405020304" pitchFamily="18" charset="0"/>
              </a:rPr>
              <a:t>coexists and is closely associated with </a:t>
            </a:r>
            <a:r>
              <a:rPr lang="en-US" sz="2000" dirty="0">
                <a:latin typeface="Times New Roman" panose="02020603050405020304" pitchFamily="18" charset="0"/>
                <a:cs typeface="Times New Roman" panose="02020603050405020304" pitchFamily="18" charset="0"/>
              </a:rPr>
              <a:t>a number of related areas such as </a:t>
            </a:r>
            <a:r>
              <a:rPr lang="en-US" sz="2000" dirty="0">
                <a:solidFill>
                  <a:srgbClr val="FF0000"/>
                </a:solidFill>
                <a:latin typeface="Times New Roman" panose="02020603050405020304" pitchFamily="18" charset="0"/>
                <a:cs typeface="Times New Roman" panose="02020603050405020304" pitchFamily="18" charset="0"/>
              </a:rPr>
              <a:t>database systems, data engineering, visualization, data analysis, experimentation, and business intelligence (BI). </a:t>
            </a:r>
          </a:p>
        </p:txBody>
      </p:sp>
      <p:sp>
        <p:nvSpPr>
          <p:cNvPr id="9" name="object 9"/>
          <p:cNvSpPr txBox="1"/>
          <p:nvPr/>
        </p:nvSpPr>
        <p:spPr>
          <a:xfrm>
            <a:off x="11919714" y="6523031"/>
            <a:ext cx="96520" cy="152400"/>
          </a:xfrm>
          <a:prstGeom prst="rect">
            <a:avLst/>
          </a:prstGeom>
        </p:spPr>
        <p:txBody>
          <a:bodyPr vert="horz" wrap="square" lIns="0" tIns="0" rIns="0" bIns="0" rtlCol="0">
            <a:spAutoFit/>
          </a:bodyPr>
          <a:lstStyle/>
          <a:p>
            <a:pPr marL="12700">
              <a:lnSpc>
                <a:spcPts val="1070"/>
              </a:lnSpc>
            </a:pPr>
            <a:r>
              <a:rPr sz="1000" dirty="0">
                <a:solidFill>
                  <a:srgbClr val="888888"/>
                </a:solidFill>
                <a:latin typeface="Arial MT"/>
                <a:cs typeface="Arial MT"/>
              </a:rPr>
              <a:t>5</a:t>
            </a:r>
            <a:endParaRPr sz="1000">
              <a:latin typeface="Arial MT"/>
              <a:cs typeface="Arial MT"/>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2895600" y="304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WHAT IS DATA SCIENCE?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914400"/>
            <a:ext cx="10445254" cy="4551945"/>
          </a:xfrm>
        </p:spPr>
        <p:txBody>
          <a:bodyPr>
            <a:normAutofit fontScale="92500" lnSpcReduction="10000"/>
          </a:bodyPr>
          <a:lstStyle/>
          <a:p>
            <a:pPr marL="0" indent="0">
              <a:buNone/>
            </a:pPr>
            <a:r>
              <a:rPr lang="en-US" sz="2200" b="1" dirty="0">
                <a:latin typeface="Times New Roman" panose="02020603050405020304" pitchFamily="18" charset="0"/>
                <a:cs typeface="Times New Roman" panose="02020603050405020304" pitchFamily="18" charset="0"/>
              </a:rPr>
              <a:t>Evolution of Data Science</a:t>
            </a:r>
          </a:p>
          <a:p>
            <a:r>
              <a:rPr lang="en-US" sz="2200" dirty="0">
                <a:latin typeface="Times New Roman" panose="02020603050405020304" pitchFamily="18" charset="0"/>
                <a:cs typeface="Times New Roman" panose="02020603050405020304" pitchFamily="18" charset="0"/>
              </a:rPr>
              <a:t>The evolution of Data Science occurred due to the rapid growth of digital data generated from:</a:t>
            </a:r>
          </a:p>
          <a:p>
            <a:r>
              <a:rPr lang="en-US" sz="2200" dirty="0">
                <a:latin typeface="Times New Roman" panose="02020603050405020304" pitchFamily="18" charset="0"/>
                <a:cs typeface="Times New Roman" panose="02020603050405020304" pitchFamily="18" charset="0"/>
              </a:rPr>
              <a:t>Social media </a:t>
            </a:r>
          </a:p>
          <a:p>
            <a:r>
              <a:rPr lang="en-US" sz="2200" dirty="0">
                <a:latin typeface="Times New Roman" panose="02020603050405020304" pitchFamily="18" charset="0"/>
                <a:cs typeface="Times New Roman" panose="02020603050405020304" pitchFamily="18" charset="0"/>
              </a:rPr>
              <a:t>IoT devices </a:t>
            </a:r>
          </a:p>
          <a:p>
            <a:r>
              <a:rPr lang="en-US" sz="2200" dirty="0">
                <a:latin typeface="Times New Roman" panose="02020603050405020304" pitchFamily="18" charset="0"/>
                <a:cs typeface="Times New Roman" panose="02020603050405020304" pitchFamily="18" charset="0"/>
              </a:rPr>
              <a:t>Banking systems </a:t>
            </a:r>
          </a:p>
          <a:p>
            <a:r>
              <a:rPr lang="en-US" sz="2200" dirty="0">
                <a:latin typeface="Times New Roman" panose="02020603050405020304" pitchFamily="18" charset="0"/>
                <a:cs typeface="Times New Roman" panose="02020603050405020304" pitchFamily="18" charset="0"/>
              </a:rPr>
              <a:t>Healthcare systems </a:t>
            </a:r>
          </a:p>
          <a:p>
            <a:r>
              <a:rPr lang="en-US" sz="2200" dirty="0">
                <a:latin typeface="Times New Roman" panose="02020603050405020304" pitchFamily="18" charset="0"/>
                <a:cs typeface="Times New Roman" panose="02020603050405020304" pitchFamily="18" charset="0"/>
              </a:rPr>
              <a:t>E-commerce platforms </a:t>
            </a:r>
          </a:p>
          <a:p>
            <a:r>
              <a:rPr lang="en-US" sz="2200" dirty="0">
                <a:latin typeface="Times New Roman" panose="02020603050405020304" pitchFamily="18" charset="0"/>
                <a:cs typeface="Times New Roman" panose="02020603050405020304" pitchFamily="18" charset="0"/>
              </a:rPr>
              <a:t>Cloud computing </a:t>
            </a:r>
          </a:p>
          <a:p>
            <a:r>
              <a:rPr lang="en-US" sz="2200" dirty="0">
                <a:latin typeface="Times New Roman" panose="02020603050405020304" pitchFamily="18" charset="0"/>
                <a:cs typeface="Times New Roman" panose="02020603050405020304" pitchFamily="18" charset="0"/>
              </a:rPr>
              <a:t>Traditional data processing methods became insufficient to handle large volumes of data, leading to the development of Data Science techniques.</a:t>
            </a:r>
          </a:p>
          <a:p>
            <a:endParaRPr lang="en-IN" dirty="0"/>
          </a:p>
        </p:txBody>
      </p:sp>
    </p:spTree>
    <p:extLst>
      <p:ext uri="{BB962C8B-B14F-4D97-AF65-F5344CB8AC3E}">
        <p14:creationId xmlns:p14="http://schemas.microsoft.com/office/powerpoint/2010/main" val="293737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990600"/>
            <a:ext cx="10134600" cy="4953000"/>
          </a:xfrm>
        </p:spPr>
        <p:txBody>
          <a:bodyPr>
            <a:noAutofit/>
          </a:bodyPr>
          <a:lstStyle/>
          <a:p>
            <a:pPr algn="just"/>
            <a:r>
              <a:rPr lang="en-US" dirty="0">
                <a:latin typeface="Times New Roman" panose="02020603050405020304" pitchFamily="18" charset="0"/>
                <a:cs typeface="Times New Roman" panose="02020603050405020304" pitchFamily="18" charset="0"/>
              </a:rPr>
              <a:t>In the modern digital world, enormous amounts of data are generated every second from:</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Social media platforms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Banking systems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Healthcare systems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Online shopping websites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Mobile applications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IoT devices </a:t>
            </a:r>
          </a:p>
          <a:p>
            <a:pPr algn="just"/>
            <a:r>
              <a:rPr lang="en-US" dirty="0">
                <a:latin typeface="Times New Roman" panose="02020603050405020304" pitchFamily="18" charset="0"/>
                <a:cs typeface="Times New Roman" panose="02020603050405020304" pitchFamily="18" charset="0"/>
              </a:rPr>
              <a:t>This data is called Big Data. Traditional data processing methods cannot efficiently handle such huge volumes of data. Therefore, Data Science has become essential for extracting meaningful insights and making intelligent decisions.</a:t>
            </a:r>
          </a:p>
        </p:txBody>
      </p:sp>
      <p:sp>
        <p:nvSpPr>
          <p:cNvPr id="4" name="Rounded Rectangle 17">
            <a:extLst>
              <a:ext uri="{FF2B5EF4-FFF2-40B4-BE49-F238E27FC236}">
                <a16:creationId xmlns:a16="http://schemas.microsoft.com/office/drawing/2014/main" id="{C872C3B7-119E-6F9C-1ACB-E81F2C34BB0E}"/>
              </a:ext>
            </a:extLst>
          </p:cNvPr>
          <p:cNvSpPr/>
          <p:nvPr/>
        </p:nvSpPr>
        <p:spPr>
          <a:xfrm>
            <a:off x="2895600" y="304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NEED FOR DATA SCIENCE</a:t>
            </a:r>
          </a:p>
        </p:txBody>
      </p:sp>
    </p:spTree>
    <p:extLst>
      <p:ext uri="{BB962C8B-B14F-4D97-AF65-F5344CB8AC3E}">
        <p14:creationId xmlns:p14="http://schemas.microsoft.com/office/powerpoint/2010/main" val="3672761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430000" cy="5029200"/>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organizations  generate huge amounts of data daily and Data Science helps to :</a:t>
            </a:r>
          </a:p>
          <a:p>
            <a:pPr algn="just"/>
            <a:r>
              <a:rPr lang="en-US" dirty="0">
                <a:latin typeface="Times New Roman" panose="02020603050405020304" pitchFamily="18" charset="0"/>
                <a:cs typeface="Times New Roman" panose="02020603050405020304" pitchFamily="18" charset="0"/>
              </a:rPr>
              <a:t>Analyze data </a:t>
            </a:r>
          </a:p>
          <a:p>
            <a:pPr algn="just"/>
            <a:r>
              <a:rPr lang="en-US" dirty="0">
                <a:latin typeface="Times New Roman" panose="02020603050405020304" pitchFamily="18" charset="0"/>
                <a:cs typeface="Times New Roman" panose="02020603050405020304" pitchFamily="18" charset="0"/>
              </a:rPr>
              <a:t>Predict future outcomes </a:t>
            </a:r>
          </a:p>
          <a:p>
            <a:pPr algn="just"/>
            <a:r>
              <a:rPr lang="en-US" dirty="0">
                <a:latin typeface="Times New Roman" panose="02020603050405020304" pitchFamily="18" charset="0"/>
                <a:cs typeface="Times New Roman" panose="02020603050405020304" pitchFamily="18" charset="0"/>
              </a:rPr>
              <a:t>Improve business performance </a:t>
            </a:r>
          </a:p>
          <a:p>
            <a:pPr algn="just"/>
            <a:r>
              <a:rPr lang="en-US" dirty="0">
                <a:latin typeface="Times New Roman" panose="02020603050405020304" pitchFamily="18" charset="0"/>
                <a:cs typeface="Times New Roman" panose="02020603050405020304" pitchFamily="18" charset="0"/>
              </a:rPr>
              <a:t>Automate processes </a:t>
            </a:r>
          </a:p>
          <a:p>
            <a:pPr algn="just"/>
            <a:r>
              <a:rPr lang="en-US" dirty="0">
                <a:latin typeface="Times New Roman" panose="02020603050405020304" pitchFamily="18" charset="0"/>
                <a:cs typeface="Times New Roman" panose="02020603050405020304" pitchFamily="18" charset="0"/>
              </a:rPr>
              <a:t>Solve real-world problems</a:t>
            </a:r>
          </a:p>
          <a:p>
            <a:r>
              <a:rPr lang="en-US" dirty="0">
                <a:latin typeface="Times New Roman" panose="02020603050405020304" pitchFamily="18" charset="0"/>
                <a:cs typeface="Times New Roman" panose="02020603050405020304" pitchFamily="18" charset="0"/>
              </a:rPr>
              <a:t>Managing large datasets </a:t>
            </a:r>
          </a:p>
          <a:p>
            <a:r>
              <a:rPr lang="en-US" dirty="0">
                <a:latin typeface="Times New Roman" panose="02020603050405020304" pitchFamily="18" charset="0"/>
                <a:cs typeface="Times New Roman" panose="02020603050405020304" pitchFamily="18" charset="0"/>
              </a:rPr>
              <a:t>Discovering hidden patterns </a:t>
            </a:r>
          </a:p>
          <a:p>
            <a:r>
              <a:rPr lang="en-US" dirty="0">
                <a:latin typeface="Times New Roman" panose="02020603050405020304" pitchFamily="18" charset="0"/>
                <a:cs typeface="Times New Roman" panose="02020603050405020304" pitchFamily="18" charset="0"/>
              </a:rPr>
              <a:t>Automating intelligent systems</a:t>
            </a:r>
          </a:p>
          <a:p>
            <a:pPr marL="0" indent="0">
              <a:buNone/>
            </a:pPr>
            <a:r>
              <a:rPr lang="en-US" b="1"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Netflix uses Data Science to recommend movies based on user preferences.</a:t>
            </a:r>
          </a:p>
          <a:p>
            <a:r>
              <a:rPr lang="en-US" dirty="0">
                <a:latin typeface="Times New Roman" panose="02020603050405020304" pitchFamily="18" charset="0"/>
                <a:cs typeface="Times New Roman" panose="02020603050405020304" pitchFamily="18" charset="0"/>
              </a:rPr>
              <a:t>Amazon uses Data Science for product recommendations and demand forecasting.</a:t>
            </a: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52760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11353799" cy="5181600"/>
          </a:xfrm>
        </p:spPr>
        <p:txBody>
          <a:bodyPr numCol="3">
            <a:noAutofit/>
          </a:bodyPr>
          <a:lstStyle/>
          <a:p>
            <a:pPr marL="0" indent="0">
              <a:buNone/>
            </a:pPr>
            <a:r>
              <a:rPr lang="en-IN" sz="2400" dirty="0">
                <a:latin typeface="Times New Roman" panose="02020603050405020304" pitchFamily="18" charset="0"/>
                <a:cs typeface="Times New Roman" panose="02020603050405020304" pitchFamily="18" charset="0"/>
              </a:rPr>
              <a:t>1. </a:t>
            </a:r>
            <a:r>
              <a:rPr lang="en-IN" sz="2400" b="1" dirty="0">
                <a:latin typeface="Times New Roman" panose="02020603050405020304" pitchFamily="18" charset="0"/>
                <a:cs typeface="Times New Roman" panose="02020603050405020304" pitchFamily="18" charset="0"/>
              </a:rPr>
              <a:t>Statistics</a:t>
            </a:r>
            <a:r>
              <a:rPr lang="en-IN" sz="2400" dirty="0">
                <a:latin typeface="Times New Roman" panose="02020603050405020304" pitchFamily="18" charset="0"/>
                <a:cs typeface="Times New Roman" panose="02020603050405020304" pitchFamily="18" charset="0"/>
              </a:rPr>
              <a:t>: Used for:</a:t>
            </a:r>
          </a:p>
          <a:p>
            <a:r>
              <a:rPr lang="en-IN" sz="2400" dirty="0">
                <a:latin typeface="Times New Roman" panose="02020603050405020304" pitchFamily="18" charset="0"/>
                <a:cs typeface="Times New Roman" panose="02020603050405020304" pitchFamily="18" charset="0"/>
              </a:rPr>
              <a:t>Data analysis </a:t>
            </a:r>
          </a:p>
          <a:p>
            <a:r>
              <a:rPr lang="en-IN" sz="2400" dirty="0">
                <a:latin typeface="Times New Roman" panose="02020603050405020304" pitchFamily="18" charset="0"/>
                <a:cs typeface="Times New Roman" panose="02020603050405020304" pitchFamily="18" charset="0"/>
              </a:rPr>
              <a:t>Probability calculations </a:t>
            </a:r>
          </a:p>
          <a:p>
            <a:r>
              <a:rPr lang="en-IN" sz="2400" dirty="0">
                <a:latin typeface="Times New Roman" panose="02020603050405020304" pitchFamily="18" charset="0"/>
                <a:cs typeface="Times New Roman" panose="02020603050405020304" pitchFamily="18" charset="0"/>
              </a:rPr>
              <a:t>Hypothesis testing </a:t>
            </a:r>
          </a:p>
          <a:p>
            <a:r>
              <a:rPr lang="en-IN" sz="2400" dirty="0">
                <a:latin typeface="Times New Roman" panose="02020603050405020304" pitchFamily="18" charset="0"/>
                <a:cs typeface="Times New Roman" panose="02020603050405020304" pitchFamily="18" charset="0"/>
              </a:rPr>
              <a:t>Prediction </a:t>
            </a:r>
          </a:p>
          <a:p>
            <a:pPr marL="0" indent="0">
              <a:buNone/>
            </a:pPr>
            <a:r>
              <a:rPr lang="en-IN" sz="2400" dirty="0">
                <a:latin typeface="Times New Roman" panose="02020603050405020304" pitchFamily="18" charset="0"/>
                <a:cs typeface="Times New Roman" panose="02020603050405020304" pitchFamily="18" charset="0"/>
              </a:rPr>
              <a:t>2. </a:t>
            </a:r>
            <a:r>
              <a:rPr lang="en-IN" sz="2400" b="1" dirty="0">
                <a:latin typeface="Times New Roman" panose="02020603050405020304" pitchFamily="18" charset="0"/>
                <a:cs typeface="Times New Roman" panose="02020603050405020304" pitchFamily="18" charset="0"/>
              </a:rPr>
              <a:t>Mathematics</a:t>
            </a:r>
            <a:r>
              <a:rPr lang="en-IN" sz="2400" dirty="0">
                <a:latin typeface="Times New Roman" panose="02020603050405020304" pitchFamily="18" charset="0"/>
                <a:cs typeface="Times New Roman" panose="02020603050405020304" pitchFamily="18" charset="0"/>
              </a:rPr>
              <a:t> Includes:</a:t>
            </a:r>
          </a:p>
          <a:p>
            <a:r>
              <a:rPr lang="en-IN" sz="2400" dirty="0">
                <a:latin typeface="Times New Roman" panose="02020603050405020304" pitchFamily="18" charset="0"/>
                <a:cs typeface="Times New Roman" panose="02020603050405020304" pitchFamily="18" charset="0"/>
              </a:rPr>
              <a:t>Linear algebra </a:t>
            </a:r>
          </a:p>
          <a:p>
            <a:r>
              <a:rPr lang="en-IN" sz="2400" dirty="0">
                <a:latin typeface="Times New Roman" panose="02020603050405020304" pitchFamily="18" charset="0"/>
                <a:cs typeface="Times New Roman" panose="02020603050405020304" pitchFamily="18" charset="0"/>
              </a:rPr>
              <a:t>Calculus </a:t>
            </a:r>
          </a:p>
          <a:p>
            <a:r>
              <a:rPr lang="en-IN" sz="2400" dirty="0">
                <a:latin typeface="Times New Roman" panose="02020603050405020304" pitchFamily="18" charset="0"/>
                <a:cs typeface="Times New Roman" panose="02020603050405020304" pitchFamily="18" charset="0"/>
              </a:rPr>
              <a:t>Probability theory </a:t>
            </a:r>
          </a:p>
          <a:p>
            <a:pPr marL="0" indent="0">
              <a:buNone/>
            </a:pPr>
            <a:r>
              <a:rPr lang="en-IN" sz="2400"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Programming</a:t>
            </a:r>
          </a:p>
          <a:p>
            <a:pPr marL="0" indent="0">
              <a:buNone/>
            </a:pPr>
            <a:r>
              <a:rPr lang="en-IN" sz="2400" dirty="0">
                <a:latin typeface="Times New Roman" panose="02020603050405020304" pitchFamily="18" charset="0"/>
                <a:cs typeface="Times New Roman" panose="02020603050405020304" pitchFamily="18" charset="0"/>
              </a:rPr>
              <a:t>Languages commonly used:</a:t>
            </a:r>
          </a:p>
          <a:p>
            <a:r>
              <a:rPr lang="en-IN" sz="2400" dirty="0">
                <a:latin typeface="Times New Roman" panose="02020603050405020304" pitchFamily="18" charset="0"/>
                <a:cs typeface="Times New Roman" panose="02020603050405020304" pitchFamily="18" charset="0"/>
              </a:rPr>
              <a:t>Python </a:t>
            </a:r>
          </a:p>
          <a:p>
            <a:r>
              <a:rPr lang="en-IN" sz="2400" dirty="0">
                <a:latin typeface="Times New Roman" panose="02020603050405020304" pitchFamily="18" charset="0"/>
                <a:cs typeface="Times New Roman" panose="02020603050405020304" pitchFamily="18" charset="0"/>
              </a:rPr>
              <a:t>R </a:t>
            </a:r>
          </a:p>
          <a:p>
            <a:r>
              <a:rPr lang="en-IN" sz="2400" dirty="0">
                <a:latin typeface="Times New Roman" panose="02020603050405020304" pitchFamily="18" charset="0"/>
                <a:cs typeface="Times New Roman" panose="02020603050405020304" pitchFamily="18" charset="0"/>
              </a:rPr>
              <a:t>SQL </a:t>
            </a:r>
          </a:p>
          <a:p>
            <a:r>
              <a:rPr lang="en-IN" sz="2400" dirty="0">
                <a:latin typeface="Times New Roman" panose="02020603050405020304" pitchFamily="18" charset="0"/>
                <a:cs typeface="Times New Roman" panose="02020603050405020304" pitchFamily="18" charset="0"/>
              </a:rPr>
              <a:t>Java </a:t>
            </a:r>
          </a:p>
          <a:p>
            <a:pPr marL="0" indent="0">
              <a:buNone/>
            </a:pPr>
            <a:r>
              <a:rPr lang="en-IN" sz="2400" dirty="0">
                <a:latin typeface="Times New Roman" panose="02020603050405020304" pitchFamily="18" charset="0"/>
                <a:cs typeface="Times New Roman" panose="02020603050405020304" pitchFamily="18" charset="0"/>
              </a:rPr>
              <a:t>4. </a:t>
            </a:r>
            <a:r>
              <a:rPr lang="en-IN" sz="2400" b="1" dirty="0">
                <a:latin typeface="Times New Roman" panose="02020603050405020304" pitchFamily="18" charset="0"/>
                <a:cs typeface="Times New Roman" panose="02020603050405020304" pitchFamily="18" charset="0"/>
              </a:rPr>
              <a:t>Machine Learning</a:t>
            </a:r>
          </a:p>
          <a:p>
            <a:r>
              <a:rPr lang="en-IN" sz="2400" dirty="0">
                <a:latin typeface="Times New Roman" panose="02020603050405020304" pitchFamily="18" charset="0"/>
                <a:cs typeface="Times New Roman" panose="02020603050405020304" pitchFamily="18" charset="0"/>
              </a:rPr>
              <a:t>Allows systems to learn from data automatically.</a:t>
            </a:r>
          </a:p>
          <a:p>
            <a:pPr marL="0" indent="0">
              <a:buNone/>
            </a:pPr>
            <a:r>
              <a:rPr lang="en-IN" sz="2400" dirty="0">
                <a:latin typeface="Times New Roman" panose="02020603050405020304" pitchFamily="18" charset="0"/>
                <a:cs typeface="Times New Roman" panose="02020603050405020304" pitchFamily="18" charset="0"/>
              </a:rPr>
              <a:t>5. </a:t>
            </a:r>
            <a:r>
              <a:rPr lang="en-IN" sz="2400" b="1" dirty="0">
                <a:latin typeface="Times New Roman" panose="02020603050405020304" pitchFamily="18" charset="0"/>
                <a:cs typeface="Times New Roman" panose="02020603050405020304" pitchFamily="18" charset="0"/>
              </a:rPr>
              <a:t>Data Visualization</a:t>
            </a:r>
          </a:p>
          <a:p>
            <a:pPr marL="0" indent="0">
              <a:buNone/>
            </a:pPr>
            <a:r>
              <a:rPr lang="en-IN" sz="2400" dirty="0">
                <a:latin typeface="Times New Roman" panose="02020603050405020304" pitchFamily="18" charset="0"/>
                <a:cs typeface="Times New Roman" panose="02020603050405020304" pitchFamily="18" charset="0"/>
              </a:rPr>
              <a:t>Represents data using:</a:t>
            </a:r>
          </a:p>
          <a:p>
            <a:r>
              <a:rPr lang="en-IN" sz="2400" dirty="0">
                <a:latin typeface="Times New Roman" panose="02020603050405020304" pitchFamily="18" charset="0"/>
                <a:cs typeface="Times New Roman" panose="02020603050405020304" pitchFamily="18" charset="0"/>
              </a:rPr>
              <a:t>Charts </a:t>
            </a:r>
          </a:p>
          <a:p>
            <a:r>
              <a:rPr lang="en-IN" sz="2400" dirty="0">
                <a:latin typeface="Times New Roman" panose="02020603050405020304" pitchFamily="18" charset="0"/>
                <a:cs typeface="Times New Roman" panose="02020603050405020304" pitchFamily="18" charset="0"/>
              </a:rPr>
              <a:t>Graphs </a:t>
            </a:r>
          </a:p>
          <a:p>
            <a:r>
              <a:rPr lang="en-IN" sz="2400" dirty="0">
                <a:latin typeface="Times New Roman" panose="02020603050405020304" pitchFamily="18" charset="0"/>
                <a:cs typeface="Times New Roman" panose="02020603050405020304" pitchFamily="18" charset="0"/>
              </a:rPr>
              <a:t>Dashboards </a:t>
            </a:r>
          </a:p>
          <a:p>
            <a:pPr marL="0" indent="0">
              <a:buNone/>
            </a:pPr>
            <a:r>
              <a:rPr lang="en-IN" sz="2400" dirty="0">
                <a:latin typeface="Times New Roman" panose="02020603050405020304" pitchFamily="18" charset="0"/>
                <a:cs typeface="Times New Roman" panose="02020603050405020304" pitchFamily="18" charset="0"/>
              </a:rPr>
              <a:t>6. </a:t>
            </a:r>
            <a:r>
              <a:rPr lang="en-IN" sz="2400" b="1" dirty="0">
                <a:latin typeface="Times New Roman" panose="02020603050405020304" pitchFamily="18" charset="0"/>
                <a:cs typeface="Times New Roman" panose="02020603050405020304" pitchFamily="18" charset="0"/>
              </a:rPr>
              <a:t>Domain Expertise</a:t>
            </a:r>
          </a:p>
          <a:p>
            <a:r>
              <a:rPr lang="en-IN" sz="2400" dirty="0">
                <a:latin typeface="Times New Roman" panose="02020603050405020304" pitchFamily="18" charset="0"/>
                <a:cs typeface="Times New Roman" panose="02020603050405020304" pitchFamily="18" charset="0"/>
              </a:rPr>
              <a:t>Understanding the application area is essential</a:t>
            </a:r>
          </a:p>
          <a:p>
            <a:endParaRPr lang="en-IN" sz="2400"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2895600" y="304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MAJOR COMPONENTS OF DATA SCIENCE</a:t>
            </a:r>
          </a:p>
        </p:txBody>
      </p:sp>
    </p:spTree>
    <p:extLst>
      <p:ext uri="{BB962C8B-B14F-4D97-AF65-F5344CB8AC3E}">
        <p14:creationId xmlns:p14="http://schemas.microsoft.com/office/powerpoint/2010/main" val="1956178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990600"/>
            <a:ext cx="10134600" cy="49530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scope of Data Science is continuously expanding across multiple industries. It helps organizations:</a:t>
            </a:r>
          </a:p>
          <a:p>
            <a:r>
              <a:rPr lang="en-US" sz="2400" dirty="0">
                <a:latin typeface="Times New Roman" panose="02020603050405020304" pitchFamily="18" charset="0"/>
                <a:cs typeface="Times New Roman" panose="02020603050405020304" pitchFamily="18" charset="0"/>
              </a:rPr>
              <a:t>Improve decision-making </a:t>
            </a:r>
          </a:p>
          <a:p>
            <a:r>
              <a:rPr lang="en-US" sz="2400" dirty="0">
                <a:latin typeface="Times New Roman" panose="02020603050405020304" pitchFamily="18" charset="0"/>
                <a:cs typeface="Times New Roman" panose="02020603050405020304" pitchFamily="18" charset="0"/>
              </a:rPr>
              <a:t>Automate processes </a:t>
            </a:r>
          </a:p>
          <a:p>
            <a:r>
              <a:rPr lang="en-US" sz="2400" dirty="0">
                <a:latin typeface="Times New Roman" panose="02020603050405020304" pitchFamily="18" charset="0"/>
                <a:cs typeface="Times New Roman" panose="02020603050405020304" pitchFamily="18" charset="0"/>
              </a:rPr>
              <a:t>Predict future outcomes </a:t>
            </a:r>
          </a:p>
          <a:p>
            <a:r>
              <a:rPr lang="en-US" sz="2400" dirty="0">
                <a:latin typeface="Times New Roman" panose="02020603050405020304" pitchFamily="18" charset="0"/>
                <a:cs typeface="Times New Roman" panose="02020603050405020304" pitchFamily="18" charset="0"/>
              </a:rPr>
              <a:t>Enhance efficiency </a:t>
            </a:r>
          </a:p>
          <a:p>
            <a:r>
              <a:rPr lang="en-US" sz="2400" dirty="0">
                <a:latin typeface="Times New Roman" panose="02020603050405020304" pitchFamily="18" charset="0"/>
                <a:cs typeface="Times New Roman" panose="02020603050405020304" pitchFamily="18" charset="0"/>
              </a:rPr>
              <a:t>Deliver personalized services </a:t>
            </a:r>
          </a:p>
          <a:p>
            <a:r>
              <a:rPr lang="en-US" sz="2400" dirty="0">
                <a:latin typeface="Times New Roman" panose="02020603050405020304" pitchFamily="18" charset="0"/>
                <a:cs typeface="Times New Roman" panose="02020603050405020304" pitchFamily="18" charset="0"/>
              </a:rPr>
              <a:t>Data Science will continue to play a critical role in solving real-world problems and driving innovation.</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2895600" y="304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SCOPE FOR DATA SCIENCE</a:t>
            </a:r>
          </a:p>
        </p:txBody>
      </p:sp>
    </p:spTree>
    <p:extLst>
      <p:ext uri="{BB962C8B-B14F-4D97-AF65-F5344CB8AC3E}">
        <p14:creationId xmlns:p14="http://schemas.microsoft.com/office/powerpoint/2010/main" val="206847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048999" cy="49530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Healthcare :</a:t>
            </a:r>
            <a:r>
              <a:rPr lang="en-US" dirty="0">
                <a:latin typeface="Times New Roman" panose="02020603050405020304" pitchFamily="18" charset="0"/>
                <a:cs typeface="Times New Roman" panose="02020603050405020304" pitchFamily="18" charset="0"/>
              </a:rPr>
              <a:t> Hospitals and healthcare organizations use large amounts of patient data to make accurate decisions and improve patient care.</a:t>
            </a:r>
          </a:p>
          <a:p>
            <a:r>
              <a:rPr lang="en-US" u="sng" dirty="0">
                <a:latin typeface="Times New Roman" panose="02020603050405020304" pitchFamily="18" charset="0"/>
                <a:cs typeface="Times New Roman" panose="02020603050405020304" pitchFamily="18" charset="0"/>
              </a:rPr>
              <a:t>Applications:</a:t>
            </a:r>
          </a:p>
          <a:p>
            <a:r>
              <a:rPr lang="en-US" dirty="0">
                <a:latin typeface="Times New Roman" panose="02020603050405020304" pitchFamily="18" charset="0"/>
                <a:cs typeface="Times New Roman" panose="02020603050405020304" pitchFamily="18" charset="0"/>
              </a:rPr>
              <a:t>Disease prediction - predict diseases before they become severe.</a:t>
            </a:r>
          </a:p>
          <a:p>
            <a:r>
              <a:rPr lang="en-US" dirty="0">
                <a:latin typeface="Times New Roman" panose="02020603050405020304" pitchFamily="18" charset="0"/>
                <a:cs typeface="Times New Roman" panose="02020603050405020304" pitchFamily="18" charset="0"/>
              </a:rPr>
              <a:t>Medical image analysis - identify abnormalities quickly and accurately using medical images such as X-Rays, MRI scans,  CT scans</a:t>
            </a:r>
          </a:p>
          <a:p>
            <a:r>
              <a:rPr lang="en-US" dirty="0">
                <a:latin typeface="Times New Roman" panose="02020603050405020304" pitchFamily="18" charset="0"/>
                <a:cs typeface="Times New Roman" panose="02020603050405020304" pitchFamily="18" charset="0"/>
              </a:rPr>
              <a:t>Drug discovery  - pharmaceutical companies analyze chemical compounds and biological data to develop new medicines faster. </a:t>
            </a:r>
          </a:p>
          <a:p>
            <a:r>
              <a:rPr lang="en-US" u="sng"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COVID-19 pandemic, Data Science techniques were used to identify vaccine candidates and predict drug effectiveness.</a:t>
            </a:r>
          </a:p>
          <a:p>
            <a:endParaRPr lang="en-IN" dirty="0"/>
          </a:p>
        </p:txBody>
      </p:sp>
    </p:spTree>
    <p:extLst>
      <p:ext uri="{BB962C8B-B14F-4D97-AF65-F5344CB8AC3E}">
        <p14:creationId xmlns:p14="http://schemas.microsoft.com/office/powerpoint/2010/main" val="1622391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277600" cy="4953000"/>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Electronic Health Records (EHR) – Maintaining digital records of patient such as medical history, prescriptions, test reports, diagnoses.</a:t>
            </a:r>
          </a:p>
          <a:p>
            <a:r>
              <a:rPr lang="en-US" u="sng"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 Doctors can access patient history instantly and provide personalized treatment recommendations.</a:t>
            </a:r>
          </a:p>
          <a:p>
            <a:r>
              <a:rPr lang="en-US" dirty="0">
                <a:latin typeface="Times New Roman" panose="02020603050405020304" pitchFamily="18" charset="0"/>
                <a:cs typeface="Times New Roman" panose="02020603050405020304" pitchFamily="18" charset="0"/>
              </a:rPr>
              <a:t>AI systems predict diseases like cancer using patient data.</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Banking and Finance: </a:t>
            </a:r>
            <a:r>
              <a:rPr lang="en-US" sz="2100" dirty="0">
                <a:latin typeface="Times New Roman" panose="02020603050405020304" pitchFamily="18" charset="0"/>
                <a:cs typeface="Times New Roman" panose="02020603050405020304" pitchFamily="18" charset="0"/>
              </a:rPr>
              <a:t>improve security, customer service, and financial decision-making.</a:t>
            </a:r>
          </a:p>
          <a:p>
            <a:pPr>
              <a:lnSpc>
                <a:spcPct val="140000"/>
              </a:lnSpc>
            </a:pPr>
            <a:r>
              <a:rPr lang="en-US" sz="2200" u="sng" dirty="0">
                <a:latin typeface="Times New Roman" panose="02020603050405020304" pitchFamily="18" charset="0"/>
                <a:cs typeface="Times New Roman" panose="02020603050405020304" pitchFamily="18" charset="0"/>
              </a:rPr>
              <a:t>Applications:</a:t>
            </a:r>
          </a:p>
          <a:p>
            <a:pPr algn="just"/>
            <a:r>
              <a:rPr lang="en-US" dirty="0">
                <a:latin typeface="Times New Roman" panose="02020603050405020304" pitchFamily="18" charset="0"/>
                <a:cs typeface="Times New Roman" panose="02020603050405020304" pitchFamily="18" charset="0"/>
              </a:rPr>
              <a:t>Fraud detection - monitor financial transactions and identify suspicious activities.</a:t>
            </a:r>
          </a:p>
          <a:p>
            <a:pPr algn="just"/>
            <a:r>
              <a:rPr lang="en-US" dirty="0">
                <a:latin typeface="Times New Roman" panose="02020603050405020304" pitchFamily="18" charset="0"/>
                <a:cs typeface="Times New Roman" panose="02020603050405020304" pitchFamily="18" charset="0"/>
              </a:rPr>
              <a:t>Credit scoring - evaluates customer financial history to determine creditworthiness</a:t>
            </a:r>
          </a:p>
          <a:p>
            <a:pPr algn="just"/>
            <a:r>
              <a:rPr lang="en-US" dirty="0">
                <a:latin typeface="Times New Roman" panose="02020603050405020304" pitchFamily="18" charset="0"/>
                <a:cs typeface="Times New Roman" panose="02020603050405020304" pitchFamily="18" charset="0"/>
              </a:rPr>
              <a:t>Risk analysis - Financial institutions use predictive analytics to estimate investment risks and market fluctuations.</a:t>
            </a:r>
          </a:p>
          <a:p>
            <a:pPr algn="just"/>
            <a:r>
              <a:rPr lang="en-US" dirty="0">
                <a:latin typeface="Times New Roman" panose="02020603050405020304" pitchFamily="18" charset="0"/>
                <a:cs typeface="Times New Roman" panose="02020603050405020304" pitchFamily="18" charset="0"/>
              </a:rPr>
              <a:t>Stock market prediction - Historical stock market data is analyzed to forecast future price trends.</a:t>
            </a:r>
          </a:p>
          <a:p>
            <a:r>
              <a:rPr lang="en-US" sz="2200" u="sng"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Banks use machine learning to detect suspicious transactions.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89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201400" cy="4953000"/>
          </a:xfrm>
        </p:spPr>
        <p:txBody>
          <a:bodyPr>
            <a:normAutofit fontScale="92500" lnSpcReduction="10000"/>
          </a:bodyPr>
          <a:lstStyle/>
          <a:p>
            <a:pPr marL="0" indent="0">
              <a:lnSpc>
                <a:spcPct val="100000"/>
              </a:lnSpc>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E-Commerce:</a:t>
            </a:r>
            <a:r>
              <a:rPr lang="en-US" dirty="0">
                <a:latin typeface="Times New Roman" panose="02020603050405020304" pitchFamily="18" charset="0"/>
                <a:cs typeface="Times New Roman" panose="02020603050405020304" pitchFamily="18" charset="0"/>
              </a:rPr>
              <a:t> </a:t>
            </a:r>
            <a:r>
              <a:rPr lang="en-US" dirty="0"/>
              <a:t>to understand customer behavior and improve sales</a:t>
            </a:r>
            <a:endParaRPr lang="en-US" dirty="0">
              <a:latin typeface="Times New Roman" panose="02020603050405020304" pitchFamily="18" charset="0"/>
              <a:cs typeface="Times New Roman" panose="02020603050405020304" pitchFamily="18" charset="0"/>
            </a:endParaRPr>
          </a:p>
          <a:p>
            <a:pPr>
              <a:lnSpc>
                <a:spcPct val="100000"/>
              </a:lnSpc>
            </a:pPr>
            <a:r>
              <a:rPr lang="en-US" u="sng" dirty="0">
                <a:latin typeface="Times New Roman" panose="02020603050405020304" pitchFamily="18" charset="0"/>
                <a:cs typeface="Times New Roman" panose="02020603050405020304" pitchFamily="18" charset="0"/>
              </a:rPr>
              <a:t>Applications:</a:t>
            </a:r>
          </a:p>
          <a:p>
            <a:pPr>
              <a:lnSpc>
                <a:spcPct val="100000"/>
              </a:lnSpc>
            </a:pPr>
            <a:r>
              <a:rPr lang="en-US" dirty="0">
                <a:latin typeface="Times New Roman" panose="02020603050405020304" pitchFamily="18" charset="0"/>
                <a:cs typeface="Times New Roman" panose="02020603050405020304" pitchFamily="18" charset="0"/>
              </a:rPr>
              <a:t>Product recommendations - analyze customer browsing and purchase history such as Amazon recommends products based on previous purchases and customer interests.</a:t>
            </a:r>
          </a:p>
          <a:p>
            <a:pPr>
              <a:lnSpc>
                <a:spcPct val="100000"/>
              </a:lnSpc>
            </a:pPr>
            <a:r>
              <a:rPr lang="en-US" dirty="0">
                <a:latin typeface="Times New Roman" panose="02020603050405020304" pitchFamily="18" charset="0"/>
                <a:cs typeface="Times New Roman" panose="02020603050405020304" pitchFamily="18" charset="0"/>
              </a:rPr>
              <a:t>Customer segmentation - Customers are grouped based on age, interest, buying behavior, location. </a:t>
            </a:r>
          </a:p>
          <a:p>
            <a:pPr>
              <a:lnSpc>
                <a:spcPct val="100000"/>
              </a:lnSpc>
            </a:pPr>
            <a:r>
              <a:rPr lang="en-US" u="sng"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Online stores target advertisements to specific customer groups for better sales</a:t>
            </a:r>
          </a:p>
          <a:p>
            <a:pPr>
              <a:lnSpc>
                <a:spcPct val="100000"/>
              </a:lnSpc>
            </a:pPr>
            <a:r>
              <a:rPr lang="en-US" dirty="0">
                <a:latin typeface="Times New Roman" panose="02020603050405020304" pitchFamily="18" charset="0"/>
                <a:cs typeface="Times New Roman" panose="02020603050405020304" pitchFamily="18" charset="0"/>
              </a:rPr>
              <a:t>Demand forecasting - </a:t>
            </a:r>
            <a:r>
              <a:rPr lang="en-US" sz="2100" dirty="0">
                <a:latin typeface="Times New Roman" panose="02020603050405020304" pitchFamily="18" charset="0"/>
                <a:cs typeface="Times New Roman" panose="02020603050405020304" pitchFamily="18" charset="0"/>
              </a:rPr>
              <a:t>Predicts future product demand using historical sales data.</a:t>
            </a:r>
          </a:p>
          <a:p>
            <a:pPr>
              <a:lnSpc>
                <a:spcPct val="100000"/>
              </a:lnSpc>
            </a:pPr>
            <a:r>
              <a:rPr lang="en-US" u="sng"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 Amazon/</a:t>
            </a:r>
            <a:r>
              <a:rPr lang="en-US" dirty="0" err="1">
                <a:latin typeface="Times New Roman" panose="02020603050405020304" pitchFamily="18" charset="0"/>
                <a:cs typeface="Times New Roman" panose="02020603050405020304" pitchFamily="18" charset="0"/>
              </a:rPr>
              <a:t>Flipkart</a:t>
            </a:r>
            <a:r>
              <a:rPr lang="en-US" dirty="0">
                <a:latin typeface="Times New Roman" panose="02020603050405020304" pitchFamily="18" charset="0"/>
                <a:cs typeface="Times New Roman" panose="02020603050405020304" pitchFamily="18" charset="0"/>
              </a:rPr>
              <a:t> recommends products based on purchase history.</a:t>
            </a:r>
          </a:p>
          <a:p>
            <a:pPr marL="0" indent="0">
              <a:lnSpc>
                <a:spcPct val="100000"/>
              </a:lnSpc>
              <a:buNone/>
            </a:pPr>
            <a:r>
              <a:rPr lang="en-US" dirty="0">
                <a:latin typeface="Times New Roman" panose="02020603050405020304" pitchFamily="18" charset="0"/>
                <a:cs typeface="Times New Roman" panose="02020603050405020304" pitchFamily="18" charset="0"/>
              </a:rPr>
              <a:t>4</a:t>
            </a:r>
            <a:r>
              <a:rPr lang="en-US" b="1" dirty="0">
                <a:latin typeface="Times New Roman" panose="02020603050405020304" pitchFamily="18" charset="0"/>
                <a:cs typeface="Times New Roman" panose="02020603050405020304" pitchFamily="18" charset="0"/>
              </a:rPr>
              <a:t>. Education</a:t>
            </a:r>
            <a:r>
              <a:rPr lang="en-US" dirty="0">
                <a:latin typeface="Times New Roman" panose="02020603050405020304" pitchFamily="18" charset="0"/>
                <a:cs typeface="Times New Roman" panose="02020603050405020304" pitchFamily="18" charset="0"/>
              </a:rPr>
              <a:t>: </a:t>
            </a:r>
            <a:r>
              <a:rPr lang="en-US" dirty="0"/>
              <a:t>teaching methods and student performance</a:t>
            </a:r>
            <a:endParaRPr lang="en-US" dirty="0">
              <a:latin typeface="Times New Roman" panose="02020603050405020304" pitchFamily="18" charset="0"/>
              <a:cs typeface="Times New Roman" panose="02020603050405020304" pitchFamily="18" charset="0"/>
            </a:endParaRPr>
          </a:p>
          <a:p>
            <a:pPr>
              <a:lnSpc>
                <a:spcPct val="100000"/>
              </a:lnSpc>
            </a:pPr>
            <a:r>
              <a:rPr lang="en-US" u="sng" dirty="0">
                <a:latin typeface="Times New Roman" panose="02020603050405020304" pitchFamily="18" charset="0"/>
                <a:cs typeface="Times New Roman" panose="02020603050405020304" pitchFamily="18" charset="0"/>
              </a:rPr>
              <a:t>Applications:</a:t>
            </a:r>
          </a:p>
          <a:p>
            <a:pPr>
              <a:lnSpc>
                <a:spcPct val="100000"/>
              </a:lnSpc>
            </a:pPr>
            <a:r>
              <a:rPr lang="en-US" dirty="0">
                <a:latin typeface="Times New Roman" panose="02020603050405020304" pitchFamily="18" charset="0"/>
                <a:cs typeface="Times New Roman" panose="02020603050405020304" pitchFamily="18" charset="0"/>
              </a:rPr>
              <a:t>Student performance analysis </a:t>
            </a:r>
          </a:p>
          <a:p>
            <a:pPr>
              <a:lnSpc>
                <a:spcPct val="100000"/>
              </a:lnSpc>
            </a:pPr>
            <a:r>
              <a:rPr lang="en-US" dirty="0">
                <a:latin typeface="Times New Roman" panose="02020603050405020304" pitchFamily="18" charset="0"/>
                <a:cs typeface="Times New Roman" panose="02020603050405020304" pitchFamily="18" charset="0"/>
              </a:rPr>
              <a:t>Personalized learning </a:t>
            </a:r>
          </a:p>
          <a:p>
            <a:pPr>
              <a:lnSpc>
                <a:spcPct val="100000"/>
              </a:lnSpc>
            </a:pPr>
            <a:r>
              <a:rPr lang="en-US" dirty="0">
                <a:latin typeface="Times New Roman" panose="02020603050405020304" pitchFamily="18" charset="0"/>
                <a:cs typeface="Times New Roman" panose="02020603050405020304" pitchFamily="18" charset="0"/>
              </a:rPr>
              <a:t>Attendance prediction</a:t>
            </a:r>
          </a:p>
          <a:p>
            <a:pPr>
              <a:lnSpc>
                <a:spcPct val="100000"/>
              </a:lnSpc>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08390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11353799" cy="5029200"/>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5. </a:t>
            </a:r>
            <a:r>
              <a:rPr lang="en-US" b="1" dirty="0">
                <a:latin typeface="Times New Roman" panose="02020603050405020304" pitchFamily="18" charset="0"/>
                <a:cs typeface="Times New Roman" panose="02020603050405020304" pitchFamily="18" charset="0"/>
              </a:rPr>
              <a:t>Cyber security:</a:t>
            </a:r>
            <a:r>
              <a:rPr lang="en-US" dirty="0">
                <a:latin typeface="Times New Roman" panose="02020603050405020304" pitchFamily="18" charset="0"/>
                <a:cs typeface="Times New Roman" panose="02020603050405020304" pitchFamily="18" charset="0"/>
              </a:rPr>
              <a:t> to protect systems and networks from cyber threats</a:t>
            </a:r>
          </a:p>
          <a:p>
            <a:r>
              <a:rPr lang="en-US" u="sng" dirty="0">
                <a:latin typeface="Times New Roman" panose="02020603050405020304" pitchFamily="18" charset="0"/>
                <a:cs typeface="Times New Roman" panose="02020603050405020304" pitchFamily="18" charset="0"/>
              </a:rPr>
              <a:t>Applications:</a:t>
            </a:r>
          </a:p>
          <a:p>
            <a:r>
              <a:rPr lang="en-US" dirty="0">
                <a:latin typeface="Times New Roman" panose="02020603050405020304" pitchFamily="18" charset="0"/>
                <a:cs typeface="Times New Roman" panose="02020603050405020304" pitchFamily="18" charset="0"/>
              </a:rPr>
              <a:t>Intrusion detection - Detects unauthorized access to systems and networks like </a:t>
            </a:r>
            <a:r>
              <a:rPr lang="en-US" dirty="0" err="1">
                <a:latin typeface="Times New Roman" panose="02020603050405020304" pitchFamily="18" charset="0"/>
                <a:cs typeface="Times New Roman" panose="02020603050405020304" pitchFamily="18" charset="0"/>
              </a:rPr>
              <a:t>unusal</a:t>
            </a:r>
            <a:r>
              <a:rPr lang="en-US" dirty="0">
                <a:latin typeface="Times New Roman" panose="02020603050405020304" pitchFamily="18" charset="0"/>
                <a:cs typeface="Times New Roman" panose="02020603050405020304" pitchFamily="18" charset="0"/>
              </a:rPr>
              <a:t> login activities</a:t>
            </a:r>
          </a:p>
          <a:p>
            <a:r>
              <a:rPr lang="en-US" dirty="0">
                <a:latin typeface="Times New Roman" panose="02020603050405020304" pitchFamily="18" charset="0"/>
                <a:cs typeface="Times New Roman" panose="02020603050405020304" pitchFamily="18" charset="0"/>
              </a:rPr>
              <a:t>Malware analysis - </a:t>
            </a:r>
            <a:r>
              <a:rPr lang="en-IN" dirty="0">
                <a:latin typeface="Times New Roman" panose="02020603050405020304" pitchFamily="18" charset="0"/>
                <a:cs typeface="Times New Roman" panose="02020603050405020304" pitchFamily="18" charset="0"/>
              </a:rPr>
              <a:t>identifies malicious software </a:t>
            </a:r>
            <a:r>
              <a:rPr lang="en-IN" dirty="0" err="1">
                <a:latin typeface="Times New Roman" panose="02020603050405020304" pitchFamily="18" charset="0"/>
                <a:cs typeface="Times New Roman" panose="02020603050405020304" pitchFamily="18" charset="0"/>
              </a:rPr>
              <a:t>behavior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Threat intelligence - Analyzes cyber threat data to predict future attacks.</a:t>
            </a:r>
          </a:p>
          <a:p>
            <a:r>
              <a:rPr lang="en-IN" dirty="0">
                <a:latin typeface="Times New Roman" panose="02020603050405020304" pitchFamily="18" charset="0"/>
                <a:cs typeface="Times New Roman" panose="02020603050405020304" pitchFamily="18" charset="0"/>
              </a:rPr>
              <a:t>6. </a:t>
            </a:r>
            <a:r>
              <a:rPr lang="en-IN" b="1" dirty="0">
                <a:latin typeface="Times New Roman" panose="02020603050405020304" pitchFamily="18" charset="0"/>
                <a:cs typeface="Times New Roman" panose="02020603050405020304" pitchFamily="18" charset="0"/>
              </a:rPr>
              <a:t>Agriculture</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smart farming and increased crop productivity</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rPr>
              <a:t>Applications:</a:t>
            </a:r>
          </a:p>
          <a:p>
            <a:r>
              <a:rPr lang="en-IN" dirty="0">
                <a:latin typeface="Times New Roman" panose="02020603050405020304" pitchFamily="18" charset="0"/>
                <a:cs typeface="Times New Roman" panose="02020603050405020304" pitchFamily="18" charset="0"/>
              </a:rPr>
              <a:t>Crop prediction – based on weather conditions, soil quality, rainfall f</a:t>
            </a:r>
            <a:r>
              <a:rPr lang="en-US" dirty="0" err="1"/>
              <a:t>armers</a:t>
            </a:r>
            <a:r>
              <a:rPr lang="en-US" dirty="0"/>
              <a:t> decide which crop to grow for maximum profit</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07127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10972799" cy="5029200"/>
          </a:xfrm>
        </p:spPr>
        <p:txBody>
          <a:bodyPr/>
          <a:lstStyle/>
          <a:p>
            <a:r>
              <a:rPr lang="en-IN" dirty="0">
                <a:latin typeface="Times New Roman" panose="02020603050405020304" pitchFamily="18" charset="0"/>
                <a:cs typeface="Times New Roman" panose="02020603050405020304" pitchFamily="18" charset="0"/>
              </a:rPr>
              <a:t>Soil analysis - </a:t>
            </a:r>
            <a:r>
              <a:rPr lang="en-US" dirty="0">
                <a:latin typeface="Times New Roman" panose="02020603050405020304" pitchFamily="18" charset="0"/>
                <a:cs typeface="Times New Roman" panose="02020603050405020304" pitchFamily="18" charset="0"/>
              </a:rPr>
              <a:t>Analyzes soil nutrients and fertility levels.</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Smart irrigation systems - </a:t>
            </a:r>
            <a:r>
              <a:rPr lang="en-US" dirty="0">
                <a:latin typeface="Times New Roman" panose="02020603050405020304" pitchFamily="18" charset="0"/>
                <a:cs typeface="Times New Roman" panose="02020603050405020304" pitchFamily="18" charset="0"/>
              </a:rPr>
              <a:t>Uses sensors and AI to automate irrigation Example: water is supplied only when soil moisture levels are low, reducing water wastage.</a:t>
            </a:r>
          </a:p>
          <a:p>
            <a:pPr marL="0" indent="0">
              <a:buNone/>
            </a:pPr>
            <a:r>
              <a:rPr lang="en-IN" dirty="0">
                <a:latin typeface="Times New Roman" panose="02020603050405020304" pitchFamily="18" charset="0"/>
                <a:cs typeface="Times New Roman" panose="02020603050405020304" pitchFamily="18" charset="0"/>
              </a:rPr>
              <a:t>7. </a:t>
            </a:r>
            <a:r>
              <a:rPr lang="en-IN" b="1" dirty="0">
                <a:latin typeface="Times New Roman" panose="02020603050405020304" pitchFamily="18" charset="0"/>
                <a:cs typeface="Times New Roman" panose="02020603050405020304" pitchFamily="18" charset="0"/>
              </a:rPr>
              <a:t>Transportation : </a:t>
            </a:r>
            <a:r>
              <a:rPr lang="en-IN" dirty="0">
                <a:latin typeface="Times New Roman" panose="02020603050405020304" pitchFamily="18" charset="0"/>
                <a:cs typeface="Times New Roman" panose="02020603050405020304" pitchFamily="18" charset="0"/>
              </a:rPr>
              <a:t>traffic management, and vehicle automation.</a:t>
            </a:r>
          </a:p>
          <a:p>
            <a:r>
              <a:rPr lang="en-IN" u="sng" dirty="0">
                <a:latin typeface="Times New Roman" panose="02020603050405020304" pitchFamily="18" charset="0"/>
                <a:cs typeface="Times New Roman" panose="02020603050405020304" pitchFamily="18" charset="0"/>
              </a:rPr>
              <a:t>Applications:</a:t>
            </a:r>
          </a:p>
          <a:p>
            <a:r>
              <a:rPr lang="en-IN" dirty="0">
                <a:latin typeface="Times New Roman" panose="02020603050405020304" pitchFamily="18" charset="0"/>
                <a:cs typeface="Times New Roman" panose="02020603050405020304" pitchFamily="18" charset="0"/>
              </a:rPr>
              <a:t>Traffic prediction - </a:t>
            </a:r>
            <a:r>
              <a:rPr lang="en-US" dirty="0">
                <a:latin typeface="Times New Roman" panose="02020603050405020304" pitchFamily="18" charset="0"/>
                <a:cs typeface="Times New Roman" panose="02020603050405020304" pitchFamily="18" charset="0"/>
              </a:rPr>
              <a:t>Google Maps suggests faster routes based on real-time traffic data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Autonomous vehicles – Tesla - </a:t>
            </a:r>
            <a:r>
              <a:rPr lang="en-US" dirty="0">
                <a:latin typeface="Times New Roman" panose="02020603050405020304" pitchFamily="18" charset="0"/>
                <a:cs typeface="Times New Roman" panose="02020603050405020304" pitchFamily="18" charset="0"/>
              </a:rPr>
              <a:t>Self-driving cars use sensors, cameras, and AI algorithms.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Route optimization - </a:t>
            </a:r>
            <a:r>
              <a:rPr lang="en-US" dirty="0">
                <a:latin typeface="Times New Roman" panose="02020603050405020304" pitchFamily="18" charset="0"/>
                <a:cs typeface="Times New Roman" panose="02020603050405020304" pitchFamily="18" charset="0"/>
              </a:rPr>
              <a:t>Finds the shortest and fastest delivery routes to reduce fuel costs and delivery time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358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048999" cy="4953000"/>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8. </a:t>
            </a:r>
            <a:r>
              <a:rPr lang="en-IN" b="1" dirty="0">
                <a:latin typeface="Times New Roman" panose="02020603050405020304" pitchFamily="18" charset="0"/>
                <a:cs typeface="Times New Roman" panose="02020603050405020304" pitchFamily="18" charset="0"/>
              </a:rPr>
              <a:t>Social Media : </a:t>
            </a:r>
            <a:r>
              <a:rPr lang="en-US" sz="2100" dirty="0">
                <a:latin typeface="Times New Roman" panose="02020603050405020304" pitchFamily="18" charset="0"/>
                <a:cs typeface="Times New Roman" panose="02020603050405020304" pitchFamily="18" charset="0"/>
              </a:rPr>
              <a:t>improve user experience and targeted advertising.</a:t>
            </a:r>
            <a:endParaRPr lang="en-IN" sz="2100"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rPr>
              <a:t>Applications:</a:t>
            </a:r>
          </a:p>
          <a:p>
            <a:r>
              <a:rPr lang="en-IN" dirty="0">
                <a:latin typeface="Times New Roman" panose="02020603050405020304" pitchFamily="18" charset="0"/>
                <a:cs typeface="Times New Roman" panose="02020603050405020304" pitchFamily="18" charset="0"/>
              </a:rPr>
              <a:t>Sentiment analysis – </a:t>
            </a:r>
            <a:r>
              <a:rPr lang="en-IN" sz="2100" dirty="0">
                <a:latin typeface="Times New Roman" panose="02020603050405020304" pitchFamily="18" charset="0"/>
                <a:cs typeface="Times New Roman" panose="02020603050405020304" pitchFamily="18" charset="0"/>
              </a:rPr>
              <a:t>user opinions such as </a:t>
            </a:r>
            <a:r>
              <a:rPr lang="en-US" sz="2100" dirty="0">
                <a:latin typeface="Times New Roman" panose="02020603050405020304" pitchFamily="18" charset="0"/>
                <a:cs typeface="Times New Roman" panose="02020603050405020304" pitchFamily="18" charset="0"/>
              </a:rPr>
              <a:t>customer feedback on Twitter to understand public opinion about products.</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Trend analysis - </a:t>
            </a:r>
            <a:r>
              <a:rPr lang="en-US" sz="2100" dirty="0">
                <a:latin typeface="Times New Roman" panose="02020603050405020304" pitchFamily="18" charset="0"/>
                <a:cs typeface="Times New Roman" panose="02020603050405020304" pitchFamily="18" charset="0"/>
              </a:rPr>
              <a:t>Identifies trending topics and popular content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Advertisement targeting - </a:t>
            </a:r>
            <a:r>
              <a:rPr lang="en-US" sz="2100" dirty="0">
                <a:latin typeface="Times New Roman" panose="02020603050405020304" pitchFamily="18" charset="0"/>
                <a:cs typeface="Times New Roman" panose="02020603050405020304" pitchFamily="18" charset="0"/>
              </a:rPr>
              <a:t>Displays advertisements based on user interests and browsing behavior.</a:t>
            </a:r>
            <a:endParaRPr lang="en-IN"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5848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698" y="782834"/>
            <a:ext cx="11264901" cy="5236965"/>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Applications of Data Science are transforming industries worldwide. It enables intelligent systems to:</a:t>
            </a:r>
          </a:p>
          <a:p>
            <a:pPr algn="just"/>
            <a:r>
              <a:rPr lang="en-US" dirty="0">
                <a:latin typeface="Times New Roman" panose="02020603050405020304" pitchFamily="18" charset="0"/>
                <a:cs typeface="Times New Roman" panose="02020603050405020304" pitchFamily="18" charset="0"/>
              </a:rPr>
              <a:t>Learn from data </a:t>
            </a:r>
          </a:p>
          <a:p>
            <a:pPr algn="just"/>
            <a:r>
              <a:rPr lang="en-US" dirty="0">
                <a:latin typeface="Times New Roman" panose="02020603050405020304" pitchFamily="18" charset="0"/>
                <a:cs typeface="Times New Roman" panose="02020603050405020304" pitchFamily="18" charset="0"/>
              </a:rPr>
              <a:t>Make predictions </a:t>
            </a:r>
          </a:p>
          <a:p>
            <a:pPr algn="just"/>
            <a:r>
              <a:rPr lang="en-US" dirty="0">
                <a:latin typeface="Times New Roman" panose="02020603050405020304" pitchFamily="18" charset="0"/>
                <a:cs typeface="Times New Roman" panose="02020603050405020304" pitchFamily="18" charset="0"/>
              </a:rPr>
              <a:t>Automate tasks </a:t>
            </a:r>
          </a:p>
          <a:p>
            <a:pPr algn="just"/>
            <a:r>
              <a:rPr lang="en-US" dirty="0">
                <a:latin typeface="Times New Roman" panose="02020603050405020304" pitchFamily="18" charset="0"/>
                <a:cs typeface="Times New Roman" panose="02020603050405020304" pitchFamily="18" charset="0"/>
              </a:rPr>
              <a:t>Improve user experiences </a:t>
            </a:r>
          </a:p>
          <a:p>
            <a:pPr algn="just"/>
            <a:r>
              <a:rPr lang="en-US" dirty="0">
                <a:latin typeface="Times New Roman" panose="02020603050405020304" pitchFamily="18" charset="0"/>
                <a:cs typeface="Times New Roman" panose="02020603050405020304" pitchFamily="18" charset="0"/>
              </a:rPr>
              <a:t>demonstrate the powerful impact of Data Science in solving real-world problems and advancing modern technology.</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2895600" y="304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APLLICATIONS OF DATA SCIENCE</a:t>
            </a:r>
          </a:p>
        </p:txBody>
      </p:sp>
    </p:spTree>
    <p:extLst>
      <p:ext uri="{BB962C8B-B14F-4D97-AF65-F5344CB8AC3E}">
        <p14:creationId xmlns:p14="http://schemas.microsoft.com/office/powerpoint/2010/main" val="2131035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838200"/>
            <a:ext cx="10521454" cy="4628145"/>
          </a:xfrm>
        </p:spPr>
        <p:txBody>
          <a:bodyPr/>
          <a:lstStyle/>
          <a:p>
            <a:pPr marL="0" indent="0">
              <a:buNone/>
            </a:pPr>
            <a:r>
              <a:rPr lang="en-US" dirty="0">
                <a:latin typeface="Times New Roman" panose="02020603050405020304" pitchFamily="18" charset="0"/>
                <a:cs typeface="Times New Roman" panose="02020603050405020304" pitchFamily="18" charset="0"/>
              </a:rPr>
              <a:t>Major applications such as:</a:t>
            </a:r>
          </a:p>
          <a:p>
            <a:r>
              <a:rPr lang="en-US" dirty="0">
                <a:latin typeface="Times New Roman" panose="02020603050405020304" pitchFamily="18" charset="0"/>
                <a:cs typeface="Times New Roman" panose="02020603050405020304" pitchFamily="18" charset="0"/>
              </a:rPr>
              <a:t>Recommendation Systems </a:t>
            </a:r>
          </a:p>
          <a:p>
            <a:r>
              <a:rPr lang="en-US" dirty="0">
                <a:latin typeface="Times New Roman" panose="02020603050405020304" pitchFamily="18" charset="0"/>
                <a:cs typeface="Times New Roman" panose="02020603050405020304" pitchFamily="18" charset="0"/>
              </a:rPr>
              <a:t>Image Recognition </a:t>
            </a:r>
          </a:p>
          <a:p>
            <a:r>
              <a:rPr lang="en-US" dirty="0">
                <a:latin typeface="Times New Roman" panose="02020603050405020304" pitchFamily="18" charset="0"/>
                <a:cs typeface="Times New Roman" panose="02020603050405020304" pitchFamily="18" charset="0"/>
              </a:rPr>
              <a:t>Speech Recognition </a:t>
            </a:r>
          </a:p>
          <a:p>
            <a:r>
              <a:rPr lang="en-US" dirty="0">
                <a:latin typeface="Times New Roman" panose="02020603050405020304" pitchFamily="18" charset="0"/>
                <a:cs typeface="Times New Roman" panose="02020603050405020304" pitchFamily="18" charset="0"/>
              </a:rPr>
              <a:t>Predictive Analytics </a:t>
            </a:r>
          </a:p>
          <a:p>
            <a:r>
              <a:rPr lang="en-US" dirty="0">
                <a:latin typeface="Times New Roman" panose="02020603050405020304" pitchFamily="18" charset="0"/>
                <a:cs typeface="Times New Roman" panose="02020603050405020304" pitchFamily="18" charset="0"/>
              </a:rPr>
              <a:t>Fraud Detection </a:t>
            </a:r>
          </a:p>
          <a:p>
            <a:r>
              <a:rPr lang="en-US" dirty="0">
                <a:latin typeface="Times New Roman" panose="02020603050405020304" pitchFamily="18" charset="0"/>
                <a:cs typeface="Times New Roman" panose="02020603050405020304" pitchFamily="18" charset="0"/>
              </a:rPr>
              <a:t>Autonomous Vehicles </a:t>
            </a:r>
          </a:p>
          <a:p>
            <a:endParaRPr lang="en-IN" dirty="0"/>
          </a:p>
        </p:txBody>
      </p:sp>
    </p:spTree>
    <p:extLst>
      <p:ext uri="{BB962C8B-B14F-4D97-AF65-F5344CB8AC3E}">
        <p14:creationId xmlns:p14="http://schemas.microsoft.com/office/powerpoint/2010/main" val="3456971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892663" y="6524300"/>
            <a:ext cx="147320" cy="152400"/>
          </a:xfrm>
          <a:prstGeom prst="rect">
            <a:avLst/>
          </a:prstGeom>
        </p:spPr>
        <p:txBody>
          <a:bodyPr vert="horz" wrap="square" lIns="0" tIns="0" rIns="0" bIns="0" rtlCol="0">
            <a:spAutoFit/>
          </a:bodyPr>
          <a:lstStyle/>
          <a:p>
            <a:pPr marL="38100">
              <a:lnSpc>
                <a:spcPts val="1070"/>
              </a:lnSpc>
            </a:pPr>
            <a:r>
              <a:rPr sz="1000" dirty="0">
                <a:solidFill>
                  <a:srgbClr val="888888"/>
                </a:solidFill>
                <a:latin typeface="Arial MT"/>
                <a:cs typeface="Arial MT"/>
              </a:rPr>
              <a:t>4</a:t>
            </a:r>
            <a:endParaRPr sz="1000">
              <a:latin typeface="Arial MT"/>
              <a:cs typeface="Arial MT"/>
            </a:endParaRPr>
          </a:p>
        </p:txBody>
      </p:sp>
      <p:pic>
        <p:nvPicPr>
          <p:cNvPr id="1026" name="Picture 2" descr="Applications of Data Science - Slide 1">
            <a:extLst>
              <a:ext uri="{FF2B5EF4-FFF2-40B4-BE49-F238E27FC236}">
                <a16:creationId xmlns:a16="http://schemas.microsoft.com/office/drawing/2014/main" id="{0304243E-6D9D-3F20-5437-51270908E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14387"/>
            <a:ext cx="9220200" cy="5186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760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609600"/>
            <a:ext cx="10597654" cy="485674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Recommendation Systems </a:t>
            </a:r>
            <a:r>
              <a:rPr lang="en-US"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Suggest products, movies, videos, songs, or services to users based on their interests, preferences, and previous activities based on browsing history, user rating, purchase history </a:t>
            </a:r>
            <a:r>
              <a:rPr lang="en-US" sz="2100" dirty="0" err="1">
                <a:latin typeface="Times New Roman" panose="02020603050405020304" pitchFamily="18" charset="0"/>
                <a:cs typeface="Times New Roman" panose="02020603050405020304" pitchFamily="18" charset="0"/>
              </a:rPr>
              <a:t>etc</a:t>
            </a:r>
            <a:endParaRPr lang="en-US" sz="2100" dirty="0">
              <a:latin typeface="Times New Roman" panose="02020603050405020304" pitchFamily="18" charset="0"/>
              <a:cs typeface="Times New Roman" panose="02020603050405020304" pitchFamily="18" charset="0"/>
            </a:endParaRPr>
          </a:p>
          <a:p>
            <a:r>
              <a:rPr lang="en-US" u="sng" dirty="0">
                <a:latin typeface="Times New Roman" panose="02020603050405020304" pitchFamily="18" charset="0"/>
                <a:cs typeface="Times New Roman" panose="02020603050405020304" pitchFamily="18" charset="0"/>
              </a:rPr>
              <a:t>Examples:</a:t>
            </a:r>
            <a:r>
              <a:rPr lang="en-US" dirty="0">
                <a:latin typeface="Times New Roman" panose="02020603050405020304" pitchFamily="18" charset="0"/>
                <a:cs typeface="Times New Roman" panose="02020603050405020304" pitchFamily="18" charset="0"/>
              </a:rPr>
              <a:t> Netflix, YouTube, Amazon - recommends movies and web series based on user viewing history</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Image Recognition: </a:t>
            </a:r>
            <a:r>
              <a:rPr lang="en-US" dirty="0">
                <a:latin typeface="Times New Roman" panose="02020603050405020304" pitchFamily="18" charset="0"/>
                <a:cs typeface="Times New Roman" panose="02020603050405020304" pitchFamily="18" charset="0"/>
              </a:rPr>
              <a:t>identifying objects, people, places, or patterns in digital images</a:t>
            </a:r>
          </a:p>
          <a:p>
            <a:r>
              <a:rPr lang="en-US" dirty="0">
                <a:latin typeface="Times New Roman" panose="02020603050405020304" pitchFamily="18" charset="0"/>
                <a:cs typeface="Times New Roman" panose="02020603050405020304" pitchFamily="18" charset="0"/>
              </a:rPr>
              <a:t>Examples: </a:t>
            </a:r>
          </a:p>
          <a:p>
            <a:r>
              <a:rPr lang="en-US" dirty="0">
                <a:latin typeface="Times New Roman" panose="02020603050405020304" pitchFamily="18" charset="0"/>
                <a:cs typeface="Times New Roman" panose="02020603050405020304" pitchFamily="18" charset="0"/>
              </a:rPr>
              <a:t>Face detection - Smartphones use face recognition for unlocking devices</a:t>
            </a:r>
          </a:p>
          <a:p>
            <a:r>
              <a:rPr lang="en-US" dirty="0">
                <a:latin typeface="Times New Roman" panose="02020603050405020304" pitchFamily="18" charset="0"/>
                <a:cs typeface="Times New Roman" panose="02020603050405020304" pitchFamily="18" charset="0"/>
              </a:rPr>
              <a:t>Medical imaging - detect tumors or fractures more accurately</a:t>
            </a:r>
          </a:p>
          <a:p>
            <a:r>
              <a:rPr lang="en-US" dirty="0">
                <a:latin typeface="Times New Roman" panose="02020603050405020304" pitchFamily="18" charset="0"/>
                <a:cs typeface="Times New Roman" panose="02020603050405020304" pitchFamily="18" charset="0"/>
              </a:rPr>
              <a:t>Security systems - Airports use facial recognition to identify criminals or missing persons</a:t>
            </a:r>
          </a:p>
          <a:p>
            <a:endParaRPr lang="en-IN" dirty="0"/>
          </a:p>
        </p:txBody>
      </p:sp>
    </p:spTree>
    <p:extLst>
      <p:ext uri="{BB962C8B-B14F-4D97-AF65-F5344CB8AC3E}">
        <p14:creationId xmlns:p14="http://schemas.microsoft.com/office/powerpoint/2010/main" val="3768742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11353800" cy="49530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Speech Recognition: </a:t>
            </a:r>
            <a:r>
              <a:rPr lang="en-US" sz="2100" dirty="0">
                <a:latin typeface="Times New Roman" panose="02020603050405020304" pitchFamily="18" charset="0"/>
                <a:cs typeface="Times New Roman" panose="02020603050405020304" pitchFamily="18" charset="0"/>
              </a:rPr>
              <a:t>converts human speech into text or commands using AI and Natural Language Processing (NLP)</a:t>
            </a:r>
          </a:p>
          <a:p>
            <a:r>
              <a:rPr lang="en-US" dirty="0">
                <a:latin typeface="Times New Roman" panose="02020603050405020304" pitchFamily="18" charset="0"/>
                <a:cs typeface="Times New Roman" panose="02020603050405020304" pitchFamily="18" charset="0"/>
              </a:rPr>
              <a:t>Examples: </a:t>
            </a:r>
            <a:r>
              <a:rPr lang="en-US" dirty="0" err="1">
                <a:latin typeface="Times New Roman" panose="02020603050405020304" pitchFamily="18" charset="0"/>
                <a:cs typeface="Times New Roman" panose="02020603050405020304" pitchFamily="18" charset="0"/>
              </a:rPr>
              <a:t>Siri</a:t>
            </a:r>
            <a:r>
              <a:rPr lang="en-US" dirty="0">
                <a:latin typeface="Times New Roman" panose="02020603050405020304" pitchFamily="18" charset="0"/>
                <a:cs typeface="Times New Roman" panose="02020603050405020304" pitchFamily="18" charset="0"/>
              </a:rPr>
              <a:t>, Alexa, Google Assistant </a:t>
            </a:r>
          </a:p>
          <a:p>
            <a:pPr marL="0" indent="0">
              <a:buNone/>
            </a:pPr>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Predictive Analytics</a:t>
            </a:r>
          </a:p>
          <a:p>
            <a:r>
              <a:rPr lang="en-US" dirty="0">
                <a:latin typeface="Times New Roman" panose="02020603050405020304" pitchFamily="18" charset="0"/>
                <a:cs typeface="Times New Roman" panose="02020603050405020304" pitchFamily="18" charset="0"/>
              </a:rPr>
              <a:t>Predicts future outcomes using historical data.</a:t>
            </a:r>
          </a:p>
          <a:p>
            <a:pPr marL="0" indent="0">
              <a:buNone/>
            </a:pPr>
            <a:r>
              <a:rPr lang="en-US" dirty="0">
                <a:latin typeface="Times New Roman" panose="02020603050405020304" pitchFamily="18" charset="0"/>
                <a:cs typeface="Times New Roman" panose="02020603050405020304" pitchFamily="18" charset="0"/>
              </a:rPr>
              <a:t>5. </a:t>
            </a:r>
            <a:r>
              <a:rPr lang="en-US" b="1" dirty="0">
                <a:latin typeface="Times New Roman" panose="02020603050405020304" pitchFamily="18" charset="0"/>
                <a:cs typeface="Times New Roman" panose="02020603050405020304" pitchFamily="18" charset="0"/>
              </a:rPr>
              <a:t>Fraud Detection</a:t>
            </a:r>
          </a:p>
          <a:p>
            <a:r>
              <a:rPr lang="en-US" dirty="0">
                <a:latin typeface="Times New Roman" panose="02020603050405020304" pitchFamily="18" charset="0"/>
                <a:cs typeface="Times New Roman" panose="02020603050405020304" pitchFamily="18" charset="0"/>
              </a:rPr>
              <a:t>Identifies unusual financial activities.</a:t>
            </a:r>
          </a:p>
          <a:p>
            <a:pPr marL="0" indent="0">
              <a:buNone/>
            </a:pPr>
            <a:r>
              <a:rPr lang="en-US" dirty="0">
                <a:latin typeface="Times New Roman" panose="02020603050405020304" pitchFamily="18" charset="0"/>
                <a:cs typeface="Times New Roman" panose="02020603050405020304" pitchFamily="18" charset="0"/>
              </a:rPr>
              <a:t>6. </a:t>
            </a:r>
            <a:r>
              <a:rPr lang="en-US" b="1" dirty="0">
                <a:latin typeface="Times New Roman" panose="02020603050405020304" pitchFamily="18" charset="0"/>
                <a:cs typeface="Times New Roman" panose="02020603050405020304" pitchFamily="18" charset="0"/>
              </a:rPr>
              <a:t>Autonomous Vehicles</a:t>
            </a:r>
          </a:p>
          <a:p>
            <a:r>
              <a:rPr lang="en-US" dirty="0">
                <a:latin typeface="Times New Roman" panose="02020603050405020304" pitchFamily="18" charset="0"/>
                <a:cs typeface="Times New Roman" panose="02020603050405020304" pitchFamily="18" charset="0"/>
              </a:rPr>
              <a:t>Self-driving cars use Data Science for decision-making</a:t>
            </a:r>
            <a:r>
              <a:rPr lang="en-US" dirty="0"/>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45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914400"/>
            <a:ext cx="7467600" cy="5410200"/>
          </a:xfrm>
        </p:spPr>
        <p:txBody>
          <a:bodyPr>
            <a:noAutofit/>
          </a:bodyPr>
          <a:lstStyle/>
          <a:p>
            <a:r>
              <a:rPr lang="en-US" sz="1900" b="1" dirty="0">
                <a:latin typeface="Times New Roman" pitchFamily="18" charset="0"/>
                <a:cs typeface="Times New Roman" pitchFamily="18" charset="0"/>
              </a:rPr>
              <a:t>Talent Acquisition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Predictive modeling for candidate sourcing</a:t>
            </a:r>
          </a:p>
          <a:p>
            <a:pPr lvl="1"/>
            <a:r>
              <a:rPr lang="en-US" sz="1900" dirty="0">
                <a:latin typeface="Times New Roman" pitchFamily="18" charset="0"/>
                <a:cs typeface="Times New Roman" pitchFamily="18" charset="0"/>
              </a:rPr>
              <a:t>Resume parsing and screening automation</a:t>
            </a:r>
          </a:p>
          <a:p>
            <a:pPr lvl="1"/>
            <a:r>
              <a:rPr lang="en-US" sz="1900" dirty="0">
                <a:latin typeface="Times New Roman" pitchFamily="18" charset="0"/>
                <a:cs typeface="Times New Roman" pitchFamily="18" charset="0"/>
              </a:rPr>
              <a:t>Behavioral analysis for cultural fit assessment</a:t>
            </a:r>
          </a:p>
          <a:p>
            <a:r>
              <a:rPr lang="en-US" sz="1900" b="1" dirty="0">
                <a:latin typeface="Times New Roman" pitchFamily="18" charset="0"/>
                <a:cs typeface="Times New Roman" pitchFamily="18" charset="0"/>
              </a:rPr>
              <a:t>Employee Retention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Attrition prediction using machine learning algorithms</a:t>
            </a:r>
          </a:p>
          <a:p>
            <a:pPr lvl="1"/>
            <a:r>
              <a:rPr lang="en-US" sz="1900" dirty="0">
                <a:latin typeface="Times New Roman" pitchFamily="18" charset="0"/>
                <a:cs typeface="Times New Roman" pitchFamily="18" charset="0"/>
              </a:rPr>
              <a:t>Identifying factors contributing to employee turnover</a:t>
            </a:r>
          </a:p>
          <a:p>
            <a:pPr lvl="1"/>
            <a:r>
              <a:rPr lang="en-US" sz="1900" dirty="0">
                <a:latin typeface="Times New Roman" pitchFamily="18" charset="0"/>
                <a:cs typeface="Times New Roman" pitchFamily="18" charset="0"/>
              </a:rPr>
              <a:t>Personalized retention strategies based on risk assessment</a:t>
            </a:r>
          </a:p>
          <a:p>
            <a:r>
              <a:rPr lang="en-US" sz="1900" b="1" dirty="0">
                <a:latin typeface="Times New Roman" pitchFamily="18" charset="0"/>
                <a:cs typeface="Times New Roman" pitchFamily="18" charset="0"/>
              </a:rPr>
              <a:t>Performance Management</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Predictive analytics for performance forecasting</a:t>
            </a:r>
          </a:p>
          <a:p>
            <a:pPr lvl="1"/>
            <a:r>
              <a:rPr lang="en-US" sz="1900" dirty="0">
                <a:latin typeface="Times New Roman" pitchFamily="18" charset="0"/>
                <a:cs typeface="Times New Roman" pitchFamily="18" charset="0"/>
              </a:rPr>
              <a:t>Feedback sentiment analysis for performance reviews</a:t>
            </a:r>
          </a:p>
          <a:p>
            <a:pPr lvl="1"/>
            <a:r>
              <a:rPr lang="en-US" sz="1900" dirty="0">
                <a:latin typeface="Times New Roman" pitchFamily="18" charset="0"/>
                <a:cs typeface="Times New Roman" pitchFamily="18" charset="0"/>
              </a:rPr>
              <a:t>Individualized development plans based on skill gap analysis</a:t>
            </a:r>
          </a:p>
          <a:p>
            <a:pPr lvl="1"/>
            <a:endParaRPr lang="en-US" sz="1900" dirty="0">
              <a:latin typeface="Times New Roman" pitchFamily="18" charset="0"/>
              <a:cs typeface="Times New Roman" pitchFamily="18" charset="0"/>
            </a:endParaRPr>
          </a:p>
          <a:p>
            <a:endParaRPr lang="en-US" sz="19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7772400" y="1371600"/>
            <a:ext cx="4419600" cy="3886200"/>
          </a:xfrm>
          <a:prstGeom prst="rect">
            <a:avLst/>
          </a:prstGeom>
          <a:noFill/>
          <a:ln w="9525">
            <a:noFill/>
            <a:miter lim="800000"/>
            <a:headEnd/>
            <a:tailEnd/>
          </a:ln>
          <a:effectLst/>
        </p:spPr>
      </p:pic>
      <p:sp>
        <p:nvSpPr>
          <p:cNvPr id="5" name="Rounded Rectangle 17">
            <a:extLst>
              <a:ext uri="{FF2B5EF4-FFF2-40B4-BE49-F238E27FC236}">
                <a16:creationId xmlns:a16="http://schemas.microsoft.com/office/drawing/2014/main" id="{193F8CDE-46C2-6874-EF88-2DE984586ADF}"/>
              </a:ext>
            </a:extLst>
          </p:cNvPr>
          <p:cNvSpPr/>
          <p:nvPr/>
        </p:nvSpPr>
        <p:spPr>
          <a:xfrm>
            <a:off x="2579172" y="2286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Applications of Data Science in HR Analytics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1143000"/>
            <a:ext cx="9603275" cy="4648200"/>
          </a:xfrm>
        </p:spPr>
        <p:txBody>
          <a:bodyPr>
            <a:normAutofit fontScale="92500" lnSpcReduction="20000"/>
          </a:bodyPr>
          <a:lstStyle/>
          <a:p>
            <a:r>
              <a:rPr lang="en-US" b="1" dirty="0"/>
              <a:t> </a:t>
            </a:r>
            <a:r>
              <a:rPr lang="en-US" b="1" dirty="0">
                <a:latin typeface="Times New Roman" pitchFamily="18" charset="0"/>
                <a:cs typeface="Times New Roman" pitchFamily="18" charset="0"/>
              </a:rPr>
              <a:t>Workforce Planning</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Demand forecasting for future workforce needs</a:t>
            </a:r>
          </a:p>
          <a:p>
            <a:r>
              <a:rPr lang="en-US" dirty="0">
                <a:latin typeface="Times New Roman" pitchFamily="18" charset="0"/>
                <a:cs typeface="Times New Roman" pitchFamily="18" charset="0"/>
              </a:rPr>
              <a:t>Skills inventory analysis for succession planning</a:t>
            </a:r>
          </a:p>
          <a:p>
            <a:r>
              <a:rPr lang="en-US" dirty="0">
                <a:latin typeface="Times New Roman" pitchFamily="18" charset="0"/>
                <a:cs typeface="Times New Roman" pitchFamily="18" charset="0"/>
              </a:rPr>
              <a:t>Optimal staffing levels based on workload prediction</a:t>
            </a:r>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Employee Engagement</a:t>
            </a:r>
            <a:endParaRPr lang="en-US"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Sentiment analysis of employee feedback</a:t>
            </a:r>
          </a:p>
          <a:p>
            <a:pPr lvl="1"/>
            <a:r>
              <a:rPr lang="en-US" sz="2000" dirty="0">
                <a:latin typeface="Times New Roman" pitchFamily="18" charset="0"/>
                <a:cs typeface="Times New Roman" pitchFamily="18" charset="0"/>
              </a:rPr>
              <a:t>Engagement score prediction using NLP techniques</a:t>
            </a:r>
          </a:p>
          <a:p>
            <a:pPr lvl="1"/>
            <a:r>
              <a:rPr lang="en-US" sz="2000" dirty="0">
                <a:latin typeface="Times New Roman" pitchFamily="18" charset="0"/>
                <a:cs typeface="Times New Roman" pitchFamily="18" charset="0"/>
              </a:rPr>
              <a:t>Customized engagement initiatives based on sentiment analysis results</a:t>
            </a:r>
          </a:p>
          <a:p>
            <a:r>
              <a:rPr lang="en-US" b="1" dirty="0">
                <a:latin typeface="Times New Roman" pitchFamily="18" charset="0"/>
                <a:cs typeface="Times New Roman" pitchFamily="18" charset="0"/>
              </a:rPr>
              <a:t>Diversity and Inclusion</a:t>
            </a:r>
            <a:endParaRPr lang="en-US" dirty="0">
              <a:latin typeface="Times New Roman" pitchFamily="18" charset="0"/>
              <a:cs typeface="Times New Roman" pitchFamily="18" charset="0"/>
            </a:endParaRPr>
          </a:p>
          <a:p>
            <a:pPr lvl="1"/>
            <a:r>
              <a:rPr lang="en-US" sz="2000" dirty="0">
                <a:latin typeface="Times New Roman" pitchFamily="18" charset="0"/>
                <a:cs typeface="Times New Roman" pitchFamily="18" charset="0"/>
              </a:rPr>
              <a:t>Bias detection in recruitment and promotion processes</a:t>
            </a:r>
          </a:p>
          <a:p>
            <a:pPr lvl="1"/>
            <a:r>
              <a:rPr lang="en-US" sz="2000" dirty="0">
                <a:latin typeface="Times New Roman" pitchFamily="18" charset="0"/>
                <a:cs typeface="Times New Roman" pitchFamily="18" charset="0"/>
              </a:rPr>
              <a:t>Diversity metrics tracking and reporting</a:t>
            </a:r>
          </a:p>
          <a:p>
            <a:pPr lvl="1"/>
            <a:r>
              <a:rPr lang="en-US" sz="2000" dirty="0">
                <a:latin typeface="Times New Roman" pitchFamily="18" charset="0"/>
                <a:cs typeface="Times New Roman" pitchFamily="18" charset="0"/>
              </a:rPr>
              <a:t>Personalized inclusion programs to address diversity gaps</a:t>
            </a:r>
          </a:p>
          <a:p>
            <a:endParaRPr lang="en-US" dirty="0"/>
          </a:p>
        </p:txBody>
      </p:sp>
      <p:sp>
        <p:nvSpPr>
          <p:cNvPr id="5" name="Rectangle 4"/>
          <p:cNvSpPr/>
          <p:nvPr/>
        </p:nvSpPr>
        <p:spPr>
          <a:xfrm>
            <a:off x="1447800" y="457200"/>
            <a:ext cx="8915400" cy="477054"/>
          </a:xfrm>
          <a:prstGeom prst="rect">
            <a:avLst/>
          </a:prstGeom>
        </p:spPr>
        <p:txBody>
          <a:bodyPr wrap="square">
            <a:spAutoFit/>
          </a:bodyPr>
          <a:lstStyle/>
          <a:p>
            <a:r>
              <a:rPr lang="en-US" sz="2500" b="1" dirty="0">
                <a:latin typeface="Times New Roman" pitchFamily="18" charset="0"/>
                <a:cs typeface="Times New Roman" pitchFamily="18" charset="0"/>
              </a:rPr>
              <a:t>APPLICATIONS OF DATA SCIENCE IN HR ANALYTICS</a:t>
            </a:r>
            <a:endParaRPr lang="en-US" sz="2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pplications of Data Science in Finance - Slide 3">
            <a:extLst>
              <a:ext uri="{FF2B5EF4-FFF2-40B4-BE49-F238E27FC236}">
                <a16:creationId xmlns:a16="http://schemas.microsoft.com/office/drawing/2014/main" id="{F74AA15C-2B8F-007C-46F6-C5BC48D8E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0668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99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72673" y="152400"/>
            <a:ext cx="9597421" cy="609600"/>
          </a:xfrm>
        </p:spPr>
        <p:txBody>
          <a:bodyPr>
            <a:normAutofit/>
          </a:bodyPr>
          <a:lstStyle/>
          <a:p>
            <a:r>
              <a:rPr lang="en-US" sz="2500" b="1" dirty="0">
                <a:latin typeface="Times New Roman" pitchFamily="18" charset="0"/>
                <a:cs typeface="Times New Roman" pitchFamily="18" charset="0"/>
              </a:rPr>
              <a:t>       </a:t>
            </a:r>
            <a:r>
              <a:rPr lang="en-US" sz="2700" b="1" dirty="0">
                <a:latin typeface="Times New Roman" pitchFamily="18" charset="0"/>
                <a:cs typeface="Times New Roman" pitchFamily="18" charset="0"/>
              </a:rPr>
              <a:t>Applications of Data Science in Finance</a:t>
            </a:r>
            <a:endParaRPr lang="en-US" sz="2700" dirty="0">
              <a:latin typeface="Times New Roman" pitchFamily="18" charset="0"/>
              <a:cs typeface="Times New Roman" pitchFamily="18" charset="0"/>
            </a:endParaRPr>
          </a:p>
        </p:txBody>
      </p:sp>
      <p:sp>
        <p:nvSpPr>
          <p:cNvPr id="4" name="Content Placeholder 3"/>
          <p:cNvSpPr>
            <a:spLocks noGrp="1"/>
          </p:cNvSpPr>
          <p:nvPr>
            <p:ph idx="1"/>
          </p:nvPr>
        </p:nvSpPr>
        <p:spPr>
          <a:xfrm>
            <a:off x="1472673" y="609600"/>
            <a:ext cx="9603275" cy="4953000"/>
          </a:xfrm>
        </p:spPr>
        <p:txBody>
          <a:bodyPr>
            <a:noAutofit/>
          </a:bodyPr>
          <a:lstStyle/>
          <a:p>
            <a:r>
              <a:rPr lang="en-US" sz="1900" b="1" dirty="0">
                <a:latin typeface="Times New Roman" pitchFamily="18" charset="0"/>
                <a:cs typeface="Times New Roman" pitchFamily="18" charset="0"/>
              </a:rPr>
              <a:t>Risk Management</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Predictive modeling for credit risk assessment</a:t>
            </a:r>
          </a:p>
          <a:p>
            <a:pPr lvl="1"/>
            <a:r>
              <a:rPr lang="en-US" sz="1900" dirty="0">
                <a:latin typeface="Times New Roman" pitchFamily="18" charset="0"/>
                <a:cs typeface="Times New Roman" pitchFamily="18" charset="0"/>
              </a:rPr>
              <a:t>Fraud detection using anomaly detection algorithms</a:t>
            </a:r>
          </a:p>
          <a:p>
            <a:pPr lvl="1"/>
            <a:r>
              <a:rPr lang="en-US" sz="1900" dirty="0">
                <a:latin typeface="Times New Roman" pitchFamily="18" charset="0"/>
                <a:cs typeface="Times New Roman" pitchFamily="18" charset="0"/>
              </a:rPr>
              <a:t>Market risk analysis and stress testing</a:t>
            </a:r>
          </a:p>
          <a:p>
            <a:r>
              <a:rPr lang="en-US" sz="1900" b="1" dirty="0">
                <a:latin typeface="Times New Roman" pitchFamily="18" charset="0"/>
                <a:cs typeface="Times New Roman" pitchFamily="18" charset="0"/>
              </a:rPr>
              <a:t>Algorithmic Trading</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Automated trading strategies based on machine learning</a:t>
            </a:r>
          </a:p>
          <a:p>
            <a:pPr lvl="1"/>
            <a:r>
              <a:rPr lang="en-US" sz="1900" dirty="0">
                <a:latin typeface="Times New Roman" pitchFamily="18" charset="0"/>
                <a:cs typeface="Times New Roman" pitchFamily="18" charset="0"/>
              </a:rPr>
              <a:t>Sentiment analysis of news and social media for trading signals</a:t>
            </a:r>
          </a:p>
          <a:p>
            <a:pPr lvl="1"/>
            <a:r>
              <a:rPr lang="en-US" sz="1900" dirty="0">
                <a:latin typeface="Times New Roman" pitchFamily="18" charset="0"/>
                <a:cs typeface="Times New Roman" pitchFamily="18" charset="0"/>
              </a:rPr>
              <a:t>High-frequency trading optimization</a:t>
            </a:r>
          </a:p>
          <a:p>
            <a:r>
              <a:rPr lang="en-US" sz="1900" b="1" dirty="0">
                <a:latin typeface="Times New Roman" pitchFamily="18" charset="0"/>
                <a:cs typeface="Times New Roman" pitchFamily="18" charset="0"/>
              </a:rPr>
              <a:t>Customer Segmentation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Behavioral analysis for personalized marketing campaigns</a:t>
            </a:r>
          </a:p>
          <a:p>
            <a:pPr lvl="1"/>
            <a:r>
              <a:rPr lang="en-US" sz="1900" dirty="0">
                <a:latin typeface="Times New Roman" pitchFamily="18" charset="0"/>
                <a:cs typeface="Times New Roman" pitchFamily="18" charset="0"/>
              </a:rPr>
              <a:t>Churn prediction to retain high-value customers</a:t>
            </a:r>
          </a:p>
          <a:p>
            <a:pPr lvl="1"/>
            <a:r>
              <a:rPr lang="en-US" sz="1900" dirty="0">
                <a:latin typeface="Times New Roman" pitchFamily="18" charset="0"/>
                <a:cs typeface="Times New Roman" pitchFamily="18" charset="0"/>
              </a:rPr>
              <a:t>Customer lifetime value prediction for targeted acquisition</a:t>
            </a:r>
          </a:p>
          <a:p>
            <a:endParaRPr lang="en-US" sz="19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143000" y="685800"/>
            <a:ext cx="10210801" cy="4953000"/>
          </a:xfrm>
        </p:spPr>
        <p:txBody>
          <a:bodyPr>
            <a:noAutofit/>
          </a:bodyPr>
          <a:lstStyle/>
          <a:p>
            <a:r>
              <a:rPr lang="en-US" sz="1900" b="1" dirty="0">
                <a:latin typeface="Times New Roman" pitchFamily="18" charset="0"/>
                <a:cs typeface="Times New Roman" pitchFamily="18" charset="0"/>
              </a:rPr>
              <a:t>Portfolio Optimization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Asset allocation using modern portfolio theory</a:t>
            </a:r>
          </a:p>
          <a:p>
            <a:pPr lvl="1"/>
            <a:r>
              <a:rPr lang="en-US" sz="1900" dirty="0">
                <a:latin typeface="Times New Roman" pitchFamily="18" charset="0"/>
                <a:cs typeface="Times New Roman" pitchFamily="18" charset="0"/>
              </a:rPr>
              <a:t>Risk-return optimization with Monte Carlo simulations</a:t>
            </a:r>
          </a:p>
          <a:p>
            <a:pPr lvl="1"/>
            <a:r>
              <a:rPr lang="en-US" sz="1900" dirty="0">
                <a:latin typeface="Times New Roman" pitchFamily="18" charset="0"/>
                <a:cs typeface="Times New Roman" pitchFamily="18" charset="0"/>
              </a:rPr>
              <a:t>Dynamic rebalancing based on market trends and portfolio goals</a:t>
            </a:r>
          </a:p>
          <a:p>
            <a:r>
              <a:rPr lang="en-US" sz="1900" b="1" dirty="0">
                <a:latin typeface="Times New Roman" pitchFamily="18" charset="0"/>
                <a:cs typeface="Times New Roman" pitchFamily="18" charset="0"/>
              </a:rPr>
              <a:t>Fraud Detection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Transaction monitoring for detecting fraudulent activities</a:t>
            </a:r>
          </a:p>
          <a:p>
            <a:pPr lvl="1"/>
            <a:r>
              <a:rPr lang="en-US" sz="1900" dirty="0">
                <a:latin typeface="Times New Roman" pitchFamily="18" charset="0"/>
                <a:cs typeface="Times New Roman" pitchFamily="18" charset="0"/>
              </a:rPr>
              <a:t>Pattern recognition in financial transactions</a:t>
            </a:r>
          </a:p>
          <a:p>
            <a:pPr lvl="1"/>
            <a:r>
              <a:rPr lang="en-US" sz="1900" dirty="0">
                <a:latin typeface="Times New Roman" pitchFamily="18" charset="0"/>
                <a:cs typeface="Times New Roman" pitchFamily="18" charset="0"/>
              </a:rPr>
              <a:t>Network analysis to uncover complex fraud schemes</a:t>
            </a:r>
          </a:p>
          <a:p>
            <a:r>
              <a:rPr lang="en-US" sz="1900" b="1" dirty="0">
                <a:latin typeface="Times New Roman" pitchFamily="18" charset="0"/>
                <a:cs typeface="Times New Roman" pitchFamily="18" charset="0"/>
              </a:rPr>
              <a:t>Regulatory Compliance</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Anti-money laundering (AML) compliance using predictive analytics</a:t>
            </a:r>
          </a:p>
          <a:p>
            <a:pPr lvl="1"/>
            <a:r>
              <a:rPr lang="en-US" sz="1900" dirty="0">
                <a:latin typeface="Times New Roman" pitchFamily="18" charset="0"/>
                <a:cs typeface="Times New Roman" pitchFamily="18" charset="0"/>
              </a:rPr>
              <a:t>GDPR and CCPA compliance through data governance frameworks</a:t>
            </a:r>
          </a:p>
          <a:p>
            <a:pPr lvl="1"/>
            <a:r>
              <a:rPr lang="en-US" sz="1900" dirty="0">
                <a:latin typeface="Times New Roman" pitchFamily="18" charset="0"/>
                <a:cs typeface="Times New Roman" pitchFamily="18" charset="0"/>
              </a:rPr>
              <a:t>Automated reporting for regulatory filings</a:t>
            </a:r>
          </a:p>
          <a:p>
            <a:endParaRPr lang="en-US" sz="1900" dirty="0">
              <a:latin typeface="Times New Roman" pitchFamily="18" charset="0"/>
              <a:cs typeface="Times New Roman" pitchFamily="18" charset="0"/>
            </a:endParaRPr>
          </a:p>
        </p:txBody>
      </p:sp>
      <p:sp>
        <p:nvSpPr>
          <p:cNvPr id="3" name="Rectangle 2"/>
          <p:cNvSpPr/>
          <p:nvPr/>
        </p:nvSpPr>
        <p:spPr>
          <a:xfrm>
            <a:off x="1752600" y="208746"/>
            <a:ext cx="7543799" cy="477054"/>
          </a:xfrm>
          <a:prstGeom prst="rect">
            <a:avLst/>
          </a:prstGeom>
        </p:spPr>
        <p:txBody>
          <a:bodyPr wrap="square">
            <a:spAutoFit/>
          </a:bodyPr>
          <a:lstStyle/>
          <a:p>
            <a:r>
              <a:rPr lang="en-US" sz="2500" b="1" dirty="0">
                <a:latin typeface="Times New Roman" pitchFamily="18" charset="0"/>
                <a:cs typeface="Times New Roman" pitchFamily="18" charset="0"/>
              </a:rPr>
              <a:t>APPLICATIONS OF DATA SCIENCE IN FINANCE</a:t>
            </a:r>
            <a:endParaRPr lang="en-US" sz="2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pplications of Data Science in Banking - Slide 4">
            <a:extLst>
              <a:ext uri="{FF2B5EF4-FFF2-40B4-BE49-F238E27FC236}">
                <a16:creationId xmlns:a16="http://schemas.microsoft.com/office/drawing/2014/main" id="{2BB2EDBF-FFA6-A8E9-A5AF-1A755FFD31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0668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17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579" y="381001"/>
            <a:ext cx="9603275" cy="533399"/>
          </a:xfrm>
        </p:spPr>
        <p:txBody>
          <a:bodyPr>
            <a:normAutofit/>
          </a:bodyPr>
          <a:lstStyle/>
          <a:p>
            <a:r>
              <a:rPr lang="en-US" sz="2700" b="1" dirty="0">
                <a:latin typeface="Times New Roman" pitchFamily="18" charset="0"/>
                <a:cs typeface="Times New Roman" pitchFamily="18" charset="0"/>
              </a:rPr>
              <a:t>         Applications of Data Science in Banking</a:t>
            </a:r>
            <a:endParaRPr lang="en-US" sz="2700" dirty="0">
              <a:latin typeface="Times New Roman" pitchFamily="18" charset="0"/>
              <a:cs typeface="Times New Roman" pitchFamily="18" charset="0"/>
            </a:endParaRPr>
          </a:p>
        </p:txBody>
      </p:sp>
      <p:sp>
        <p:nvSpPr>
          <p:cNvPr id="4" name="Content Placeholder 3"/>
          <p:cNvSpPr>
            <a:spLocks noGrp="1"/>
          </p:cNvSpPr>
          <p:nvPr>
            <p:ph idx="1"/>
          </p:nvPr>
        </p:nvSpPr>
        <p:spPr>
          <a:xfrm>
            <a:off x="1451579" y="914400"/>
            <a:ext cx="9603275" cy="5029200"/>
          </a:xfrm>
        </p:spPr>
        <p:txBody>
          <a:bodyPr>
            <a:noAutofit/>
          </a:bodyPr>
          <a:lstStyle/>
          <a:p>
            <a:r>
              <a:rPr lang="en-US" sz="1900" b="1" dirty="0">
                <a:latin typeface="Times New Roman" pitchFamily="18" charset="0"/>
                <a:cs typeface="Times New Roman" pitchFamily="18" charset="0"/>
              </a:rPr>
              <a:t>Credit Scoring</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Predictive modeling for assessing creditworthiness</a:t>
            </a:r>
          </a:p>
          <a:p>
            <a:pPr lvl="1"/>
            <a:r>
              <a:rPr lang="en-US" sz="1900" dirty="0">
                <a:latin typeface="Times New Roman" pitchFamily="18" charset="0"/>
                <a:cs typeface="Times New Roman" pitchFamily="18" charset="0"/>
              </a:rPr>
              <a:t>Automated loan approval processes</a:t>
            </a:r>
          </a:p>
          <a:p>
            <a:pPr lvl="1"/>
            <a:r>
              <a:rPr lang="en-US" sz="1900" dirty="0">
                <a:latin typeface="Times New Roman" pitchFamily="18" charset="0"/>
                <a:cs typeface="Times New Roman" pitchFamily="18" charset="0"/>
              </a:rPr>
              <a:t>Risk-based pricing strategies</a:t>
            </a:r>
          </a:p>
          <a:p>
            <a:r>
              <a:rPr lang="en-US" sz="1900" b="1" dirty="0">
                <a:latin typeface="Times New Roman" pitchFamily="18" charset="0"/>
                <a:cs typeface="Times New Roman" pitchFamily="18" charset="0"/>
              </a:rPr>
              <a:t>Fraud Detection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Anomaly detection algorithms for identifying suspicious activities</a:t>
            </a:r>
          </a:p>
          <a:p>
            <a:pPr lvl="1"/>
            <a:r>
              <a:rPr lang="en-US" sz="1900" dirty="0">
                <a:latin typeface="Times New Roman" pitchFamily="18" charset="0"/>
                <a:cs typeface="Times New Roman" pitchFamily="18" charset="0"/>
              </a:rPr>
              <a:t>Real-time transaction monitoring</a:t>
            </a:r>
          </a:p>
          <a:p>
            <a:pPr lvl="1"/>
            <a:r>
              <a:rPr lang="en-US" sz="1900" dirty="0">
                <a:latin typeface="Times New Roman" pitchFamily="18" charset="0"/>
                <a:cs typeface="Times New Roman" pitchFamily="18" charset="0"/>
              </a:rPr>
              <a:t>Behavioral analysis for fraud pattern recognition</a:t>
            </a:r>
          </a:p>
          <a:p>
            <a:r>
              <a:rPr lang="en-US" sz="1900" b="1" dirty="0">
                <a:latin typeface="Times New Roman" pitchFamily="18" charset="0"/>
                <a:cs typeface="Times New Roman" pitchFamily="18" charset="0"/>
              </a:rPr>
              <a:t>Customer Relationship Management (CRM)</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Personalized product recommendations</a:t>
            </a:r>
          </a:p>
          <a:p>
            <a:pPr lvl="1"/>
            <a:r>
              <a:rPr lang="en-US" sz="1900" dirty="0">
                <a:latin typeface="Times New Roman" pitchFamily="18" charset="0"/>
                <a:cs typeface="Times New Roman" pitchFamily="18" charset="0"/>
              </a:rPr>
              <a:t>Churn prediction and customer retention strategies</a:t>
            </a:r>
          </a:p>
          <a:p>
            <a:pPr lvl="1"/>
            <a:r>
              <a:rPr lang="en-US" sz="1900" dirty="0">
                <a:latin typeface="Times New Roman" pitchFamily="18" charset="0"/>
                <a:cs typeface="Times New Roman" pitchFamily="18" charset="0"/>
              </a:rPr>
              <a:t>Customer segmentation for targeted marketing campaigns</a:t>
            </a:r>
          </a:p>
          <a:p>
            <a:endParaRPr lang="en-US" sz="19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0" y="543327"/>
            <a:ext cx="9603275" cy="5562600"/>
          </a:xfrm>
        </p:spPr>
        <p:txBody>
          <a:bodyPr>
            <a:noAutofit/>
          </a:bodyPr>
          <a:lstStyle/>
          <a:p>
            <a:r>
              <a:rPr lang="en-US" sz="1900" b="1" dirty="0">
                <a:latin typeface="Times New Roman" pitchFamily="18" charset="0"/>
                <a:cs typeface="Times New Roman" pitchFamily="18" charset="0"/>
              </a:rPr>
              <a:t>Risk Management</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Market risk analysis using predictive analytics</a:t>
            </a:r>
          </a:p>
          <a:p>
            <a:r>
              <a:rPr lang="en-US" sz="1900" dirty="0">
                <a:latin typeface="Times New Roman" pitchFamily="18" charset="0"/>
                <a:cs typeface="Times New Roman" pitchFamily="18" charset="0"/>
              </a:rPr>
              <a:t>Stress testing and scenario analysis</a:t>
            </a:r>
          </a:p>
          <a:p>
            <a:r>
              <a:rPr lang="en-US" sz="1900" dirty="0">
                <a:latin typeface="Times New Roman" pitchFamily="18" charset="0"/>
                <a:cs typeface="Times New Roman" pitchFamily="18" charset="0"/>
              </a:rPr>
              <a:t>Compliance monitoring and regulatory reporting</a:t>
            </a:r>
          </a:p>
          <a:p>
            <a:r>
              <a:rPr lang="en-US" sz="1900" b="1" dirty="0">
                <a:latin typeface="Times New Roman" pitchFamily="18" charset="0"/>
                <a:cs typeface="Times New Roman" pitchFamily="18" charset="0"/>
              </a:rPr>
              <a:t>Operations Optimization</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Process automation for efficiency gains</a:t>
            </a:r>
          </a:p>
          <a:p>
            <a:r>
              <a:rPr lang="en-US" sz="1900" dirty="0">
                <a:latin typeface="Times New Roman" pitchFamily="18" charset="0"/>
                <a:cs typeface="Times New Roman" pitchFamily="18" charset="0"/>
              </a:rPr>
              <a:t>Predictive maintenance for ATM networks</a:t>
            </a:r>
          </a:p>
          <a:p>
            <a:r>
              <a:rPr lang="en-US" sz="1900" dirty="0">
                <a:latin typeface="Times New Roman" pitchFamily="18" charset="0"/>
                <a:cs typeface="Times New Roman" pitchFamily="18" charset="0"/>
              </a:rPr>
              <a:t>Supply chain optimization for inventory management</a:t>
            </a:r>
          </a:p>
          <a:p>
            <a:r>
              <a:rPr lang="en-US" sz="1900" b="1" dirty="0">
                <a:latin typeface="Times New Roman" pitchFamily="18" charset="0"/>
                <a:cs typeface="Times New Roman" pitchFamily="18" charset="0"/>
              </a:rPr>
              <a:t>Sentiment Analysis</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Social media and customer feedback analysis</a:t>
            </a:r>
          </a:p>
          <a:p>
            <a:r>
              <a:rPr lang="en-US" sz="1900" dirty="0">
                <a:latin typeface="Times New Roman" pitchFamily="18" charset="0"/>
                <a:cs typeface="Times New Roman" pitchFamily="18" charset="0"/>
              </a:rPr>
              <a:t>Brand sentiment tracking</a:t>
            </a:r>
          </a:p>
          <a:p>
            <a:r>
              <a:rPr lang="en-US" sz="1900" dirty="0">
                <a:latin typeface="Times New Roman" pitchFamily="18" charset="0"/>
                <a:cs typeface="Times New Roman" pitchFamily="18" charset="0"/>
              </a:rPr>
              <a:t>Reputation management and crisis response</a:t>
            </a:r>
          </a:p>
          <a:p>
            <a:br>
              <a:rPr lang="en-US" sz="1900" dirty="0">
                <a:latin typeface="Times New Roman" pitchFamily="18" charset="0"/>
                <a:cs typeface="Times New Roman" pitchFamily="18" charset="0"/>
              </a:rPr>
            </a:br>
            <a:endParaRPr lang="en-US" sz="1900" dirty="0">
              <a:latin typeface="Times New Roman" pitchFamily="18" charset="0"/>
              <a:cs typeface="Times New Roman" pitchFamily="18" charset="0"/>
            </a:endParaRPr>
          </a:p>
        </p:txBody>
      </p:sp>
      <p:sp>
        <p:nvSpPr>
          <p:cNvPr id="4" name="Rectangle 3"/>
          <p:cNvSpPr/>
          <p:nvPr/>
        </p:nvSpPr>
        <p:spPr>
          <a:xfrm>
            <a:off x="1905000" y="66273"/>
            <a:ext cx="7467600" cy="477054"/>
          </a:xfrm>
          <a:prstGeom prst="rect">
            <a:avLst/>
          </a:prstGeom>
        </p:spPr>
        <p:txBody>
          <a:bodyPr wrap="square">
            <a:spAutoFit/>
          </a:bodyPr>
          <a:lstStyle/>
          <a:p>
            <a:r>
              <a:rPr lang="en-US" sz="2500" b="1" dirty="0">
                <a:latin typeface="Times New Roman" pitchFamily="18" charset="0"/>
                <a:cs typeface="Times New Roman" pitchFamily="18" charset="0"/>
              </a:rPr>
              <a:t>APPLICATIONS OF DATASCIENCE IN BANKING</a:t>
            </a:r>
            <a:endParaRPr lang="en-US" sz="2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amples of Data Science Applications - Slide 5">
            <a:extLst>
              <a:ext uri="{FF2B5EF4-FFF2-40B4-BE49-F238E27FC236}">
                <a16:creationId xmlns:a16="http://schemas.microsoft.com/office/drawing/2014/main" id="{2687BF7F-3C1C-E170-8847-E0D10040B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0668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508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pplications of Data Science in Supply Chain - Slide 6">
            <a:extLst>
              <a:ext uri="{FF2B5EF4-FFF2-40B4-BE49-F238E27FC236}">
                <a16:creationId xmlns:a16="http://schemas.microsoft.com/office/drawing/2014/main" id="{602DCF45-AC03-ADD5-0DBE-44FA0854D6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0668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410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579" y="172721"/>
            <a:ext cx="9603275" cy="609599"/>
          </a:xfrm>
        </p:spPr>
        <p:txBody>
          <a:bodyPr>
            <a:normAutofit/>
          </a:bodyPr>
          <a:lstStyle/>
          <a:p>
            <a:r>
              <a:rPr lang="en-US" sz="2700" b="1" dirty="0">
                <a:latin typeface="Times New Roman" pitchFamily="18" charset="0"/>
                <a:cs typeface="Times New Roman" pitchFamily="18" charset="0"/>
              </a:rPr>
              <a:t>   Applications of Data Science in Supply Chain</a:t>
            </a:r>
            <a:endParaRPr lang="en-US" sz="2700" dirty="0">
              <a:latin typeface="Times New Roman" pitchFamily="18" charset="0"/>
              <a:cs typeface="Times New Roman" pitchFamily="18" charset="0"/>
            </a:endParaRPr>
          </a:p>
        </p:txBody>
      </p:sp>
      <p:sp>
        <p:nvSpPr>
          <p:cNvPr id="4" name="Content Placeholder 3"/>
          <p:cNvSpPr>
            <a:spLocks noGrp="1"/>
          </p:cNvSpPr>
          <p:nvPr>
            <p:ph idx="1"/>
          </p:nvPr>
        </p:nvSpPr>
        <p:spPr>
          <a:xfrm>
            <a:off x="1451579" y="782320"/>
            <a:ext cx="9603275" cy="5181600"/>
          </a:xfrm>
        </p:spPr>
        <p:txBody>
          <a:bodyPr>
            <a:noAutofit/>
          </a:bodyPr>
          <a:lstStyle/>
          <a:p>
            <a:r>
              <a:rPr lang="en-US" sz="1900" b="1" dirty="0">
                <a:latin typeface="Times New Roman" pitchFamily="18" charset="0"/>
                <a:cs typeface="Times New Roman" pitchFamily="18" charset="0"/>
              </a:rPr>
              <a:t>   Demand Forecasting</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Predictive analytics for accurate demand prediction</a:t>
            </a:r>
          </a:p>
          <a:p>
            <a:pPr lvl="1"/>
            <a:r>
              <a:rPr lang="en-US" sz="1900" dirty="0">
                <a:latin typeface="Times New Roman" pitchFamily="18" charset="0"/>
                <a:cs typeface="Times New Roman" pitchFamily="18" charset="0"/>
              </a:rPr>
              <a:t>Seasonal trend analysis for demand fluctuations</a:t>
            </a:r>
          </a:p>
          <a:p>
            <a:pPr lvl="1"/>
            <a:r>
              <a:rPr lang="en-US" sz="1900" dirty="0">
                <a:latin typeface="Times New Roman" pitchFamily="18" charset="0"/>
                <a:cs typeface="Times New Roman" pitchFamily="18" charset="0"/>
              </a:rPr>
              <a:t>Machine learning models for dynamic forecasting</a:t>
            </a:r>
          </a:p>
          <a:p>
            <a:r>
              <a:rPr lang="en-US" sz="1900" b="1" dirty="0">
                <a:latin typeface="Times New Roman" pitchFamily="18" charset="0"/>
                <a:cs typeface="Times New Roman" pitchFamily="18" charset="0"/>
              </a:rPr>
              <a:t>Inventory Optimization</a:t>
            </a:r>
            <a:endParaRPr lang="en-US" sz="1900" dirty="0">
              <a:latin typeface="Times New Roman" pitchFamily="18" charset="0"/>
              <a:cs typeface="Times New Roman" pitchFamily="18" charset="0"/>
            </a:endParaRPr>
          </a:p>
          <a:p>
            <a:pPr lvl="1"/>
            <a:r>
              <a:rPr lang="en-US" sz="1900" dirty="0">
                <a:latin typeface="Times New Roman" pitchFamily="18" charset="0"/>
                <a:cs typeface="Times New Roman" pitchFamily="18" charset="0"/>
              </a:rPr>
              <a:t>Real-time inventory tracking and management</a:t>
            </a:r>
          </a:p>
          <a:p>
            <a:pPr lvl="1"/>
            <a:r>
              <a:rPr lang="en-US" sz="1900" dirty="0">
                <a:latin typeface="Times New Roman" pitchFamily="18" charset="0"/>
                <a:cs typeface="Times New Roman" pitchFamily="18" charset="0"/>
              </a:rPr>
              <a:t>Automated replenishment based on demand forecasting</a:t>
            </a:r>
          </a:p>
          <a:p>
            <a:pPr lvl="1"/>
            <a:r>
              <a:rPr lang="en-US" sz="1900" dirty="0">
                <a:latin typeface="Times New Roman" pitchFamily="18" charset="0"/>
                <a:cs typeface="Times New Roman" pitchFamily="18" charset="0"/>
              </a:rPr>
              <a:t>Optimization algorithms to minimize carrying costs</a:t>
            </a:r>
          </a:p>
          <a:p>
            <a:r>
              <a:rPr lang="en-US" sz="1900" b="1" dirty="0">
                <a:latin typeface="Times New Roman" pitchFamily="18" charset="0"/>
                <a:cs typeface="Times New Roman" pitchFamily="18" charset="0"/>
              </a:rPr>
              <a:t>Supply Chain Visibility</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Real-time monitoring of shipments and inventory levels</a:t>
            </a:r>
          </a:p>
          <a:p>
            <a:r>
              <a:rPr lang="en-US" sz="1900" dirty="0">
                <a:latin typeface="Times New Roman" pitchFamily="18" charset="0"/>
                <a:cs typeface="Times New Roman" pitchFamily="18" charset="0"/>
              </a:rPr>
              <a:t>Predictive analytics for identifying potential disruptions</a:t>
            </a:r>
          </a:p>
          <a:p>
            <a:r>
              <a:rPr lang="en-US" sz="1900" dirty="0">
                <a:latin typeface="Times New Roman" pitchFamily="18" charset="0"/>
                <a:cs typeface="Times New Roman" pitchFamily="18" charset="0"/>
              </a:rPr>
              <a:t>Block chain technology for enhanced transparency and traceability</a:t>
            </a:r>
          </a:p>
          <a:p>
            <a:pPr>
              <a:buNone/>
            </a:pPr>
            <a:endParaRPr lang="en-US" sz="19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096814"/>
            <a:ext cx="9603275" cy="4343400"/>
          </a:xfrm>
        </p:spPr>
        <p:txBody>
          <a:bodyPr>
            <a:noAutofit/>
          </a:bodyPr>
          <a:lstStyle/>
          <a:p>
            <a:r>
              <a:rPr lang="en-US" sz="1900" b="1" dirty="0">
                <a:latin typeface="Times New Roman" pitchFamily="18" charset="0"/>
                <a:cs typeface="Times New Roman" pitchFamily="18" charset="0"/>
              </a:rPr>
              <a:t>Supplier Relationship Management</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Predictive analytics for supplier performance evaluation</a:t>
            </a:r>
          </a:p>
          <a:p>
            <a:r>
              <a:rPr lang="en-US" sz="1900" dirty="0">
                <a:latin typeface="Times New Roman" pitchFamily="18" charset="0"/>
                <a:cs typeface="Times New Roman" pitchFamily="18" charset="0"/>
              </a:rPr>
              <a:t>Risk assessment and mitigation strategies</a:t>
            </a:r>
          </a:p>
          <a:p>
            <a:r>
              <a:rPr lang="en-US" sz="1900" dirty="0">
                <a:latin typeface="Times New Roman" pitchFamily="18" charset="0"/>
                <a:cs typeface="Times New Roman" pitchFamily="18" charset="0"/>
              </a:rPr>
              <a:t>Supplier collaboration platforms for improved communication</a:t>
            </a:r>
          </a:p>
          <a:p>
            <a:pPr>
              <a:buNone/>
            </a:pPr>
            <a:endParaRPr lang="en-US" sz="1900" dirty="0">
              <a:latin typeface="Times New Roman" pitchFamily="18" charset="0"/>
              <a:cs typeface="Times New Roman" pitchFamily="18" charset="0"/>
            </a:endParaRPr>
          </a:p>
          <a:p>
            <a:r>
              <a:rPr lang="en-US" sz="1900" b="1" dirty="0">
                <a:latin typeface="Times New Roman" pitchFamily="18" charset="0"/>
                <a:cs typeface="Times New Roman" pitchFamily="18" charset="0"/>
              </a:rPr>
              <a:t>Transportation and Logistics Optimization</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Route optimization for efficient transportation</a:t>
            </a:r>
          </a:p>
          <a:p>
            <a:r>
              <a:rPr lang="en-US" sz="1900" dirty="0">
                <a:latin typeface="Times New Roman" pitchFamily="18" charset="0"/>
                <a:cs typeface="Times New Roman" pitchFamily="18" charset="0"/>
              </a:rPr>
              <a:t>Dynamic scheduling to minimize delays and costs</a:t>
            </a:r>
          </a:p>
          <a:p>
            <a:r>
              <a:rPr lang="en-US" sz="1900" dirty="0">
                <a:latin typeface="Times New Roman" pitchFamily="18" charset="0"/>
                <a:cs typeface="Times New Roman" pitchFamily="18" charset="0"/>
              </a:rPr>
              <a:t>Fleet management optimization for resource efficiency</a:t>
            </a:r>
          </a:p>
          <a:p>
            <a:pPr>
              <a:buNone/>
            </a:pPr>
            <a:br>
              <a:rPr lang="en-US" sz="1900" dirty="0">
                <a:latin typeface="Times New Roman" pitchFamily="18" charset="0"/>
                <a:cs typeface="Times New Roman" pitchFamily="18" charset="0"/>
              </a:rPr>
            </a:br>
            <a:endParaRPr lang="en-US" sz="1900" dirty="0">
              <a:latin typeface="Times New Roman" pitchFamily="18" charset="0"/>
              <a:cs typeface="Times New Roman" pitchFamily="18" charset="0"/>
            </a:endParaRPr>
          </a:p>
        </p:txBody>
      </p:sp>
      <p:sp>
        <p:nvSpPr>
          <p:cNvPr id="4" name="Rectangle 3"/>
          <p:cNvSpPr/>
          <p:nvPr/>
        </p:nvSpPr>
        <p:spPr>
          <a:xfrm>
            <a:off x="1905000" y="609600"/>
            <a:ext cx="8458200" cy="477054"/>
          </a:xfrm>
          <a:prstGeom prst="rect">
            <a:avLst/>
          </a:prstGeom>
        </p:spPr>
        <p:txBody>
          <a:bodyPr wrap="square">
            <a:spAutoFit/>
          </a:bodyPr>
          <a:lstStyle/>
          <a:p>
            <a:r>
              <a:rPr lang="en-US" sz="2500" b="1" dirty="0">
                <a:latin typeface="Times New Roman" pitchFamily="18" charset="0"/>
                <a:cs typeface="Times New Roman" pitchFamily="18" charset="0"/>
              </a:rPr>
              <a:t>APPLICATIONS OF DATASCIENCE IN SUPPLY CHAIN</a:t>
            </a:r>
            <a:endParaRPr lang="en-US" sz="2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sldNum" sz="quarter" idx="12"/>
          </p:nvPr>
        </p:nvSpPr>
        <p:spPr>
          <a:prstGeom prst="rect">
            <a:avLst/>
          </a:prstGeom>
        </p:spPr>
        <p:txBody>
          <a:bodyPr vert="horz" wrap="square" lIns="0" tIns="0" rIns="0" bIns="0" rtlCol="0">
            <a:spAutoFit/>
          </a:bodyPr>
          <a:lstStyle/>
          <a:p>
            <a:pPr marL="38100">
              <a:lnSpc>
                <a:spcPts val="1080"/>
              </a:lnSpc>
            </a:pPr>
            <a:r>
              <a:rPr dirty="0"/>
              <a:t>8</a:t>
            </a:r>
          </a:p>
        </p:txBody>
      </p:sp>
      <p:sp>
        <p:nvSpPr>
          <p:cNvPr id="13" name="Rounded Rectangle 17">
            <a:extLst>
              <a:ext uri="{FF2B5EF4-FFF2-40B4-BE49-F238E27FC236}">
                <a16:creationId xmlns:a16="http://schemas.microsoft.com/office/drawing/2014/main" id="{4DF644C1-D688-0E53-B57B-AD7AC2C03A6F}"/>
              </a:ext>
            </a:extLst>
          </p:cNvPr>
          <p:cNvSpPr/>
          <p:nvPr/>
        </p:nvSpPr>
        <p:spPr>
          <a:xfrm>
            <a:off x="3048000" y="970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 MACHINE LEARNING, AND DATA SCIENCE</a:t>
            </a:r>
          </a:p>
        </p:txBody>
      </p:sp>
      <p:pic>
        <p:nvPicPr>
          <p:cNvPr id="2" name="Google Shape;100;p12">
            <a:extLst>
              <a:ext uri="{FF2B5EF4-FFF2-40B4-BE49-F238E27FC236}">
                <a16:creationId xmlns:a16="http://schemas.microsoft.com/office/drawing/2014/main" id="{6257BBED-9368-F520-AAA2-4D0DC30C2C3F}"/>
              </a:ext>
            </a:extLst>
          </p:cNvPr>
          <p:cNvPicPr preferRelativeResize="0"/>
          <p:nvPr/>
        </p:nvPicPr>
        <p:blipFill>
          <a:blip r:embed="rId2">
            <a:alphaModFix/>
          </a:blip>
          <a:stretch>
            <a:fillRect/>
          </a:stretch>
        </p:blipFill>
        <p:spPr>
          <a:xfrm>
            <a:off x="1447800" y="575077"/>
            <a:ext cx="9753600" cy="5520924"/>
          </a:xfrm>
          <a:prstGeom prst="rect">
            <a:avLst/>
          </a:prstGeom>
          <a:noFill/>
          <a:ln>
            <a:noFill/>
          </a:ln>
        </p:spPr>
      </p:pic>
    </p:spTree>
    <p:extLst>
      <p:ext uri="{BB962C8B-B14F-4D97-AF65-F5344CB8AC3E}">
        <p14:creationId xmlns:p14="http://schemas.microsoft.com/office/powerpoint/2010/main" val="30798715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A0B25DC2-1570-487D-893E-03668D702D9D}"/>
              </a:ext>
            </a:extLst>
          </p:cNvPr>
          <p:cNvSpPr/>
          <p:nvPr/>
        </p:nvSpPr>
        <p:spPr>
          <a:xfrm>
            <a:off x="3048000" y="970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DATA SCIENCE CLASSIFICATION</a:t>
            </a:r>
          </a:p>
        </p:txBody>
      </p:sp>
      <p:pic>
        <p:nvPicPr>
          <p:cNvPr id="6" name="Google Shape;119;p15">
            <a:extLst>
              <a:ext uri="{FF2B5EF4-FFF2-40B4-BE49-F238E27FC236}">
                <a16:creationId xmlns:a16="http://schemas.microsoft.com/office/drawing/2014/main" id="{C97DCA96-391E-D64E-D83A-20350243B223}"/>
              </a:ext>
            </a:extLst>
          </p:cNvPr>
          <p:cNvPicPr preferRelativeResize="0">
            <a:picLocks noGrp="1"/>
          </p:cNvPicPr>
          <p:nvPr>
            <p:ph idx="1"/>
          </p:nvPr>
        </p:nvPicPr>
        <p:blipFill>
          <a:blip r:embed="rId2">
            <a:alphaModFix/>
          </a:blip>
          <a:stretch>
            <a:fillRect/>
          </a:stretch>
        </p:blipFill>
        <p:spPr>
          <a:xfrm>
            <a:off x="1905000" y="838200"/>
            <a:ext cx="8839200" cy="5334000"/>
          </a:xfrm>
          <a:prstGeom prst="rect">
            <a:avLst/>
          </a:prstGeom>
          <a:noFill/>
          <a:ln>
            <a:noFill/>
          </a:ln>
        </p:spPr>
      </p:pic>
    </p:spTree>
    <p:extLst>
      <p:ext uri="{BB962C8B-B14F-4D97-AF65-F5344CB8AC3E}">
        <p14:creationId xmlns:p14="http://schemas.microsoft.com/office/powerpoint/2010/main" val="2841432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oogle Shape;124;p16">
            <a:extLst>
              <a:ext uri="{FF2B5EF4-FFF2-40B4-BE49-F238E27FC236}">
                <a16:creationId xmlns:a16="http://schemas.microsoft.com/office/drawing/2014/main" id="{820781DA-1FEE-5422-95D8-ED8B16EAB5AF}"/>
              </a:ext>
            </a:extLst>
          </p:cNvPr>
          <p:cNvGraphicFramePr>
            <a:graphicFrameLocks noGrp="1"/>
          </p:cNvGraphicFramePr>
          <p:nvPr>
            <p:ph idx="1"/>
          </p:nvPr>
        </p:nvGraphicFramePr>
        <p:xfrm>
          <a:off x="1524000" y="-14748"/>
          <a:ext cx="9906001" cy="6218968"/>
        </p:xfrm>
        <a:graphic>
          <a:graphicData uri="http://schemas.openxmlformats.org/drawingml/2006/table">
            <a:tbl>
              <a:tblPr>
                <a:noFill/>
              </a:tblPr>
              <a:tblGrid>
                <a:gridCol w="1941349">
                  <a:extLst>
                    <a:ext uri="{9D8B030D-6E8A-4147-A177-3AD203B41FA5}">
                      <a16:colId xmlns:a16="http://schemas.microsoft.com/office/drawing/2014/main" val="20000"/>
                    </a:ext>
                  </a:extLst>
                </a:gridCol>
                <a:gridCol w="2684061">
                  <a:extLst>
                    <a:ext uri="{9D8B030D-6E8A-4147-A177-3AD203B41FA5}">
                      <a16:colId xmlns:a16="http://schemas.microsoft.com/office/drawing/2014/main" val="20001"/>
                    </a:ext>
                  </a:extLst>
                </a:gridCol>
                <a:gridCol w="2146162">
                  <a:extLst>
                    <a:ext uri="{9D8B030D-6E8A-4147-A177-3AD203B41FA5}">
                      <a16:colId xmlns:a16="http://schemas.microsoft.com/office/drawing/2014/main" val="20002"/>
                    </a:ext>
                  </a:extLst>
                </a:gridCol>
                <a:gridCol w="3134429">
                  <a:extLst>
                    <a:ext uri="{9D8B030D-6E8A-4147-A177-3AD203B41FA5}">
                      <a16:colId xmlns:a16="http://schemas.microsoft.com/office/drawing/2014/main" val="20003"/>
                    </a:ext>
                  </a:extLst>
                </a:gridCol>
              </a:tblGrid>
              <a:tr h="355251">
                <a:tc>
                  <a:txBody>
                    <a:bodyPr/>
                    <a:lstStyle/>
                    <a:p>
                      <a:pPr marL="63500" lvl="0" indent="0" algn="just" rtl="0">
                        <a:lnSpc>
                          <a:spcPct val="115000"/>
                        </a:lnSpc>
                        <a:spcBef>
                          <a:spcPts val="0"/>
                        </a:spcBef>
                        <a:spcAft>
                          <a:spcPts val="0"/>
                        </a:spcAft>
                        <a:buNone/>
                      </a:pPr>
                      <a:r>
                        <a:rPr lang="en-US" sz="1400" dirty="0"/>
                        <a:t>Tasks</a:t>
                      </a:r>
                      <a:endParaRPr sz="1400" dirty="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a:txBody>
                    <a:bodyPr/>
                    <a:lstStyle/>
                    <a:p>
                      <a:pPr marL="63500" lvl="0" indent="0" algn="just" rtl="0">
                        <a:lnSpc>
                          <a:spcPct val="115000"/>
                        </a:lnSpc>
                        <a:spcBef>
                          <a:spcPts val="0"/>
                        </a:spcBef>
                        <a:spcAft>
                          <a:spcPts val="0"/>
                        </a:spcAft>
                        <a:buNone/>
                      </a:pPr>
                      <a:r>
                        <a:rPr lang="en-US" sz="1400"/>
                        <a:t>Description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a:txBody>
                    <a:bodyPr/>
                    <a:lstStyle/>
                    <a:p>
                      <a:pPr marL="63500" lvl="0" indent="0" algn="just" rtl="0">
                        <a:lnSpc>
                          <a:spcPct val="115000"/>
                        </a:lnSpc>
                        <a:spcBef>
                          <a:spcPts val="0"/>
                        </a:spcBef>
                        <a:spcAft>
                          <a:spcPts val="0"/>
                        </a:spcAft>
                        <a:buNone/>
                      </a:pPr>
                      <a:r>
                        <a:rPr lang="en-US" sz="1400"/>
                        <a:t>Algorithms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a:txBody>
                    <a:bodyPr/>
                    <a:lstStyle/>
                    <a:p>
                      <a:pPr marL="63500" lvl="0" indent="0" algn="just" rtl="0">
                        <a:lnSpc>
                          <a:spcPct val="115000"/>
                        </a:lnSpc>
                        <a:spcBef>
                          <a:spcPts val="0"/>
                        </a:spcBef>
                        <a:spcAft>
                          <a:spcPts val="0"/>
                        </a:spcAft>
                        <a:buNone/>
                      </a:pPr>
                      <a:r>
                        <a:rPr lang="en-US" sz="1400" dirty="0"/>
                        <a:t>Examples</a:t>
                      </a:r>
                      <a:endParaRPr sz="1400" dirty="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1088506">
                <a:tc>
                  <a:txBody>
                    <a:bodyPr/>
                    <a:lstStyle/>
                    <a:p>
                      <a:pPr marL="63500" lvl="0" indent="0" algn="just" rtl="0">
                        <a:lnSpc>
                          <a:spcPct val="115000"/>
                        </a:lnSpc>
                        <a:spcBef>
                          <a:spcPts val="0"/>
                        </a:spcBef>
                        <a:spcAft>
                          <a:spcPts val="0"/>
                        </a:spcAft>
                        <a:buNone/>
                      </a:pPr>
                      <a:r>
                        <a:rPr lang="en-US" sz="1400"/>
                        <a:t>Classification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dirty="0"/>
                        <a:t>Predict if a data point belongs to one of predefined classes. The </a:t>
                      </a:r>
                      <a:r>
                        <a:rPr lang="en-US" sz="1400" dirty="0">
                          <a:solidFill>
                            <a:srgbClr val="FF0000"/>
                          </a:solidFill>
                        </a:rPr>
                        <a:t>prediction will be based on learning from known data set.</a:t>
                      </a:r>
                      <a:endParaRPr sz="1400" dirty="0">
                        <a:solidFill>
                          <a:srgbClr val="FF0000"/>
                        </a:solidFill>
                      </a:endParaRPr>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Decision Trees, Neural networks, Bayesian models, Induction rules, K nearest neighbors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Assigning voters into known buckets by political parties eg: soccer moms. Bucketing new customers into one of known customer groups.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74186">
                <a:tc>
                  <a:txBody>
                    <a:bodyPr/>
                    <a:lstStyle/>
                    <a:p>
                      <a:pPr marL="63500" lvl="0" indent="0" algn="just" rtl="0">
                        <a:lnSpc>
                          <a:spcPct val="115000"/>
                        </a:lnSpc>
                        <a:spcBef>
                          <a:spcPts val="0"/>
                        </a:spcBef>
                        <a:spcAft>
                          <a:spcPts val="0"/>
                        </a:spcAft>
                        <a:buNone/>
                      </a:pPr>
                      <a:r>
                        <a:rPr lang="en-US" sz="1400"/>
                        <a:t>Regression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Predict the numeric target label of a data point. The prediction will be based on learning from known data set.</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Linear regression, Logistic regression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dirty="0"/>
                        <a:t>Predicting unemployment rate for next year. Estimating insurance premium. </a:t>
                      </a:r>
                      <a:endParaRPr sz="1400" dirty="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3174">
                <a:tc>
                  <a:txBody>
                    <a:bodyPr/>
                    <a:lstStyle/>
                    <a:p>
                      <a:pPr marL="63500" lvl="0" indent="0" algn="just" rtl="0">
                        <a:lnSpc>
                          <a:spcPct val="115000"/>
                        </a:lnSpc>
                        <a:spcBef>
                          <a:spcPts val="0"/>
                        </a:spcBef>
                        <a:spcAft>
                          <a:spcPts val="0"/>
                        </a:spcAft>
                        <a:buNone/>
                      </a:pPr>
                      <a:r>
                        <a:rPr lang="en-US" sz="1400"/>
                        <a:t>Anomaly detection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Predict if a data point is an outlier compared to other data points in the data set.</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dirty="0"/>
                        <a:t>Distance based, Density based, LOF</a:t>
                      </a:r>
                      <a:endParaRPr sz="1400" dirty="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Fraud transaction detection in credit cards. Network intrusion detection.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43391">
                <a:tc>
                  <a:txBody>
                    <a:bodyPr/>
                    <a:lstStyle/>
                    <a:p>
                      <a:pPr marL="63500" lvl="0" indent="0" algn="just" rtl="0">
                        <a:lnSpc>
                          <a:spcPct val="115000"/>
                        </a:lnSpc>
                        <a:spcBef>
                          <a:spcPts val="0"/>
                        </a:spcBef>
                        <a:spcAft>
                          <a:spcPts val="0"/>
                        </a:spcAft>
                        <a:buNone/>
                      </a:pPr>
                      <a:r>
                        <a:rPr lang="en-US" sz="1400"/>
                        <a:t>Time series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Predict if the value of the target variable for future time frame based on history values.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Exponential smoothing, ARIMA, regression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Sales forecasting, production forecasting, virtually any growth phenomenon that needs to be extrapolated</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811933">
                <a:tc>
                  <a:txBody>
                    <a:bodyPr/>
                    <a:lstStyle/>
                    <a:p>
                      <a:pPr marL="63500" lvl="0" indent="0" algn="just" rtl="0">
                        <a:lnSpc>
                          <a:spcPct val="115000"/>
                        </a:lnSpc>
                        <a:spcBef>
                          <a:spcPts val="0"/>
                        </a:spcBef>
                        <a:spcAft>
                          <a:spcPts val="0"/>
                        </a:spcAft>
                        <a:buNone/>
                      </a:pPr>
                      <a:r>
                        <a:rPr lang="en-US" sz="1400"/>
                        <a:t>Clustering</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Identify natural clusters within the data set based on inherit properties within the data set.</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K means, density based clustering - DBSCAN</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Finding customer segments in a company based on transaction, web and customer call data.</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784307">
                <a:tc>
                  <a:txBody>
                    <a:bodyPr/>
                    <a:lstStyle/>
                    <a:p>
                      <a:pPr marL="63500" lvl="0" indent="0" algn="just" rtl="0">
                        <a:lnSpc>
                          <a:spcPct val="115000"/>
                        </a:lnSpc>
                        <a:spcBef>
                          <a:spcPts val="0"/>
                        </a:spcBef>
                        <a:spcAft>
                          <a:spcPts val="0"/>
                        </a:spcAft>
                        <a:buNone/>
                      </a:pPr>
                      <a:r>
                        <a:rPr lang="en-US" sz="1400"/>
                        <a:t>Association analysis</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Identify relationships within an itemset based on transaction data.</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a:t>FP Growth, Apriori</a:t>
                      </a:r>
                      <a:endParaRPr sz="140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00" lvl="0" indent="0" algn="just" rtl="0">
                        <a:lnSpc>
                          <a:spcPct val="115000"/>
                        </a:lnSpc>
                        <a:spcBef>
                          <a:spcPts val="0"/>
                        </a:spcBef>
                        <a:spcAft>
                          <a:spcPts val="0"/>
                        </a:spcAft>
                        <a:buNone/>
                      </a:pPr>
                      <a:r>
                        <a:rPr lang="en-US" sz="1400" dirty="0"/>
                        <a:t>Find cross selling opportunities for a retailor based on transaction purchase history.</a:t>
                      </a:r>
                      <a:endParaRPr sz="1400" dirty="0"/>
                    </a:p>
                  </a:txBody>
                  <a:tcPr marL="68575" marR="68575"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20674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143060" y="67404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Data science is also known as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143060" y="1515251"/>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Tx/>
              <a:buAutoNum type="alphaLcParenBoth"/>
            </a:pPr>
            <a:r>
              <a:rPr lang="en-US" altLang="en-US" sz="1600" dirty="0"/>
              <a:t>Data Driven science</a:t>
            </a:r>
          </a:p>
          <a:p>
            <a:pPr marL="342900" indent="-342900">
              <a:lnSpc>
                <a:spcPct val="150000"/>
              </a:lnSpc>
              <a:buFontTx/>
              <a:buAutoNum type="alphaLcParenBoth"/>
            </a:pPr>
            <a:r>
              <a:rPr lang="en-US" altLang="en-US" sz="1600" dirty="0"/>
              <a:t>Data Mining </a:t>
            </a:r>
          </a:p>
          <a:p>
            <a:pPr marL="342900" indent="-342900">
              <a:lnSpc>
                <a:spcPct val="150000"/>
              </a:lnSpc>
              <a:buFontTx/>
              <a:buAutoNum type="alphaLcParenBoth"/>
            </a:pPr>
            <a:r>
              <a:rPr lang="en-US" altLang="en-US" sz="1600" dirty="0"/>
              <a:t>Big data</a:t>
            </a:r>
          </a:p>
          <a:p>
            <a:pPr marL="342900" indent="-342900">
              <a:lnSpc>
                <a:spcPct val="150000"/>
              </a:lnSpc>
              <a:buAutoNum type="alphaLcParenBoth"/>
            </a:pPr>
            <a:r>
              <a:rPr lang="en-US" sz="1600" dirty="0"/>
              <a:t>Information </a:t>
            </a:r>
            <a:r>
              <a:rPr lang="en-US" sz="1600" dirty="0" err="1"/>
              <a:t>retrival</a:t>
            </a:r>
            <a:endParaRPr lang="en-US" sz="1600" dirty="0"/>
          </a:p>
        </p:txBody>
      </p:sp>
      <p:sp>
        <p:nvSpPr>
          <p:cNvPr id="5" name="Google Shape;502;p17">
            <a:extLst>
              <a:ext uri="{FF2B5EF4-FFF2-40B4-BE49-F238E27FC236}">
                <a16:creationId xmlns:a16="http://schemas.microsoft.com/office/drawing/2014/main" id="{A2D81F24-326F-C87F-4DB8-F812735EB045}"/>
              </a:ext>
            </a:extLst>
          </p:cNvPr>
          <p:cNvSpPr/>
          <p:nvPr/>
        </p:nvSpPr>
        <p:spPr>
          <a:xfrm>
            <a:off x="742056" y="3419362"/>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1600" dirty="0">
                <a:solidFill>
                  <a:schemeClr val="bg1"/>
                </a:solidFill>
                <a:latin typeface="Poppins" panose="00000500000000000000" pitchFamily="2" charset="0"/>
                <a:ea typeface="Calibri"/>
                <a:cs typeface="Poppins" panose="00000500000000000000" pitchFamily="2" charset="0"/>
              </a:rPr>
              <a:t>2. </a:t>
            </a:r>
            <a:r>
              <a:rPr lang="en-US" sz="1600" dirty="0">
                <a:solidFill>
                  <a:schemeClr val="bg1"/>
                </a:solidFill>
                <a:latin typeface="Poppins" panose="00000500000000000000" pitchFamily="2" charset="0"/>
                <a:ea typeface="Calibri"/>
                <a:cs typeface="Poppins" panose="00000500000000000000" pitchFamily="2" charset="0"/>
              </a:rPr>
              <a:t>Data preprocessing, cleaning, and feature engineering.</a:t>
            </a:r>
          </a:p>
          <a:p>
            <a:endParaRPr lang="en-IN" sz="1600" dirty="0">
              <a:solidFill>
                <a:schemeClr val="bg1"/>
              </a:solidFill>
              <a:latin typeface="Poppins" panose="00000500000000000000" pitchFamily="2" charset="0"/>
              <a:ea typeface="Calibri"/>
              <a:cs typeface="Poppins" panose="00000500000000000000" pitchFamily="2" charset="0"/>
            </a:endParaRPr>
          </a:p>
        </p:txBody>
      </p:sp>
      <p:sp>
        <p:nvSpPr>
          <p:cNvPr id="10" name="Rounded Rectangle 17">
            <a:extLst>
              <a:ext uri="{FF2B5EF4-FFF2-40B4-BE49-F238E27FC236}">
                <a16:creationId xmlns:a16="http://schemas.microsoft.com/office/drawing/2014/main" id="{4CA626F5-3E8E-9CEF-D379-7D7C5B644948}"/>
              </a:ext>
            </a:extLst>
          </p:cNvPr>
          <p:cNvSpPr/>
          <p:nvPr/>
        </p:nvSpPr>
        <p:spPr>
          <a:xfrm>
            <a:off x="995362" y="4209520"/>
            <a:ext cx="972652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a:t>
            </a:r>
            <a:r>
              <a:rPr lang="en-US" b="1" dirty="0"/>
              <a:t>Data Scientist</a:t>
            </a:r>
            <a:endParaRPr lang="en-US" dirty="0"/>
          </a:p>
          <a:p>
            <a:pPr>
              <a:lnSpc>
                <a:spcPct val="150000"/>
              </a:lnSpc>
            </a:pPr>
            <a:r>
              <a:rPr lang="en-US" dirty="0"/>
              <a:t>b) </a:t>
            </a:r>
            <a:r>
              <a:rPr lang="en-US" sz="1600" b="1" dirty="0"/>
              <a:t>Machine Learning Engineer</a:t>
            </a:r>
            <a:br>
              <a:rPr lang="en-US" sz="1600" dirty="0"/>
            </a:br>
            <a:r>
              <a:rPr lang="en-US" dirty="0"/>
              <a:t>c) </a:t>
            </a:r>
            <a:r>
              <a:rPr lang="en-US" b="1" dirty="0"/>
              <a:t>Data Analyst</a:t>
            </a:r>
            <a:endParaRPr lang="en-US" dirty="0"/>
          </a:p>
          <a:p>
            <a:pPr>
              <a:lnSpc>
                <a:spcPct val="150000"/>
              </a:lnSpc>
            </a:pPr>
            <a:r>
              <a:rPr lang="en-US" dirty="0"/>
              <a:t>d)None </a:t>
            </a:r>
            <a:endParaRPr lang="en-US" sz="1600" dirty="0"/>
          </a:p>
        </p:txBody>
      </p:sp>
    </p:spTree>
    <p:extLst>
      <p:ext uri="{BB962C8B-B14F-4D97-AF65-F5344CB8AC3E}">
        <p14:creationId xmlns:p14="http://schemas.microsoft.com/office/powerpoint/2010/main" val="35646548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5" grpId="0" animBg="1"/>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a:latin typeface="Poppins" pitchFamily="2" charset="77"/>
                <a:cs typeface="Poppins" pitchFamily="2" charset="77"/>
              </a:rPr>
              <a:t>– DS</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DAV</Template>
  <TotalTime>1542</TotalTime>
  <Words>2245</Words>
  <Application>Microsoft Office PowerPoint</Application>
  <PresentationFormat>Widescreen</PresentationFormat>
  <Paragraphs>348</Paragraphs>
  <Slides>40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Arial</vt:lpstr>
      <vt:lpstr>Arial MT</vt:lpstr>
      <vt:lpstr>BioRhyme ExtraBold</vt:lpstr>
      <vt:lpstr>Calibri</vt:lpstr>
      <vt:lpstr>Calibri Light</vt:lpstr>
      <vt:lpstr>Gill Sans MT</vt:lpstr>
      <vt:lpstr>Poppins</vt:lpstr>
      <vt:lpstr>Times New Roman</vt:lpstr>
      <vt:lpstr>Wingdings</vt:lpstr>
      <vt:lpstr>Gallery</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Applications of Data Science in Finance</vt:lpstr>
      <vt:lpstr>PowerPoint Presentation</vt:lpstr>
      <vt:lpstr>PowerPoint Presentation</vt:lpstr>
      <vt:lpstr>         Applications of Data Science in Banking</vt:lpstr>
      <vt:lpstr>PowerPoint Presentation</vt:lpstr>
      <vt:lpstr>PowerPoint Presentation</vt:lpstr>
      <vt:lpstr>PowerPoint Presentation</vt:lpstr>
      <vt:lpstr>   Applications of Data Science in Supply Chain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sunanda nalajala</cp:lastModifiedBy>
  <cp:revision>103</cp:revision>
  <dcterms:created xsi:type="dcterms:W3CDTF">2023-10-26T04:57:25Z</dcterms:created>
  <dcterms:modified xsi:type="dcterms:W3CDTF">2026-07-20T04:16:36Z</dcterms:modified>
</cp:coreProperties>
</file>