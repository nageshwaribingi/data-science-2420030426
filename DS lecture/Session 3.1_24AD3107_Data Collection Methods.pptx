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256" r:id="rId2"/>
    <p:sldId id="300" r:id="rId3"/>
    <p:sldId id="413" r:id="rId4"/>
    <p:sldId id="414" r:id="rId5"/>
    <p:sldId id="415" r:id="rId6"/>
    <p:sldId id="416" r:id="rId7"/>
    <p:sldId id="417" r:id="rId8"/>
    <p:sldId id="418" r:id="rId9"/>
    <p:sldId id="419" r:id="rId10"/>
    <p:sldId id="420" r:id="rId11"/>
    <p:sldId id="421" r:id="rId12"/>
    <p:sldId id="422" r:id="rId13"/>
    <p:sldId id="423" r:id="rId14"/>
    <p:sldId id="441"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304" r:id="rId33"/>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595"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7.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of </a:t>
            </a:r>
            <a:r>
              <a:rPr lang="en-US" sz="4000" dirty="0" smtClean="0">
                <a:solidFill>
                  <a:srgbClr val="00B0F0"/>
                </a:solidFill>
                <a:cs typeface="Poppins" pitchFamily="2" charset="77"/>
              </a:rPr>
              <a:t>CSE,CSIT</a:t>
            </a:r>
            <a:endParaRPr lang="en-US" sz="4000" dirty="0">
              <a:solidFill>
                <a:srgbClr val="00B0F0"/>
              </a:solidFill>
              <a:cs typeface="Poppins" pitchFamily="2" charset="77"/>
            </a:endParaRPr>
          </a:p>
        </p:txBody>
      </p:sp>
      <p:sp>
        <p:nvSpPr>
          <p:cNvPr id="6" name="Google Shape;476;p16">
            <a:extLst>
              <a:ext uri="{FF2B5EF4-FFF2-40B4-BE49-F238E27FC236}">
                <a16:creationId xmlns="" xmlns:a16="http://schemas.microsoft.com/office/drawing/2014/main" id="{84A891A9-D46F-5E9B-65D6-C64F832A0362}"/>
              </a:ext>
            </a:extLst>
          </p:cNvPr>
          <p:cNvSpPr txBox="1"/>
          <p:nvPr/>
        </p:nvSpPr>
        <p:spPr>
          <a:xfrm>
            <a:off x="1595120" y="2048911"/>
            <a:ext cx="8218565" cy="249295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a:t>
            </a:r>
            <a:r>
              <a:rPr lang="en-US" sz="3200" b="1" cap="all" dirty="0" smtClean="0">
                <a:ln/>
                <a:solidFill>
                  <a:srgbClr val="C00000"/>
                </a:solidFill>
                <a:cs typeface="Poppins" panose="00000500000000000000" pitchFamily="2" charset="0"/>
                <a:sym typeface="BioRhyme ExtraBold"/>
              </a:rPr>
              <a:t>science</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a:t>
            </a:r>
            <a:r>
              <a:rPr lang="en-US" sz="3200" b="1" cap="all" dirty="0" smtClean="0">
                <a:ln/>
                <a:solidFill>
                  <a:srgbClr val="00B0F0"/>
                </a:solidFill>
                <a:cs typeface="Poppins" panose="00000500000000000000" pitchFamily="2" charset="0"/>
                <a:sym typeface="BioRhyme ExtraBold"/>
              </a:rPr>
              <a:t>23SC3201</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3200" b="1" cap="all" dirty="0">
              <a:ln/>
              <a:solidFill>
                <a:srgbClr val="C00000"/>
              </a:solidFill>
              <a:ea typeface="BioRhyme ExtraBold"/>
              <a:cs typeface="Poppins" panose="00000500000000000000" pitchFamily="2" charset="0"/>
              <a:sym typeface="BioRhyme ExtraBold"/>
            </a:endParaRPr>
          </a:p>
          <a:p>
            <a:pPr algn="ctr"/>
            <a:r>
              <a:rPr lang="en-IN" sz="3200" b="1" dirty="0" smtClean="0">
                <a:solidFill>
                  <a:srgbClr val="C00000"/>
                </a:solidFill>
              </a:rPr>
              <a:t>DATA COLLECTION METHODS</a:t>
            </a:r>
            <a:r>
              <a:rPr lang="en-IN" sz="3200" dirty="0"/>
              <a:t>	</a:t>
            </a: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p:txBody>
      </p:sp>
      <p:sp>
        <p:nvSpPr>
          <p:cNvPr id="7" name="Google Shape;502;p17">
            <a:extLst>
              <a:ext uri="{FF2B5EF4-FFF2-40B4-BE49-F238E27FC236}">
                <a16:creationId xmlns=""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a:t>
            </a:r>
            <a:r>
              <a:rPr lang="en-US" sz="2800" b="1" dirty="0" smtClean="0">
                <a:solidFill>
                  <a:schemeClr val="lt1"/>
                </a:solidFill>
                <a:ea typeface="Calibri"/>
                <a:cs typeface="Poppins" panose="00000500000000000000" pitchFamily="2" charset="0"/>
                <a:sym typeface="Calibri"/>
              </a:rPr>
              <a:t>4</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1110343" y="689855"/>
            <a:ext cx="10731286" cy="41787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z="1600" b="1" dirty="0">
                <a:solidFill>
                  <a:srgbClr val="C00000"/>
                </a:solidFill>
              </a:rPr>
              <a:t> </a:t>
            </a:r>
            <a:r>
              <a:rPr lang="en-US" sz="1600" b="1" dirty="0" smtClean="0"/>
              <a:t>DATA COLLECTION METHODS </a:t>
            </a:r>
            <a:r>
              <a:rPr lang="en-US" sz="1600" b="0" i="0" dirty="0" smtClean="0">
                <a:effectLst/>
                <a:latin typeface="Poppins"/>
                <a:cs typeface="Poppins"/>
              </a:rPr>
              <a:t>in </a:t>
            </a:r>
            <a:r>
              <a:rPr lang="en-US" sz="1600" b="0" i="0" dirty="0">
                <a:effectLst/>
                <a:latin typeface="Poppins"/>
                <a:cs typeface="Poppins"/>
              </a:rPr>
              <a:t>Data </a:t>
            </a:r>
            <a:r>
              <a:rPr lang="en-US" sz="1600" dirty="0">
                <a:latin typeface="Poppins"/>
                <a:cs typeface="Poppins"/>
              </a:rPr>
              <a:t>science</a:t>
            </a:r>
            <a:endParaRPr lang="en-US" sz="1600" b="0" i="0" dirty="0">
              <a:effectLst/>
              <a:latin typeface="Poppins"/>
              <a:cs typeface="Poppins"/>
            </a:endParaRP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9982200" cy="58477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dirty="0">
                <a:latin typeface="Poppins"/>
                <a:cs typeface="Poppins"/>
              </a:rPr>
              <a:t>Introduction about </a:t>
            </a:r>
            <a:r>
              <a:rPr lang="en-US" sz="1600" b="1" dirty="0"/>
              <a:t>DATA COLLECTION METHODS </a:t>
            </a:r>
            <a:r>
              <a:rPr lang="en-US" sz="1600" dirty="0" smtClean="0">
                <a:latin typeface="Poppins"/>
                <a:cs typeface="Poppins"/>
              </a:rPr>
              <a:t>in  </a:t>
            </a:r>
            <a:r>
              <a:rPr lang="en-US" sz="1600" dirty="0">
                <a:latin typeface="Poppins"/>
                <a:cs typeface="Poppins"/>
              </a:rPr>
              <a:t>Data Science </a:t>
            </a:r>
            <a:endParaRPr lang="en-US" sz="1600" b="0" i="0" dirty="0">
              <a:effectLst/>
              <a:latin typeface="Poppins"/>
              <a:cs typeface="Poppins"/>
            </a:endParaRPr>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47684" y="4863626"/>
            <a:ext cx="9906000"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basic knowledge about </a:t>
            </a:r>
            <a:r>
              <a:rPr lang="en-US" sz="1600" b="1" dirty="0"/>
              <a:t>DATA COLLECTION METHODS </a:t>
            </a:r>
            <a:endParaRPr lang="en-US" sz="1600" b="1" i="0" dirty="0">
              <a:effectLst/>
              <a:latin typeface="Arial"/>
              <a:cs typeface="Arial"/>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lstStyle/>
          <a:p>
            <a:pPr algn="just"/>
            <a:r>
              <a:rPr lang="en-US" dirty="0">
                <a:latin typeface="Times New Roman" panose="02020603050405020304" pitchFamily="18" charset="0"/>
                <a:cs typeface="Times New Roman" panose="02020603050405020304" pitchFamily="18" charset="0"/>
              </a:rPr>
              <a:t>Data collection is a process of collecting data from different sources to do research or explore it for different purposes. It helps to find business insights or data insights. Some of the common examples of data analysis are social sciences, business, and healthcare.</a:t>
            </a:r>
          </a:p>
          <a:p>
            <a:pPr algn="just"/>
            <a:r>
              <a:rPr lang="en-US" dirty="0">
                <a:latin typeface="Times New Roman" panose="02020603050405020304" pitchFamily="18" charset="0"/>
                <a:cs typeface="Times New Roman" panose="02020603050405020304" pitchFamily="18" charset="0"/>
              </a:rPr>
              <a:t>There are two types of data collection −</a:t>
            </a:r>
          </a:p>
          <a:p>
            <a:pPr algn="just"/>
            <a:r>
              <a:rPr lang="en-US" dirty="0">
                <a:latin typeface="Times New Roman" panose="02020603050405020304" pitchFamily="18" charset="0"/>
                <a:cs typeface="Times New Roman" panose="02020603050405020304" pitchFamily="18" charset="0"/>
              </a:rPr>
              <a:t>Primary data collection</a:t>
            </a:r>
          </a:p>
          <a:p>
            <a:pPr algn="just"/>
            <a:r>
              <a:rPr lang="en-US" dirty="0">
                <a:latin typeface="Times New Roman" panose="02020603050405020304" pitchFamily="18" charset="0"/>
                <a:cs typeface="Times New Roman" panose="02020603050405020304" pitchFamily="18" charset="0"/>
              </a:rPr>
              <a:t>Secondary data collection</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2396838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506200" cy="5334000"/>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1. Primary Data Collection</a:t>
            </a:r>
          </a:p>
          <a:p>
            <a:pPr algn="just"/>
            <a:r>
              <a:rPr lang="en-US" dirty="0" smtClean="0">
                <a:latin typeface="Times New Roman" panose="02020603050405020304" pitchFamily="18" charset="0"/>
                <a:cs typeface="Times New Roman" panose="02020603050405020304" pitchFamily="18" charset="0"/>
              </a:rPr>
              <a:t>It collects </a:t>
            </a:r>
            <a:r>
              <a:rPr lang="en-US" dirty="0">
                <a:latin typeface="Times New Roman" panose="02020603050405020304" pitchFamily="18" charset="0"/>
                <a:cs typeface="Times New Roman" panose="02020603050405020304" pitchFamily="18" charset="0"/>
              </a:rPr>
              <a:t>responses or data directly from users.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After </a:t>
            </a:r>
            <a:r>
              <a:rPr lang="en-US" dirty="0">
                <a:latin typeface="Times New Roman" panose="02020603050405020304" pitchFamily="18" charset="0"/>
                <a:cs typeface="Times New Roman" panose="02020603050405020304" pitchFamily="18" charset="0"/>
              </a:rPr>
              <a:t>collecting data; it may processed by computer systems to remove noises and </a:t>
            </a:r>
            <a:r>
              <a:rPr lang="en-US" dirty="0" err="1">
                <a:latin typeface="Times New Roman" panose="02020603050405020304" pitchFamily="18" charset="0"/>
                <a:cs typeface="Times New Roman" panose="02020603050405020304" pitchFamily="18" charset="0"/>
              </a:rPr>
              <a:t>organise</a:t>
            </a:r>
            <a:r>
              <a:rPr lang="en-US" dirty="0">
                <a:latin typeface="Times New Roman" panose="02020603050405020304" pitchFamily="18" charset="0"/>
                <a:cs typeface="Times New Roman" panose="02020603050405020304" pitchFamily="18" charset="0"/>
              </a:rPr>
              <a:t> it to analyze </a:t>
            </a:r>
            <a:r>
              <a:rPr lang="en-US" dirty="0" smtClean="0">
                <a:latin typeface="Times New Roman" panose="02020603050405020304" pitchFamily="18" charset="0"/>
                <a:cs typeface="Times New Roman" panose="02020603050405020304" pitchFamily="18" charset="0"/>
              </a:rPr>
              <a:t>it.</a:t>
            </a:r>
          </a:p>
          <a:p>
            <a:pPr algn="just"/>
            <a:r>
              <a:rPr lang="en-US" dirty="0" smtClean="0">
                <a:latin typeface="Times New Roman" panose="02020603050405020304" pitchFamily="18" charset="0"/>
                <a:cs typeface="Times New Roman" panose="02020603050405020304" pitchFamily="18" charset="0"/>
              </a:rPr>
              <a:t>Primary </a:t>
            </a:r>
            <a:r>
              <a:rPr lang="en-US" dirty="0">
                <a:latin typeface="Times New Roman" panose="02020603050405020304" pitchFamily="18" charset="0"/>
                <a:cs typeface="Times New Roman" panose="02020603050405020304" pitchFamily="18" charset="0"/>
              </a:rPr>
              <a:t>data collection is critical in research because it enables specific data collection, relevant, and up-to-date information that directly addresses the research question or objective</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Accurate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Fresh </a:t>
            </a:r>
          </a:p>
          <a:p>
            <a:pPr algn="just"/>
            <a:r>
              <a:rPr lang="en-US" dirty="0">
                <a:latin typeface="Times New Roman" panose="02020603050405020304" pitchFamily="18" charset="0"/>
                <a:cs typeface="Times New Roman" panose="02020603050405020304" pitchFamily="18" charset="0"/>
              </a:rPr>
              <a:t>Specific to the requirement </a:t>
            </a:r>
          </a:p>
          <a:p>
            <a:pPr algn="just"/>
            <a:r>
              <a:rPr lang="en-US" dirty="0">
                <a:latin typeface="Times New Roman" panose="02020603050405020304" pitchFamily="18" charset="0"/>
                <a:cs typeface="Times New Roman" panose="02020603050405020304" pitchFamily="18" charset="0"/>
              </a:rPr>
              <a:t>However, it can be:</a:t>
            </a:r>
          </a:p>
          <a:p>
            <a:pPr algn="just"/>
            <a:r>
              <a:rPr lang="en-US" dirty="0">
                <a:latin typeface="Times New Roman" panose="02020603050405020304" pitchFamily="18" charset="0"/>
                <a:cs typeface="Times New Roman" panose="02020603050405020304" pitchFamily="18" charset="0"/>
              </a:rPr>
              <a:t>Expensive </a:t>
            </a:r>
          </a:p>
          <a:p>
            <a:pPr algn="just"/>
            <a:r>
              <a:rPr lang="en-US" dirty="0">
                <a:latin typeface="Times New Roman" panose="02020603050405020304" pitchFamily="18" charset="0"/>
                <a:cs typeface="Times New Roman" panose="02020603050405020304" pitchFamily="18" charset="0"/>
              </a:rPr>
              <a:t>Time-consuming</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507314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Autofit/>
          </a:bodyPr>
          <a:lstStyle/>
          <a:p>
            <a:pPr algn="just"/>
            <a:r>
              <a:rPr lang="en-US" dirty="0">
                <a:latin typeface="Times New Roman" panose="02020603050405020304" pitchFamily="18" charset="0"/>
                <a:cs typeface="Times New Roman" panose="02020603050405020304" pitchFamily="18" charset="0"/>
              </a:rPr>
              <a:t>Methods of </a:t>
            </a:r>
            <a:r>
              <a:rPr lang="en-US" dirty="0" smtClean="0">
                <a:latin typeface="Times New Roman" panose="02020603050405020304" pitchFamily="18" charset="0"/>
                <a:cs typeface="Times New Roman" panose="02020603050405020304" pitchFamily="18" charset="0"/>
              </a:rPr>
              <a:t>Collecting </a:t>
            </a:r>
            <a:r>
              <a:rPr lang="en-US" dirty="0">
                <a:latin typeface="Times New Roman" panose="02020603050405020304" pitchFamily="18" charset="0"/>
                <a:cs typeface="Times New Roman" panose="02020603050405020304" pitchFamily="18" charset="0"/>
              </a:rPr>
              <a:t>Primary </a:t>
            </a:r>
            <a:r>
              <a:rPr lang="en-US" dirty="0" smtClean="0">
                <a:latin typeface="Times New Roman" panose="02020603050405020304" pitchFamily="18" charset="0"/>
                <a:cs typeface="Times New Roman" panose="02020603050405020304" pitchFamily="18" charset="0"/>
              </a:rPr>
              <a:t>Data</a:t>
            </a:r>
          </a:p>
          <a:p>
            <a:pPr algn="just"/>
            <a:r>
              <a:rPr lang="en-US" b="1" dirty="0">
                <a:latin typeface="Times New Roman" panose="02020603050405020304" pitchFamily="18" charset="0"/>
                <a:cs typeface="Times New Roman" panose="02020603050405020304" pitchFamily="18" charset="0"/>
              </a:rPr>
              <a:t>Surveys and Questionnaires</a:t>
            </a:r>
            <a:r>
              <a:rPr lang="en-US" dirty="0">
                <a:latin typeface="Times New Roman" panose="02020603050405020304" pitchFamily="18" charset="0"/>
                <a:cs typeface="Times New Roman" panose="02020603050405020304" pitchFamily="18" charset="0"/>
              </a:rPr>
              <a:t> − This is one of the primary methods to collect data using structured questionnaires or surveys from individuals or groups. This method also includes face-to-face interviews and telephone calls</a:t>
            </a:r>
            <a:r>
              <a:rPr lang="en-US"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Amazon sends surveys asking customers: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Product quality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Delivery experience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Service satisfaction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collected data helps improve customer service.</a:t>
            </a:r>
          </a:p>
          <a:p>
            <a:pPr algn="just"/>
            <a:r>
              <a:rPr lang="en-US" b="1" dirty="0" smtClean="0">
                <a:latin typeface="Times New Roman" panose="02020603050405020304" pitchFamily="18" charset="0"/>
                <a:cs typeface="Times New Roman" panose="02020603050405020304" pitchFamily="18" charset="0"/>
              </a:rPr>
              <a:t>Interviews</a:t>
            </a:r>
            <a:r>
              <a:rPr lang="en-US" dirty="0">
                <a:latin typeface="Times New Roman" panose="02020603050405020304" pitchFamily="18" charset="0"/>
                <a:cs typeface="Times New Roman" panose="02020603050405020304" pitchFamily="18" charset="0"/>
              </a:rPr>
              <a:t> − It is a method which includes direct interaction between the researcher and the respondent. They can be done in person, over the phone, or via video conferencing. It can be structured, semi-structured, or unstructured.</a:t>
            </a:r>
          </a:p>
          <a:p>
            <a:pPr algn="just"/>
            <a:endParaRPr lang="en-US"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3660927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rmAutofit/>
          </a:bodyPr>
          <a:lstStyle/>
          <a:p>
            <a:r>
              <a:rPr lang="en-US" dirty="0" smtClean="0">
                <a:latin typeface="Times New Roman" panose="02020603050405020304" pitchFamily="18" charset="0"/>
                <a:cs typeface="Times New Roman" panose="02020603050405020304" pitchFamily="18" charset="0"/>
              </a:rPr>
              <a:t>Types </a:t>
            </a:r>
            <a:r>
              <a:rPr lang="en-US" dirty="0">
                <a:latin typeface="Times New Roman" panose="02020603050405020304" pitchFamily="18" charset="0"/>
                <a:cs typeface="Times New Roman" panose="02020603050405020304" pitchFamily="18" charset="0"/>
              </a:rPr>
              <a:t>of Interviews</a:t>
            </a:r>
          </a:p>
          <a:p>
            <a:pPr marL="0" indent="0">
              <a:buNone/>
            </a:pPr>
            <a:r>
              <a:rPr lang="en-US" dirty="0">
                <a:latin typeface="Times New Roman" panose="02020603050405020304" pitchFamily="18" charset="0"/>
                <a:cs typeface="Times New Roman" panose="02020603050405020304" pitchFamily="18" charset="0"/>
              </a:rPr>
              <a:t>1. Structured </a:t>
            </a:r>
            <a:r>
              <a:rPr lang="en-US" dirty="0" smtClean="0">
                <a:latin typeface="Times New Roman" panose="02020603050405020304" pitchFamily="18" charset="0"/>
                <a:cs typeface="Times New Roman" panose="02020603050405020304" pitchFamily="18" charset="0"/>
              </a:rPr>
              <a:t>Interview - Fixed </a:t>
            </a:r>
            <a:r>
              <a:rPr lang="en-US" dirty="0">
                <a:latin typeface="Times New Roman" panose="02020603050405020304" pitchFamily="18" charset="0"/>
                <a:cs typeface="Times New Roman" panose="02020603050405020304" pitchFamily="18" charset="0"/>
              </a:rPr>
              <a:t>questions are asked.</a:t>
            </a:r>
          </a:p>
          <a:p>
            <a:pPr marL="0" indent="0">
              <a:buNone/>
            </a:pPr>
            <a:r>
              <a:rPr lang="en-US" dirty="0">
                <a:latin typeface="Times New Roman" panose="02020603050405020304" pitchFamily="18" charset="0"/>
                <a:cs typeface="Times New Roman" panose="02020603050405020304" pitchFamily="18" charset="0"/>
              </a:rPr>
              <a:t>2. Unstructured </a:t>
            </a:r>
            <a:r>
              <a:rPr lang="en-US" dirty="0" smtClean="0">
                <a:latin typeface="Times New Roman" panose="02020603050405020304" pitchFamily="18" charset="0"/>
                <a:cs typeface="Times New Roman" panose="02020603050405020304" pitchFamily="18" charset="0"/>
              </a:rPr>
              <a:t>Interview - Open </a:t>
            </a:r>
            <a:r>
              <a:rPr lang="en-US" dirty="0">
                <a:latin typeface="Times New Roman" panose="02020603050405020304" pitchFamily="18" charset="0"/>
                <a:cs typeface="Times New Roman" panose="02020603050405020304" pitchFamily="18" charset="0"/>
              </a:rPr>
              <a:t>discussion without fixed questions.</a:t>
            </a:r>
          </a:p>
          <a:p>
            <a:pPr marL="0" indent="0">
              <a:buNone/>
            </a:pPr>
            <a:r>
              <a:rPr lang="en-US" dirty="0">
                <a:latin typeface="Times New Roman" panose="02020603050405020304" pitchFamily="18" charset="0"/>
                <a:cs typeface="Times New Roman" panose="02020603050405020304" pitchFamily="18" charset="0"/>
              </a:rPr>
              <a:t>3. Semi-Structured </a:t>
            </a:r>
            <a:r>
              <a:rPr lang="en-US" dirty="0" smtClean="0">
                <a:latin typeface="Times New Roman" panose="02020603050405020304" pitchFamily="18" charset="0"/>
                <a:cs typeface="Times New Roman" panose="02020603050405020304" pitchFamily="18" charset="0"/>
              </a:rPr>
              <a:t>Interview - Combination </a:t>
            </a:r>
            <a:r>
              <a:rPr lang="en-US" dirty="0">
                <a:latin typeface="Times New Roman" panose="02020603050405020304" pitchFamily="18" charset="0"/>
                <a:cs typeface="Times New Roman" panose="02020603050405020304" pitchFamily="18" charset="0"/>
              </a:rPr>
              <a:t>of fixed and flexible questions.</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Example: Healthcare Research</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Doctors interview patients regarding:</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Symptoms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Medical history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Treatment effectiveness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information helps improve diagnosis systems.</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1861252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rmAutofit fontScale="92500" lnSpcReduction="20000"/>
          </a:bodyPr>
          <a:lstStyle/>
          <a:p>
            <a:r>
              <a:rPr lang="en-US" b="1" dirty="0" smtClean="0">
                <a:latin typeface="Times New Roman" panose="02020603050405020304" pitchFamily="18" charset="0"/>
                <a:cs typeface="Times New Roman" panose="02020603050405020304" pitchFamily="18" charset="0"/>
              </a:rPr>
              <a:t>Observations</a:t>
            </a:r>
            <a:r>
              <a:rPr lang="en-US" dirty="0">
                <a:latin typeface="Times New Roman" panose="02020603050405020304" pitchFamily="18" charset="0"/>
                <a:cs typeface="Times New Roman" panose="02020603050405020304" pitchFamily="18" charset="0"/>
              </a:rPr>
              <a:t> − This method observes and records </a:t>
            </a:r>
            <a:r>
              <a:rPr lang="en-US" dirty="0" err="1">
                <a:latin typeface="Times New Roman" panose="02020603050405020304" pitchFamily="18" charset="0"/>
                <a:cs typeface="Times New Roman" panose="02020603050405020304" pitchFamily="18" charset="0"/>
              </a:rPr>
              <a:t>behaviours</a:t>
            </a:r>
            <a:r>
              <a:rPr lang="en-US" dirty="0">
                <a:latin typeface="Times New Roman" panose="02020603050405020304" pitchFamily="18" charset="0"/>
                <a:cs typeface="Times New Roman" panose="02020603050405020304" pitchFamily="18" charset="0"/>
              </a:rPr>
              <a:t> in the natural environment. This method is useful for acquiring information about human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interactions, and occurrences without requiring direct intervention.</a:t>
            </a:r>
          </a:p>
          <a:p>
            <a:r>
              <a:rPr lang="en-US" dirty="0">
                <a:latin typeface="Times New Roman" panose="02020603050405020304" pitchFamily="18" charset="0"/>
                <a:cs typeface="Times New Roman" panose="02020603050405020304" pitchFamily="18" charset="0"/>
              </a:rPr>
              <a:t>Types of Observation</a:t>
            </a:r>
          </a:p>
          <a:p>
            <a:pPr marL="0" indent="0">
              <a:buNone/>
            </a:pPr>
            <a:r>
              <a:rPr lang="en-US" dirty="0">
                <a:latin typeface="Times New Roman" panose="02020603050405020304" pitchFamily="18" charset="0"/>
                <a:cs typeface="Times New Roman" panose="02020603050405020304" pitchFamily="18" charset="0"/>
              </a:rPr>
              <a:t>1. Direct </a:t>
            </a:r>
            <a:r>
              <a:rPr lang="en-US" dirty="0" smtClean="0">
                <a:latin typeface="Times New Roman" panose="02020603050405020304" pitchFamily="18" charset="0"/>
                <a:cs typeface="Times New Roman" panose="02020603050405020304" pitchFamily="18" charset="0"/>
              </a:rPr>
              <a:t>Observation - Observer </a:t>
            </a:r>
            <a:r>
              <a:rPr lang="en-US" dirty="0">
                <a:latin typeface="Times New Roman" panose="02020603050405020304" pitchFamily="18" charset="0"/>
                <a:cs typeface="Times New Roman" panose="02020603050405020304" pitchFamily="18" charset="0"/>
              </a:rPr>
              <a:t>watches events directly.</a:t>
            </a:r>
          </a:p>
          <a:p>
            <a:pPr marL="0" indent="0">
              <a:buNone/>
            </a:pPr>
            <a:r>
              <a:rPr lang="en-US" dirty="0">
                <a:latin typeface="Times New Roman" panose="02020603050405020304" pitchFamily="18" charset="0"/>
                <a:cs typeface="Times New Roman" panose="02020603050405020304" pitchFamily="18" charset="0"/>
              </a:rPr>
              <a:t>2. Indirect </a:t>
            </a:r>
            <a:r>
              <a:rPr lang="en-US" dirty="0" smtClean="0">
                <a:latin typeface="Times New Roman" panose="02020603050405020304" pitchFamily="18" charset="0"/>
                <a:cs typeface="Times New Roman" panose="02020603050405020304" pitchFamily="18" charset="0"/>
              </a:rPr>
              <a:t>Observation - Uses </a:t>
            </a:r>
            <a:r>
              <a:rPr lang="en-US" dirty="0">
                <a:latin typeface="Times New Roman" panose="02020603050405020304" pitchFamily="18" charset="0"/>
                <a:cs typeface="Times New Roman" panose="02020603050405020304" pitchFamily="18" charset="0"/>
              </a:rPr>
              <a:t>devices such as cameras or sensor</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Example: Retail Store Analytics</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Stores monitor:</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Customer movement </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Product interactions </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Purchase behavior </a:t>
            </a:r>
          </a:p>
          <a:p>
            <a:pPr>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to optimize product placement</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73795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Experiments</a:t>
            </a:r>
            <a:r>
              <a:rPr lang="en-US" dirty="0">
                <a:latin typeface="Times New Roman" panose="02020603050405020304" pitchFamily="18" charset="0"/>
                <a:cs typeface="Times New Roman" panose="02020603050405020304" pitchFamily="18" charset="0"/>
              </a:rPr>
              <a:t> − This method includes variable manipulation and observes their impact on the outcome</a:t>
            </a:r>
            <a:r>
              <a:rPr lang="en-US" dirty="0" smtClean="0">
                <a:latin typeface="Times New Roman" panose="02020603050405020304" pitchFamily="18" charset="0"/>
                <a:cs typeface="Times New Roman" panose="02020603050405020304" pitchFamily="18" charset="0"/>
              </a:rPr>
              <a:t>.</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Example: Pharmaceutical Testing</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Drug companies test medicines on clinical trial groups to measure:</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Effectiveness </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Side effects </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Safety</a:t>
            </a:r>
          </a:p>
          <a:p>
            <a:pPr algn="just"/>
            <a:r>
              <a:rPr lang="en-US" b="1" dirty="0" smtClean="0">
                <a:latin typeface="Times New Roman" panose="02020603050405020304" pitchFamily="18" charset="0"/>
                <a:cs typeface="Times New Roman" panose="02020603050405020304" pitchFamily="18" charset="0"/>
              </a:rPr>
              <a:t>Focus </a:t>
            </a:r>
            <a:r>
              <a:rPr lang="en-US" b="1" dirty="0">
                <a:latin typeface="Times New Roman" panose="02020603050405020304" pitchFamily="18" charset="0"/>
                <a:cs typeface="Times New Roman" panose="02020603050405020304" pitchFamily="18" charset="0"/>
              </a:rPr>
              <a:t>Groups</a:t>
            </a:r>
            <a:r>
              <a:rPr lang="en-US" dirty="0">
                <a:latin typeface="Times New Roman" panose="02020603050405020304" pitchFamily="18" charset="0"/>
                <a:cs typeface="Times New Roman" panose="02020603050405020304" pitchFamily="18" charset="0"/>
              </a:rPr>
              <a:t> − This method involves data gathering using a small group of people to discuss a particular topic and record the outcomes</a:t>
            </a:r>
            <a:r>
              <a:rPr lang="en-US" dirty="0" smtClean="0">
                <a:latin typeface="Times New Roman" panose="02020603050405020304" pitchFamily="18" charset="0"/>
                <a:cs typeface="Times New Roman" panose="02020603050405020304" pitchFamily="18" charset="0"/>
              </a:rPr>
              <a:t>.</a:t>
            </a:r>
          </a:p>
          <a:p>
            <a:pPr>
              <a:lnSpc>
                <a:spcPct val="110000"/>
              </a:lnSpc>
              <a:buFont typeface="Wingdings" panose="05000000000000000000" pitchFamily="2" charset="2"/>
              <a:buChar char="ü"/>
            </a:pPr>
            <a:r>
              <a:rPr lang="en-US" sz="2100" dirty="0" smtClean="0">
                <a:latin typeface="Times New Roman" panose="02020603050405020304" pitchFamily="18" charset="0"/>
                <a:cs typeface="Times New Roman" panose="02020603050405020304" pitchFamily="18" charset="0"/>
              </a:rPr>
              <a:t>Example: Product </a:t>
            </a:r>
            <a:r>
              <a:rPr lang="en-US" sz="2100" dirty="0">
                <a:latin typeface="Times New Roman" panose="02020603050405020304" pitchFamily="18" charset="0"/>
                <a:cs typeface="Times New Roman" panose="02020603050405020304" pitchFamily="18" charset="0"/>
              </a:rPr>
              <a:t>Testing</a:t>
            </a:r>
          </a:p>
          <a:p>
            <a:pPr>
              <a:lnSpc>
                <a:spcPct val="110000"/>
              </a:lnSpc>
              <a:buFont typeface="Wingdings" panose="05000000000000000000" pitchFamily="2" charset="2"/>
              <a:buChar char="ü"/>
            </a:pPr>
            <a:r>
              <a:rPr lang="en-US" sz="2100" dirty="0">
                <a:latin typeface="Times New Roman" panose="02020603050405020304" pitchFamily="18" charset="0"/>
                <a:cs typeface="Times New Roman" panose="02020603050405020304" pitchFamily="18" charset="0"/>
              </a:rPr>
              <a:t>Mobile companies gather user feedback before launching smartphones.</a:t>
            </a:r>
          </a:p>
          <a:p>
            <a:pPr algn="just"/>
            <a:r>
              <a:rPr lang="en-US" b="1" dirty="0" smtClean="0">
                <a:latin typeface="Times New Roman" panose="02020603050405020304" pitchFamily="18" charset="0"/>
                <a:cs typeface="Times New Roman" panose="02020603050405020304" pitchFamily="18" charset="0"/>
              </a:rPr>
              <a:t>Case </a:t>
            </a:r>
            <a:r>
              <a:rPr lang="en-US" b="1" dirty="0">
                <a:latin typeface="Times New Roman" panose="02020603050405020304" pitchFamily="18" charset="0"/>
                <a:cs typeface="Times New Roman" panose="02020603050405020304" pitchFamily="18" charset="0"/>
              </a:rPr>
              <a:t>Studies</a:t>
            </a:r>
            <a:r>
              <a:rPr lang="en-US" dirty="0">
                <a:latin typeface="Times New Roman" panose="02020603050405020304" pitchFamily="18" charset="0"/>
                <a:cs typeface="Times New Roman" panose="02020603050405020304" pitchFamily="18" charset="0"/>
              </a:rPr>
              <a:t> − It is a method to study a single case or multiple cases to find feasible solutions.</a:t>
            </a:r>
          </a:p>
          <a:p>
            <a:pPr algn="just"/>
            <a:r>
              <a:rPr lang="en-US" b="1" dirty="0">
                <a:latin typeface="Times New Roman" panose="02020603050405020304" pitchFamily="18" charset="0"/>
                <a:cs typeface="Times New Roman" panose="02020603050405020304" pitchFamily="18" charset="0"/>
              </a:rPr>
              <a:t>Field Studies</a:t>
            </a:r>
            <a:r>
              <a:rPr lang="en-US" dirty="0">
                <a:latin typeface="Times New Roman" panose="02020603050405020304" pitchFamily="18" charset="0"/>
                <a:cs typeface="Times New Roman" panose="02020603050405020304" pitchFamily="18" charset="0"/>
              </a:rPr>
              <a:t> − It is a method of testing a product or process in the real world.</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25759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lstStyle/>
          <a:p>
            <a:r>
              <a:rPr lang="en-IN" b="1" dirty="0">
                <a:latin typeface="Times New Roman" panose="02020603050405020304" pitchFamily="18" charset="0"/>
                <a:cs typeface="Times New Roman" panose="02020603050405020304" pitchFamily="18" charset="0"/>
              </a:rPr>
              <a:t>Sensor-Based Data </a:t>
            </a:r>
            <a:r>
              <a:rPr lang="en-IN" b="1" dirty="0" smtClean="0">
                <a:latin typeface="Times New Roman" panose="02020603050405020304" pitchFamily="18" charset="0"/>
                <a:cs typeface="Times New Roman" panose="02020603050405020304" pitchFamily="18" charset="0"/>
              </a:rPr>
              <a:t>Collection </a:t>
            </a:r>
            <a:r>
              <a:rPr lang="en-IN"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Sensors </a:t>
            </a:r>
            <a:r>
              <a:rPr lang="en-US" dirty="0">
                <a:latin typeface="Times New Roman" panose="02020603050405020304" pitchFamily="18" charset="0"/>
                <a:cs typeface="Times New Roman" panose="02020603050405020304" pitchFamily="18" charset="0"/>
              </a:rPr>
              <a:t>automatically collect real-time data from environments or devices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Example: </a:t>
            </a:r>
            <a:r>
              <a:rPr lang="en-US" dirty="0" err="1" smtClean="0">
                <a:latin typeface="Times New Roman" panose="02020603050405020304" pitchFamily="18" charset="0"/>
                <a:cs typeface="Times New Roman" panose="02020603050405020304" pitchFamily="18" charset="0"/>
              </a:rPr>
              <a:t>Smartwatch</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Health Monitoring</a:t>
            </a:r>
          </a:p>
          <a:p>
            <a:pPr>
              <a:buFont typeface="Wingdings" panose="05000000000000000000" pitchFamily="2" charset="2"/>
              <a:buChar char="ü"/>
            </a:pPr>
            <a:r>
              <a:rPr lang="en-US" dirty="0" err="1">
                <a:latin typeface="Times New Roman" panose="02020603050405020304" pitchFamily="18" charset="0"/>
                <a:cs typeface="Times New Roman" panose="02020603050405020304" pitchFamily="18" charset="0"/>
              </a:rPr>
              <a:t>Smartwatches</a:t>
            </a:r>
            <a:r>
              <a:rPr lang="en-US" dirty="0">
                <a:latin typeface="Times New Roman" panose="02020603050405020304" pitchFamily="18" charset="0"/>
                <a:cs typeface="Times New Roman" panose="02020603050405020304" pitchFamily="18" charset="0"/>
              </a:rPr>
              <a:t> collect:</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Heart rate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Sleep data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Step count </a:t>
            </a:r>
          </a:p>
          <a:p>
            <a:pPr>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data is analyzed for health monitoring.</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pic>
        <p:nvPicPr>
          <p:cNvPr id="2" name="Picture 1"/>
          <p:cNvPicPr>
            <a:picLocks noChangeAspect="1"/>
          </p:cNvPicPr>
          <p:nvPr/>
        </p:nvPicPr>
        <p:blipFill>
          <a:blip r:embed="rId2"/>
          <a:stretch>
            <a:fillRect/>
          </a:stretch>
        </p:blipFill>
        <p:spPr>
          <a:xfrm>
            <a:off x="5562600" y="1295400"/>
            <a:ext cx="5886450" cy="4133850"/>
          </a:xfrm>
          <a:prstGeom prst="rect">
            <a:avLst/>
          </a:prstGeom>
        </p:spPr>
      </p:pic>
    </p:spTree>
    <p:extLst>
      <p:ext uri="{BB962C8B-B14F-4D97-AF65-F5344CB8AC3E}">
        <p14:creationId xmlns:p14="http://schemas.microsoft.com/office/powerpoint/2010/main" val="4186078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Secondary Data </a:t>
            </a:r>
            <a:r>
              <a:rPr lang="en-IN" dirty="0" smtClean="0">
                <a:latin typeface="Times New Roman" panose="02020603050405020304" pitchFamily="18" charset="0"/>
                <a:cs typeface="Times New Roman" panose="02020603050405020304" pitchFamily="18" charset="0"/>
              </a:rPr>
              <a:t>Collection</a:t>
            </a:r>
          </a:p>
          <a:p>
            <a:pPr algn="just"/>
            <a:r>
              <a:rPr lang="en-US" dirty="0">
                <a:latin typeface="Times New Roman" panose="02020603050405020304" pitchFamily="18" charset="0"/>
                <a:cs typeface="Times New Roman" panose="02020603050405020304" pitchFamily="18" charset="0"/>
              </a:rPr>
              <a:t>Secondary data collection is a method of collecting data from different resources where data or information already exists.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data collection method is very popular and most widely used in research.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type of data is commonly employed when primary data collection is unfeasible, time-consuming, or unneeded.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can be useful for gathering background information, enriching primary data, or doing data analysis when primary data is unavailable</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For example marketing trend changes over time; so, if anyone is doing research in this reference, they need to collect secondary data on marketing trends during previous years and then do research and comparison with current marketing trends.</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35824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noAutofit/>
          </a:bodyPr>
          <a:lstStyle/>
          <a:p>
            <a:pPr algn="just"/>
            <a:r>
              <a:rPr lang="en-US" dirty="0">
                <a:latin typeface="Times New Roman" panose="02020603050405020304" pitchFamily="18" charset="0"/>
                <a:cs typeface="Times New Roman" panose="02020603050405020304" pitchFamily="18" charset="0"/>
              </a:rPr>
              <a:t>Methods of Collecting Secondary Data</a:t>
            </a:r>
          </a:p>
          <a:p>
            <a:pPr algn="just"/>
            <a:r>
              <a:rPr lang="en-US" b="1" dirty="0">
                <a:latin typeface="Times New Roman" panose="02020603050405020304" pitchFamily="18" charset="0"/>
                <a:cs typeface="Times New Roman" panose="02020603050405020304" pitchFamily="18" charset="0"/>
              </a:rPr>
              <a:t>Published Research / Existing research</a:t>
            </a:r>
            <a:r>
              <a:rPr lang="en-US" dirty="0">
                <a:latin typeface="Times New Roman" panose="02020603050405020304" pitchFamily="18" charset="0"/>
                <a:cs typeface="Times New Roman" panose="02020603050405020304" pitchFamily="18" charset="0"/>
              </a:rPr>
              <a:t> − This includes research articles published in academic journals, conferences, magazines, books, newspapers, and other published materials that contain relevant data. Research studies and their findings can be useful as secondary data sources. Researchers can evaluate and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the data to gain new insights or expand existing information with new insights.</a:t>
            </a:r>
          </a:p>
          <a:p>
            <a:pPr algn="just"/>
            <a:r>
              <a:rPr lang="en-US" b="1" dirty="0" smtClean="0">
                <a:latin typeface="Times New Roman" panose="02020603050405020304" pitchFamily="18" charset="0"/>
                <a:cs typeface="Times New Roman" panose="02020603050405020304" pitchFamily="18" charset="0"/>
              </a:rPr>
              <a:t>Data sources on the internet</a:t>
            </a:r>
            <a:r>
              <a:rPr lang="en-US" dirty="0" smtClean="0">
                <a:latin typeface="Times New Roman" panose="02020603050405020304" pitchFamily="18" charset="0"/>
                <a:cs typeface="Times New Roman" panose="02020603050405020304" pitchFamily="18" charset="0"/>
              </a:rPr>
              <a:t> − It includes information available on the internet. It is considered as secondary data.</a:t>
            </a:r>
          </a:p>
          <a:p>
            <a:pPr algn="just"/>
            <a:r>
              <a:rPr lang="en-US" b="1" dirty="0">
                <a:latin typeface="Times New Roman" panose="02020603050405020304" pitchFamily="18" charset="0"/>
                <a:cs typeface="Times New Roman" panose="02020603050405020304" pitchFamily="18" charset="0"/>
              </a:rPr>
              <a:t>Online Databases</a:t>
            </a:r>
            <a:r>
              <a:rPr lang="en-US" dirty="0">
                <a:latin typeface="Times New Roman" panose="02020603050405020304" pitchFamily="18" charset="0"/>
                <a:cs typeface="Times New Roman" panose="02020603050405020304" pitchFamily="18" charset="0"/>
              </a:rPr>
              <a:t> − Online databases that provide access to research articles, statistical information, economic data, and social surveys</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Industry Reports</a:t>
            </a:r>
            <a:r>
              <a:rPr lang="en-US" dirty="0">
                <a:latin typeface="Times New Roman" panose="02020603050405020304" pitchFamily="18" charset="0"/>
                <a:cs typeface="Times New Roman" panose="02020603050405020304" pitchFamily="18" charset="0"/>
              </a:rPr>
              <a:t> − These include market research reports, industry trends, and current and future industrial trends.</a:t>
            </a:r>
          </a:p>
          <a:p>
            <a:pPr algn="just"/>
            <a:endParaRPr lang="en-US" dirty="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2819761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353800" cy="5029200"/>
          </a:xfrm>
        </p:spPr>
        <p:txBody>
          <a:bodyPr/>
          <a:lstStyle/>
          <a:p>
            <a:pPr algn="just"/>
            <a:r>
              <a:rPr lang="en-US" b="1" dirty="0" smtClean="0">
                <a:latin typeface="Times New Roman" panose="02020603050405020304" pitchFamily="18" charset="0"/>
                <a:cs typeface="Times New Roman" panose="02020603050405020304" pitchFamily="18" charset="0"/>
              </a:rPr>
              <a:t>Government </a:t>
            </a:r>
            <a:r>
              <a:rPr lang="en-US" b="1" dirty="0">
                <a:latin typeface="Times New Roman" panose="02020603050405020304" pitchFamily="18" charset="0"/>
                <a:cs typeface="Times New Roman" panose="02020603050405020304" pitchFamily="18" charset="0"/>
              </a:rPr>
              <a:t>and Institutional Reports</a:t>
            </a:r>
            <a:r>
              <a:rPr lang="en-US" dirty="0">
                <a:latin typeface="Times New Roman" panose="02020603050405020304" pitchFamily="18" charset="0"/>
                <a:cs typeface="Times New Roman" panose="02020603050405020304" pitchFamily="18" charset="0"/>
              </a:rPr>
              <a:t> − From time to time, the Government processes its data and releases reports like reports on Census data, economic reports, and health statistics which can be further </a:t>
            </a:r>
            <a:r>
              <a:rPr lang="en-US" dirty="0" err="1">
                <a:latin typeface="Times New Roman" panose="02020603050405020304" pitchFamily="18" charset="0"/>
                <a:cs typeface="Times New Roman" panose="02020603050405020304" pitchFamily="18" charset="0"/>
              </a:rPr>
              <a:t>utilised</a:t>
            </a:r>
            <a:r>
              <a:rPr lang="en-US" dirty="0">
                <a:latin typeface="Times New Roman" panose="02020603050405020304" pitchFamily="18" charset="0"/>
                <a:cs typeface="Times New Roman" panose="02020603050405020304" pitchFamily="18" charset="0"/>
              </a:rPr>
              <a:t> as a secondary source of data to do research. These institutions maintain databases or records that can be used for research purposes.</a:t>
            </a:r>
          </a:p>
          <a:p>
            <a:pPr algn="just"/>
            <a:r>
              <a:rPr lang="en-US" b="1" dirty="0" smtClean="0">
                <a:latin typeface="Times New Roman" panose="02020603050405020304" pitchFamily="18" charset="0"/>
                <a:cs typeface="Times New Roman" panose="02020603050405020304" pitchFamily="18" charset="0"/>
              </a:rPr>
              <a:t>Social </a:t>
            </a:r>
            <a:r>
              <a:rPr lang="en-US" b="1" dirty="0">
                <a:latin typeface="Times New Roman" panose="02020603050405020304" pitchFamily="18" charset="0"/>
                <a:cs typeface="Times New Roman" panose="02020603050405020304" pitchFamily="18" charset="0"/>
              </a:rPr>
              <a:t>Media Data or Publicly Available Data</a:t>
            </a:r>
            <a:r>
              <a:rPr lang="en-US" dirty="0">
                <a:latin typeface="Times New Roman" panose="02020603050405020304" pitchFamily="18" charset="0"/>
                <a:cs typeface="Times New Roman" panose="02020603050405020304" pitchFamily="18" charset="0"/>
              </a:rPr>
              <a:t> − Data available on social media </a:t>
            </a:r>
            <a:r>
              <a:rPr lang="en-US" dirty="0" smtClean="0">
                <a:latin typeface="Times New Roman" panose="02020603050405020304" pitchFamily="18" charset="0"/>
                <a:cs typeface="Times New Roman" panose="02020603050405020304" pitchFamily="18" charset="0"/>
              </a:rPr>
              <a:t>sites(twitter, </a:t>
            </a:r>
            <a:r>
              <a:rPr lang="en-US" dirty="0" err="1" smtClean="0">
                <a:latin typeface="Times New Roman" panose="02020603050405020304" pitchFamily="18" charset="0"/>
                <a:cs typeface="Times New Roman" panose="02020603050405020304" pitchFamily="18" charset="0"/>
              </a:rPr>
              <a:t>facebook</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can also considered secondary data. Like sentiments data is most widely used in doing NLP and machine learning research. Data shared by individuals, organizations, or communities on public platforms, websites, or social media can be accessed and utilized for research.</a:t>
            </a:r>
          </a:p>
          <a:p>
            <a:endParaRPr lang="en-IN" dirty="0"/>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spTree>
    <p:extLst>
      <p:ext uri="{BB962C8B-B14F-4D97-AF65-F5344CB8AC3E}">
        <p14:creationId xmlns:p14="http://schemas.microsoft.com/office/powerpoint/2010/main" val="2670061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a:t>
            </a:r>
            <a:r>
              <a:rPr lang="en-IN" sz="2400" dirty="0" smtClean="0"/>
              <a:t>Collection Methods</a:t>
            </a:r>
            <a:r>
              <a:rPr lang="en-IN" sz="2400" dirty="0"/>
              <a:t>	</a:t>
            </a:r>
          </a:p>
        </p:txBody>
      </p:sp>
      <p:pic>
        <p:nvPicPr>
          <p:cNvPr id="5" name="Picture 4"/>
          <p:cNvPicPr>
            <a:picLocks noChangeAspect="1"/>
          </p:cNvPicPr>
          <p:nvPr/>
        </p:nvPicPr>
        <p:blipFill>
          <a:blip r:embed="rId2"/>
          <a:stretch>
            <a:fillRect/>
          </a:stretch>
        </p:blipFill>
        <p:spPr>
          <a:xfrm>
            <a:off x="3657600" y="990600"/>
            <a:ext cx="4114800" cy="4098912"/>
          </a:xfrm>
          <a:prstGeom prst="rect">
            <a:avLst/>
          </a:prstGeom>
        </p:spPr>
      </p:pic>
    </p:spTree>
    <p:extLst>
      <p:ext uri="{BB962C8B-B14F-4D97-AF65-F5344CB8AC3E}">
        <p14:creationId xmlns:p14="http://schemas.microsoft.com/office/powerpoint/2010/main" val="2473481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32740" y="699770"/>
            <a:ext cx="11703050" cy="5610860"/>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Key Terms Related to Data Collection</a:t>
            </a:r>
          </a:p>
          <a:p>
            <a:endParaRPr lang="en-IN" altLang="en-US" sz="2400">
              <a:solidFill>
                <a:srgbClr val="FF0000"/>
              </a:solidFill>
              <a:latin typeface="Times New Roman" panose="02020603050405020304" charset="0"/>
              <a:cs typeface="Times New Roman" panose="02020603050405020304" charset="0"/>
            </a:endParaRPr>
          </a:p>
          <a:p>
            <a:r>
              <a:rPr lang="en-IN" altLang="en-US" sz="2400">
                <a:solidFill>
                  <a:schemeClr val="tx1"/>
                </a:solidFill>
                <a:latin typeface="Times New Roman" panose="02020603050405020304" charset="0"/>
                <a:cs typeface="Times New Roman" panose="02020603050405020304" charset="0"/>
              </a:rPr>
              <a:t>u</a:t>
            </a:r>
            <a:r>
              <a:rPr lang="en-US" altLang="en-US" sz="2400">
                <a:solidFill>
                  <a:schemeClr val="tx1"/>
                </a:solidFill>
                <a:latin typeface="Times New Roman" panose="02020603050405020304" charset="0"/>
                <a:cs typeface="Times New Roman" panose="02020603050405020304" charset="0"/>
              </a:rPr>
              <a:t>nderstanding essential data collection terms ensures clarity in research, analytics, and AI-driven applications. Below are key concepts that play a crucial role in data quality and interpretation.</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chemeClr val="tx1"/>
                </a:solidFill>
                <a:latin typeface="Times New Roman" panose="02020603050405020304" charset="0"/>
                <a:cs typeface="Times New Roman" panose="02020603050405020304" charset="0"/>
              </a:rPr>
              <a:t>Population vs. Sample</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chemeClr val="tx1"/>
                </a:solidFill>
                <a:latin typeface="Times New Roman" panose="02020603050405020304" charset="0"/>
                <a:cs typeface="Times New Roman" panose="02020603050405020304" charset="0"/>
              </a:rPr>
              <a:t>Population: The entire group from which data is collected. Example: A survey conducted on all customers of an e-commerce platform.</a:t>
            </a:r>
          </a:p>
          <a:p>
            <a:r>
              <a:rPr lang="en-US" altLang="en-US" sz="2400">
                <a:solidFill>
                  <a:schemeClr val="tx1"/>
                </a:solidFill>
                <a:latin typeface="Times New Roman" panose="02020603050405020304" charset="0"/>
                <a:cs typeface="Times New Roman" panose="02020603050405020304" charset="0"/>
              </a:rPr>
              <a:t>Sample: A subset of the population used for analysis. Example: Surveying 1,000 customers from a million-user database.</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chemeClr val="tx1"/>
                </a:solidFill>
                <a:latin typeface="Times New Roman" panose="02020603050405020304" charset="0"/>
                <a:cs typeface="Times New Roman" panose="02020603050405020304" charset="0"/>
              </a:rPr>
              <a:t>A well-chosen sample ensures that conclusions are representative of the entire population, reducing time and costs while maintaining accuracy.</a:t>
            </a:r>
          </a:p>
        </p:txBody>
      </p:sp>
    </p:spTree>
    <p:extLst>
      <p:ext uri="{BB962C8B-B14F-4D97-AF65-F5344CB8AC3E}">
        <p14:creationId xmlns:p14="http://schemas.microsoft.com/office/powerpoint/2010/main" val="1191229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385310" y="1059815"/>
            <a:ext cx="4064000" cy="368300"/>
          </a:xfrm>
          <a:prstGeom prst="rect">
            <a:avLst/>
          </a:prstGeom>
          <a:noFill/>
        </p:spPr>
        <p:txBody>
          <a:bodyPr wrap="square" rtlCol="0">
            <a:spAutoFit/>
          </a:bodyPr>
          <a:lstStyle/>
          <a:p>
            <a:endParaRPr lang="en-US"/>
          </a:p>
        </p:txBody>
      </p:sp>
      <p:sp>
        <p:nvSpPr>
          <p:cNvPr id="3" name="Text Box 2"/>
          <p:cNvSpPr txBox="1"/>
          <p:nvPr/>
        </p:nvSpPr>
        <p:spPr>
          <a:xfrm>
            <a:off x="156845" y="709295"/>
            <a:ext cx="11411585" cy="5434965"/>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Raw Data vs. Processed Data</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Raw Data: Unstructured, unfiltered information directly collected from sources. </a:t>
            </a:r>
          </a:p>
          <a:p>
            <a:r>
              <a:rPr lang="en-US" altLang="en-US" sz="2400">
                <a:latin typeface="Times New Roman" panose="02020603050405020304" charset="0"/>
                <a:cs typeface="Times New Roman" panose="02020603050405020304" charset="0"/>
              </a:rPr>
              <a:t>Example: Sensor readings, survey responses, or web traffic logs.</a:t>
            </a:r>
          </a:p>
          <a:p>
            <a:r>
              <a:rPr lang="en-US" altLang="en-US" sz="2400">
                <a:latin typeface="Times New Roman" panose="02020603050405020304" charset="0"/>
                <a:cs typeface="Times New Roman" panose="02020603050405020304" charset="0"/>
              </a:rPr>
              <a:t>Processed Data: Cleaned, structured, and analyzed data ready for use. Example: Formatted reports, dashboards, and machine learning datasets.</a:t>
            </a:r>
          </a:p>
          <a:p>
            <a:r>
              <a:rPr lang="en-US" altLang="en-US" sz="2400">
                <a:latin typeface="Times New Roman" panose="02020603050405020304" charset="0"/>
                <a:cs typeface="Times New Roman" panose="02020603050405020304" charset="0"/>
              </a:rPr>
              <a:t>Processed data removes inconsistencies and enhances insights for decision-making and predictive analytics.</a:t>
            </a:r>
          </a:p>
          <a:p>
            <a:endParaRPr lang="en-US" altLang="en-US" sz="2400">
              <a:latin typeface="Times New Roman" panose="02020603050405020304" charset="0"/>
              <a:cs typeface="Times New Roman" panose="02020603050405020304" charset="0"/>
            </a:endParaRPr>
          </a:p>
          <a:p>
            <a:r>
              <a:rPr lang="en-US" altLang="en-US" sz="2400">
                <a:solidFill>
                  <a:srgbClr val="FF0000"/>
                </a:solidFill>
                <a:latin typeface="Times New Roman" panose="02020603050405020304" charset="0"/>
                <a:cs typeface="Times New Roman" panose="02020603050405020304" charset="0"/>
              </a:rPr>
              <a:t>Accuracy, Reliability, and Validity</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Accuracy: How close data is to the actual or true value.</a:t>
            </a:r>
          </a:p>
          <a:p>
            <a:r>
              <a:rPr lang="en-US" altLang="en-US" sz="2400">
                <a:latin typeface="Times New Roman" panose="02020603050405020304" charset="0"/>
                <a:cs typeface="Times New Roman" panose="02020603050405020304" charset="0"/>
              </a:rPr>
              <a:t>Reliability: Consistency in results when data is collected repeatedly.</a:t>
            </a:r>
          </a:p>
          <a:p>
            <a:r>
              <a:rPr lang="en-US" altLang="en-US" sz="2400">
                <a:latin typeface="Times New Roman" panose="02020603050405020304" charset="0"/>
                <a:cs typeface="Times New Roman" panose="02020603050405020304" charset="0"/>
              </a:rPr>
              <a:t>Validity: Whether the data measures what it’s intended to measure.</a:t>
            </a:r>
          </a:p>
        </p:txBody>
      </p:sp>
    </p:spTree>
    <p:extLst>
      <p:ext uri="{BB962C8B-B14F-4D97-AF65-F5344CB8AC3E}">
        <p14:creationId xmlns:p14="http://schemas.microsoft.com/office/powerpoint/2010/main" val="338528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86385" y="674370"/>
            <a:ext cx="11433175" cy="5458460"/>
          </a:xfrm>
          <a:prstGeom prst="rect">
            <a:avLst/>
          </a:prstGeom>
          <a:noFill/>
        </p:spPr>
        <p:txBody>
          <a:bodyPr wrap="square" rtlCol="0">
            <a:noAutofit/>
          </a:bodyPr>
          <a:lstStyle/>
          <a:p>
            <a:r>
              <a:rPr lang="en-US" altLang="en-US" sz="2000">
                <a:solidFill>
                  <a:srgbClr val="FF0000"/>
                </a:solidFill>
                <a:latin typeface="Times New Roman" panose="02020603050405020304" charset="0"/>
                <a:cs typeface="Times New Roman" panose="02020603050405020304" charset="0"/>
              </a:rPr>
              <a:t>Types of Data Sources</a:t>
            </a:r>
          </a:p>
          <a:p>
            <a:endParaRPr lang="en-US" altLang="en-US" sz="2000">
              <a:solidFill>
                <a:srgbClr val="FF0000"/>
              </a:solidFill>
              <a:latin typeface="Times New Roman" panose="02020603050405020304" charset="0"/>
              <a:cs typeface="Times New Roman" panose="02020603050405020304" charset="0"/>
            </a:endParaRPr>
          </a:p>
          <a:p>
            <a:r>
              <a:rPr lang="en-US" altLang="en-US" sz="2000">
                <a:solidFill>
                  <a:srgbClr val="FF0000"/>
                </a:solidFill>
                <a:latin typeface="Times New Roman" panose="02020603050405020304" charset="0"/>
                <a:cs typeface="Times New Roman" panose="02020603050405020304" charset="0"/>
              </a:rPr>
              <a:t>1. Primary Data</a:t>
            </a:r>
          </a:p>
          <a:p>
            <a:r>
              <a:rPr lang="en-US" altLang="en-US" sz="2000">
                <a:solidFill>
                  <a:schemeClr val="tx1"/>
                </a:solidFill>
                <a:latin typeface="Times New Roman" panose="02020603050405020304" charset="0"/>
                <a:cs typeface="Times New Roman" panose="02020603050405020304" charset="0"/>
              </a:rPr>
              <a:t>Primary data is collected firsthand through surveys, experiments, or observations. This type of data is highly specific to the problem at hand and allows for greater control over the data-gathering process.</a:t>
            </a:r>
          </a:p>
          <a:p>
            <a:endParaRPr lang="en-US" altLang="en-US" sz="2000">
              <a:solidFill>
                <a:schemeClr val="tx1"/>
              </a:solidFill>
              <a:latin typeface="Times New Roman" panose="02020603050405020304" charset="0"/>
              <a:cs typeface="Times New Roman" panose="02020603050405020304" charset="0"/>
            </a:endParaRPr>
          </a:p>
          <a:p>
            <a:r>
              <a:rPr lang="en-US" altLang="en-US" sz="2000">
                <a:solidFill>
                  <a:schemeClr val="tx1"/>
                </a:solidFill>
                <a:latin typeface="Times New Roman" panose="02020603050405020304" charset="0"/>
                <a:cs typeface="Times New Roman" panose="02020603050405020304" charset="0"/>
              </a:rPr>
              <a:t>Examples: Surveys conducted via online platforms, laboratory experiments, and field observations.</a:t>
            </a:r>
          </a:p>
          <a:p>
            <a:endParaRPr lang="en-US" altLang="en-US" sz="2000">
              <a:solidFill>
                <a:srgbClr val="FF0000"/>
              </a:solidFill>
              <a:latin typeface="Times New Roman" panose="02020603050405020304" charset="0"/>
              <a:cs typeface="Times New Roman" panose="02020603050405020304" charset="0"/>
            </a:endParaRPr>
          </a:p>
          <a:p>
            <a:r>
              <a:rPr lang="en-US" altLang="en-US" sz="2000">
                <a:solidFill>
                  <a:srgbClr val="FF0000"/>
                </a:solidFill>
                <a:latin typeface="Times New Roman" panose="02020603050405020304" charset="0"/>
                <a:cs typeface="Times New Roman" panose="02020603050405020304" charset="0"/>
              </a:rPr>
              <a:t>2. Secondary Data</a:t>
            </a:r>
          </a:p>
          <a:p>
            <a:r>
              <a:rPr lang="en-US" altLang="en-US" sz="2000">
                <a:solidFill>
                  <a:schemeClr val="tx1"/>
                </a:solidFill>
                <a:latin typeface="Times New Roman" panose="02020603050405020304" charset="0"/>
                <a:cs typeface="Times New Roman" panose="02020603050405020304" charset="0"/>
              </a:rPr>
              <a:t>Secondary data refers to information that has already been collected by others and is made available for analysis. It is often used to complement primary data or provide a broader context.</a:t>
            </a:r>
          </a:p>
          <a:p>
            <a:endParaRPr lang="en-US" altLang="en-US" sz="2000">
              <a:solidFill>
                <a:schemeClr val="tx1"/>
              </a:solidFill>
              <a:latin typeface="Times New Roman" panose="02020603050405020304" charset="0"/>
              <a:cs typeface="Times New Roman" panose="02020603050405020304" charset="0"/>
            </a:endParaRPr>
          </a:p>
          <a:p>
            <a:r>
              <a:rPr lang="en-US" altLang="en-US" sz="2000">
                <a:solidFill>
                  <a:schemeClr val="tx1"/>
                </a:solidFill>
                <a:latin typeface="Times New Roman" panose="02020603050405020304" charset="0"/>
                <a:cs typeface="Times New Roman" panose="02020603050405020304" charset="0"/>
              </a:rPr>
              <a:t>Examples: Public datasets from government databases, research publications, and data shared by organizations like the World Bank.</a:t>
            </a:r>
          </a:p>
        </p:txBody>
      </p:sp>
    </p:spTree>
    <p:extLst>
      <p:ext uri="{BB962C8B-B14F-4D97-AF65-F5344CB8AC3E}">
        <p14:creationId xmlns:p14="http://schemas.microsoft.com/office/powerpoint/2010/main" val="1547291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5435" y="819785"/>
            <a:ext cx="11019790" cy="4534535"/>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3. Real-time Data</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Real-time data is continuously generated and collected from sources like IoT devices, live feeds, or streaming platforms. This data is invaluable in applications requiring up-to-the-minute information.</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Examples: IoT sensor data, live social media feeds, and streaming weather data.</a:t>
            </a:r>
          </a:p>
        </p:txBody>
      </p:sp>
    </p:spTree>
    <p:extLst>
      <p:ext uri="{BB962C8B-B14F-4D97-AF65-F5344CB8AC3E}">
        <p14:creationId xmlns:p14="http://schemas.microsoft.com/office/powerpoint/2010/main" val="1592333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610" y="247650"/>
            <a:ext cx="9603105" cy="541655"/>
          </a:xfrm>
        </p:spPr>
        <p:txBody>
          <a:bodyPr/>
          <a:lstStyle/>
          <a:p>
            <a:r>
              <a:rPr lang="en-US" altLang="en-US" sz="2800">
                <a:solidFill>
                  <a:srgbClr val="FF0000"/>
                </a:solidFill>
              </a:rPr>
              <a:t>Methods of Data Collection in Data Science</a:t>
            </a:r>
          </a:p>
        </p:txBody>
      </p:sp>
      <p:sp>
        <p:nvSpPr>
          <p:cNvPr id="4" name="Content Placeholder 3"/>
          <p:cNvSpPr>
            <a:spLocks noGrp="1"/>
          </p:cNvSpPr>
          <p:nvPr>
            <p:ph idx="1"/>
          </p:nvPr>
        </p:nvSpPr>
        <p:spPr>
          <a:xfrm>
            <a:off x="345440" y="728980"/>
            <a:ext cx="11687810" cy="5309235"/>
          </a:xfrm>
        </p:spPr>
        <p:txBody>
          <a:bodyPr>
            <a:noAutofit/>
          </a:bodyPr>
          <a:lstStyle/>
          <a:p>
            <a:pPr marL="0" indent="0">
              <a:buNone/>
            </a:pPr>
            <a:r>
              <a:rPr lang="en-US" altLang="en-US">
                <a:latin typeface="Times New Roman" panose="02020603050405020304" charset="0"/>
                <a:cs typeface="Times New Roman" panose="02020603050405020304" charset="0"/>
              </a:rPr>
              <a:t>There are various methods for collecting data in data science, each suited to different types of projects and data needs. Here are the most common methods:</a:t>
            </a:r>
          </a:p>
          <a:p>
            <a:pPr marL="0" indent="0">
              <a:buNone/>
            </a:pPr>
            <a:r>
              <a:rPr lang="en-US" altLang="en-US">
                <a:solidFill>
                  <a:srgbClr val="FF0000"/>
                </a:solidFill>
                <a:latin typeface="Times New Roman" panose="02020603050405020304" charset="0"/>
                <a:cs typeface="Times New Roman" panose="02020603050405020304" charset="0"/>
              </a:rPr>
              <a:t>1. Surveys and Questionnaires</a:t>
            </a:r>
          </a:p>
          <a:p>
            <a:pPr marL="0" indent="0">
              <a:buNone/>
            </a:pPr>
            <a:r>
              <a:rPr lang="en-US" altLang="en-US">
                <a:latin typeface="Times New Roman" panose="02020603050405020304" charset="0"/>
                <a:cs typeface="Times New Roman" panose="02020603050405020304" charset="0"/>
              </a:rPr>
              <a:t>Surveys and questionnaires are among the most widely used methods for gathering data directly from individuals or groups. These tools are particularly effective for collecting qualitative data such as opinions, preferences, and feedback.</a:t>
            </a:r>
          </a:p>
          <a:p>
            <a:pPr marL="0" indent="0">
              <a:buNone/>
            </a:pPr>
            <a:r>
              <a:rPr lang="en-US" altLang="en-US">
                <a:latin typeface="Times New Roman" panose="02020603050405020304" charset="0"/>
                <a:cs typeface="Times New Roman" panose="02020603050405020304" charset="0"/>
              </a:rPr>
              <a:t>When and How to Use: Surveys should be carefully designed to minimize bias, ensuring that the questions asked are relevant, clear, and objective. Surveys can be distributed digitally through platforms like Google Forms, SurveyMonkey, or Typeform. Proper design and deployment of surveys can lead to meaningful insights from targeted demographics.</a:t>
            </a:r>
          </a:p>
          <a:p>
            <a:pPr marL="0" indent="0">
              <a:buNone/>
            </a:pPr>
            <a:r>
              <a:rPr lang="en-US" altLang="en-US">
                <a:solidFill>
                  <a:srgbClr val="FF0000"/>
                </a:solidFill>
                <a:latin typeface="Times New Roman" panose="02020603050405020304" charset="0"/>
                <a:cs typeface="Times New Roman" panose="02020603050405020304" charset="0"/>
                <a:sym typeface="+mn-ea"/>
              </a:rPr>
              <a:t>Challenges:</a:t>
            </a:r>
            <a:r>
              <a:rPr lang="en-US" altLang="en-US">
                <a:latin typeface="Times New Roman" panose="02020603050405020304" charset="0"/>
                <a:cs typeface="Times New Roman" panose="02020603050405020304" charset="0"/>
                <a:sym typeface="+mn-ea"/>
              </a:rPr>
              <a:t> The accuracy of survey data heavily depends on the quality of the questions and the honesty of the respondents. Sampling bias and low response rates are common challenges that can skew the result</a:t>
            </a:r>
            <a:endParaRPr lang="en-US" altLang="en-US">
              <a:latin typeface="Times New Roman" panose="02020603050405020304" charset="0"/>
              <a:cs typeface="Times New Roman" panose="02020603050405020304" charset="0"/>
            </a:endParaRPr>
          </a:p>
          <a:p>
            <a:pPr marL="0" indent="0">
              <a:buNone/>
            </a:pPr>
            <a:endParaRPr lang="en-US">
              <a:latin typeface="Times New Roman" panose="02020603050405020304" charset="0"/>
              <a:cs typeface="Times New Roman" panose="02020603050405020304" charset="0"/>
            </a:endParaRPr>
          </a:p>
          <a:p>
            <a:pPr marL="0" indent="0">
              <a:buNone/>
            </a:pPr>
            <a:endParaRPr lang="en-US" altLang="en-US">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66473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8425" y="971550"/>
            <a:ext cx="11582400" cy="4838065"/>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2. Web Scraping</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Web scraping is the process of automatically extracting data from websites. This method is particularly useful when data is not readily available through APIs or structured databases.</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Tools and Techniques: Popular web scraping tools include Beautiful Soup, Selenium, and Scrapy. These tools allow for automated extraction of data from web pages, which can then be processed and analyzed.</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Challenges: Web scraping comes with legal and ethical considerations, as some websites may restrict data extraction. Moreover, scraping often requires cleaning and structuring the data before it can be analyzed.</a:t>
            </a:r>
          </a:p>
        </p:txBody>
      </p:sp>
    </p:spTree>
    <p:extLst>
      <p:ext uri="{BB962C8B-B14F-4D97-AF65-F5344CB8AC3E}">
        <p14:creationId xmlns:p14="http://schemas.microsoft.com/office/powerpoint/2010/main" val="1462862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5435" y="850900"/>
            <a:ext cx="11537950" cy="5412740"/>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3. APIs (Application Programming Interfaces)</a:t>
            </a:r>
          </a:p>
          <a:p>
            <a:endParaRPr lang="en-US" altLang="en-US" sz="2400">
              <a:solidFill>
                <a:srgbClr val="FF0000"/>
              </a:solidFill>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APIs provide a structured way to access data from various platforms. They are a popular method for collecting real-time data from social media platforms, financial markets, and other online services.</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Using APIs: APIs such as the Twitter API, Google Maps API, and OpenWeather API are widely used in data science projects for collecting data. APIs provide a standardized format, making data collection easier and more efficient than web scraping.</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Challenges: API data collection often involves handling rate limits, formatting issues, and processing large amounts of data, all of which can slow down the analysis process.</a:t>
            </a:r>
          </a:p>
        </p:txBody>
      </p:sp>
    </p:spTree>
    <p:extLst>
      <p:ext uri="{BB962C8B-B14F-4D97-AF65-F5344CB8AC3E}">
        <p14:creationId xmlns:p14="http://schemas.microsoft.com/office/powerpoint/2010/main" val="155305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2230" y="730885"/>
            <a:ext cx="11624945" cy="4964430"/>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4. IoT and Sensor Data</a:t>
            </a:r>
          </a:p>
          <a:p>
            <a:endParaRPr lang="en-US" altLang="en-US" sz="2400">
              <a:solidFill>
                <a:srgbClr val="FF0000"/>
              </a:solidFill>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IoT and sensor data are collected from physical devices connected to the internet. This type of data collection is particularly relevant for real-time applications such as predictive maintenance, health monitoring, and environmental tracking.</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Overview: IoT sensors generate continuous streams of data that can be used to monitor conditions, detect anomalies, and predict future outcomes. For example, smart home devices can collect data on energy consumption or room temperature in real-time.</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Challenges: The large volume of data generated by IoT devices requires robust infrastructure for storage, processing, and analysis. Additionally, ensuring the accuracy and security of IoT data is a common concern.</a:t>
            </a:r>
          </a:p>
        </p:txBody>
      </p:sp>
    </p:spTree>
    <p:extLst>
      <p:ext uri="{BB962C8B-B14F-4D97-AF65-F5344CB8AC3E}">
        <p14:creationId xmlns:p14="http://schemas.microsoft.com/office/powerpoint/2010/main" val="1222186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8280" y="575310"/>
            <a:ext cx="10797540" cy="5223510"/>
          </a:xfrm>
          <a:prstGeom prst="rect">
            <a:avLst/>
          </a:prstGeom>
        </p:spPr>
        <p:txBody>
          <a:bodyPr>
            <a:noAutofit/>
          </a:bodyPr>
          <a:lstStyle/>
          <a:p>
            <a:pPr>
              <a:spcAft>
                <a:spcPct val="60000"/>
              </a:spcAft>
            </a:pPr>
            <a:r>
              <a:rPr lang="en-IN" sz="2400" b="1">
                <a:solidFill>
                  <a:srgbClr val="FF0000"/>
                </a:solidFill>
                <a:latin typeface="Times New Roman" panose="02020603050405020304" charset="0"/>
                <a:cs typeface="Times New Roman" panose="02020603050405020304" charset="0"/>
              </a:rPr>
              <a:t>5. </a:t>
            </a:r>
            <a:r>
              <a:rPr sz="2400" b="1">
                <a:solidFill>
                  <a:srgbClr val="FF0000"/>
                </a:solidFill>
                <a:latin typeface="Times New Roman" panose="02020603050405020304" charset="0"/>
                <a:cs typeface="Times New Roman" panose="02020603050405020304" charset="0"/>
              </a:rPr>
              <a:t>Databases as a Data Collection Method</a:t>
            </a:r>
          </a:p>
          <a:p>
            <a:pPr>
              <a:spcAft>
                <a:spcPct val="60000"/>
              </a:spcAft>
            </a:pPr>
            <a:r>
              <a:rPr sz="2400" b="1">
                <a:latin typeface="Times New Roman" panose="02020603050405020304" charset="0"/>
                <a:cs typeface="Times New Roman" panose="02020603050405020304" charset="0"/>
              </a:rPr>
              <a:t>Definition</a:t>
            </a:r>
          </a:p>
          <a:p>
            <a:r>
              <a:rPr sz="2400">
                <a:latin typeface="Times New Roman" panose="02020603050405020304" charset="0"/>
                <a:cs typeface="Times New Roman" panose="02020603050405020304" charset="0"/>
              </a:rPr>
              <a:t>A database is an organized collection of data stored electronically and managed using Database Management Systems (DBMS). Databases are used to store, retrieve, update, and manage large amounts of structured data.</a:t>
            </a:r>
          </a:p>
          <a:p>
            <a:endParaRPr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Types of Databases</a:t>
            </a:r>
          </a:p>
          <a:p>
            <a:r>
              <a:rPr lang="en-US" altLang="en-US" sz="2400">
                <a:latin typeface="Times New Roman" panose="02020603050405020304" charset="0"/>
                <a:cs typeface="Times New Roman" panose="02020603050405020304" charset="0"/>
              </a:rPr>
              <a:t>a) Relational Databases</a:t>
            </a:r>
          </a:p>
          <a:p>
            <a:r>
              <a:rPr lang="en-US" altLang="en-US" sz="2400">
                <a:latin typeface="Times New Roman" panose="02020603050405020304" charset="0"/>
                <a:cs typeface="Times New Roman" panose="02020603050405020304" charset="0"/>
              </a:rPr>
              <a:t>Data is stored in tables (rows and columns)</a:t>
            </a:r>
          </a:p>
          <a:p>
            <a:r>
              <a:rPr lang="en-US" altLang="en-US" sz="2400">
                <a:latin typeface="Times New Roman" panose="02020603050405020304" charset="0"/>
                <a:cs typeface="Times New Roman" panose="02020603050405020304" charset="0"/>
              </a:rPr>
              <a:t>Uses SQL (Structured Query Language)</a:t>
            </a:r>
          </a:p>
          <a:p>
            <a:r>
              <a:rPr lang="en-US" altLang="en-US" sz="2400">
                <a:latin typeface="Times New Roman" panose="02020603050405020304" charset="0"/>
                <a:cs typeface="Times New Roman" panose="02020603050405020304" charset="0"/>
              </a:rPr>
              <a:t>Examples</a:t>
            </a:r>
          </a:p>
          <a:p>
            <a:r>
              <a:rPr lang="en-US" altLang="en-US" sz="2400">
                <a:latin typeface="Times New Roman" panose="02020603050405020304" charset="0"/>
                <a:cs typeface="Times New Roman" panose="02020603050405020304" charset="0"/>
              </a:rPr>
              <a:t>MySQL</a:t>
            </a:r>
          </a:p>
          <a:p>
            <a:r>
              <a:rPr lang="en-US" altLang="en-US" sz="2400">
                <a:latin typeface="Times New Roman" panose="02020603050405020304" charset="0"/>
                <a:cs typeface="Times New Roman" panose="02020603050405020304" charset="0"/>
              </a:rPr>
              <a:t>Oracle Database</a:t>
            </a:r>
          </a:p>
          <a:p>
            <a:r>
              <a:rPr lang="en-US" altLang="en-US" sz="2400">
                <a:latin typeface="Times New Roman" panose="02020603050405020304" charset="0"/>
                <a:cs typeface="Times New Roman" panose="02020603050405020304" charset="0"/>
              </a:rPr>
              <a:t>Microsoft SQL Server</a:t>
            </a:r>
          </a:p>
        </p:txBody>
      </p:sp>
    </p:spTree>
    <p:extLst>
      <p:ext uri="{BB962C8B-B14F-4D97-AF65-F5344CB8AC3E}">
        <p14:creationId xmlns:p14="http://schemas.microsoft.com/office/powerpoint/2010/main" val="2545711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09575" y="361315"/>
            <a:ext cx="10888980" cy="5854700"/>
          </a:xfrm>
          <a:prstGeom prst="rect">
            <a:avLst/>
          </a:prstGeom>
          <a:noFill/>
        </p:spPr>
        <p:txBody>
          <a:bodyPr wrap="square" rtlCol="0">
            <a:noAutofit/>
          </a:bodyPr>
          <a:lstStyle/>
          <a:p>
            <a:endParaRPr lang="en-US" altLang="en-US" sz="2000">
              <a:latin typeface="Times New Roman" panose="02020603050405020304" charset="0"/>
              <a:cs typeface="Times New Roman" panose="02020603050405020304" charset="0"/>
            </a:endParaRPr>
          </a:p>
          <a:p>
            <a:r>
              <a:rPr lang="en-US" altLang="en-US" sz="2000">
                <a:solidFill>
                  <a:srgbClr val="FF0000"/>
                </a:solidFill>
                <a:latin typeface="Times New Roman" panose="02020603050405020304" charset="0"/>
                <a:cs typeface="Times New Roman" panose="02020603050405020304" charset="0"/>
              </a:rPr>
              <a:t>b) NoSQL Databases</a:t>
            </a:r>
          </a:p>
          <a:p>
            <a:r>
              <a:rPr lang="en-US" altLang="en-US" sz="2000">
                <a:latin typeface="Times New Roman" panose="02020603050405020304" charset="0"/>
                <a:cs typeface="Times New Roman" panose="02020603050405020304" charset="0"/>
              </a:rPr>
              <a:t>Stores unstructured or semi-structured data</a:t>
            </a:r>
          </a:p>
          <a:p>
            <a:r>
              <a:rPr lang="en-US" altLang="en-US" sz="2000">
                <a:latin typeface="Times New Roman" panose="02020603050405020304" charset="0"/>
                <a:cs typeface="Times New Roman" panose="02020603050405020304" charset="0"/>
              </a:rPr>
              <a:t>Suitable for big data and real-time applications</a:t>
            </a:r>
          </a:p>
          <a:p>
            <a:r>
              <a:rPr lang="en-US" altLang="en-US" sz="2000">
                <a:latin typeface="Times New Roman" panose="02020603050405020304" charset="0"/>
                <a:cs typeface="Times New Roman" panose="02020603050405020304" charset="0"/>
              </a:rPr>
              <a:t>Examples</a:t>
            </a:r>
          </a:p>
          <a:p>
            <a:r>
              <a:rPr lang="en-US" altLang="en-US" sz="2000">
                <a:latin typeface="Times New Roman" panose="02020603050405020304" charset="0"/>
                <a:cs typeface="Times New Roman" panose="02020603050405020304" charset="0"/>
              </a:rPr>
              <a:t>MongoDB</a:t>
            </a:r>
          </a:p>
          <a:p>
            <a:r>
              <a:rPr lang="en-US" altLang="en-US" sz="2000">
                <a:latin typeface="Times New Roman" panose="02020603050405020304" charset="0"/>
                <a:cs typeface="Times New Roman" panose="02020603050405020304" charset="0"/>
              </a:rPr>
              <a:t>Apache Cassandra</a:t>
            </a:r>
          </a:p>
          <a:p>
            <a:r>
              <a:rPr lang="en-US" altLang="en-US" sz="2000">
                <a:latin typeface="Times New Roman" panose="02020603050405020304" charset="0"/>
                <a:cs typeface="Times New Roman" panose="02020603050405020304" charset="0"/>
              </a:rPr>
              <a:t>Redis</a:t>
            </a:r>
          </a:p>
          <a:p>
            <a:r>
              <a:rPr lang="en-US" altLang="en-US" sz="2000">
                <a:latin typeface="Times New Roman" panose="02020603050405020304" charset="0"/>
                <a:cs typeface="Times New Roman" panose="02020603050405020304" charset="0"/>
              </a:rPr>
              <a:t>How Databases Collect Data</a:t>
            </a:r>
          </a:p>
          <a:p>
            <a:endParaRPr lang="en-US" altLang="en-US" sz="2000">
              <a:latin typeface="Times New Roman" panose="02020603050405020304" charset="0"/>
              <a:cs typeface="Times New Roman" panose="02020603050405020304" charset="0"/>
            </a:endParaRPr>
          </a:p>
          <a:p>
            <a:r>
              <a:rPr lang="en-US" altLang="en-US" sz="2000">
                <a:solidFill>
                  <a:srgbClr val="FF0000"/>
                </a:solidFill>
                <a:latin typeface="Times New Roman" panose="02020603050405020304" charset="0"/>
                <a:cs typeface="Times New Roman" panose="02020603050405020304" charset="0"/>
              </a:rPr>
              <a:t>Data enters databases through:</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Online forms</a:t>
            </a:r>
          </a:p>
          <a:p>
            <a:r>
              <a:rPr lang="en-US" altLang="en-US" sz="2000">
                <a:latin typeface="Times New Roman" panose="02020603050405020304" charset="0"/>
                <a:cs typeface="Times New Roman" panose="02020603050405020304" charset="0"/>
              </a:rPr>
              <a:t>Business applications</a:t>
            </a:r>
          </a:p>
          <a:p>
            <a:r>
              <a:rPr lang="en-US" altLang="en-US" sz="2000">
                <a:latin typeface="Times New Roman" panose="02020603050405020304" charset="0"/>
                <a:cs typeface="Times New Roman" panose="02020603050405020304" charset="0"/>
              </a:rPr>
              <a:t>Sensors and IoT devices</a:t>
            </a:r>
          </a:p>
          <a:p>
            <a:r>
              <a:rPr lang="en-US" altLang="en-US" sz="2000">
                <a:latin typeface="Times New Roman" panose="02020603050405020304" charset="0"/>
                <a:cs typeface="Times New Roman" panose="02020603050405020304" charset="0"/>
              </a:rPr>
              <a:t>Mobile applications</a:t>
            </a:r>
          </a:p>
          <a:p>
            <a:r>
              <a:rPr lang="en-US" altLang="en-US" sz="2000">
                <a:latin typeface="Times New Roman" panose="02020603050405020304" charset="0"/>
                <a:cs typeface="Times New Roman" panose="02020603050405020304" charset="0"/>
              </a:rPr>
              <a:t>Transaction systems</a:t>
            </a:r>
          </a:p>
          <a:p>
            <a:r>
              <a:rPr lang="en-US" altLang="en-US" sz="2000">
                <a:latin typeface="Times New Roman" panose="02020603050405020304" charset="0"/>
                <a:cs typeface="Times New Roman" panose="02020603050405020304" charset="0"/>
              </a:rPr>
              <a:t>APIs</a:t>
            </a:r>
          </a:p>
        </p:txBody>
      </p:sp>
    </p:spTree>
    <p:extLst>
      <p:ext uri="{BB962C8B-B14F-4D97-AF65-F5344CB8AC3E}">
        <p14:creationId xmlns:p14="http://schemas.microsoft.com/office/powerpoint/2010/main" val="34209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9235" y="707390"/>
            <a:ext cx="11436350" cy="5229225"/>
          </a:xfrm>
          <a:prstGeom prst="rect">
            <a:avLst/>
          </a:prstGeom>
          <a:noFill/>
        </p:spPr>
        <p:txBody>
          <a:bodyPr wrap="square" rtlCol="0">
            <a:noAutofit/>
          </a:bodyPr>
          <a:lstStyle/>
          <a:p>
            <a:r>
              <a:rPr lang="en-IN" altLang="en-US" sz="2400">
                <a:solidFill>
                  <a:srgbClr val="FF0000"/>
                </a:solidFill>
                <a:latin typeface="Times New Roman" panose="02020603050405020304" charset="0"/>
                <a:cs typeface="Times New Roman" panose="02020603050405020304" charset="0"/>
              </a:rPr>
              <a:t>7.</a:t>
            </a:r>
            <a:r>
              <a:rPr lang="en-US" altLang="en-US" sz="2400">
                <a:solidFill>
                  <a:srgbClr val="FF0000"/>
                </a:solidFill>
                <a:latin typeface="Times New Roman" panose="02020603050405020304" charset="0"/>
                <a:cs typeface="Times New Roman" panose="02020603050405020304" charset="0"/>
              </a:rPr>
              <a:t>Web Data as a Data Collection Method</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chemeClr val="tx1"/>
                </a:solidFill>
                <a:latin typeface="Times New Roman" panose="02020603050405020304" charset="0"/>
                <a:cs typeface="Times New Roman" panose="02020603050405020304" charset="0"/>
              </a:rPr>
              <a:t>Definition</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chemeClr val="tx1"/>
                </a:solidFill>
                <a:latin typeface="Times New Roman" panose="02020603050405020304" charset="0"/>
                <a:cs typeface="Times New Roman" panose="02020603050405020304" charset="0"/>
              </a:rPr>
              <a:t>Web data refers to information collected from websites, web applications, online platforms, and internet services.</a:t>
            </a:r>
          </a:p>
          <a:p>
            <a:endParaRPr lang="en-US" altLang="en-US" sz="2400">
              <a:solidFill>
                <a:schemeClr val="tx1"/>
              </a:solidFill>
              <a:latin typeface="Times New Roman" panose="02020603050405020304" charset="0"/>
              <a:cs typeface="Times New Roman" panose="02020603050405020304" charset="0"/>
            </a:endParaRPr>
          </a:p>
          <a:p>
            <a:r>
              <a:rPr lang="en-US" altLang="en-US" sz="2400">
                <a:solidFill>
                  <a:srgbClr val="FF0000"/>
                </a:solidFill>
                <a:latin typeface="Times New Roman" panose="02020603050405020304" charset="0"/>
                <a:cs typeface="Times New Roman" panose="02020603050405020304" charset="0"/>
              </a:rPr>
              <a:t>Sources of Web Data</a:t>
            </a:r>
          </a:p>
          <a:p>
            <a:r>
              <a:rPr lang="en-US" altLang="en-US" sz="2400">
                <a:solidFill>
                  <a:schemeClr val="tx1"/>
                </a:solidFill>
                <a:latin typeface="Times New Roman" panose="02020603050405020304" charset="0"/>
                <a:cs typeface="Times New Roman" panose="02020603050405020304" charset="0"/>
              </a:rPr>
              <a:t>Websites</a:t>
            </a:r>
          </a:p>
          <a:p>
            <a:r>
              <a:rPr lang="en-US" altLang="en-US" sz="2400">
                <a:solidFill>
                  <a:schemeClr val="tx1"/>
                </a:solidFill>
                <a:latin typeface="Times New Roman" panose="02020603050405020304" charset="0"/>
                <a:cs typeface="Times New Roman" panose="02020603050405020304" charset="0"/>
              </a:rPr>
              <a:t>Social media platforms</a:t>
            </a:r>
          </a:p>
          <a:p>
            <a:r>
              <a:rPr lang="en-US" altLang="en-US" sz="2400">
                <a:solidFill>
                  <a:schemeClr val="tx1"/>
                </a:solidFill>
                <a:latin typeface="Times New Roman" panose="02020603050405020304" charset="0"/>
                <a:cs typeface="Times New Roman" panose="02020603050405020304" charset="0"/>
              </a:rPr>
              <a:t>Blogs and forums</a:t>
            </a:r>
          </a:p>
          <a:p>
            <a:r>
              <a:rPr lang="en-US" altLang="en-US" sz="2400">
                <a:solidFill>
                  <a:schemeClr val="tx1"/>
                </a:solidFill>
                <a:latin typeface="Times New Roman" panose="02020603050405020304" charset="0"/>
                <a:cs typeface="Times New Roman" panose="02020603050405020304" charset="0"/>
              </a:rPr>
              <a:t>Online surveys</a:t>
            </a:r>
          </a:p>
          <a:p>
            <a:r>
              <a:rPr lang="en-US" altLang="en-US" sz="2400">
                <a:solidFill>
                  <a:schemeClr val="tx1"/>
                </a:solidFill>
                <a:latin typeface="Times New Roman" panose="02020603050405020304" charset="0"/>
                <a:cs typeface="Times New Roman" panose="02020603050405020304" charset="0"/>
              </a:rPr>
              <a:t>E-commerce sites</a:t>
            </a:r>
          </a:p>
          <a:p>
            <a:r>
              <a:rPr lang="en-US" altLang="en-US" sz="2400">
                <a:solidFill>
                  <a:schemeClr val="tx1"/>
                </a:solidFill>
                <a:latin typeface="Times New Roman" panose="02020603050405020304" charset="0"/>
                <a:cs typeface="Times New Roman" panose="02020603050405020304" charset="0"/>
              </a:rPr>
              <a:t>News portals</a:t>
            </a:r>
          </a:p>
        </p:txBody>
      </p:sp>
    </p:spTree>
    <p:extLst>
      <p:ext uri="{BB962C8B-B14F-4D97-AF65-F5344CB8AC3E}">
        <p14:creationId xmlns:p14="http://schemas.microsoft.com/office/powerpoint/2010/main" val="1390505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34010" y="615950"/>
            <a:ext cx="11433810" cy="5521960"/>
          </a:xfrm>
          <a:prstGeom prst="rect">
            <a:avLst/>
          </a:prstGeom>
          <a:noFill/>
        </p:spPr>
        <p:txBody>
          <a:bodyPr wrap="square" rtlCol="0">
            <a:noAutofit/>
          </a:bodyPr>
          <a:lstStyle/>
          <a:p>
            <a:r>
              <a:rPr lang="en-US" altLang="en-US">
                <a:solidFill>
                  <a:srgbClr val="FF0000"/>
                </a:solidFill>
                <a:latin typeface="Times New Roman" panose="02020603050405020304" charset="0"/>
                <a:cs typeface="Times New Roman" panose="02020603050405020304" charset="0"/>
              </a:rPr>
              <a:t>Methods of Collecting Web Data</a:t>
            </a:r>
          </a:p>
          <a:p>
            <a:r>
              <a:rPr lang="en-US" altLang="en-US" sz="2000">
                <a:latin typeface="Times New Roman" panose="02020603050405020304" charset="0"/>
                <a:cs typeface="Times New Roman" panose="02020603050405020304" charset="0"/>
              </a:rPr>
              <a:t>a) Web Scraping</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Automatically extracting information from websites.</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Tools Used</a:t>
            </a:r>
          </a:p>
          <a:p>
            <a:r>
              <a:rPr lang="en-US" altLang="en-US" sz="2000">
                <a:latin typeface="Times New Roman" panose="02020603050405020304" charset="0"/>
                <a:cs typeface="Times New Roman" panose="02020603050405020304" charset="0"/>
              </a:rPr>
              <a:t>Beautiful Soup</a:t>
            </a:r>
          </a:p>
          <a:p>
            <a:r>
              <a:rPr lang="en-US" altLang="en-US" sz="2000">
                <a:latin typeface="Times New Roman" panose="02020603050405020304" charset="0"/>
                <a:cs typeface="Times New Roman" panose="02020603050405020304" charset="0"/>
              </a:rPr>
              <a:t>Scrapy</a:t>
            </a:r>
          </a:p>
          <a:p>
            <a:r>
              <a:rPr lang="en-US" altLang="en-US" sz="2000">
                <a:latin typeface="Times New Roman" panose="02020603050405020304" charset="0"/>
                <a:cs typeface="Times New Roman" panose="02020603050405020304" charset="0"/>
              </a:rPr>
              <a:t>Selenium</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b) APIs (Application Programming Interfaces)</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APIs allow applications to access web data directly.</a:t>
            </a: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Examples</a:t>
            </a:r>
          </a:p>
          <a:p>
            <a:r>
              <a:rPr lang="en-US" altLang="en-US" sz="2000">
                <a:latin typeface="Times New Roman" panose="02020603050405020304" charset="0"/>
                <a:cs typeface="Times New Roman" panose="02020603050405020304" charset="0"/>
              </a:rPr>
              <a:t>Google API</a:t>
            </a:r>
          </a:p>
          <a:p>
            <a:r>
              <a:rPr lang="en-US" altLang="en-US" sz="2000">
                <a:latin typeface="Times New Roman" panose="02020603050405020304" charset="0"/>
                <a:cs typeface="Times New Roman" panose="02020603050405020304" charset="0"/>
              </a:rPr>
              <a:t>X API</a:t>
            </a:r>
          </a:p>
          <a:p>
            <a:r>
              <a:rPr lang="en-US" altLang="en-US" sz="2000">
                <a:latin typeface="Times New Roman" panose="02020603050405020304" charset="0"/>
                <a:cs typeface="Times New Roman" panose="02020603050405020304" charset="0"/>
              </a:rPr>
              <a:t>Facebook Graph API</a:t>
            </a:r>
          </a:p>
        </p:txBody>
      </p:sp>
    </p:spTree>
    <p:extLst>
      <p:ext uri="{BB962C8B-B14F-4D97-AF65-F5344CB8AC3E}">
        <p14:creationId xmlns:p14="http://schemas.microsoft.com/office/powerpoint/2010/main" val="3911619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72465" y="929005"/>
            <a:ext cx="9911715" cy="4232275"/>
          </a:xfrm>
          <a:prstGeom prst="rect">
            <a:avLst/>
          </a:prstGeom>
          <a:noFill/>
        </p:spPr>
        <p:txBody>
          <a:bodyPr wrap="square" rtlCol="0">
            <a:noAutofit/>
          </a:bodyPr>
          <a:lstStyle/>
          <a:p>
            <a:r>
              <a:rPr lang="en-US" altLang="en-US" sz="2000">
                <a:solidFill>
                  <a:srgbClr val="FF0000"/>
                </a:solidFill>
              </a:rPr>
              <a:t>c) Web Forms and Surveys</a:t>
            </a:r>
          </a:p>
          <a:p>
            <a:endParaRPr lang="en-US" altLang="en-US" sz="2000"/>
          </a:p>
          <a:p>
            <a:r>
              <a:rPr lang="en-US" altLang="en-US" sz="2000"/>
              <a:t>Users submit information through online forms.</a:t>
            </a:r>
          </a:p>
          <a:p>
            <a:endParaRPr lang="en-US" altLang="en-US" sz="2000"/>
          </a:p>
          <a:p>
            <a:r>
              <a:rPr lang="en-US" altLang="en-US" sz="2000">
                <a:solidFill>
                  <a:srgbClr val="FF0000"/>
                </a:solidFill>
              </a:rPr>
              <a:t>Examples</a:t>
            </a:r>
          </a:p>
          <a:p>
            <a:r>
              <a:rPr lang="en-US" altLang="en-US" sz="2000"/>
              <a:t>Registration forms</a:t>
            </a:r>
          </a:p>
          <a:p>
            <a:r>
              <a:rPr lang="en-US" altLang="en-US" sz="2000"/>
              <a:t>Feedback forms</a:t>
            </a:r>
          </a:p>
          <a:p>
            <a:r>
              <a:rPr lang="en-US" altLang="en-US" sz="2000"/>
              <a:t>Online polls</a:t>
            </a:r>
          </a:p>
        </p:txBody>
      </p:sp>
    </p:spTree>
    <p:extLst>
      <p:ext uri="{BB962C8B-B14F-4D97-AF65-F5344CB8AC3E}">
        <p14:creationId xmlns:p14="http://schemas.microsoft.com/office/powerpoint/2010/main" val="378328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610" y="350520"/>
            <a:ext cx="9603105" cy="806450"/>
          </a:xfrm>
        </p:spPr>
        <p:txBody>
          <a:bodyPr>
            <a:normAutofit/>
          </a:bodyPr>
          <a:lstStyle/>
          <a:p>
            <a:r>
              <a:rPr lang="en-US" altLang="en-US" sz="2400">
                <a:solidFill>
                  <a:srgbClr val="FF0000"/>
                </a:solidFill>
              </a:rPr>
              <a:t>Step-by-Step Guide to Data Collection</a:t>
            </a:r>
          </a:p>
        </p:txBody>
      </p:sp>
      <p:sp>
        <p:nvSpPr>
          <p:cNvPr id="4" name="Content Placeholder 3"/>
          <p:cNvSpPr>
            <a:spLocks noGrp="1"/>
          </p:cNvSpPr>
          <p:nvPr>
            <p:ph idx="1"/>
          </p:nvPr>
        </p:nvSpPr>
        <p:spPr>
          <a:xfrm>
            <a:off x="493395" y="1023620"/>
            <a:ext cx="10561320" cy="4442460"/>
          </a:xfrm>
        </p:spPr>
        <p:txBody>
          <a:bodyPr>
            <a:normAutofit fontScale="92500"/>
          </a:bodyPr>
          <a:lstStyle/>
          <a:p>
            <a:r>
              <a:rPr lang="en-US" altLang="en-US">
                <a:solidFill>
                  <a:schemeClr val="tx1"/>
                </a:solidFill>
                <a:latin typeface="Times New Roman" panose="02020603050405020304" charset="0"/>
                <a:cs typeface="Times New Roman" panose="02020603050405020304" charset="0"/>
              </a:rPr>
              <a:t>Conducting effective data collection requires a systematic approach. Below is a step-by-step guide to ensure the data you collect is useful and accurate:</a:t>
            </a:r>
          </a:p>
          <a:p>
            <a:endParaRPr lang="en-US" altLang="en-US">
              <a:solidFill>
                <a:schemeClr val="tx1"/>
              </a:solidFill>
              <a:latin typeface="Times New Roman" panose="02020603050405020304" charset="0"/>
              <a:cs typeface="Times New Roman" panose="02020603050405020304" charset="0"/>
            </a:endParaRPr>
          </a:p>
          <a:p>
            <a:r>
              <a:rPr lang="en-US" altLang="en-US">
                <a:solidFill>
                  <a:srgbClr val="FF0000"/>
                </a:solidFill>
                <a:latin typeface="Times New Roman" panose="02020603050405020304" charset="0"/>
                <a:cs typeface="Times New Roman" panose="02020603050405020304" charset="0"/>
              </a:rPr>
              <a:t>Define the Problem Statement:</a:t>
            </a:r>
            <a:r>
              <a:rPr lang="en-US" altLang="en-US">
                <a:latin typeface="Times New Roman" panose="02020603050405020304" charset="0"/>
                <a:cs typeface="Times New Roman" panose="02020603050405020304" charset="0"/>
              </a:rPr>
              <a:t> Begin by clearly defining the business or research problem. Understanding what you aim to solve will help guide the entire data collection process, ensuring that only relevant data is gathered.</a:t>
            </a:r>
          </a:p>
          <a:p>
            <a:r>
              <a:rPr lang="en-US" altLang="en-US">
                <a:solidFill>
                  <a:srgbClr val="FF0000"/>
                </a:solidFill>
                <a:latin typeface="Times New Roman" panose="02020603050405020304" charset="0"/>
                <a:cs typeface="Times New Roman" panose="02020603050405020304" charset="0"/>
              </a:rPr>
              <a:t>Determine the Type of Data Needed: </a:t>
            </a:r>
            <a:r>
              <a:rPr lang="en-US" altLang="en-US">
                <a:latin typeface="Times New Roman" panose="02020603050405020304" charset="0"/>
                <a:cs typeface="Times New Roman" panose="02020603050405020304" charset="0"/>
              </a:rPr>
              <a:t>Decide whether you need qualitative or quantitative data, or perhaps a mix of both. Additionally, you should determine whether you need structured data (e.g., tabular data) or unstructured data (e.g., text, images).</a:t>
            </a:r>
          </a:p>
          <a:p>
            <a:r>
              <a:rPr lang="en-US" altLang="en-US">
                <a:solidFill>
                  <a:srgbClr val="FF0000"/>
                </a:solidFill>
                <a:latin typeface="Times New Roman" panose="02020603050405020304" charset="0"/>
                <a:cs typeface="Times New Roman" panose="02020603050405020304" charset="0"/>
              </a:rPr>
              <a:t>Select Data Sources: </a:t>
            </a:r>
            <a:r>
              <a:rPr lang="en-US" altLang="en-US">
                <a:latin typeface="Times New Roman" panose="02020603050405020304" charset="0"/>
                <a:cs typeface="Times New Roman" panose="02020603050405020304" charset="0"/>
              </a:rPr>
              <a:t>Based on the type of data needed, identify whether primary, secondary, or real-time data sources are most appropriate. For example, if you need data on customer behavior, web scraping or API data may be more suitable than surveys.</a:t>
            </a:r>
          </a:p>
        </p:txBody>
      </p:sp>
    </p:spTree>
    <p:extLst>
      <p:ext uri="{BB962C8B-B14F-4D97-AF65-F5344CB8AC3E}">
        <p14:creationId xmlns:p14="http://schemas.microsoft.com/office/powerpoint/2010/main" val="1390404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17195" y="657225"/>
            <a:ext cx="11578590" cy="4674870"/>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Create a Timeline for Data Collection:</a:t>
            </a:r>
            <a:r>
              <a:rPr lang="en-US" altLang="en-US" sz="2400">
                <a:latin typeface="Times New Roman" panose="02020603050405020304" charset="0"/>
                <a:cs typeface="Times New Roman" panose="02020603050405020304" charset="0"/>
              </a:rPr>
              <a:t> Establish a clear timeline for when and how the data will be collected. Define specific checkpoints to track progress and address any issues that arise during the data collection process.</a:t>
            </a:r>
          </a:p>
          <a:p>
            <a:endParaRPr lang="en-US" altLang="en-US" sz="2400">
              <a:latin typeface="Times New Roman" panose="02020603050405020304" charset="0"/>
              <a:cs typeface="Times New Roman" panose="02020603050405020304" charset="0"/>
            </a:endParaRPr>
          </a:p>
          <a:p>
            <a:r>
              <a:rPr lang="en-US" altLang="en-US" sz="2400">
                <a:solidFill>
                  <a:srgbClr val="FF0000"/>
                </a:solidFill>
                <a:latin typeface="Times New Roman" panose="02020603050405020304" charset="0"/>
                <a:cs typeface="Times New Roman" panose="02020603050405020304" charset="0"/>
              </a:rPr>
              <a:t>Collect and Validate Data:</a:t>
            </a:r>
            <a:r>
              <a:rPr lang="en-US" altLang="en-US" sz="2400">
                <a:latin typeface="Times New Roman" panose="02020603050405020304" charset="0"/>
                <a:cs typeface="Times New Roman" panose="02020603050405020304" charset="0"/>
              </a:rPr>
              <a:t> As you collect data, ensure that it is clean and valid. Validation techniques include checking for inconsistencies, correcting errors, and handling missing data to avoid issues during the analysis phase.</a:t>
            </a:r>
          </a:p>
          <a:p>
            <a:endParaRPr lang="en-US" altLang="en-US" sz="240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68192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91185" y="617855"/>
            <a:ext cx="11419205" cy="5583555"/>
          </a:xfrm>
          <a:prstGeom prst="rect">
            <a:avLst/>
          </a:prstGeom>
          <a:noFill/>
        </p:spPr>
        <p:txBody>
          <a:bodyPr wrap="square" rtlCol="0">
            <a:noAutofit/>
          </a:bodyPr>
          <a:lstStyle/>
          <a:p>
            <a:r>
              <a:rPr lang="en-US" altLang="en-US" sz="2400">
                <a:solidFill>
                  <a:srgbClr val="FF0000"/>
                </a:solidFill>
              </a:rPr>
              <a:t>Example of Data Collection in Practice</a:t>
            </a:r>
          </a:p>
          <a:p>
            <a:r>
              <a:rPr lang="en-US" altLang="en-US" sz="2400"/>
              <a:t>Consider an e-commerce company looking to improve customer experience. The company collects data through:</a:t>
            </a:r>
          </a:p>
          <a:p>
            <a:endParaRPr lang="en-US" altLang="en-US" sz="2400"/>
          </a:p>
          <a:p>
            <a:r>
              <a:rPr lang="en-US" altLang="en-US" sz="2400">
                <a:solidFill>
                  <a:srgbClr val="FF0000"/>
                </a:solidFill>
              </a:rPr>
              <a:t>Primary Data Collection: </a:t>
            </a:r>
            <a:r>
              <a:rPr lang="en-US" altLang="en-US" sz="2400"/>
              <a:t>Conducting customer surveys to gather direct feedback on shopping experience, website usability, and product preferences.</a:t>
            </a:r>
          </a:p>
          <a:p>
            <a:endParaRPr lang="en-US" altLang="en-US" sz="2400"/>
          </a:p>
          <a:p>
            <a:r>
              <a:rPr lang="en-US" altLang="en-US" sz="2400">
                <a:solidFill>
                  <a:srgbClr val="FF0000"/>
                </a:solidFill>
              </a:rPr>
              <a:t>Secondary Data Collection: </a:t>
            </a:r>
            <a:r>
              <a:rPr lang="en-US" altLang="en-US" sz="2400"/>
              <a:t>Analyzing existing data sources, such as Google Analytics, purchase history, and social media reviews, to identify trends and customer behavior.</a:t>
            </a:r>
          </a:p>
          <a:p>
            <a:endParaRPr lang="en-US" altLang="en-US" sz="2400"/>
          </a:p>
          <a:p>
            <a:r>
              <a:rPr lang="en-US" altLang="en-US" sz="2400"/>
              <a:t>By combining primary and secondary data, the company gains comprehensive insights into customer satisfaction and areas for improvement.</a:t>
            </a:r>
          </a:p>
        </p:txBody>
      </p:sp>
    </p:spTree>
    <p:extLst>
      <p:ext uri="{BB962C8B-B14F-4D97-AF65-F5344CB8AC3E}">
        <p14:creationId xmlns:p14="http://schemas.microsoft.com/office/powerpoint/2010/main" val="3173633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3990" y="569595"/>
            <a:ext cx="11724640" cy="5523865"/>
          </a:xfrm>
          <a:prstGeom prst="rect">
            <a:avLst/>
          </a:prstGeom>
          <a:noFill/>
        </p:spPr>
        <p:txBody>
          <a:bodyPr wrap="square" rtlCol="0">
            <a:noAutofit/>
          </a:bodyPr>
          <a:lstStyle/>
          <a:p>
            <a:r>
              <a:rPr lang="en-US" altLang="en-US" sz="2400">
                <a:solidFill>
                  <a:srgbClr val="FF0000"/>
                </a:solidFill>
                <a:latin typeface="Times New Roman" panose="02020603050405020304" charset="0"/>
                <a:cs typeface="Times New Roman" panose="02020603050405020304" charset="0"/>
              </a:rPr>
              <a:t>Case Study: Data-Driven Decision-Making</a:t>
            </a:r>
          </a:p>
          <a:p>
            <a:endParaRPr lang="en-US" altLang="en-US" sz="2000">
              <a:solidFill>
                <a:srgbClr val="FF0000"/>
              </a:solidFill>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A retail chain used data collection and analytics to optimize store layouts and inventory management.</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Process:</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Installed smart sensors to track foot traffic patterns.</a:t>
            </a:r>
          </a:p>
          <a:p>
            <a:r>
              <a:rPr lang="en-US" altLang="en-US" sz="2400">
                <a:latin typeface="Times New Roman" panose="02020603050405020304" charset="0"/>
                <a:cs typeface="Times New Roman" panose="02020603050405020304" charset="0"/>
              </a:rPr>
              <a:t>Collected POS (Point-of-Sale) transaction data to identify high-demand products.</a:t>
            </a:r>
          </a:p>
          <a:p>
            <a:r>
              <a:rPr lang="en-US" altLang="en-US" sz="2400">
                <a:latin typeface="Times New Roman" panose="02020603050405020304" charset="0"/>
                <a:cs typeface="Times New Roman" panose="02020603050405020304" charset="0"/>
              </a:rPr>
              <a:t>Analyzed customer purchase behavior using AI-driven predictive models.</a:t>
            </a:r>
          </a:p>
          <a:p>
            <a:r>
              <a:rPr lang="en-US" altLang="en-US" sz="2400">
                <a:latin typeface="Times New Roman" panose="02020603050405020304" charset="0"/>
                <a:cs typeface="Times New Roman" panose="02020603050405020304" charset="0"/>
              </a:rPr>
              <a:t>Results:</a:t>
            </a:r>
          </a:p>
          <a:p>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Rearranged store aisles to maximize accessibility to popular products.</a:t>
            </a:r>
          </a:p>
          <a:p>
            <a:r>
              <a:rPr lang="en-US" altLang="en-US" sz="2400">
                <a:latin typeface="Times New Roman" panose="02020603050405020304" charset="0"/>
                <a:cs typeface="Times New Roman" panose="02020603050405020304" charset="0"/>
              </a:rPr>
              <a:t>Adjusted inventory to reduce overstocking and shortages.</a:t>
            </a:r>
          </a:p>
          <a:p>
            <a:r>
              <a:rPr lang="en-US" altLang="en-US" sz="2400">
                <a:latin typeface="Times New Roman" panose="02020603050405020304" charset="0"/>
                <a:cs typeface="Times New Roman" panose="02020603050405020304" charset="0"/>
              </a:rPr>
              <a:t>Increased sales by 15% through personalized promotions based on collected data.</a:t>
            </a:r>
            <a:endParaRPr lang="en-US" sz="240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2988482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8425" y="873760"/>
            <a:ext cx="11316970" cy="4794250"/>
          </a:xfrm>
          <a:prstGeom prst="rect">
            <a:avLst/>
          </a:prstGeom>
          <a:noFill/>
        </p:spPr>
        <p:txBody>
          <a:bodyPr wrap="square" rtlCol="0">
            <a:noAutofit/>
          </a:bodyPr>
          <a:lstStyle/>
          <a:p>
            <a:r>
              <a:rPr lang="en-IN" altLang="en-US"/>
              <a:t>Terminal Questions</a:t>
            </a:r>
          </a:p>
          <a:p>
            <a:endParaRPr lang="en-IN" altLang="en-US"/>
          </a:p>
          <a:p>
            <a:r>
              <a:rPr lang="en-US" altLang="en-US"/>
              <a:t>1. What is data collection, and why is it important?</a:t>
            </a:r>
          </a:p>
          <a:p>
            <a:r>
              <a:rPr lang="en-US" altLang="en-US"/>
              <a:t>2. What are the different methods of data collection?</a:t>
            </a:r>
          </a:p>
          <a:p>
            <a:r>
              <a:rPr lang="en-IN" altLang="en-US"/>
              <a:t>3. </a:t>
            </a:r>
            <a:r>
              <a:rPr lang="en-US" altLang="en-US"/>
              <a:t>What are the key tools used in data collection?</a:t>
            </a:r>
          </a:p>
          <a:p>
            <a:r>
              <a:rPr lang="en-IN" altLang="en-US"/>
              <a:t>4. </a:t>
            </a:r>
            <a:r>
              <a:rPr lang="en-US" altLang="en-US"/>
              <a:t>How do I choose the right data collection method for my research?</a:t>
            </a:r>
          </a:p>
        </p:txBody>
      </p:sp>
    </p:spTree>
    <p:extLst>
      <p:ext uri="{BB962C8B-B14F-4D97-AF65-F5344CB8AC3E}">
        <p14:creationId xmlns:p14="http://schemas.microsoft.com/office/powerpoint/2010/main" val="1193780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t>
            </a:r>
            <a:r>
              <a:rPr lang="en-US" sz="2400" b="1" dirty="0" smtClean="0">
                <a:latin typeface="Poppins" pitchFamily="2" charset="77"/>
                <a:cs typeface="Poppins" pitchFamily="2" charset="77"/>
              </a:rPr>
              <a:t>DS</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docProps/app.xml><?xml version="1.0" encoding="utf-8"?>
<Properties xmlns="http://schemas.openxmlformats.org/officeDocument/2006/extended-properties" xmlns:vt="http://schemas.openxmlformats.org/officeDocument/2006/docPropsVTypes">
  <Template>DAV</Template>
  <TotalTime>929</TotalTime>
  <Words>2098</Words>
  <Application>Microsoft Office PowerPoint</Application>
  <PresentationFormat>Widescreen</PresentationFormat>
  <Paragraphs>278</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BioRhyme ExtraBold</vt:lpstr>
      <vt:lpstr>Calibri</vt:lpstr>
      <vt:lpstr>Gill Sans MT</vt:lpstr>
      <vt:lpstr>Poppins</vt:lpstr>
      <vt:lpstr>Times New Roman</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of Data Collection in Data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Step-by-Step Guide to Data Collection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Admin</cp:lastModifiedBy>
  <cp:revision>72</cp:revision>
  <dcterms:created xsi:type="dcterms:W3CDTF">2023-10-26T04:57:25Z</dcterms:created>
  <dcterms:modified xsi:type="dcterms:W3CDTF">2026-05-23T09:03:27Z</dcterms:modified>
</cp:coreProperties>
</file>