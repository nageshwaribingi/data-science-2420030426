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3"/>
  </p:notesMasterIdLst>
  <p:sldIdLst>
    <p:sldId id="256" r:id="rId2"/>
    <p:sldId id="300" r:id="rId3"/>
    <p:sldId id="363" r:id="rId4"/>
    <p:sldId id="364" r:id="rId5"/>
    <p:sldId id="365" r:id="rId6"/>
    <p:sldId id="366" r:id="rId7"/>
    <p:sldId id="367" r:id="rId8"/>
    <p:sldId id="372" r:id="rId9"/>
    <p:sldId id="373" r:id="rId10"/>
    <p:sldId id="368" r:id="rId11"/>
    <p:sldId id="304" r:id="rId12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59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7C990-AAAF-4074-A8C9-4B293FE2C43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B170A-ACE9-4F2D-9C96-321FF0FE2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9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 smtClean="0"/>
              <a:t>1. Title: </a:t>
            </a:r>
            <a:r>
              <a:rPr lang="en-IN" b="1" i="1" dirty="0" smtClean="0"/>
              <a:t>Warehouse</a:t>
            </a:r>
            <a:endParaRPr lang="en-IN" b="1" dirty="0" smtClean="0"/>
          </a:p>
          <a:p>
            <a:r>
              <a:rPr lang="en-IN" dirty="0" smtClean="0"/>
              <a:t>This is the </a:t>
            </a:r>
            <a:r>
              <a:rPr lang="en-IN" b="1" dirty="0" smtClean="0"/>
              <a:t>Data Warehouse section</a:t>
            </a:r>
            <a:r>
              <a:rPr lang="en-IN" dirty="0" smtClean="0"/>
              <a:t>, where all datasets from multiple sources are stored, integrated, and managed.</a:t>
            </a:r>
          </a:p>
          <a:p>
            <a:r>
              <a:rPr lang="en-IN" b="1" dirty="0" smtClean="0"/>
              <a:t>🔹 2. Data Sources</a:t>
            </a:r>
          </a:p>
          <a:p>
            <a:r>
              <a:rPr lang="en-IN" dirty="0" smtClean="0"/>
              <a:t>Shows </a:t>
            </a:r>
            <a:r>
              <a:rPr lang="en-IN" b="1" dirty="0" smtClean="0"/>
              <a:t>114 data sources</a:t>
            </a:r>
            <a:r>
              <a:rPr lang="en-IN" dirty="0" smtClean="0"/>
              <a:t> → These are external connections like </a:t>
            </a:r>
            <a:r>
              <a:rPr lang="en-IN" b="1" dirty="0" smtClean="0"/>
              <a:t>cloud apps, files, databases, APIs, etc.</a:t>
            </a:r>
            <a:endParaRPr lang="en-IN" dirty="0" smtClean="0"/>
          </a:p>
          <a:p>
            <a:r>
              <a:rPr lang="en-IN" dirty="0" smtClean="0"/>
              <a:t>Data is ingested into the warehouse for further use.</a:t>
            </a:r>
          </a:p>
          <a:p>
            <a:r>
              <a:rPr lang="en-IN" b="1" dirty="0" smtClean="0"/>
              <a:t>🔹 3. Domo Magic Data</a:t>
            </a:r>
          </a:p>
          <a:p>
            <a:r>
              <a:rPr lang="en-IN" b="1" dirty="0" smtClean="0"/>
              <a:t>78 Magic Data Flows</a:t>
            </a:r>
            <a:r>
              <a:rPr lang="en-IN" dirty="0" smtClean="0"/>
              <a:t> → Refers to transformation pipelines built inside Domo.</a:t>
            </a:r>
          </a:p>
          <a:p>
            <a:r>
              <a:rPr lang="en-IN" dirty="0" smtClean="0"/>
              <a:t>These flows clean, join, and process raw data into usable datasets for analytics.</a:t>
            </a:r>
          </a:p>
          <a:p>
            <a:r>
              <a:rPr lang="en-IN" b="1" dirty="0" smtClean="0"/>
              <a:t>🔹 4. Datasets &amp; Rows</a:t>
            </a:r>
          </a:p>
          <a:p>
            <a:r>
              <a:rPr lang="en-IN" b="1" dirty="0" smtClean="0"/>
              <a:t>5.5K datasets</a:t>
            </a:r>
            <a:r>
              <a:rPr lang="en-IN" dirty="0" smtClean="0"/>
              <a:t> → Total number of tables available inside the warehouse.</a:t>
            </a:r>
          </a:p>
          <a:p>
            <a:r>
              <a:rPr lang="en-IN" b="1" dirty="0" smtClean="0"/>
              <a:t>21.6B rows</a:t>
            </a:r>
            <a:r>
              <a:rPr lang="en-IN" dirty="0" smtClean="0"/>
              <a:t> → Size/volume of the data being stored and processed.</a:t>
            </a:r>
          </a:p>
          <a:p>
            <a:r>
              <a:rPr lang="en-IN" b="1" dirty="0" smtClean="0"/>
              <a:t>🔹 5. Visual Representation (Circular Layout)</a:t>
            </a:r>
          </a:p>
          <a:p>
            <a:r>
              <a:rPr lang="en-IN" dirty="0" smtClean="0"/>
              <a:t>The </a:t>
            </a:r>
            <a:r>
              <a:rPr lang="en-IN" b="1" dirty="0" smtClean="0"/>
              <a:t>circle diagram</a:t>
            </a:r>
            <a:r>
              <a:rPr lang="en-IN" dirty="0" smtClean="0"/>
              <a:t> represents datasets and data sources.</a:t>
            </a:r>
          </a:p>
          <a:p>
            <a:r>
              <a:rPr lang="en-IN" dirty="0" smtClean="0"/>
              <a:t>Each icon is a data source or dataset node, connected in a </a:t>
            </a:r>
            <a:r>
              <a:rPr lang="en-IN" b="1" dirty="0" smtClean="0"/>
              <a:t>hub-and-spoke model</a:t>
            </a:r>
            <a:r>
              <a:rPr lang="en-IN" dirty="0" smtClean="0"/>
              <a:t>.</a:t>
            </a:r>
          </a:p>
          <a:p>
            <a:r>
              <a:rPr lang="en-IN" dirty="0" smtClean="0"/>
              <a:t>Different </a:t>
            </a:r>
            <a:r>
              <a:rPr lang="en-IN" b="1" dirty="0" err="1" smtClean="0"/>
              <a:t>colors</a:t>
            </a:r>
            <a:r>
              <a:rPr lang="en-IN" b="1" dirty="0" smtClean="0"/>
              <a:t>/icons</a:t>
            </a:r>
            <a:r>
              <a:rPr lang="en-IN" dirty="0" smtClean="0"/>
              <a:t> represent different types of sources (databases, cloud apps, etc.).</a:t>
            </a:r>
          </a:p>
          <a:p>
            <a:r>
              <a:rPr lang="en-IN" b="1" dirty="0" smtClean="0"/>
              <a:t>🔹 6. Connect Data Options (Top Menu)</a:t>
            </a:r>
          </a:p>
          <a:p>
            <a:r>
              <a:rPr lang="en-IN" b="1" dirty="0" smtClean="0"/>
              <a:t>Cloud App</a:t>
            </a:r>
            <a:r>
              <a:rPr lang="en-IN" dirty="0" smtClean="0"/>
              <a:t> → Connect </a:t>
            </a:r>
            <a:r>
              <a:rPr lang="en-IN" dirty="0" err="1" smtClean="0"/>
              <a:t>SaaS</a:t>
            </a:r>
            <a:r>
              <a:rPr lang="en-IN" dirty="0" smtClean="0"/>
              <a:t> applications like Salesforce, Google Analytics, etc.</a:t>
            </a:r>
          </a:p>
          <a:p>
            <a:r>
              <a:rPr lang="en-IN" b="1" dirty="0" smtClean="0"/>
              <a:t>File</a:t>
            </a:r>
            <a:r>
              <a:rPr lang="en-IN" dirty="0" smtClean="0"/>
              <a:t> → Upload CSV, Excel, JSON files.</a:t>
            </a:r>
          </a:p>
          <a:p>
            <a:r>
              <a:rPr lang="en-IN" b="1" dirty="0" smtClean="0"/>
              <a:t>Database</a:t>
            </a:r>
            <a:r>
              <a:rPr lang="en-IN" dirty="0" smtClean="0"/>
              <a:t> → Connect traditional RDBMS like MySQL, SQL Server, Oracle.</a:t>
            </a:r>
          </a:p>
          <a:p>
            <a:r>
              <a:rPr lang="en-IN" b="1" dirty="0" smtClean="0"/>
              <a:t>Federated</a:t>
            </a:r>
            <a:r>
              <a:rPr lang="en-IN" dirty="0" smtClean="0"/>
              <a:t> → Query external data without storing it.</a:t>
            </a:r>
          </a:p>
          <a:p>
            <a:r>
              <a:rPr lang="en-IN" b="1" dirty="0" smtClean="0"/>
              <a:t>API</a:t>
            </a:r>
            <a:r>
              <a:rPr lang="en-IN" dirty="0" smtClean="0"/>
              <a:t> → Pull data from REST/other APIs directly.</a:t>
            </a:r>
          </a:p>
          <a:p>
            <a:r>
              <a:rPr lang="en-IN" b="1" dirty="0" smtClean="0"/>
              <a:t>🔹 7. Purpose</a:t>
            </a:r>
          </a:p>
          <a:p>
            <a:r>
              <a:rPr lang="en-IN" dirty="0" smtClean="0"/>
              <a:t>This dashboard gives:</a:t>
            </a:r>
            <a:br>
              <a:rPr lang="en-IN" dirty="0" smtClean="0"/>
            </a:br>
            <a:r>
              <a:rPr lang="en-IN" dirty="0" smtClean="0"/>
              <a:t>✅ A </a:t>
            </a:r>
            <a:r>
              <a:rPr lang="en-IN" b="1" dirty="0" smtClean="0"/>
              <a:t>summary of data assets</a:t>
            </a:r>
            <a:r>
              <a:rPr lang="en-IN" dirty="0" smtClean="0"/>
              <a:t> (sources, datasets, rows).</a:t>
            </a:r>
            <a:br>
              <a:rPr lang="en-IN" dirty="0" smtClean="0"/>
            </a:br>
            <a:r>
              <a:rPr lang="en-IN" dirty="0" smtClean="0"/>
              <a:t>✅ </a:t>
            </a:r>
            <a:r>
              <a:rPr lang="en-IN" b="1" dirty="0" smtClean="0"/>
              <a:t>Centralized view of warehouse</a:t>
            </a:r>
            <a:r>
              <a:rPr lang="en-IN" dirty="0" smtClean="0"/>
              <a:t> with connections between raw data and transformed datasets.</a:t>
            </a:r>
            <a:br>
              <a:rPr lang="en-IN" dirty="0" smtClean="0"/>
            </a:br>
            <a:r>
              <a:rPr lang="en-IN" dirty="0" smtClean="0"/>
              <a:t>✅ Easy </a:t>
            </a:r>
            <a:r>
              <a:rPr lang="en-IN" b="1" dirty="0" smtClean="0"/>
              <a:t>integration, transformation, and monitoring</a:t>
            </a:r>
            <a:r>
              <a:rPr lang="en-IN" dirty="0" smtClean="0"/>
              <a:t> of all enterprise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B170A-ACE9-4F2D-9C96-321FF0FE229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18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6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27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2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0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2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20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30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10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30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=""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=""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mo.com/learn/article/how-to-optimize-your-data-warehouse-investments/" TargetMode="External"/><Relationship Id="rId2" Type="http://schemas.openxmlformats.org/officeDocument/2006/relationships/hyperlink" Target="https://www.domo.com/data-integration/features/adrenaline-dataflows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5;p16">
            <a:extLst>
              <a:ext uri="{FF2B5EF4-FFF2-40B4-BE49-F238E27FC236}">
                <a16:creationId xmlns="" xmlns:a16="http://schemas.microsoft.com/office/drawing/2014/main" id="{CB69EC99-FFAF-B3A6-842B-B510C0EAB741}"/>
              </a:ext>
            </a:extLst>
          </p:cNvPr>
          <p:cNvSpPr txBox="1"/>
          <p:nvPr/>
        </p:nvSpPr>
        <p:spPr>
          <a:xfrm>
            <a:off x="2971800" y="762000"/>
            <a:ext cx="5650523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  <a:cs typeface="Poppins" pitchFamily="2" charset="77"/>
              </a:rPr>
              <a:t>Department of </a:t>
            </a:r>
            <a:r>
              <a:rPr lang="en-US" sz="4000" dirty="0" smtClean="0">
                <a:solidFill>
                  <a:srgbClr val="00B0F0"/>
                </a:solidFill>
                <a:cs typeface="Poppins" pitchFamily="2" charset="77"/>
              </a:rPr>
              <a:t>CSE, CSIT </a:t>
            </a:r>
            <a:endParaRPr lang="en-US" sz="4000" dirty="0">
              <a:solidFill>
                <a:srgbClr val="00B0F0"/>
              </a:solidFill>
              <a:cs typeface="Poppins" pitchFamily="2" charset="77"/>
            </a:endParaRPr>
          </a:p>
        </p:txBody>
      </p:sp>
      <p:sp>
        <p:nvSpPr>
          <p:cNvPr id="6" name="Google Shape;476;p16">
            <a:extLst>
              <a:ext uri="{FF2B5EF4-FFF2-40B4-BE49-F238E27FC236}">
                <a16:creationId xmlns="" xmlns:a16="http://schemas.microsoft.com/office/drawing/2014/main" id="{84A891A9-D46F-5E9B-65D6-C64F832A0362}"/>
              </a:ext>
            </a:extLst>
          </p:cNvPr>
          <p:cNvSpPr txBox="1"/>
          <p:nvPr/>
        </p:nvSpPr>
        <p:spPr>
          <a:xfrm>
            <a:off x="1595120" y="2048911"/>
            <a:ext cx="8218565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NAME: Data </a:t>
            </a: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science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COURSE CODE: </a:t>
            </a:r>
            <a:r>
              <a:rPr lang="en-US" sz="3200" b="1" cap="all" dirty="0" smtClean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24AD3107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Pipeline stages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="" xmlns:a16="http://schemas.microsoft.com/office/drawing/2014/main" id="{A5120A7A-ED85-153C-EE7C-2FEB2D482089}"/>
              </a:ext>
            </a:extLst>
          </p:cNvPr>
          <p:cNvSpPr/>
          <p:nvPr/>
        </p:nvSpPr>
        <p:spPr>
          <a:xfrm>
            <a:off x="4876800" y="541020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</a:t>
            </a:r>
            <a:r>
              <a:rPr lang="en-US" sz="2800" b="1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6</a:t>
            </a:r>
            <a:endParaRPr sz="2800" b="1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37648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110343" y="689854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Pipeline stages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=""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49514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982200" cy="10115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  <a:r>
              <a:rPr lang="en-US" sz="1600" dirty="0">
                <a:latin typeface="Poppins"/>
                <a:cs typeface="Poppins"/>
              </a:rPr>
              <a:t>Introduction to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Pipeline stages</a:t>
            </a: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=""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=""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=""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=""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47684" y="4863626"/>
            <a:ext cx="9906000" cy="100078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 basic knowledge </a:t>
            </a:r>
            <a:r>
              <a:rPr lang="en-US" altLang="en-US" sz="1600" dirty="0">
                <a:latin typeface="Arial"/>
                <a:cs typeface="Arial"/>
              </a:rPr>
              <a:t>of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Pipeline stages</a:t>
            </a: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="" xmlns:a16="http://schemas.microsoft.com/office/drawing/2014/main" id="{1FB182DA-8516-88B8-108C-8195B81974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52463"/>
            <a:ext cx="10515600" cy="1325562"/>
          </a:xfrm>
        </p:spPr>
        <p:txBody>
          <a:bodyPr/>
          <a:lstStyle/>
          <a:p>
            <a:r>
              <a:rPr lang="en-US" altLang="en-US" dirty="0"/>
              <a:t>      Key Concepts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="" xmlns:a16="http://schemas.microsoft.com/office/drawing/2014/main" id="{56F88FC0-F086-2D56-9F7F-55E81DA658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9280" y="1609725"/>
            <a:ext cx="11602720" cy="45958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The 5 key components of a data pipeline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Why implement a data pipeline?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The five components of a data pipeline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The benefits of a data pipeline integration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How to implement a data pipeline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/>
          </a:p>
          <a:p>
            <a:pPr marL="0" indent="0"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="" xmlns:a16="http://schemas.microsoft.com/office/drawing/2014/main" id="{978A528D-FBDF-73B4-7991-604D89DCAB64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895600" y="152400"/>
            <a:ext cx="70104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The 5 key components of a data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8BC9713-A66A-0609-CF4E-F90916374718}"/>
              </a:ext>
            </a:extLst>
          </p:cNvPr>
          <p:cNvSpPr txBox="1"/>
          <p:nvPr/>
        </p:nvSpPr>
        <p:spPr>
          <a:xfrm>
            <a:off x="800100" y="914400"/>
            <a:ext cx="11087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A data pipeline has five key components: storage, preprocessing, analysis, applications, and delivery. Understanding the five key components of a data pipeline helps organizations work with big data and use the insights they generate.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FAB4F44D-10C6-8423-4836-55587B3B1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10782300" cy="468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27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721964" y="152400"/>
            <a:ext cx="5812436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3200" dirty="0"/>
              <a:t>Why implement a data pipeline?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FE831AF-1393-7003-EB89-095079BDCE02}"/>
              </a:ext>
            </a:extLst>
          </p:cNvPr>
          <p:cNvSpPr txBox="1"/>
          <p:nvPr/>
        </p:nvSpPr>
        <p:spPr>
          <a:xfrm>
            <a:off x="1371600" y="1166842"/>
            <a:ext cx="10134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A data pipeline helps organizations </a:t>
            </a:r>
            <a:r>
              <a:rPr lang="en-US" sz="2400" dirty="0">
                <a:solidFill>
                  <a:srgbClr val="FF0000"/>
                </a:solidFill>
              </a:rPr>
              <a:t>make sense of their big data and transform it into high-quality information</a:t>
            </a:r>
            <a:r>
              <a:rPr lang="en-US" sz="2400" dirty="0"/>
              <a:t> that can be </a:t>
            </a:r>
            <a:r>
              <a:rPr lang="en-US" sz="2400" dirty="0">
                <a:solidFill>
                  <a:srgbClr val="FF0000"/>
                </a:solidFill>
              </a:rPr>
              <a:t>used for analysis and business intelligence.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No matter how small or large, </a:t>
            </a:r>
            <a:r>
              <a:rPr lang="en-US" sz="2400" dirty="0">
                <a:solidFill>
                  <a:srgbClr val="FF0000"/>
                </a:solidFill>
              </a:rPr>
              <a:t>all companies must manage data to stay relevant </a:t>
            </a:r>
            <a:r>
              <a:rPr lang="en-US" sz="2400" dirty="0"/>
              <a:t>in today’s competitive market.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Businesses use </a:t>
            </a:r>
            <a:r>
              <a:rPr lang="en-US" sz="2400" dirty="0"/>
              <a:t>this information </a:t>
            </a:r>
            <a:r>
              <a:rPr lang="en-US" sz="2400" dirty="0">
                <a:solidFill>
                  <a:srgbClr val="FF0000"/>
                </a:solidFill>
              </a:rPr>
              <a:t>to identify customers’ needs, market products, and drive revenue.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Data pipeline integration is a </a:t>
            </a:r>
            <a:r>
              <a:rPr lang="en-US" sz="2400" dirty="0">
                <a:solidFill>
                  <a:srgbClr val="FF0000"/>
                </a:solidFill>
              </a:rPr>
              <a:t>huge part of the process </a:t>
            </a:r>
            <a:r>
              <a:rPr lang="en-US" sz="2400" dirty="0"/>
              <a:t>because it provides five key components that allow companies to manage big data.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8835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721964" y="152400"/>
            <a:ext cx="7488836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3600" dirty="0"/>
              <a:t>The five components of a data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C1E1E17-6517-4428-F7C5-F402D1488EE3}"/>
              </a:ext>
            </a:extLst>
          </p:cNvPr>
          <p:cNvSpPr txBox="1"/>
          <p:nvPr/>
        </p:nvSpPr>
        <p:spPr>
          <a:xfrm>
            <a:off x="1371600" y="875572"/>
            <a:ext cx="1066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IN" b="1" dirty="0"/>
              <a:t>Storage :</a:t>
            </a:r>
            <a:r>
              <a:rPr lang="en-IN" dirty="0"/>
              <a:t> </a:t>
            </a:r>
            <a:r>
              <a:rPr lang="en-US" dirty="0"/>
              <a:t>The main function of storage is to provide </a:t>
            </a:r>
            <a:r>
              <a:rPr lang="en-US" dirty="0">
                <a:solidFill>
                  <a:srgbClr val="FF0000"/>
                </a:solidFill>
              </a:rPr>
              <a:t>cost-effective large-scale storage that scales as the organization’s data grows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  <a:endParaRPr lang="en-IN" b="1" i="0" dirty="0">
              <a:solidFill>
                <a:srgbClr val="FF0000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pPr algn="just"/>
            <a:endParaRPr lang="en-IN" b="1" i="0" dirty="0">
              <a:solidFill>
                <a:srgbClr val="555555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6B0BAC0-9160-E8DA-3B7F-4985244889D9}"/>
              </a:ext>
            </a:extLst>
          </p:cNvPr>
          <p:cNvSpPr txBox="1"/>
          <p:nvPr/>
        </p:nvSpPr>
        <p:spPr>
          <a:xfrm>
            <a:off x="1371600" y="1782953"/>
            <a:ext cx="1066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2. </a:t>
            </a:r>
            <a:r>
              <a:rPr lang="en-IN" b="1" dirty="0"/>
              <a:t>Preprocessing : </a:t>
            </a:r>
            <a:r>
              <a:rPr lang="en-US" dirty="0"/>
              <a:t>This part of the process </a:t>
            </a:r>
            <a:r>
              <a:rPr lang="en-US" dirty="0">
                <a:solidFill>
                  <a:srgbClr val="FF0000"/>
                </a:solidFill>
              </a:rPr>
              <a:t>prepares big data for analysis and creates a controlled environment </a:t>
            </a:r>
            <a:r>
              <a:rPr lang="en-US" dirty="0"/>
              <a:t>for downstream processes.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4A5AEEB-BA84-EC37-6350-BA4FAE50EB4E}"/>
              </a:ext>
            </a:extLst>
          </p:cNvPr>
          <p:cNvSpPr txBox="1"/>
          <p:nvPr/>
        </p:nvSpPr>
        <p:spPr>
          <a:xfrm>
            <a:off x="1394085" y="2690336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3</a:t>
            </a:r>
            <a:r>
              <a:rPr lang="en-IN" b="1" dirty="0"/>
              <a:t>. Analysis </a:t>
            </a:r>
            <a:r>
              <a:rPr lang="en-IN" dirty="0"/>
              <a:t>: </a:t>
            </a:r>
            <a:r>
              <a:rPr lang="en-US" dirty="0"/>
              <a:t> </a:t>
            </a:r>
            <a:r>
              <a:rPr lang="en-US" dirty="0">
                <a:solidFill>
                  <a:srgbClr val="FF0000"/>
                </a:solidFill>
              </a:rPr>
              <a:t>provides useful insights into the collected information and makes it possible to compare new data with existing big data sets</a:t>
            </a:r>
            <a:r>
              <a:rPr lang="en-US" dirty="0"/>
              <a:t>. It also helps organizations identify relationships between variables in large datasets to eventually create models that represent real-world processes.</a:t>
            </a:r>
          </a:p>
          <a:p>
            <a:pPr algn="just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082A9F7-AEB6-CCC5-7CFC-5A4EFBE85A69}"/>
              </a:ext>
            </a:extLst>
          </p:cNvPr>
          <p:cNvSpPr txBox="1"/>
          <p:nvPr/>
        </p:nvSpPr>
        <p:spPr>
          <a:xfrm>
            <a:off x="1426564" y="4105550"/>
            <a:ext cx="1061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4. Applications </a:t>
            </a:r>
            <a:r>
              <a:rPr lang="en-IN" dirty="0"/>
              <a:t>: </a:t>
            </a:r>
            <a:r>
              <a:rPr lang="en-US" dirty="0"/>
              <a:t>The fourth component of a data pipeline is applications, which are specialized tools that provide the </a:t>
            </a:r>
            <a:r>
              <a:rPr lang="en-US" dirty="0">
                <a:solidFill>
                  <a:srgbClr val="FF0000"/>
                </a:solidFill>
              </a:rPr>
              <a:t>necessary functions to transform processed data into valuable information.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4E80F8A-5A7C-3A94-FF2D-1AC7AF4D795B}"/>
              </a:ext>
            </a:extLst>
          </p:cNvPr>
          <p:cNvSpPr txBox="1"/>
          <p:nvPr/>
        </p:nvSpPr>
        <p:spPr>
          <a:xfrm>
            <a:off x="1393368" y="4966766"/>
            <a:ext cx="10613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5. Delivery </a:t>
            </a:r>
            <a:r>
              <a:rPr lang="en-IN" dirty="0"/>
              <a:t>: </a:t>
            </a:r>
            <a:r>
              <a:rPr lang="en-US" dirty="0"/>
              <a:t>The final component of a data pipeline is delivery, which is the final presentation piece </a:t>
            </a:r>
            <a:r>
              <a:rPr lang="en-US" dirty="0">
                <a:solidFill>
                  <a:srgbClr val="FF0000"/>
                </a:solidFill>
              </a:rPr>
              <a:t>used to deliver valuable information to those who need it.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87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438400" y="2286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3600" dirty="0"/>
              <a:t>The benefits of a data pipeline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5275E60-5C73-4682-3586-DA12ACC4A058}"/>
              </a:ext>
            </a:extLst>
          </p:cNvPr>
          <p:cNvSpPr txBox="1"/>
          <p:nvPr/>
        </p:nvSpPr>
        <p:spPr>
          <a:xfrm>
            <a:off x="304800" y="990600"/>
            <a:ext cx="1150620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A strong data pipeline integration allows companies to: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Reduce costs</a:t>
            </a:r>
            <a:r>
              <a:rPr lang="en-US" dirty="0"/>
              <a:t>: By using a data pipeline that </a:t>
            </a:r>
            <a:r>
              <a:rPr lang="en-US" dirty="0">
                <a:solidFill>
                  <a:srgbClr val="FF0000"/>
                </a:solidFill>
              </a:rPr>
              <a:t>integrates all five components</a:t>
            </a:r>
            <a:r>
              <a:rPr lang="en-US" dirty="0"/>
              <a:t>, businesses can cut costs by </a:t>
            </a:r>
            <a:r>
              <a:rPr lang="en-US" dirty="0">
                <a:solidFill>
                  <a:srgbClr val="FF0000"/>
                </a:solidFill>
              </a:rPr>
              <a:t>reducing the amount of storage needed.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Speed up processes</a:t>
            </a:r>
            <a:r>
              <a:rPr lang="en-US" dirty="0" smtClean="0"/>
              <a:t>: A data pipeline that integrates all five components can reduce delivery time to </a:t>
            </a:r>
            <a:r>
              <a:rPr lang="en-US" dirty="0" smtClean="0">
                <a:solidFill>
                  <a:srgbClr val="FF0000"/>
                </a:solidFill>
              </a:rPr>
              <a:t>make valuable information much faster.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Work </a:t>
            </a:r>
            <a:r>
              <a:rPr lang="en-US" b="1" dirty="0"/>
              <a:t>with big data</a:t>
            </a:r>
            <a:r>
              <a:rPr lang="en-US" dirty="0"/>
              <a:t>: Because big data is difficult to manage, it’s important for companies </a:t>
            </a:r>
            <a:r>
              <a:rPr lang="en-US" dirty="0">
                <a:solidFill>
                  <a:srgbClr val="FF0000"/>
                </a:solidFill>
              </a:rPr>
              <a:t>to have a strategy in place to store, process, analyze, and deliver it easily.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Gain insights:</a:t>
            </a:r>
            <a:r>
              <a:rPr lang="en-US" dirty="0"/>
              <a:t> The ability to </a:t>
            </a:r>
            <a:r>
              <a:rPr lang="en-US" dirty="0">
                <a:solidFill>
                  <a:srgbClr val="FF0000"/>
                </a:solidFill>
              </a:rPr>
              <a:t>analyze big data </a:t>
            </a:r>
            <a:r>
              <a:rPr lang="en-US" dirty="0"/>
              <a:t>allows companies to gain insights that give them a </a:t>
            </a:r>
            <a:r>
              <a:rPr lang="en-US" dirty="0">
                <a:solidFill>
                  <a:srgbClr val="FF0000"/>
                </a:solidFill>
              </a:rPr>
              <a:t>competitive advantage in the marketplace.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Include big data in business decisions:</a:t>
            </a:r>
            <a:r>
              <a:rPr lang="en-US" dirty="0"/>
              <a:t> </a:t>
            </a:r>
            <a:r>
              <a:rPr lang="en-US" dirty="0">
                <a:solidFill>
                  <a:srgbClr val="FF0000"/>
                </a:solidFill>
              </a:rPr>
              <a:t>Organizational data is critical to making effective decisions </a:t>
            </a:r>
            <a:r>
              <a:rPr lang="en-US" dirty="0"/>
              <a:t>that drive companies from one level to the next.</a:t>
            </a:r>
          </a:p>
        </p:txBody>
      </p:sp>
    </p:spTree>
    <p:extLst>
      <p:ext uri="{BB962C8B-B14F-4D97-AF65-F5344CB8AC3E}">
        <p14:creationId xmlns:p14="http://schemas.microsoft.com/office/powerpoint/2010/main" val="251178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438400" y="2286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3600" dirty="0"/>
              <a:t>The benefits of a data pipeline integration</a:t>
            </a:r>
          </a:p>
        </p:txBody>
      </p:sp>
      <p:pic>
        <p:nvPicPr>
          <p:cNvPr id="1026" name="Picture 2" descr="cloud connectors">
            <a:extLst>
              <a:ext uri="{FF2B5EF4-FFF2-40B4-BE49-F238E27FC236}">
                <a16:creationId xmlns="" xmlns:a16="http://schemas.microsoft.com/office/drawing/2014/main" id="{CE9DE1F7-151A-8381-ABEB-AE09B97BC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76906"/>
            <a:ext cx="9372600" cy="563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49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11658599" cy="5410200"/>
          </a:xfrm>
        </p:spPr>
        <p:txBody>
          <a:bodyPr numCol="3">
            <a:normAutofit fontScale="77500" lnSpcReduction="20000"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Title: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section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all datasets from multiple sources are stored, integrated, and managed.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2. Data Sources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 data sources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These are external connections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apps, files, databases, APIs,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ingested into the warehouse for further use.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3. Domo Magic Data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Magic Data Flows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Refers to transformation pipelines built inside Domo.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flows clean, join, and process raw data into usable datasets for analytics.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4. Datasets &amp; Rows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5.5K datasets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Total number of tables available inside the warehouse.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21.6B rows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Size/volume of the data being stored and processed.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5. Visual Representation (Circular Layout)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 diagram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datasets and data sources.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icon is a data source or dataset node, connected in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hub-and-spoke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/icons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different types of sources (databases, cloud apps, etc.).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6. Connect Data Options (Top Menu)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App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Connect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like Salesforce, Google Analytics, etc.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Upload CSV, Excel, JSON files.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Connect traditional RDBMS like MySQL, SQL Server, Oracle.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Query external data without storing it.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Pull data from REST/other APIs directly.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7. Purpose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gives: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data assets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(sources, datasets, rows).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view of warehouse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connections between raw data and transformed datasets.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Easy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integration, transformation, and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enterprise data.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893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1828800" y="95310"/>
            <a:ext cx="9372600" cy="60960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dirty="0"/>
              <a:t>How to implement a data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DDA7D69-BF11-2E8E-0A67-3A21F18F0609}"/>
              </a:ext>
            </a:extLst>
          </p:cNvPr>
          <p:cNvSpPr txBox="1"/>
          <p:nvPr/>
        </p:nvSpPr>
        <p:spPr>
          <a:xfrm>
            <a:off x="1409700" y="1143000"/>
            <a:ext cx="1021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first step to integrating these components is to </a:t>
            </a:r>
            <a:r>
              <a:rPr lang="en-US" dirty="0">
                <a:solidFill>
                  <a:srgbClr val="FF0000"/>
                </a:solidFill>
              </a:rPr>
              <a:t>select the right infrastructure</a:t>
            </a:r>
            <a:r>
              <a:rPr lang="en-US" dirty="0"/>
              <a:t>. Businesses can </a:t>
            </a:r>
            <a:r>
              <a:rPr lang="en-US" dirty="0">
                <a:hlinkClick r:id="rId2"/>
              </a:rPr>
              <a:t>handle big data in real-time</a:t>
            </a:r>
            <a:r>
              <a:rPr lang="en-US" dirty="0"/>
              <a:t> by choosing an infrastructure </a:t>
            </a:r>
            <a:r>
              <a:rPr lang="en-US" dirty="0">
                <a:solidFill>
                  <a:srgbClr val="FF0000"/>
                </a:solidFill>
              </a:rPr>
              <a:t>that supports cloud computing.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DE801A7-F44C-E578-32F1-A027919894C7}"/>
              </a:ext>
            </a:extLst>
          </p:cNvPr>
          <p:cNvSpPr txBox="1"/>
          <p:nvPr/>
        </p:nvSpPr>
        <p:spPr>
          <a:xfrm>
            <a:off x="1407202" y="2209800"/>
            <a:ext cx="1021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Next, they need to find a way to </a:t>
            </a:r>
            <a:r>
              <a:rPr lang="en-US" dirty="0">
                <a:solidFill>
                  <a:srgbClr val="FF0000"/>
                </a:solidFill>
              </a:rPr>
              <a:t>deliver information in a secure manner</a:t>
            </a:r>
            <a:r>
              <a:rPr lang="en-US" dirty="0"/>
              <a:t>. By </a:t>
            </a:r>
            <a:r>
              <a:rPr lang="en-US" dirty="0">
                <a:solidFill>
                  <a:srgbClr val="FF0000"/>
                </a:solidFill>
              </a:rPr>
              <a:t>using cloud-based reporting tools, companies can ensure </a:t>
            </a:r>
            <a:r>
              <a:rPr lang="en-US" dirty="0"/>
              <a:t>the most </a:t>
            </a:r>
            <a:r>
              <a:rPr lang="en-US" dirty="0">
                <a:solidFill>
                  <a:srgbClr val="FF0000"/>
                </a:solidFill>
              </a:rPr>
              <a:t>updated data is being used </a:t>
            </a:r>
            <a:r>
              <a:rPr lang="en-US" dirty="0"/>
              <a:t>and all employees have access to updated reports.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4CA86A7-FA14-D4F6-E327-D90DCD010DEB}"/>
              </a:ext>
            </a:extLst>
          </p:cNvPr>
          <p:cNvSpPr txBox="1"/>
          <p:nvPr/>
        </p:nvSpPr>
        <p:spPr>
          <a:xfrm>
            <a:off x="1407202" y="3429000"/>
            <a:ext cx="1021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Finally, companies should consider </a:t>
            </a:r>
            <a:r>
              <a:rPr lang="en-US" dirty="0">
                <a:hlinkClick r:id="rId3"/>
              </a:rPr>
              <a:t>how to integrate their existing infrastructure with any new solutions</a:t>
            </a:r>
            <a:r>
              <a:rPr lang="en-US" dirty="0"/>
              <a:t>. For example, if an organization currently requires a traditional data warehouse with required integrations, it may be difficult to implement a new cloud-based solution.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DDFDA15-BE91-BF1C-B64B-E273E5C9B337}"/>
              </a:ext>
            </a:extLst>
          </p:cNvPr>
          <p:cNvSpPr txBox="1"/>
          <p:nvPr/>
        </p:nvSpPr>
        <p:spPr>
          <a:xfrm>
            <a:off x="1407202" y="4925199"/>
            <a:ext cx="10017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When implemented successfully, a data pipeline integration allows </a:t>
            </a:r>
            <a:r>
              <a:rPr lang="en-US" dirty="0">
                <a:solidFill>
                  <a:srgbClr val="FF0000"/>
                </a:solidFill>
              </a:rPr>
              <a:t>companies to take full advantage of big data and produce valuable insights.</a:t>
            </a:r>
            <a:r>
              <a:rPr lang="en-US" dirty="0"/>
              <a:t> By using this strategy, organizations can gain a competitive advantage in the marketplace.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0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90800" y="1905000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>
                <a:latin typeface="Poppins" pitchFamily="2" charset="77"/>
                <a:cs typeface="Poppins" pitchFamily="2" charset="77"/>
              </a:rPr>
              <a:t>– </a:t>
            </a:r>
            <a:r>
              <a:rPr lang="en-US" sz="2400" b="1" smtClean="0">
                <a:latin typeface="Poppins" pitchFamily="2" charset="77"/>
                <a:cs typeface="Poppins" pitchFamily="2" charset="77"/>
              </a:rPr>
              <a:t>DS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DAV</Template>
  <TotalTime>757</TotalTime>
  <Words>1000</Words>
  <Application>Microsoft Office PowerPoint</Application>
  <PresentationFormat>Widescreen</PresentationFormat>
  <Paragraphs>114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BioRhyme ExtraBold</vt:lpstr>
      <vt:lpstr>Calibri</vt:lpstr>
      <vt:lpstr>Gill Sans MT</vt:lpstr>
      <vt:lpstr>Open Sans</vt:lpstr>
      <vt:lpstr>Poppins</vt:lpstr>
      <vt:lpstr>Times New Roman</vt:lpstr>
      <vt:lpstr>Wingdings</vt:lpstr>
      <vt:lpstr>Gallery</vt:lpstr>
      <vt:lpstr>PowerPoint Presentation</vt:lpstr>
      <vt:lpstr>PowerPoint Presentation</vt:lpstr>
      <vt:lpstr>      Key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VOCABULARY</dc:title>
  <dc:creator>ramesh babu padamata</dc:creator>
  <cp:lastModifiedBy>Admin</cp:lastModifiedBy>
  <cp:revision>55</cp:revision>
  <dcterms:created xsi:type="dcterms:W3CDTF">2023-10-26T04:57:25Z</dcterms:created>
  <dcterms:modified xsi:type="dcterms:W3CDTF">2026-05-23T07:20:39Z</dcterms:modified>
</cp:coreProperties>
</file>