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80" r:id="rId2"/>
  </p:sldMasterIdLst>
  <p:notesMasterIdLst>
    <p:notesMasterId r:id="rId19"/>
  </p:notesMasterIdLst>
  <p:sldIdLst>
    <p:sldId id="256" r:id="rId3"/>
    <p:sldId id="300" r:id="rId4"/>
    <p:sldId id="363" r:id="rId5"/>
    <p:sldId id="434" r:id="rId6"/>
    <p:sldId id="433" r:id="rId7"/>
    <p:sldId id="435" r:id="rId8"/>
    <p:sldId id="257" r:id="rId9"/>
    <p:sldId id="258" r:id="rId10"/>
    <p:sldId id="259" r:id="rId11"/>
    <p:sldId id="260" r:id="rId12"/>
    <p:sldId id="262" r:id="rId13"/>
    <p:sldId id="430" r:id="rId14"/>
    <p:sldId id="431" r:id="rId15"/>
    <p:sldId id="265" r:id="rId16"/>
    <p:sldId id="432" r:id="rId17"/>
    <p:sldId id="304" r:id="rId18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595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F7C990-AAAF-4074-A8C9-4B293FE2C437}" type="datetimeFigureOut">
              <a:rPr lang="en-IN" smtClean="0"/>
              <a:t>23-05-2026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B170A-ACE9-4F2D-9C96-321FF0FE22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9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68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27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82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9231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220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32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20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30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109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29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9304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6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pPr marL="109855">
              <a:lnSpc>
                <a:spcPts val="1070"/>
              </a:lnSpc>
            </a:pPr>
            <a:fld id="{81D60167-4931-47E6-BA6A-407CBD079E47}" type="slidenum">
              <a:rPr lang="en-IN" smtClean="0"/>
              <a:pPr marL="109855">
                <a:lnSpc>
                  <a:spcPts val="1070"/>
                </a:lnSpc>
              </a:pPr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xmlns="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xmlns="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428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lvl1pPr algn="ctr" defTabSz="428671" rtl="0" eaLnBrk="1" latinLnBrk="0" hangingPunct="1">
        <a:spcBef>
          <a:spcPct val="0"/>
        </a:spcBef>
        <a:buNone/>
        <a:defRPr sz="2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752" indent="-160752" algn="l" defTabSz="428671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8295" indent="-133960" algn="l" defTabSz="428671" rtl="0" eaLnBrk="1" latinLnBrk="0" hangingPunct="1">
        <a:spcBef>
          <a:spcPct val="20000"/>
        </a:spcBef>
        <a:buFont typeface="Arial" pitchFamily="34" charset="0"/>
        <a:buChar char="–"/>
        <a:defRPr sz="1313" kern="1200">
          <a:solidFill>
            <a:schemeClr val="tx1"/>
          </a:solidFill>
          <a:latin typeface="+mn-lt"/>
          <a:ea typeface="+mn-ea"/>
          <a:cs typeface="+mn-cs"/>
        </a:defRPr>
      </a:lvl2pPr>
      <a:lvl3pPr marL="535838" indent="-107168" algn="l" defTabSz="428671" rtl="0" eaLnBrk="1" latinLnBrk="0" hangingPunct="1">
        <a:spcBef>
          <a:spcPct val="20000"/>
        </a:spcBef>
        <a:buFont typeface="Arial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750174" indent="-107168" algn="l" defTabSz="428671" rtl="0" eaLnBrk="1" latinLnBrk="0" hangingPunct="1">
        <a:spcBef>
          <a:spcPct val="20000"/>
        </a:spcBef>
        <a:buFont typeface="Arial" pitchFamily="34" charset="0"/>
        <a:buChar char="–"/>
        <a:defRPr sz="938" kern="1200">
          <a:solidFill>
            <a:schemeClr val="tx1"/>
          </a:solidFill>
          <a:latin typeface="+mn-lt"/>
          <a:ea typeface="+mn-ea"/>
          <a:cs typeface="+mn-cs"/>
        </a:defRPr>
      </a:lvl4pPr>
      <a:lvl5pPr marL="964509" indent="-107168" algn="l" defTabSz="428671" rtl="0" eaLnBrk="1" latinLnBrk="0" hangingPunct="1">
        <a:spcBef>
          <a:spcPct val="20000"/>
        </a:spcBef>
        <a:buFont typeface="Arial" pitchFamily="34" charset="0"/>
        <a:buChar char="»"/>
        <a:defRPr sz="938" kern="1200">
          <a:solidFill>
            <a:schemeClr val="tx1"/>
          </a:solidFill>
          <a:latin typeface="+mn-lt"/>
          <a:ea typeface="+mn-ea"/>
          <a:cs typeface="+mn-cs"/>
        </a:defRPr>
      </a:lvl5pPr>
      <a:lvl6pPr marL="1178844" indent="-107168" algn="l" defTabSz="428671" rtl="0" eaLnBrk="1" latinLnBrk="0" hangingPunct="1">
        <a:spcBef>
          <a:spcPct val="20000"/>
        </a:spcBef>
        <a:buFont typeface="Arial" pitchFamily="34" charset="0"/>
        <a:buChar char="•"/>
        <a:defRPr sz="938" kern="1200">
          <a:solidFill>
            <a:schemeClr val="tx1"/>
          </a:solidFill>
          <a:latin typeface="+mn-lt"/>
          <a:ea typeface="+mn-ea"/>
          <a:cs typeface="+mn-cs"/>
        </a:defRPr>
      </a:lvl6pPr>
      <a:lvl7pPr marL="1393180" indent="-107168" algn="l" defTabSz="428671" rtl="0" eaLnBrk="1" latinLnBrk="0" hangingPunct="1">
        <a:spcBef>
          <a:spcPct val="20000"/>
        </a:spcBef>
        <a:buFont typeface="Arial" pitchFamily="34" charset="0"/>
        <a:buChar char="•"/>
        <a:defRPr sz="938" kern="1200">
          <a:solidFill>
            <a:schemeClr val="tx1"/>
          </a:solidFill>
          <a:latin typeface="+mn-lt"/>
          <a:ea typeface="+mn-ea"/>
          <a:cs typeface="+mn-cs"/>
        </a:defRPr>
      </a:lvl7pPr>
      <a:lvl8pPr marL="1607515" indent="-107168" algn="l" defTabSz="428671" rtl="0" eaLnBrk="1" latinLnBrk="0" hangingPunct="1">
        <a:spcBef>
          <a:spcPct val="20000"/>
        </a:spcBef>
        <a:buFont typeface="Arial" pitchFamily="34" charset="0"/>
        <a:buChar char="•"/>
        <a:defRPr sz="938" kern="1200">
          <a:solidFill>
            <a:schemeClr val="tx1"/>
          </a:solidFill>
          <a:latin typeface="+mn-lt"/>
          <a:ea typeface="+mn-ea"/>
          <a:cs typeface="+mn-cs"/>
        </a:defRPr>
      </a:lvl8pPr>
      <a:lvl9pPr marL="1821851" indent="-107168" algn="l" defTabSz="428671" rtl="0" eaLnBrk="1" latinLnBrk="0" hangingPunct="1">
        <a:spcBef>
          <a:spcPct val="20000"/>
        </a:spcBef>
        <a:buFont typeface="Arial" pitchFamily="34" charset="0"/>
        <a:buChar char="•"/>
        <a:defRPr sz="9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1pPr>
      <a:lvl2pPr marL="214335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2pPr>
      <a:lvl3pPr marL="428671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43006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4pPr>
      <a:lvl5pPr marL="857341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5pPr>
      <a:lvl6pPr marL="1071677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6pPr>
      <a:lvl7pPr marL="1286012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7pPr>
      <a:lvl8pPr marL="1500348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8pPr>
      <a:lvl9pPr marL="1714683" algn="l" defTabSz="428671" rtl="0" eaLnBrk="1" latinLnBrk="0" hangingPunct="1">
        <a:defRPr sz="8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75;p16">
            <a:extLst>
              <a:ext uri="{FF2B5EF4-FFF2-40B4-BE49-F238E27FC236}">
                <a16:creationId xmlns:a16="http://schemas.microsoft.com/office/drawing/2014/main" xmlns="" id="{CB69EC99-FFAF-B3A6-842B-B510C0EAB741}"/>
              </a:ext>
            </a:extLst>
          </p:cNvPr>
          <p:cNvSpPr txBox="1"/>
          <p:nvPr/>
        </p:nvSpPr>
        <p:spPr>
          <a:xfrm>
            <a:off x="2971800" y="762000"/>
            <a:ext cx="5650523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00B0F0"/>
                </a:solidFill>
                <a:cs typeface="Poppins" pitchFamily="2" charset="77"/>
              </a:rPr>
              <a:t>Department of </a:t>
            </a:r>
            <a:r>
              <a:rPr lang="en-US" sz="4000" dirty="0" smtClean="0">
                <a:solidFill>
                  <a:srgbClr val="00B0F0"/>
                </a:solidFill>
                <a:cs typeface="Poppins" pitchFamily="2" charset="77"/>
              </a:rPr>
              <a:t>CSE, CSIT</a:t>
            </a:r>
            <a:endParaRPr lang="en-US" sz="4000" dirty="0">
              <a:solidFill>
                <a:srgbClr val="00B0F0"/>
              </a:solidFill>
              <a:cs typeface="Poppins" pitchFamily="2" charset="77"/>
            </a:endParaRPr>
          </a:p>
        </p:txBody>
      </p:sp>
      <p:sp>
        <p:nvSpPr>
          <p:cNvPr id="6" name="Google Shape;476;p16">
            <a:extLst>
              <a:ext uri="{FF2B5EF4-FFF2-40B4-BE49-F238E27FC236}">
                <a16:creationId xmlns:a16="http://schemas.microsoft.com/office/drawing/2014/main" xmlns="" id="{84A891A9-D46F-5E9B-65D6-C64F832A0362}"/>
              </a:ext>
            </a:extLst>
          </p:cNvPr>
          <p:cNvSpPr txBox="1"/>
          <p:nvPr/>
        </p:nvSpPr>
        <p:spPr>
          <a:xfrm>
            <a:off x="1595120" y="2048911"/>
            <a:ext cx="821856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NAME: Data </a:t>
            </a: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science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COURSE CODE: </a:t>
            </a:r>
            <a:r>
              <a:rPr lang="en-US" sz="3200" b="1" cap="all" dirty="0" smtClean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24AD3107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 smtClean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</a:rPr>
              <a:t>Different types of data</a:t>
            </a:r>
            <a:r>
              <a:rPr lang="en-US" sz="3200" dirty="0" smtClean="0"/>
              <a:t>	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5120A7A-ED85-153C-EE7C-2FEB2D482089}"/>
              </a:ext>
            </a:extLst>
          </p:cNvPr>
          <p:cNvSpPr/>
          <p:nvPr/>
        </p:nvSpPr>
        <p:spPr>
          <a:xfrm>
            <a:off x="4876800" y="541020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</a:t>
            </a:r>
            <a:r>
              <a:rPr lang="en-US" sz="2800" b="1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4</a:t>
            </a:r>
            <a:endParaRPr sz="2800" b="1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376488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1110343" y="689854"/>
            <a:ext cx="10731286" cy="4616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Different types of data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449514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9982200" cy="5847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 </a:t>
            </a:r>
            <a:r>
              <a:rPr lang="en-US" sz="1600" dirty="0">
                <a:latin typeface="Poppins"/>
                <a:cs typeface="Poppins"/>
              </a:rPr>
              <a:t>Introduction to Data science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Different types of data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747684" y="4863626"/>
            <a:ext cx="9906000" cy="5847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 basic knowledge </a:t>
            </a:r>
            <a:r>
              <a:rPr lang="en-US" altLang="en-US" sz="1600" dirty="0">
                <a:latin typeface="Arial"/>
                <a:cs typeface="Arial"/>
              </a:rPr>
              <a:t>of </a:t>
            </a:r>
            <a:r>
              <a:rPr lang="en-US" sz="16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Different types of data</a:t>
            </a:r>
            <a:endParaRPr lang="en-US" sz="1600" b="0" i="0" dirty="0"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xmlns="" id="{1FB182DA-8516-88B8-108C-8195B81974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52463"/>
            <a:ext cx="10515600" cy="1325562"/>
          </a:xfrm>
        </p:spPr>
        <p:txBody>
          <a:bodyPr/>
          <a:lstStyle/>
          <a:p>
            <a:r>
              <a:rPr lang="en-US" altLang="en-US" dirty="0"/>
              <a:t>      Key Concepts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xmlns="" id="{56F88FC0-F086-2D56-9F7F-55E81DA658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9281" y="1316038"/>
            <a:ext cx="11602720" cy="45958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  <a:defRPr/>
            </a:pPr>
            <a:r>
              <a:rPr lang="en-US" dirty="0"/>
              <a:t>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altLang="en-US" dirty="0"/>
              <a:t>Types of 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dirty="0"/>
              <a:t>Quantitative 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dirty="0"/>
              <a:t>Types of Quantitative 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dirty="0"/>
              <a:t>Discrete vs Continuous 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dirty="0"/>
              <a:t>Qualitative 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dirty="0"/>
              <a:t>Types of Qualitative 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dirty="0"/>
              <a:t>Ordinal data</a:t>
            </a:r>
          </a:p>
          <a:p>
            <a:pPr>
              <a:buFont typeface="Wingdings" pitchFamily="2" charset="2"/>
              <a:buChar char="v"/>
              <a:defRPr/>
            </a:pPr>
            <a:r>
              <a:rPr lang="en-US" dirty="0"/>
              <a:t>Nominal vs Ordinal data</a:t>
            </a:r>
          </a:p>
          <a:p>
            <a:pPr>
              <a:buFont typeface="Wingdings" pitchFamily="2" charset="2"/>
              <a:buChar char="v"/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>
              <a:buFont typeface="Wingdings" pitchFamily="2" charset="2"/>
              <a:buChar char="v"/>
              <a:defRPr/>
            </a:pPr>
            <a:endParaRPr lang="en-US" altLang="en-US" sz="2800" dirty="0"/>
          </a:p>
          <a:p>
            <a:pPr marL="0" indent="0"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xmlns="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11125199" cy="5105400"/>
          </a:xfrm>
        </p:spPr>
        <p:txBody>
          <a:bodyPr>
            <a:normAutofit/>
          </a:bodyPr>
          <a:lstStyle/>
          <a:p>
            <a:r>
              <a:rPr lang="en-US" dirty="0"/>
              <a:t>Data is the most important component in Data Science.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refers to raw facts, figures, observations, or measurements collected from various sources for analysis and decision-making.</a:t>
            </a:r>
          </a:p>
          <a:p>
            <a:r>
              <a:rPr lang="en-US" dirty="0"/>
              <a:t>In Data Science, data can exist in different forms and formats. </a:t>
            </a:r>
            <a:endParaRPr lang="en-US" dirty="0" smtClean="0"/>
          </a:p>
          <a:p>
            <a:r>
              <a:rPr lang="en-US" dirty="0" smtClean="0"/>
              <a:t>Understanding </a:t>
            </a:r>
            <a:r>
              <a:rPr lang="en-US" dirty="0"/>
              <a:t>different types of data helps data scientists choose suitable storage methods, analysis techniques, and machine learning algorithms</a:t>
            </a:r>
            <a:r>
              <a:rPr lang="en-US" dirty="0" smtClean="0"/>
              <a:t>.</a:t>
            </a:r>
            <a:endParaRPr lang="en-US" dirty="0"/>
          </a:p>
          <a:p>
            <a:endParaRPr lang="en-IN" dirty="0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Different Types of Data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256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11125199" cy="51054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 Data Science can be classified in multiple ways, such as: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Structure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- Structured data is highly organized and stored in a fixed format such as rows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columns. Ex Student records,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database, transactional records etc.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Data - does not follow a strict tabular structure but contains tags or markers to organize information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Ex: XML files, JSON files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Data - no predefined format 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Ex: Images, Audio Files, PDFs, Emails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Nature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Data - describes qualities or characteristics and cannot be measured numerically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Data - consists of numerical values that can be measured or counted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Different Types of Data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567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1125200" cy="487680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Source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Data - Data collected directly from original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sources.Ex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Surveys, interviews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Data - Data collected from existing sources Ex: websites, government reports, Research papers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Time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Cross-sectional Data - Data collected at a single point in time. Ex: Population Survey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Data - Data collected continuously over time intervals Ex: Stock Market Data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and Quantitative Data are major types of data based on their nature or characteristics.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978A528D-FBDF-73B4-7991-604D89DCAB64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Different Types of Data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80027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– </a:t>
            </a:r>
            <a:r>
              <a:rPr lang="en-US" sz="2400" b="1" smtClean="0">
                <a:latin typeface="Poppins" pitchFamily="2" charset="77"/>
                <a:cs typeface="Poppins" pitchFamily="2" charset="77"/>
              </a:rPr>
              <a:t>DS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DAV</Template>
  <TotalTime>611</TotalTime>
  <Words>397</Words>
  <Application>Microsoft Office PowerPoint</Application>
  <PresentationFormat>Widescreen</PresentationFormat>
  <Paragraphs>75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BioRhyme ExtraBold</vt:lpstr>
      <vt:lpstr>Calibri</vt:lpstr>
      <vt:lpstr>Gill Sans MT</vt:lpstr>
      <vt:lpstr>Poppins</vt:lpstr>
      <vt:lpstr>Times New Roman</vt:lpstr>
      <vt:lpstr>Wingdings</vt:lpstr>
      <vt:lpstr>Gallery</vt:lpstr>
      <vt:lpstr>Office Theme</vt:lpstr>
      <vt:lpstr>PowerPoint Presentation</vt:lpstr>
      <vt:lpstr>PowerPoint Presentation</vt:lpstr>
      <vt:lpstr>      Key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VOCABULARY</dc:title>
  <dc:creator>ramesh babu padamata</dc:creator>
  <cp:lastModifiedBy>Admin</cp:lastModifiedBy>
  <cp:revision>58</cp:revision>
  <dcterms:created xsi:type="dcterms:W3CDTF">2023-10-26T04:57:25Z</dcterms:created>
  <dcterms:modified xsi:type="dcterms:W3CDTF">2026-05-23T07:18:01Z</dcterms:modified>
</cp:coreProperties>
</file>