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5"/>
  </p:notesMasterIdLst>
  <p:sldIdLst>
    <p:sldId id="364" r:id="rId2"/>
    <p:sldId id="365" r:id="rId3"/>
    <p:sldId id="366" r:id="rId4"/>
    <p:sldId id="408" r:id="rId5"/>
    <p:sldId id="409" r:id="rId6"/>
    <p:sldId id="410" r:id="rId7"/>
    <p:sldId id="411" r:id="rId8"/>
    <p:sldId id="412" r:id="rId9"/>
    <p:sldId id="413" r:id="rId10"/>
    <p:sldId id="414" r:id="rId11"/>
    <p:sldId id="415" r:id="rId12"/>
    <p:sldId id="400" r:id="rId13"/>
    <p:sldId id="40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0" d="100"/>
          <a:sy n="80" d="100"/>
        </p:scale>
        <p:origin x="71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2385BB-1C1E-4CFB-8DA9-47E88EC3EE48}" type="datetimeFigureOut">
              <a:rPr lang="en-IN" smtClean="0"/>
              <a:t>30-05-2026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04E726-5613-41E6-8224-3BE6D87DFA57}" type="slidenum">
              <a:rPr lang="en-IN" smtClean="0"/>
              <a:t>‹#›</a:t>
            </a:fld>
            <a:endParaRPr lang="en-IN"/>
          </a:p>
        </p:txBody>
      </p:sp>
    </p:spTree>
    <p:extLst>
      <p:ext uri="{BB962C8B-B14F-4D97-AF65-F5344CB8AC3E}">
        <p14:creationId xmlns:p14="http://schemas.microsoft.com/office/powerpoint/2010/main" val="4130035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6" name="Slide Number Placeholder 5"/>
          <p:cNvSpPr>
            <a:spLocks noGrp="1"/>
          </p:cNvSpPr>
          <p:nvPr>
            <p:ph type="sldNum" sz="quarter" idx="12"/>
          </p:nvPr>
        </p:nvSpPr>
        <p:spPr>
          <a:xfrm>
            <a:off x="1437664" y="798973"/>
            <a:ext cx="811019" cy="503578"/>
          </a:xfrm>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311388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160064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591335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5/30/2026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30587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5/30/2026</a:t>
            </a:fld>
            <a:endParaRPr lang="en-US"/>
          </a:p>
        </p:txBody>
      </p:sp>
      <p:sp>
        <p:nvSpPr>
          <p:cNvPr id="9" name="Slide Number Placeholder 8"/>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41605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Slide Number Placeholder 4"/>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4123039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5/30/2026</a:t>
            </a:fld>
            <a:endParaRPr lang="en-US"/>
          </a:p>
        </p:txBody>
      </p:sp>
      <p:sp>
        <p:nvSpPr>
          <p:cNvPr id="4" name="Slide Number Placeholder 3"/>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4172220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5/30/2026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21179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D8BD707-D9CF-40AE-B4C6-C98DA3205C09}" type="datetimeFigureOut">
              <a:rPr lang="en-US" smtClean="0"/>
              <a:pPr/>
              <a:t>5/30/2026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12322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298089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916420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a:t>Click icon to add picture</a:t>
            </a:r>
            <a:endParaRPr/>
          </a:p>
        </p:txBody>
      </p:sp>
    </p:spTree>
    <p:extLst>
      <p:ext uri="{BB962C8B-B14F-4D97-AF65-F5344CB8AC3E}">
        <p14:creationId xmlns:p14="http://schemas.microsoft.com/office/powerpoint/2010/main" val="2362687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D8BD707-D9CF-40AE-B4C6-C98DA3205C09}" type="datetimeFigureOut">
              <a:rPr lang="en-US" smtClean="0"/>
              <a:pPr/>
              <a:t>5/30/2026</a:t>
            </a:fld>
            <a:endParaRPr lang="en-US"/>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pPr marL="109855">
              <a:lnSpc>
                <a:spcPts val="1070"/>
              </a:lnSpc>
            </a:pPr>
            <a:fld id="{81D60167-4931-47E6-BA6A-407CBD079E47}" type="slidenum">
              <a:rPr lang="en-IN" smtClean="0"/>
              <a:pPr marL="109855">
                <a:lnSpc>
                  <a:spcPts val="1070"/>
                </a:lnSpc>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p:nvPicPr>
        <p:blipFill rotWithShape="1">
          <a:blip r:embed="rId15"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201169384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75;p16">
            <a:extLst>
              <a:ext uri="{FF2B5EF4-FFF2-40B4-BE49-F238E27FC236}">
                <a16:creationId xmlns:a16="http://schemas.microsoft.com/office/drawing/2014/main" id="{CB69EC99-FFAF-B3A6-842B-B510C0EAB741}"/>
              </a:ext>
            </a:extLst>
          </p:cNvPr>
          <p:cNvSpPr txBox="1"/>
          <p:nvPr/>
        </p:nvSpPr>
        <p:spPr>
          <a:xfrm>
            <a:off x="2971800" y="762000"/>
            <a:ext cx="5650523" cy="707846"/>
          </a:xfrm>
          <a:prstGeom prst="rect">
            <a:avLst/>
          </a:prstGeom>
          <a:noFill/>
          <a:ln>
            <a:noFill/>
          </a:ln>
          <a:effectLst/>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00B0F0"/>
                </a:solidFill>
                <a:effectLst/>
                <a:uLnTx/>
                <a:uFillTx/>
                <a:latin typeface="Gill Sans MT"/>
                <a:ea typeface="+mn-ea"/>
                <a:cs typeface="Poppins" pitchFamily="2" charset="77"/>
              </a:rPr>
              <a:t>Department of </a:t>
            </a:r>
            <a:r>
              <a:rPr lang="en-US" sz="4000" dirty="0">
                <a:solidFill>
                  <a:srgbClr val="00B0F0"/>
                </a:solidFill>
                <a:latin typeface="Gill Sans MT"/>
                <a:cs typeface="Poppins" pitchFamily="2" charset="77"/>
              </a:rPr>
              <a:t>CSE</a:t>
            </a:r>
            <a:endParaRPr kumimoji="0" lang="en-US" sz="4000" b="0" i="0" u="none" strike="noStrike" kern="1200" cap="none" spc="0" normalizeH="0" baseline="0" noProof="0" dirty="0">
              <a:ln>
                <a:noFill/>
              </a:ln>
              <a:solidFill>
                <a:srgbClr val="00B0F0"/>
              </a:solidFill>
              <a:effectLst/>
              <a:uLnTx/>
              <a:uFillTx/>
              <a:latin typeface="Gill Sans MT"/>
              <a:ea typeface="+mn-ea"/>
              <a:cs typeface="Poppins" pitchFamily="2" charset="77"/>
            </a:endParaRPr>
          </a:p>
        </p:txBody>
      </p:sp>
      <p:sp>
        <p:nvSpPr>
          <p:cNvPr id="6" name="Google Shape;476;p16">
            <a:extLst>
              <a:ext uri="{FF2B5EF4-FFF2-40B4-BE49-F238E27FC236}">
                <a16:creationId xmlns:a16="http://schemas.microsoft.com/office/drawing/2014/main" id="{84A891A9-D46F-5E9B-65D6-C64F832A0362}"/>
              </a:ext>
            </a:extLst>
          </p:cNvPr>
          <p:cNvSpPr txBox="1"/>
          <p:nvPr/>
        </p:nvSpPr>
        <p:spPr>
          <a:xfrm>
            <a:off x="1447800" y="2090192"/>
            <a:ext cx="8218565" cy="2677616"/>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all" spc="0" normalizeH="0" baseline="0" noProof="0" dirty="0">
                <a:ln/>
                <a:solidFill>
                  <a:srgbClr val="C00000"/>
                </a:solidFill>
                <a:effectLst/>
                <a:uLnTx/>
                <a:uFillTx/>
                <a:latin typeface="Gill Sans MT"/>
                <a:ea typeface="+mn-ea"/>
                <a:cs typeface="Poppins" panose="00000500000000000000" pitchFamily="2" charset="0"/>
                <a:sym typeface="BioRhyme ExtraBold"/>
              </a:rPr>
              <a:t>COURSE NAME: Data science</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3200" b="1" i="0" u="none" strike="noStrike" kern="1200" cap="all" spc="0" normalizeH="0" baseline="0" noProof="0" dirty="0">
              <a:ln/>
              <a:solidFill>
                <a:srgbClr val="C00000"/>
              </a:solidFill>
              <a:effectLst/>
              <a:uLnTx/>
              <a:uFillTx/>
              <a:latin typeface="Gill Sans MT"/>
              <a:ea typeface="+mn-ea"/>
              <a:cs typeface="Poppins" panose="00000500000000000000" pitchFamily="2" charset="0"/>
              <a:sym typeface="BioRhyme ExtraBold"/>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all" spc="0" normalizeH="0" baseline="0" noProof="0" dirty="0">
                <a:ln/>
                <a:solidFill>
                  <a:srgbClr val="00B0F0"/>
                </a:solidFill>
                <a:effectLst/>
                <a:uLnTx/>
                <a:uFillTx/>
                <a:latin typeface="Gill Sans MT"/>
                <a:ea typeface="+mn-ea"/>
                <a:cs typeface="Poppins" panose="00000500000000000000" pitchFamily="2" charset="0"/>
                <a:sym typeface="BioRhyme ExtraBold"/>
              </a:rPr>
              <a:t>COURSE CODE: 24AD3107</a:t>
            </a:r>
            <a:r>
              <a:rPr kumimoji="0" lang="en-US" sz="3200" b="1" i="0" u="none" strike="noStrike" kern="1200" cap="all" spc="0" normalizeH="0" baseline="0" noProof="0" dirty="0">
                <a:ln/>
                <a:solidFill>
                  <a:srgbClr val="C00000"/>
                </a:solidFill>
                <a:effectLst/>
                <a:uLnTx/>
                <a:uFillTx/>
                <a:latin typeface="Gill Sans MT"/>
                <a:ea typeface="+mn-ea"/>
                <a:cs typeface="Poppins" panose="00000500000000000000" pitchFamily="2" charset="0"/>
                <a:sym typeface="BioRhyme ExtraBold"/>
              </a:rPr>
              <a:t>	</a:t>
            </a:r>
            <a:endParaRPr kumimoji="0" lang="en-US" sz="2000" b="1" i="0" u="none" strike="noStrike" kern="1200" cap="none" spc="0" normalizeH="0" baseline="0" noProof="0" dirty="0">
              <a:ln>
                <a:noFill/>
              </a:ln>
              <a:solidFill>
                <a:prstClr val="white">
                  <a:lumMod val="50000"/>
                </a:prstClr>
              </a:solidFill>
              <a:effectLst/>
              <a:uLnTx/>
              <a:uFillTx/>
              <a:latin typeface="Gill Sans MT"/>
              <a:ea typeface="BioRhyme ExtraBold"/>
              <a:cs typeface="Poppins" panose="00000500000000000000" pitchFamily="2" charset="0"/>
              <a:sym typeface="BioRhyme ExtraBold"/>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lumMod val="50000"/>
                </a:prstClr>
              </a:solidFill>
              <a:effectLst/>
              <a:uLnTx/>
              <a:uFillTx/>
              <a:latin typeface="Gill Sans MT"/>
              <a:ea typeface="BioRhyme ExtraBold"/>
              <a:cs typeface="Poppins" panose="00000500000000000000" pitchFamily="2" charset="0"/>
              <a:sym typeface="BioRhyme ExtraBold"/>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lumMod val="50000"/>
                  </a:prstClr>
                </a:solidFill>
                <a:effectLst/>
                <a:uLnTx/>
                <a:uFillTx/>
                <a:latin typeface="Gill Sans MT"/>
                <a:ea typeface="BioRhyme ExtraBold"/>
                <a:cs typeface="Poppins" panose="00000500000000000000" pitchFamily="2" charset="0"/>
                <a:sym typeface="BioRhyme ExtraBold"/>
              </a:rPr>
              <a:t>Topic: </a:t>
            </a:r>
          </a:p>
          <a:p>
            <a:pPr lvl="0" algn="ctr" defTabSz="457200"/>
            <a:r>
              <a:rPr lang="en-US" sz="3200" dirty="0">
                <a:solidFill>
                  <a:prstClr val="black"/>
                </a:solidFill>
                <a:latin typeface="Gill Sans MT"/>
              </a:rPr>
              <a:t>Dash Boards in Python</a:t>
            </a:r>
            <a:endParaRPr kumimoji="0" lang="en-US" sz="3200" b="1" i="0" u="none" strike="noStrike" kern="1200" cap="all" spc="0" normalizeH="0" baseline="0" noProof="0" dirty="0">
              <a:ln/>
              <a:solidFill>
                <a:srgbClr val="C00000"/>
              </a:solidFill>
              <a:effectLst/>
              <a:uLnTx/>
              <a:uFillTx/>
              <a:latin typeface="Gill Sans MT"/>
              <a:ea typeface="+mn-ea"/>
              <a:cs typeface="Poppins" panose="00000500000000000000" pitchFamily="2" charset="0"/>
              <a:sym typeface="BioRhyme ExtraBold"/>
            </a:endParaRPr>
          </a:p>
        </p:txBody>
      </p:sp>
      <p:sp>
        <p:nvSpPr>
          <p:cNvPr id="7" name="Google Shape;502;p17">
            <a:extLst>
              <a:ext uri="{FF2B5EF4-FFF2-40B4-BE49-F238E27FC236}">
                <a16:creationId xmlns:a16="http://schemas.microsoft.com/office/drawing/2014/main" id="{A5120A7A-ED85-153C-EE7C-2FEB2D482089}"/>
              </a:ext>
            </a:extLst>
          </p:cNvPr>
          <p:cNvSpPr/>
          <p:nvPr/>
        </p:nvSpPr>
        <p:spPr>
          <a:xfrm>
            <a:off x="4876800" y="5410200"/>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Gill Sans MT"/>
                <a:ea typeface="Calibri"/>
                <a:cs typeface="Poppins" panose="00000500000000000000" pitchFamily="2" charset="0"/>
                <a:sym typeface="Calibri"/>
              </a:rPr>
              <a:t>Session - 9</a:t>
            </a:r>
            <a:endParaRPr kumimoji="0" sz="2800" b="1" i="0" u="none" strike="noStrike" kern="1200" cap="none" spc="0" normalizeH="0" baseline="0" noProof="0" dirty="0">
              <a:ln>
                <a:noFill/>
              </a:ln>
              <a:solidFill>
                <a:prstClr val="white"/>
              </a:solidFill>
              <a:effectLst/>
              <a:uLnTx/>
              <a:uFillTx/>
              <a:latin typeface="Gill Sans MT"/>
              <a:ea typeface="Calibri"/>
              <a:cs typeface="Poppins" panose="00000500000000000000" pitchFamily="2" charset="0"/>
              <a:sym typeface="Calibri"/>
            </a:endParaRPr>
          </a:p>
        </p:txBody>
      </p:sp>
    </p:spTree>
    <p:extLst>
      <p:ext uri="{BB962C8B-B14F-4D97-AF65-F5344CB8AC3E}">
        <p14:creationId xmlns:p14="http://schemas.microsoft.com/office/powerpoint/2010/main" val="469216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376488"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ill Sans MT"/>
                <a:ea typeface="+mn-ea"/>
                <a:cs typeface="+mn-cs"/>
              </a:rPr>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1110343" y="689854"/>
            <a:ext cx="10731286" cy="426784"/>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Poppins"/>
                <a:ea typeface="+mn-ea"/>
                <a:cs typeface="Poppins"/>
              </a:rPr>
              <a:t>To familiarize students with the basic concepts of  Dash Boards in Python.</a:t>
            </a: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449514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ill Sans MT"/>
                <a:ea typeface="+mn-ea"/>
                <a:cs typeface="+mn-cs"/>
              </a:rPr>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9982200" cy="517193"/>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lvl="0" defTabSz="457200">
              <a:lnSpc>
                <a:spcPct val="200000"/>
              </a:lnSpc>
            </a:pPr>
            <a:r>
              <a:rPr kumimoji="0" lang="en-US" sz="1600" b="0" i="0" u="none" strike="noStrike" kern="1200" cap="none" spc="0" normalizeH="0" baseline="0" noProof="0" dirty="0">
                <a:ln>
                  <a:noFill/>
                </a:ln>
                <a:solidFill>
                  <a:prstClr val="black"/>
                </a:solidFill>
                <a:effectLst/>
                <a:uLnTx/>
                <a:uFillTx/>
                <a:latin typeface="Poppins"/>
                <a:ea typeface="+mn-ea"/>
                <a:cs typeface="Poppins"/>
              </a:rPr>
              <a:t>This Session is designed to: </a:t>
            </a:r>
            <a:r>
              <a:rPr lang="en-US" sz="1600" dirty="0"/>
              <a:t>Introduction to Dashboards and Implementation of Dashboards using Python.</a:t>
            </a:r>
            <a:endParaRPr kumimoji="0" lang="en-US" sz="1600" b="0" i="0" u="none" strike="noStrike" kern="1200" cap="none" spc="0" normalizeH="0" baseline="0" noProof="0" dirty="0">
              <a:ln>
                <a:noFill/>
              </a:ln>
              <a:solidFill>
                <a:prstClr val="black"/>
              </a:solidFill>
              <a:effectLst/>
              <a:uLnTx/>
              <a:uFillTx/>
              <a:latin typeface="Poppins"/>
              <a:ea typeface="+mn-ea"/>
              <a:cs typeface="Poppins"/>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ill Sans MT"/>
                <a:ea typeface="+mn-ea"/>
                <a:cs typeface="+mn-cs"/>
              </a:rPr>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47684" y="4863626"/>
            <a:ext cx="9906000" cy="51668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lvl="0" defTabSz="457200">
              <a:lnSpc>
                <a:spcPct val="200000"/>
              </a:lnSpc>
              <a:defRPr/>
            </a:pPr>
            <a:r>
              <a:rPr kumimoji="0" lang="en-US" sz="1600" b="0" i="0" u="none" strike="noStrike" kern="1200" cap="none" spc="0" normalizeH="0" baseline="0" noProof="0" dirty="0">
                <a:ln>
                  <a:noFill/>
                </a:ln>
                <a:solidFill>
                  <a:prstClr val="black"/>
                </a:solidFill>
                <a:effectLst/>
                <a:uLnTx/>
                <a:uFillTx/>
                <a:latin typeface="Arial"/>
                <a:ea typeface="+mn-ea"/>
                <a:cs typeface="Arial"/>
              </a:rPr>
              <a:t>At the end of this session, you should be able to: create dash boards using python</a:t>
            </a:r>
          </a:p>
        </p:txBody>
      </p:sp>
    </p:spTree>
    <p:extLst>
      <p:ext uri="{BB962C8B-B14F-4D97-AF65-F5344CB8AC3E}">
        <p14:creationId xmlns:p14="http://schemas.microsoft.com/office/powerpoint/2010/main" val="134585469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1FB182DA-8516-88B8-108C-8195B819749E}"/>
              </a:ext>
            </a:extLst>
          </p:cNvPr>
          <p:cNvSpPr>
            <a:spLocks noGrp="1"/>
          </p:cNvSpPr>
          <p:nvPr>
            <p:ph type="title" idx="4294967295"/>
          </p:nvPr>
        </p:nvSpPr>
        <p:spPr>
          <a:xfrm>
            <a:off x="0" y="652463"/>
            <a:ext cx="10515600" cy="1325562"/>
          </a:xfrm>
        </p:spPr>
        <p:txBody>
          <a:bodyPr/>
          <a:lstStyle/>
          <a:p>
            <a:r>
              <a:rPr lang="en-US" altLang="en-US" dirty="0"/>
              <a:t>      Key Concepts</a:t>
            </a:r>
          </a:p>
        </p:txBody>
      </p:sp>
      <p:sp>
        <p:nvSpPr>
          <p:cNvPr id="18435" name="Content Placeholder 2">
            <a:extLst>
              <a:ext uri="{FF2B5EF4-FFF2-40B4-BE49-F238E27FC236}">
                <a16:creationId xmlns:a16="http://schemas.microsoft.com/office/drawing/2014/main" id="{56F88FC0-F086-2D56-9F7F-55E81DA658CB}"/>
              </a:ext>
            </a:extLst>
          </p:cNvPr>
          <p:cNvSpPr>
            <a:spLocks noGrp="1"/>
          </p:cNvSpPr>
          <p:nvPr>
            <p:ph idx="4294967295"/>
          </p:nvPr>
        </p:nvSpPr>
        <p:spPr>
          <a:xfrm>
            <a:off x="589281" y="1316038"/>
            <a:ext cx="11602720" cy="4595812"/>
          </a:xfrm>
        </p:spPr>
        <p:txBody>
          <a:bodyPr>
            <a:normAutofit/>
          </a:bodyPr>
          <a:lstStyle/>
          <a:p>
            <a:pPr>
              <a:buFont typeface="Wingdings" pitchFamily="2" charset="2"/>
              <a:buChar char="v"/>
              <a:defRPr/>
            </a:pPr>
            <a:r>
              <a:rPr lang="en-US" sz="2800" dirty="0"/>
              <a:t>Introduction to Dashboards</a:t>
            </a:r>
          </a:p>
          <a:p>
            <a:pPr>
              <a:buFont typeface="Wingdings" pitchFamily="2" charset="2"/>
              <a:buChar char="v"/>
              <a:defRPr/>
            </a:pPr>
            <a:r>
              <a:rPr lang="en-US" sz="2800" dirty="0"/>
              <a:t>Creation of dashboards using python</a:t>
            </a:r>
          </a:p>
          <a:p>
            <a:pPr>
              <a:buFont typeface="Wingdings" pitchFamily="2" charset="2"/>
              <a:buChar char="v"/>
              <a:defRPr/>
            </a:pPr>
            <a:r>
              <a:rPr lang="en-US" sz="2800" dirty="0"/>
              <a:t> Case study</a:t>
            </a:r>
          </a:p>
          <a:p>
            <a:pPr>
              <a:buFont typeface="Wingdings" pitchFamily="2" charset="2"/>
              <a:buChar char="v"/>
              <a:defRPr/>
            </a:pPr>
            <a:endParaRPr lang="en-US" altLang="en-US" sz="2800" dirty="0"/>
          </a:p>
          <a:p>
            <a:pPr>
              <a:buFont typeface="Wingdings" pitchFamily="2" charset="2"/>
              <a:buChar char="v"/>
              <a:defRPr/>
            </a:pPr>
            <a:endParaRPr lang="en-US" altLang="en-US" sz="2800" dirty="0"/>
          </a:p>
          <a:p>
            <a:pPr marL="0" indent="0">
              <a:buNone/>
              <a:defRPr/>
            </a:pPr>
            <a:endParaRPr lang="en-US" altLang="en-US" sz="4200" dirty="0">
              <a:latin typeface="Times New Roman" pitchFamily="16" charset="0"/>
              <a:cs typeface="Times New Roman" pitchFamily="16" charset="0"/>
            </a:endParaRPr>
          </a:p>
          <a:p>
            <a:pPr marL="457200" indent="-457200">
              <a:buFont typeface="Wingdings" pitchFamily="2" charset="2"/>
              <a:buChar char="v"/>
              <a:defRPr/>
            </a:pPr>
            <a:endParaRPr lang="en-US" altLang="en-US" dirty="0">
              <a:latin typeface="Times New Roman" pitchFamily="16" charset="0"/>
              <a:cs typeface="Times New Roman" pitchFamily="16" charset="0"/>
            </a:endParaRPr>
          </a:p>
          <a:p>
            <a:pPr marL="457200" indent="-457200">
              <a:buNone/>
              <a:defRPr/>
            </a:pPr>
            <a:endParaRPr lang="en-US" altLang="en-US" dirty="0">
              <a:latin typeface="Times New Roman" pitchFamily="16" charset="0"/>
              <a:cs typeface="Times New Roman" pitchFamily="16" charset="0"/>
            </a:endParaRPr>
          </a:p>
          <a:p>
            <a:pPr marL="457200" indent="-457200">
              <a:buNone/>
              <a:defRPr/>
            </a:pPr>
            <a:endParaRPr lang="en-US" altLang="en-US" dirty="0">
              <a:latin typeface="Times New Roman" pitchFamily="16" charset="0"/>
              <a:cs typeface="Times New Roman" pitchFamily="16" charset="0"/>
            </a:endParaRPr>
          </a:p>
        </p:txBody>
      </p:sp>
      <p:sp>
        <p:nvSpPr>
          <p:cNvPr id="2" name="Rounded Rectangle 17">
            <a:extLst>
              <a:ext uri="{FF2B5EF4-FFF2-40B4-BE49-F238E27FC236}">
                <a16:creationId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ill Sans MT"/>
                <a:ea typeface="+mn-ea"/>
                <a:cs typeface="+mn-cs"/>
              </a:rPr>
              <a:t>SESSION INTRODUCTION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wipe(left)">
                                      <p:cBhvr>
                                        <p:cTn id="7" dur="500"/>
                                        <p:tgtEl>
                                          <p:spTgt spid="184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435">
                                            <p:txEl>
                                              <p:pRg st="1" end="1"/>
                                            </p:txEl>
                                          </p:spTgt>
                                        </p:tgtEl>
                                        <p:attrNameLst>
                                          <p:attrName>style.visibility</p:attrName>
                                        </p:attrNameLst>
                                      </p:cBhvr>
                                      <p:to>
                                        <p:strVal val="visible"/>
                                      </p:to>
                                    </p:set>
                                    <p:animEffect transition="in" filter="wipe(left)">
                                      <p:cBhvr>
                                        <p:cTn id="12" dur="500"/>
                                        <p:tgtEl>
                                          <p:spTgt spid="18435">
                                            <p:txEl>
                                              <p:pRg st="1" end="1"/>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8435">
                                            <p:txEl>
                                              <p:pRg st="2" end="2"/>
                                            </p:txEl>
                                          </p:spTgt>
                                        </p:tgtEl>
                                        <p:attrNameLst>
                                          <p:attrName>style.visibility</p:attrName>
                                        </p:attrNameLst>
                                      </p:cBhvr>
                                      <p:to>
                                        <p:strVal val="visible"/>
                                      </p:to>
                                    </p:set>
                                    <p:animEffect transition="in" filter="wipe(left)">
                                      <p:cBhvr>
                                        <p:cTn id="16" dur="500"/>
                                        <p:tgtEl>
                                          <p:spTgt spid="184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F5288F-CA7F-4CA7-2875-7903F28EFBCD}"/>
              </a:ext>
            </a:extLst>
          </p:cNvPr>
          <p:cNvSpPr txBox="1"/>
          <p:nvPr/>
        </p:nvSpPr>
        <p:spPr>
          <a:xfrm>
            <a:off x="409574" y="474345"/>
            <a:ext cx="11649075" cy="5324535"/>
          </a:xfrm>
          <a:prstGeom prst="rect">
            <a:avLst/>
          </a:prstGeom>
          <a:noFill/>
        </p:spPr>
        <p:txBody>
          <a:bodyPr wrap="square">
            <a:spAutoFit/>
          </a:bodyPr>
          <a:lstStyle/>
          <a:p>
            <a:pPr fontAlgn="base"/>
            <a:r>
              <a:rPr lang="en-IN" sz="2000" b="1" dirty="0"/>
              <a:t>Introduction Dash Boards</a:t>
            </a:r>
          </a:p>
          <a:p>
            <a:pPr marL="0" indent="0" fontAlgn="base">
              <a:buNone/>
            </a:pPr>
            <a:r>
              <a:rPr lang="en-US" sz="2000" dirty="0"/>
              <a:t>A </a:t>
            </a:r>
            <a:r>
              <a:rPr lang="en-US" sz="2000" b="1" dirty="0"/>
              <a:t>dashboard</a:t>
            </a:r>
            <a:r>
              <a:rPr lang="en-US" sz="2000" dirty="0"/>
              <a:t> is an interactive interface that displays data visualizations, metrics, and controls in one place.</a:t>
            </a:r>
            <a:br>
              <a:rPr lang="en-US" sz="2000" dirty="0"/>
            </a:br>
            <a:r>
              <a:rPr lang="en-US" sz="2000" dirty="0"/>
              <a:t>In Python, dashboards are often used for </a:t>
            </a:r>
            <a:r>
              <a:rPr lang="en-US" sz="2000" b="1" dirty="0"/>
              <a:t>data analysis, monitoring, and reporting</a:t>
            </a:r>
            <a:r>
              <a:rPr lang="en-US" sz="2000" dirty="0"/>
              <a:t> without needing deep front-end development skills.</a:t>
            </a:r>
          </a:p>
          <a:p>
            <a:r>
              <a:rPr lang="en-IN" sz="2000" b="1" dirty="0"/>
              <a:t>Popular Python Dashboard Frameworks</a:t>
            </a:r>
          </a:p>
          <a:p>
            <a:r>
              <a:rPr lang="en-IN" sz="2000" b="1" dirty="0"/>
              <a:t>Dash (by Plotly)</a:t>
            </a:r>
            <a:endParaRPr lang="en-IN" sz="2000" dirty="0"/>
          </a:p>
          <a:p>
            <a:pPr lvl="1"/>
            <a:r>
              <a:rPr lang="en-IN" sz="2000" dirty="0"/>
              <a:t>Pure Python framework for building interactive web apps.</a:t>
            </a:r>
          </a:p>
          <a:p>
            <a:pPr lvl="1"/>
            <a:r>
              <a:rPr lang="en-IN" sz="2000" dirty="0"/>
              <a:t>Uses </a:t>
            </a:r>
            <a:r>
              <a:rPr lang="en-IN" sz="2000" b="1" dirty="0"/>
              <a:t>Flask</a:t>
            </a:r>
            <a:r>
              <a:rPr lang="en-IN" sz="2000" dirty="0"/>
              <a:t> (backend), </a:t>
            </a:r>
            <a:r>
              <a:rPr lang="en-IN" sz="2000" b="1" dirty="0"/>
              <a:t>Plotly</a:t>
            </a:r>
            <a:r>
              <a:rPr lang="en-IN" sz="2000" dirty="0"/>
              <a:t> (charts), and </a:t>
            </a:r>
            <a:r>
              <a:rPr lang="en-IN" sz="2000" b="1" dirty="0"/>
              <a:t>React.js</a:t>
            </a:r>
            <a:r>
              <a:rPr lang="en-IN" sz="2000" dirty="0"/>
              <a:t> (frontend).</a:t>
            </a:r>
          </a:p>
          <a:p>
            <a:pPr lvl="1"/>
            <a:r>
              <a:rPr lang="en-IN" sz="2000" dirty="0"/>
              <a:t>No need to write HTML/CSS/JS manually.</a:t>
            </a:r>
          </a:p>
          <a:p>
            <a:pPr lvl="1"/>
            <a:r>
              <a:rPr lang="en-IN" sz="2000" dirty="0"/>
              <a:t>Great for </a:t>
            </a:r>
            <a:r>
              <a:rPr lang="en-IN" sz="2000" b="1" dirty="0"/>
              <a:t>data scientists</a:t>
            </a:r>
            <a:r>
              <a:rPr lang="en-IN" sz="2000" dirty="0"/>
              <a:t> and </a:t>
            </a:r>
            <a:r>
              <a:rPr lang="en-IN" sz="2000" b="1" dirty="0"/>
              <a:t>analysts</a:t>
            </a:r>
            <a:r>
              <a:rPr lang="en-IN" sz="2000" dirty="0"/>
              <a:t>.</a:t>
            </a:r>
          </a:p>
          <a:p>
            <a:r>
              <a:rPr lang="en-IN" sz="2000" b="1" dirty="0" err="1"/>
              <a:t>Streamlit</a:t>
            </a:r>
            <a:endParaRPr lang="en-IN" sz="2000" dirty="0"/>
          </a:p>
          <a:p>
            <a:pPr lvl="1"/>
            <a:r>
              <a:rPr lang="en-IN" sz="2000" dirty="0"/>
              <a:t>Very simple syntax, like writing a Python script.</a:t>
            </a:r>
          </a:p>
          <a:p>
            <a:pPr lvl="1"/>
            <a:r>
              <a:rPr lang="en-IN" sz="2000" dirty="0"/>
              <a:t>Ideal for quick prototypes and sharing ML models.</a:t>
            </a:r>
          </a:p>
          <a:p>
            <a:pPr lvl="1"/>
            <a:r>
              <a:rPr lang="en-IN" sz="2000" dirty="0"/>
              <a:t>Less control over layout compared to Dash.</a:t>
            </a:r>
          </a:p>
          <a:p>
            <a:r>
              <a:rPr lang="en-IN" sz="2000" b="1" dirty="0"/>
              <a:t>Panel / Bokeh</a:t>
            </a:r>
            <a:endParaRPr lang="en-IN" sz="2000" dirty="0"/>
          </a:p>
          <a:p>
            <a:pPr lvl="1"/>
            <a:r>
              <a:rPr lang="en-IN" sz="2000" dirty="0"/>
              <a:t>Flexible, supports multiple plotting libraries (Matplotlib, Bokeh, Plotly).</a:t>
            </a:r>
          </a:p>
          <a:p>
            <a:pPr lvl="1"/>
            <a:r>
              <a:rPr lang="en-IN" sz="2000" dirty="0"/>
              <a:t>Good for scientific dashboards.</a:t>
            </a:r>
          </a:p>
        </p:txBody>
      </p:sp>
    </p:spTree>
    <p:extLst>
      <p:ext uri="{BB962C8B-B14F-4D97-AF65-F5344CB8AC3E}">
        <p14:creationId xmlns:p14="http://schemas.microsoft.com/office/powerpoint/2010/main" val="10483024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16F1C3-1FE8-27E0-60AF-B464E91E1F16}"/>
              </a:ext>
            </a:extLst>
          </p:cNvPr>
          <p:cNvSpPr txBox="1"/>
          <p:nvPr/>
        </p:nvSpPr>
        <p:spPr>
          <a:xfrm>
            <a:off x="757237" y="471011"/>
            <a:ext cx="10677525" cy="5632311"/>
          </a:xfrm>
          <a:prstGeom prst="rect">
            <a:avLst/>
          </a:prstGeom>
          <a:noFill/>
        </p:spPr>
        <p:txBody>
          <a:bodyPr wrap="square">
            <a:spAutoFit/>
          </a:bodyPr>
          <a:lstStyle/>
          <a:p>
            <a:pPr marL="0" indent="0">
              <a:buNone/>
            </a:pPr>
            <a:r>
              <a:rPr lang="en-US" sz="2400" b="1" dirty="0"/>
              <a:t>why Use Dashboards in Python?</a:t>
            </a:r>
          </a:p>
          <a:p>
            <a:r>
              <a:rPr lang="en-US" sz="2400" b="1" dirty="0"/>
              <a:t>Interactive</a:t>
            </a:r>
            <a:r>
              <a:rPr lang="en-US" sz="2400" dirty="0"/>
              <a:t>: Users can filter, zoom, and explore data.</a:t>
            </a:r>
          </a:p>
          <a:p>
            <a:r>
              <a:rPr lang="en-US" sz="2400" b="1" dirty="0"/>
              <a:t>Real-time updates</a:t>
            </a:r>
            <a:r>
              <a:rPr lang="en-US" sz="2400" dirty="0"/>
              <a:t>: Connect to live data sources.</a:t>
            </a:r>
          </a:p>
          <a:p>
            <a:r>
              <a:rPr lang="en-US" sz="2400" b="1" dirty="0"/>
              <a:t>Shareable</a:t>
            </a:r>
            <a:r>
              <a:rPr lang="en-US" sz="2400" dirty="0"/>
              <a:t>: Deploy as a web app for others to use.</a:t>
            </a:r>
          </a:p>
          <a:p>
            <a:r>
              <a:rPr lang="en-US" sz="2400" b="1" dirty="0"/>
              <a:t>No heavy front-end coding</a:t>
            </a:r>
            <a:r>
              <a:rPr lang="en-US" sz="2400" dirty="0"/>
              <a:t>: Write mostly Python.</a:t>
            </a:r>
          </a:p>
          <a:p>
            <a:r>
              <a:rPr lang="en-US" sz="2400" b="1" dirty="0"/>
              <a:t>Introduction to Dash in Python</a:t>
            </a:r>
          </a:p>
          <a:p>
            <a:r>
              <a:rPr lang="en-US" sz="2400" dirty="0"/>
              <a:t>Dash is a Python framework for building analytical web applications. Dash helps in building responsive web dashboards that is good to look at and is very fast without the need to understand complex front-end frameworks or languages such as HTML, CSS, JavaScript. Let's build our first web dashboard using Dash.</a:t>
            </a:r>
          </a:p>
          <a:p>
            <a:pPr fontAlgn="base"/>
            <a:r>
              <a:rPr lang="en-US" sz="2400" b="1" dirty="0"/>
              <a:t>Installation and Imports</a:t>
            </a:r>
          </a:p>
          <a:p>
            <a:r>
              <a:rPr lang="en-US" sz="2400" dirty="0"/>
              <a:t>Install the latest version of Dash</a:t>
            </a:r>
          </a:p>
          <a:p>
            <a:pPr fontAlgn="base"/>
            <a:r>
              <a:rPr lang="en-US" sz="2400" dirty="0"/>
              <a:t>Syntax:   !pip install dash</a:t>
            </a:r>
          </a:p>
          <a:p>
            <a:r>
              <a:rPr lang="en-IN" sz="2400" dirty="0"/>
              <a:t>Creating a Simple Dash Board: </a:t>
            </a:r>
          </a:p>
          <a:p>
            <a:endParaRPr lang="en-US" sz="2400" dirty="0"/>
          </a:p>
        </p:txBody>
      </p:sp>
    </p:spTree>
    <p:extLst>
      <p:ext uri="{BB962C8B-B14F-4D97-AF65-F5344CB8AC3E}">
        <p14:creationId xmlns:p14="http://schemas.microsoft.com/office/powerpoint/2010/main" val="3153060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291F92-BF0F-77E4-B137-11FDD7F0AEA9}"/>
              </a:ext>
            </a:extLst>
          </p:cNvPr>
          <p:cNvSpPr txBox="1"/>
          <p:nvPr/>
        </p:nvSpPr>
        <p:spPr>
          <a:xfrm>
            <a:off x="657225" y="-81439"/>
            <a:ext cx="11534775" cy="6370975"/>
          </a:xfrm>
          <a:prstGeom prst="rect">
            <a:avLst/>
          </a:prstGeom>
          <a:noFill/>
        </p:spPr>
        <p:txBody>
          <a:bodyPr wrap="square">
            <a:spAutoFit/>
          </a:bodyPr>
          <a:lstStyle/>
          <a:p>
            <a:r>
              <a:rPr lang="en-IN" sz="2400" b="1" i="0" dirty="0">
                <a:solidFill>
                  <a:srgbClr val="273239"/>
                </a:solidFill>
                <a:effectLst/>
                <a:latin typeface="Nunito" pitchFamily="2" charset="0"/>
              </a:rPr>
              <a:t>Step 1: Importing all the required libraries</a:t>
            </a:r>
            <a:r>
              <a:rPr lang="en-IN" sz="2400" b="0" i="0" dirty="0">
                <a:solidFill>
                  <a:srgbClr val="273239"/>
                </a:solidFill>
                <a:effectLst/>
                <a:latin typeface="Nunito" pitchFamily="2" charset="0"/>
              </a:rPr>
              <a:t> Now let's import Dash, Dash Core Components(which has components like graph, inputs etc., ) and Dash HTML Components(which has HTML components like meta tags, body tags, paragraph tags etc., )</a:t>
            </a:r>
          </a:p>
          <a:p>
            <a:r>
              <a:rPr lang="en-US" sz="2400" dirty="0"/>
              <a:t># importing required libraries</a:t>
            </a:r>
          </a:p>
          <a:p>
            <a:r>
              <a:rPr lang="en-US" sz="2400" dirty="0"/>
              <a:t>import dash</a:t>
            </a:r>
          </a:p>
          <a:p>
            <a:r>
              <a:rPr lang="en-US" sz="2400" dirty="0"/>
              <a:t>import </a:t>
            </a:r>
            <a:r>
              <a:rPr lang="en-US" sz="2400" dirty="0" err="1"/>
              <a:t>dash_core_components</a:t>
            </a:r>
            <a:r>
              <a:rPr lang="en-US" sz="2400" dirty="0"/>
              <a:t> as dcc    </a:t>
            </a:r>
          </a:p>
          <a:p>
            <a:r>
              <a:rPr lang="en-US" sz="2400" dirty="0"/>
              <a:t>import </a:t>
            </a:r>
            <a:r>
              <a:rPr lang="en-US" sz="2400" dirty="0" err="1"/>
              <a:t>dash_html_components</a:t>
            </a:r>
            <a:r>
              <a:rPr lang="en-US" sz="2400" dirty="0"/>
              <a:t> as html</a:t>
            </a:r>
          </a:p>
          <a:p>
            <a:pPr fontAlgn="base"/>
            <a:r>
              <a:rPr lang="en-US" sz="2400" b="1" dirty="0"/>
              <a:t>Step 2: Designing a layout</a:t>
            </a:r>
            <a:r>
              <a:rPr lang="en-US" sz="2400" dirty="0"/>
              <a:t> : HTML components are just like HTML. Here </a:t>
            </a:r>
            <a:r>
              <a:rPr lang="en-US" sz="2400" i="1" dirty="0"/>
              <a:t>html.H1</a:t>
            </a:r>
            <a:r>
              <a:rPr lang="en-US" sz="2400" dirty="0"/>
              <a:t> refers to the </a:t>
            </a:r>
            <a:r>
              <a:rPr lang="en-US" sz="2400" i="1" dirty="0"/>
              <a:t>h1</a:t>
            </a:r>
            <a:r>
              <a:rPr lang="en-US" sz="2400" dirty="0"/>
              <a:t> tag in HTML. Then, we make a graph which has various parameters such as </a:t>
            </a:r>
            <a:r>
              <a:rPr lang="en-US" sz="2400" i="1" dirty="0"/>
              <a:t>id</a:t>
            </a:r>
            <a:r>
              <a:rPr lang="en-US" sz="2400" dirty="0"/>
              <a:t>(a unique ID to a particular graph), </a:t>
            </a:r>
            <a:r>
              <a:rPr lang="en-US" sz="2400" i="1" dirty="0"/>
              <a:t>figure</a:t>
            </a:r>
            <a:r>
              <a:rPr lang="en-US" sz="2400" dirty="0"/>
              <a:t>(the graph itself), </a:t>
            </a:r>
            <a:r>
              <a:rPr lang="en-US" sz="2400" i="1" dirty="0"/>
              <a:t>layout</a:t>
            </a:r>
            <a:r>
              <a:rPr lang="en-US" sz="2400" dirty="0"/>
              <a:t>(the basic layout, title of graph, X axis, Y axis data etc., ).The </a:t>
            </a:r>
            <a:r>
              <a:rPr lang="en-US" sz="2400" i="1" dirty="0"/>
              <a:t>figure</a:t>
            </a:r>
            <a:r>
              <a:rPr lang="en-US" sz="2400" dirty="0"/>
              <a:t> parameter is essentially a dictionary which has elements like </a:t>
            </a:r>
            <a:r>
              <a:rPr lang="en-US" sz="2400" i="1" dirty="0"/>
              <a:t>x, y, type, name</a:t>
            </a:r>
            <a:r>
              <a:rPr lang="en-US" sz="2400" dirty="0"/>
              <a:t>.</a:t>
            </a:r>
          </a:p>
          <a:p>
            <a:pPr fontAlgn="base"/>
            <a:r>
              <a:rPr lang="en-US" sz="2400" i="1" dirty="0"/>
              <a:t>x</a:t>
            </a:r>
            <a:r>
              <a:rPr lang="en-US" sz="2400" dirty="0"/>
              <a:t> refers to the X-axis value(it can be a list or a single element), </a:t>
            </a:r>
            <a:r>
              <a:rPr lang="en-US" sz="2400" i="1" dirty="0"/>
              <a:t>y</a:t>
            </a:r>
            <a:r>
              <a:rPr lang="en-US" sz="2400" dirty="0"/>
              <a:t> is the same except it is associated with the Y-axis.</a:t>
            </a:r>
          </a:p>
          <a:p>
            <a:pPr fontAlgn="base"/>
            <a:r>
              <a:rPr lang="en-US" sz="2400" dirty="0"/>
              <a:t>The </a:t>
            </a:r>
            <a:r>
              <a:rPr lang="en-US" sz="2400" i="1" dirty="0"/>
              <a:t>type</a:t>
            </a:r>
            <a:r>
              <a:rPr lang="en-US" sz="2400" dirty="0"/>
              <a:t> parameter refers to the type of the graph, it maybe </a:t>
            </a:r>
            <a:r>
              <a:rPr lang="en-US" sz="2400" i="1" dirty="0"/>
              <a:t>line</a:t>
            </a:r>
            <a:r>
              <a:rPr lang="en-US" sz="2400" dirty="0"/>
              <a:t>, </a:t>
            </a:r>
            <a:r>
              <a:rPr lang="en-US" sz="2400" i="1" dirty="0"/>
              <a:t>bar</a:t>
            </a:r>
            <a:r>
              <a:rPr lang="en-US" sz="2400" dirty="0"/>
              <a:t>.</a:t>
            </a:r>
          </a:p>
          <a:p>
            <a:pPr fontAlgn="base"/>
            <a:r>
              <a:rPr lang="en-US" sz="2400" dirty="0"/>
              <a:t>The </a:t>
            </a:r>
            <a:r>
              <a:rPr lang="en-US" sz="2400" i="1" dirty="0"/>
              <a:t>name</a:t>
            </a:r>
            <a:r>
              <a:rPr lang="en-US" sz="2400" dirty="0"/>
              <a:t> parameter refers to the name associated with the axis of a graph</a:t>
            </a:r>
          </a:p>
        </p:txBody>
      </p:sp>
    </p:spTree>
    <p:extLst>
      <p:ext uri="{BB962C8B-B14F-4D97-AF65-F5344CB8AC3E}">
        <p14:creationId xmlns:p14="http://schemas.microsoft.com/office/powerpoint/2010/main" val="997027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45F13B-4872-8240-C814-02B88101BA41}"/>
              </a:ext>
            </a:extLst>
          </p:cNvPr>
          <p:cNvSpPr txBox="1"/>
          <p:nvPr/>
        </p:nvSpPr>
        <p:spPr>
          <a:xfrm>
            <a:off x="609600" y="197346"/>
            <a:ext cx="10248900" cy="6463308"/>
          </a:xfrm>
          <a:prstGeom prst="rect">
            <a:avLst/>
          </a:prstGeom>
          <a:noFill/>
        </p:spPr>
        <p:txBody>
          <a:bodyPr wrap="square">
            <a:spAutoFit/>
          </a:bodyPr>
          <a:lstStyle/>
          <a:p>
            <a:r>
              <a:rPr lang="en-IN" dirty="0"/>
              <a:t>app = </a:t>
            </a:r>
            <a:r>
              <a:rPr lang="en-IN" dirty="0" err="1"/>
              <a:t>dash.Dash</a:t>
            </a:r>
            <a:r>
              <a:rPr lang="en-IN" dirty="0"/>
              <a:t>()</a:t>
            </a:r>
          </a:p>
          <a:p>
            <a:endParaRPr lang="en-IN" dirty="0"/>
          </a:p>
          <a:p>
            <a:r>
              <a:rPr lang="en-IN" dirty="0" err="1"/>
              <a:t>app.layout</a:t>
            </a:r>
            <a:r>
              <a:rPr lang="en-IN" dirty="0"/>
              <a:t> = </a:t>
            </a:r>
            <a:r>
              <a:rPr lang="en-IN" dirty="0" err="1"/>
              <a:t>html.Div</a:t>
            </a:r>
            <a:r>
              <a:rPr lang="en-IN" dirty="0"/>
              <a:t>(children =[</a:t>
            </a:r>
          </a:p>
          <a:p>
            <a:r>
              <a:rPr lang="en-IN" dirty="0"/>
              <a:t>    html.H1("Dash Tutorial"),</a:t>
            </a:r>
          </a:p>
          <a:p>
            <a:r>
              <a:rPr lang="en-IN" dirty="0"/>
              <a:t>    </a:t>
            </a:r>
            <a:r>
              <a:rPr lang="en-IN" dirty="0" err="1"/>
              <a:t>dcc.Graph</a:t>
            </a:r>
            <a:r>
              <a:rPr lang="en-IN" dirty="0"/>
              <a:t>(</a:t>
            </a:r>
          </a:p>
          <a:p>
            <a:r>
              <a:rPr lang="en-IN" dirty="0"/>
              <a:t>        id ="example",</a:t>
            </a:r>
          </a:p>
          <a:p>
            <a:r>
              <a:rPr lang="en-IN" dirty="0"/>
              <a:t>        figure ={</a:t>
            </a:r>
          </a:p>
          <a:p>
            <a:r>
              <a:rPr lang="en-IN" dirty="0"/>
              <a:t>            'data':[</a:t>
            </a:r>
          </a:p>
          <a:p>
            <a:r>
              <a:rPr lang="en-IN" dirty="0"/>
              <a:t>                       {'x':[1, 2, 3, 4, 5],</a:t>
            </a:r>
          </a:p>
          <a:p>
            <a:r>
              <a:rPr lang="en-IN" dirty="0"/>
              <a:t>                        'y':[5, 4, 7, 4, 8],</a:t>
            </a:r>
          </a:p>
          <a:p>
            <a:r>
              <a:rPr lang="en-IN" dirty="0"/>
              <a:t>                        '</a:t>
            </a:r>
            <a:r>
              <a:rPr lang="en-IN" dirty="0" err="1"/>
              <a:t>type':'line</a:t>
            </a:r>
            <a:r>
              <a:rPr lang="en-IN" dirty="0"/>
              <a:t>', </a:t>
            </a:r>
          </a:p>
          <a:p>
            <a:r>
              <a:rPr lang="en-IN" dirty="0"/>
              <a:t>                        '</a:t>
            </a:r>
            <a:r>
              <a:rPr lang="en-IN" dirty="0" err="1"/>
              <a:t>name':'Trucks</a:t>
            </a:r>
            <a:r>
              <a:rPr lang="en-IN" dirty="0"/>
              <a:t>'},</a:t>
            </a:r>
          </a:p>
          <a:p>
            <a:r>
              <a:rPr lang="en-IN" dirty="0"/>
              <a:t>                       {'x':[1, 2, 3, 4, 5], </a:t>
            </a:r>
          </a:p>
          <a:p>
            <a:r>
              <a:rPr lang="en-IN" dirty="0"/>
              <a:t>                        'y':[6, 3, 5, 3, 7], </a:t>
            </a:r>
          </a:p>
          <a:p>
            <a:r>
              <a:rPr lang="en-IN" dirty="0"/>
              <a:t>                        '</a:t>
            </a:r>
            <a:r>
              <a:rPr lang="en-IN" dirty="0" err="1"/>
              <a:t>type':'bar</a:t>
            </a:r>
            <a:r>
              <a:rPr lang="en-IN" dirty="0"/>
              <a:t>',</a:t>
            </a:r>
          </a:p>
          <a:p>
            <a:r>
              <a:rPr lang="en-IN" dirty="0"/>
              <a:t>                        '</a:t>
            </a:r>
            <a:r>
              <a:rPr lang="en-IN" dirty="0" err="1"/>
              <a:t>name':'Ships</a:t>
            </a:r>
            <a:r>
              <a:rPr lang="en-IN" dirty="0"/>
              <a:t>'}</a:t>
            </a:r>
          </a:p>
          <a:p>
            <a:r>
              <a:rPr lang="en-IN" dirty="0"/>
              <a:t>                   ],</a:t>
            </a:r>
          </a:p>
          <a:p>
            <a:r>
              <a:rPr lang="en-IN" dirty="0"/>
              <a:t>            'layout':{</a:t>
            </a:r>
          </a:p>
          <a:p>
            <a:r>
              <a:rPr lang="en-IN" dirty="0"/>
              <a:t>                '</a:t>
            </a:r>
            <a:r>
              <a:rPr lang="en-IN" dirty="0" err="1"/>
              <a:t>title':'Basic</a:t>
            </a:r>
            <a:r>
              <a:rPr lang="en-IN" dirty="0"/>
              <a:t> Dashboard'</a:t>
            </a:r>
          </a:p>
          <a:p>
            <a:r>
              <a:rPr lang="en-IN" dirty="0"/>
              <a:t>            }</a:t>
            </a:r>
          </a:p>
          <a:p>
            <a:r>
              <a:rPr lang="en-IN" dirty="0"/>
              <a:t>        }</a:t>
            </a:r>
          </a:p>
          <a:p>
            <a:r>
              <a:rPr lang="en-IN" dirty="0"/>
              <a:t>    )</a:t>
            </a:r>
          </a:p>
          <a:p>
            <a:r>
              <a:rPr lang="en-IN" dirty="0"/>
              <a:t>])</a:t>
            </a:r>
          </a:p>
        </p:txBody>
      </p:sp>
    </p:spTree>
    <p:extLst>
      <p:ext uri="{BB962C8B-B14F-4D97-AF65-F5344CB8AC3E}">
        <p14:creationId xmlns:p14="http://schemas.microsoft.com/office/powerpoint/2010/main" val="5613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DC4A0E5-22B8-0D8C-0387-2FA5FCD594B1}"/>
              </a:ext>
            </a:extLst>
          </p:cNvPr>
          <p:cNvSpPr txBox="1"/>
          <p:nvPr/>
        </p:nvSpPr>
        <p:spPr>
          <a:xfrm>
            <a:off x="1343025" y="69414"/>
            <a:ext cx="8722518" cy="2031325"/>
          </a:xfrm>
          <a:prstGeom prst="rect">
            <a:avLst/>
          </a:prstGeom>
          <a:noFill/>
        </p:spPr>
        <p:txBody>
          <a:bodyPr wrap="square">
            <a:spAutoFit/>
          </a:bodyPr>
          <a:lstStyle/>
          <a:p>
            <a:r>
              <a:rPr lang="en-US" dirty="0"/>
              <a:t>Step 3: Running the server The dashboard is now ready, but it needs a server to run on. Thus we set up the server using the below code.</a:t>
            </a:r>
          </a:p>
          <a:p>
            <a:endParaRPr lang="en-US" dirty="0"/>
          </a:p>
          <a:p>
            <a:r>
              <a:rPr lang="en-US" dirty="0"/>
              <a:t>if __name__ == '__main__':</a:t>
            </a:r>
          </a:p>
          <a:p>
            <a:r>
              <a:rPr lang="en-US" dirty="0"/>
              <a:t>    </a:t>
            </a:r>
            <a:r>
              <a:rPr lang="en-US" dirty="0" err="1"/>
              <a:t>app.run_server</a:t>
            </a:r>
            <a:r>
              <a:rPr lang="en-US" dirty="0"/>
              <a:t>()</a:t>
            </a:r>
          </a:p>
          <a:p>
            <a:r>
              <a:rPr lang="en-US" dirty="0"/>
              <a:t>Open the app on the web browser in localhost and default port 8050.</a:t>
            </a:r>
          </a:p>
          <a:p>
            <a:r>
              <a:rPr lang="en-US" dirty="0"/>
              <a:t>http://127.0.0.1:8050/</a:t>
            </a:r>
            <a:endParaRPr lang="en-IN" dirty="0"/>
          </a:p>
        </p:txBody>
      </p:sp>
      <p:pic>
        <p:nvPicPr>
          <p:cNvPr id="3076" name="Picture 4">
            <a:extLst>
              <a:ext uri="{FF2B5EF4-FFF2-40B4-BE49-F238E27FC236}">
                <a16:creationId xmlns:a16="http://schemas.microsoft.com/office/drawing/2014/main" id="{D41E5AF3-BB8D-5331-EC89-9E1EEC7F79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7275" y="2100739"/>
            <a:ext cx="10744200" cy="4277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0516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F06D68-5860-65AB-448F-B1FEA300C4DA}"/>
              </a:ext>
            </a:extLst>
          </p:cNvPr>
          <p:cNvSpPr txBox="1"/>
          <p:nvPr/>
        </p:nvSpPr>
        <p:spPr>
          <a:xfrm>
            <a:off x="200026" y="200688"/>
            <a:ext cx="11677650" cy="6178614"/>
          </a:xfrm>
          <a:prstGeom prst="rect">
            <a:avLst/>
          </a:prstGeom>
          <a:noFill/>
        </p:spPr>
        <p:txBody>
          <a:bodyPr wrap="square">
            <a:spAutoFit/>
          </a:bodyPr>
          <a:lstStyle/>
          <a:p>
            <a:pPr algn="ctr" fontAlgn="base">
              <a:lnSpc>
                <a:spcPts val="2100"/>
              </a:lnSpc>
              <a:buNone/>
            </a:pPr>
            <a:r>
              <a:rPr lang="en-US" b="1" i="0" dirty="0">
                <a:solidFill>
                  <a:srgbClr val="273239"/>
                </a:solidFill>
                <a:effectLst/>
                <a:latin typeface="Nunito" pitchFamily="2" charset="0"/>
              </a:rPr>
              <a:t>Using Callbacks</a:t>
            </a:r>
          </a:p>
          <a:p>
            <a:pPr>
              <a:buNone/>
            </a:pPr>
            <a:r>
              <a:rPr lang="en-US" b="0" i="0" dirty="0">
                <a:solidFill>
                  <a:srgbClr val="273239"/>
                </a:solidFill>
                <a:effectLst/>
                <a:latin typeface="Nunito" pitchFamily="2" charset="0"/>
              </a:rPr>
              <a:t>The above teaches us a basic static app. But what if you want to let the user take the control. This is why we are going to use app callbacks provided in Dash. In this section, we are going to make a web app that takes in number from the user and return the square of the number</a:t>
            </a:r>
          </a:p>
          <a:p>
            <a:pPr>
              <a:buNone/>
            </a:pPr>
            <a:r>
              <a:rPr lang="en-US" b="1" i="0" dirty="0">
                <a:solidFill>
                  <a:srgbClr val="273239"/>
                </a:solidFill>
                <a:effectLst/>
                <a:latin typeface="Nunito" pitchFamily="2" charset="0"/>
              </a:rPr>
              <a:t>Step 1: Importing all the required libraries</a:t>
            </a:r>
            <a:r>
              <a:rPr lang="en-US" b="0" i="0" dirty="0">
                <a:solidFill>
                  <a:srgbClr val="273239"/>
                </a:solidFill>
                <a:effectLst/>
                <a:latin typeface="Nunito" pitchFamily="2" charset="0"/>
              </a:rPr>
              <a:t> Just like above we are going to import all the required libraries. Here we require an additional </a:t>
            </a:r>
            <a:r>
              <a:rPr lang="en-US" b="0" i="1" dirty="0" err="1">
                <a:solidFill>
                  <a:srgbClr val="273239"/>
                </a:solidFill>
                <a:effectLst/>
                <a:latin typeface="Nunito" pitchFamily="2" charset="0"/>
              </a:rPr>
              <a:t>dash.dependencies.Input</a:t>
            </a:r>
            <a:r>
              <a:rPr lang="en-US" b="0" i="0" dirty="0">
                <a:solidFill>
                  <a:srgbClr val="273239"/>
                </a:solidFill>
                <a:effectLst/>
                <a:latin typeface="Nunito" pitchFamily="2" charset="0"/>
              </a:rPr>
              <a:t> and </a:t>
            </a:r>
            <a:r>
              <a:rPr lang="en-US" b="0" i="1" dirty="0" err="1">
                <a:solidFill>
                  <a:srgbClr val="273239"/>
                </a:solidFill>
                <a:effectLst/>
                <a:latin typeface="Nunito" pitchFamily="2" charset="0"/>
              </a:rPr>
              <a:t>dash.dependencies.Output</a:t>
            </a:r>
            <a:r>
              <a:rPr lang="en-US" b="0" i="0" dirty="0">
                <a:solidFill>
                  <a:srgbClr val="273239"/>
                </a:solidFill>
                <a:effectLst/>
                <a:latin typeface="Nunito" pitchFamily="2" charset="0"/>
              </a:rPr>
              <a:t> to provide us with input and output callback functionality.</a:t>
            </a:r>
          </a:p>
          <a:p>
            <a:pPr>
              <a:buNone/>
            </a:pPr>
            <a:r>
              <a:rPr lang="en-US" dirty="0"/>
              <a:t># importing required libraries</a:t>
            </a:r>
          </a:p>
          <a:p>
            <a:pPr>
              <a:buNone/>
            </a:pPr>
            <a:r>
              <a:rPr lang="en-US" dirty="0"/>
              <a:t>import dash</a:t>
            </a:r>
          </a:p>
          <a:p>
            <a:pPr>
              <a:buNone/>
            </a:pPr>
            <a:r>
              <a:rPr lang="en-US" dirty="0"/>
              <a:t>import </a:t>
            </a:r>
            <a:r>
              <a:rPr lang="en-US" dirty="0" err="1"/>
              <a:t>dash_core_components</a:t>
            </a:r>
            <a:r>
              <a:rPr lang="en-US" dirty="0"/>
              <a:t> as dcc    </a:t>
            </a:r>
          </a:p>
          <a:p>
            <a:pPr>
              <a:buNone/>
            </a:pPr>
            <a:r>
              <a:rPr lang="en-US" dirty="0"/>
              <a:t>import </a:t>
            </a:r>
            <a:r>
              <a:rPr lang="en-US" dirty="0" err="1"/>
              <a:t>dash_html_components</a:t>
            </a:r>
            <a:r>
              <a:rPr lang="en-US" dirty="0"/>
              <a:t> as html</a:t>
            </a:r>
          </a:p>
          <a:p>
            <a:pPr>
              <a:buNone/>
            </a:pPr>
            <a:r>
              <a:rPr lang="en-US" dirty="0"/>
              <a:t>from </a:t>
            </a:r>
            <a:r>
              <a:rPr lang="en-US" dirty="0" err="1"/>
              <a:t>dash.dependencies</a:t>
            </a:r>
            <a:r>
              <a:rPr lang="en-US" dirty="0"/>
              <a:t> import Input, Output</a:t>
            </a:r>
          </a:p>
          <a:p>
            <a:pPr>
              <a:buNone/>
            </a:pPr>
            <a:r>
              <a:rPr lang="en-US" b="1" dirty="0"/>
              <a:t>Step 2: Designing a layout</a:t>
            </a:r>
            <a:r>
              <a:rPr lang="en-US" dirty="0"/>
              <a:t> We are going to design a simple textbox that will help out take input and a text label which will output the square of the number that is input or returns an error if the input is not a number.</a:t>
            </a:r>
          </a:p>
          <a:p>
            <a:pPr>
              <a:buNone/>
            </a:pPr>
            <a:r>
              <a:rPr lang="en-IN" dirty="0"/>
              <a:t>app = </a:t>
            </a:r>
            <a:r>
              <a:rPr lang="en-IN" dirty="0" err="1"/>
              <a:t>dash.Dash</a:t>
            </a:r>
            <a:r>
              <a:rPr lang="en-IN" dirty="0"/>
              <a:t>()</a:t>
            </a:r>
          </a:p>
          <a:p>
            <a:pPr>
              <a:buNone/>
            </a:pPr>
            <a:endParaRPr lang="en-IN" dirty="0"/>
          </a:p>
          <a:p>
            <a:pPr>
              <a:buNone/>
            </a:pPr>
            <a:r>
              <a:rPr lang="en-IN" dirty="0" err="1"/>
              <a:t>app.layout</a:t>
            </a:r>
            <a:r>
              <a:rPr lang="en-IN" dirty="0"/>
              <a:t> = </a:t>
            </a:r>
            <a:r>
              <a:rPr lang="en-IN" dirty="0" err="1"/>
              <a:t>html.Div</a:t>
            </a:r>
            <a:r>
              <a:rPr lang="en-IN" dirty="0"/>
              <a:t>(children =[</a:t>
            </a:r>
          </a:p>
          <a:p>
            <a:pPr>
              <a:buNone/>
            </a:pPr>
            <a:r>
              <a:rPr lang="en-IN" dirty="0"/>
              <a:t>    </a:t>
            </a:r>
            <a:r>
              <a:rPr lang="en-IN" dirty="0" err="1"/>
              <a:t>dcc.Input</a:t>
            </a:r>
            <a:r>
              <a:rPr lang="en-IN" dirty="0"/>
              <a:t>(id ='input', </a:t>
            </a:r>
          </a:p>
          <a:p>
            <a:pPr>
              <a:buNone/>
            </a:pPr>
            <a:r>
              <a:rPr lang="en-IN" dirty="0"/>
              <a:t>              value ='Enter a number', </a:t>
            </a:r>
          </a:p>
          <a:p>
            <a:pPr>
              <a:buNone/>
            </a:pPr>
            <a:r>
              <a:rPr lang="en-IN" dirty="0"/>
              <a:t>              type ='text'),</a:t>
            </a:r>
          </a:p>
          <a:p>
            <a:pPr>
              <a:buNone/>
            </a:pPr>
            <a:r>
              <a:rPr lang="en-IN" dirty="0"/>
              <a:t>        </a:t>
            </a:r>
            <a:r>
              <a:rPr lang="en-IN" dirty="0" err="1"/>
              <a:t>html.Div</a:t>
            </a:r>
            <a:r>
              <a:rPr lang="en-IN" dirty="0"/>
              <a:t>(id ='output')</a:t>
            </a:r>
          </a:p>
          <a:p>
            <a:pPr>
              <a:buNone/>
            </a:pPr>
            <a:r>
              <a:rPr lang="en-IN" dirty="0"/>
              <a:t>])</a:t>
            </a:r>
          </a:p>
        </p:txBody>
      </p:sp>
    </p:spTree>
    <p:extLst>
      <p:ext uri="{BB962C8B-B14F-4D97-AF65-F5344CB8AC3E}">
        <p14:creationId xmlns:p14="http://schemas.microsoft.com/office/powerpoint/2010/main" val="3709421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C1F9ECE-5255-F428-5959-156E682E2D5E}"/>
              </a:ext>
            </a:extLst>
          </p:cNvPr>
          <p:cNvSpPr txBox="1"/>
          <p:nvPr/>
        </p:nvSpPr>
        <p:spPr>
          <a:xfrm>
            <a:off x="1409700" y="99269"/>
            <a:ext cx="8131968" cy="6186309"/>
          </a:xfrm>
          <a:prstGeom prst="rect">
            <a:avLst/>
          </a:prstGeom>
          <a:noFill/>
        </p:spPr>
        <p:txBody>
          <a:bodyPr wrap="square">
            <a:spAutoFit/>
          </a:bodyPr>
          <a:lstStyle/>
          <a:p>
            <a:r>
              <a:rPr lang="en-US" dirty="0"/>
              <a:t>Step 3: Callbacks A callback is like a trigger that does a certain function on the change of the state of the input. In this case, it executes the method </a:t>
            </a:r>
            <a:r>
              <a:rPr lang="en-US" dirty="0" err="1"/>
              <a:t>update_value</a:t>
            </a:r>
            <a:r>
              <a:rPr lang="en-US" dirty="0"/>
              <a:t> and takes in </a:t>
            </a:r>
            <a:r>
              <a:rPr lang="en-US" dirty="0" err="1"/>
              <a:t>input_data</a:t>
            </a:r>
            <a:r>
              <a:rPr lang="en-US" dirty="0"/>
              <a:t> as the parameter and returns the square of that number. If the input is not a number, then it returns an error statement.</a:t>
            </a:r>
          </a:p>
          <a:p>
            <a:endParaRPr lang="en-US" dirty="0"/>
          </a:p>
          <a:p>
            <a:r>
              <a:rPr lang="en-US" dirty="0"/>
              <a:t>@app.callback(</a:t>
            </a:r>
          </a:p>
          <a:p>
            <a:r>
              <a:rPr lang="en-US" dirty="0"/>
              <a:t>    Output(</a:t>
            </a:r>
            <a:r>
              <a:rPr lang="en-US" dirty="0" err="1"/>
              <a:t>component_id</a:t>
            </a:r>
            <a:r>
              <a:rPr lang="en-US" dirty="0"/>
              <a:t> ='output', </a:t>
            </a:r>
            <a:r>
              <a:rPr lang="en-US" dirty="0" err="1"/>
              <a:t>component_property</a:t>
            </a:r>
            <a:r>
              <a:rPr lang="en-US" dirty="0"/>
              <a:t> ='children'),</a:t>
            </a:r>
          </a:p>
          <a:p>
            <a:r>
              <a:rPr lang="en-US" dirty="0"/>
              <a:t>    [Input(</a:t>
            </a:r>
            <a:r>
              <a:rPr lang="en-US" dirty="0" err="1"/>
              <a:t>component_id</a:t>
            </a:r>
            <a:r>
              <a:rPr lang="en-US" dirty="0"/>
              <a:t> ='input', </a:t>
            </a:r>
            <a:r>
              <a:rPr lang="en-US" dirty="0" err="1"/>
              <a:t>component_property</a:t>
            </a:r>
            <a:r>
              <a:rPr lang="en-US" dirty="0"/>
              <a:t> ='value')]</a:t>
            </a:r>
          </a:p>
          <a:p>
            <a:r>
              <a:rPr lang="en-US" dirty="0"/>
              <a:t>)</a:t>
            </a:r>
          </a:p>
          <a:p>
            <a:endParaRPr lang="en-US" dirty="0"/>
          </a:p>
          <a:p>
            <a:r>
              <a:rPr lang="en-US" dirty="0"/>
              <a:t>def </a:t>
            </a:r>
            <a:r>
              <a:rPr lang="en-US" dirty="0" err="1"/>
              <a:t>update_value</a:t>
            </a:r>
            <a:r>
              <a:rPr lang="en-US" dirty="0"/>
              <a:t>(</a:t>
            </a:r>
            <a:r>
              <a:rPr lang="en-US" dirty="0" err="1"/>
              <a:t>input_data</a:t>
            </a:r>
            <a:r>
              <a:rPr lang="en-US" dirty="0"/>
              <a:t>):</a:t>
            </a:r>
          </a:p>
          <a:p>
            <a:r>
              <a:rPr lang="en-US" dirty="0"/>
              <a:t>    try:</a:t>
            </a:r>
          </a:p>
          <a:p>
            <a:r>
              <a:rPr lang="en-US" dirty="0"/>
              <a:t>        return str(float(</a:t>
            </a:r>
            <a:r>
              <a:rPr lang="en-US" dirty="0" err="1"/>
              <a:t>input_data</a:t>
            </a:r>
            <a:r>
              <a:rPr lang="en-US" dirty="0"/>
              <a:t>)**2)</a:t>
            </a:r>
          </a:p>
          <a:p>
            <a:r>
              <a:rPr lang="en-US" dirty="0"/>
              <a:t>    except:</a:t>
            </a:r>
          </a:p>
          <a:p>
            <a:r>
              <a:rPr lang="en-US" dirty="0"/>
              <a:t>        return "Error, the input is not a number“</a:t>
            </a:r>
          </a:p>
          <a:p>
            <a:endParaRPr lang="en-US" dirty="0"/>
          </a:p>
          <a:p>
            <a:r>
              <a:rPr lang="en-US" dirty="0"/>
              <a:t>Step 3: Running the server Again, just like above, we are going to run the server.</a:t>
            </a:r>
          </a:p>
          <a:p>
            <a:endParaRPr lang="en-US" dirty="0"/>
          </a:p>
          <a:p>
            <a:r>
              <a:rPr lang="en-US" dirty="0"/>
              <a:t>if __name__ == '__main__':</a:t>
            </a:r>
          </a:p>
          <a:p>
            <a:r>
              <a:rPr lang="en-US" dirty="0"/>
              <a:t>    </a:t>
            </a:r>
            <a:r>
              <a:rPr lang="en-US" dirty="0" err="1"/>
              <a:t>app.run_server</a:t>
            </a:r>
            <a:r>
              <a:rPr lang="en-US" dirty="0"/>
              <a:t>()</a:t>
            </a:r>
          </a:p>
          <a:p>
            <a:endParaRPr lang="en-US" dirty="0"/>
          </a:p>
          <a:p>
            <a:endParaRPr lang="en-IN" dirty="0"/>
          </a:p>
        </p:txBody>
      </p:sp>
    </p:spTree>
    <p:extLst>
      <p:ext uri="{BB962C8B-B14F-4D97-AF65-F5344CB8AC3E}">
        <p14:creationId xmlns:p14="http://schemas.microsoft.com/office/powerpoint/2010/main" val="2979139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5320644-5B4C-8FC2-D557-DD4748952C49}"/>
              </a:ext>
            </a:extLst>
          </p:cNvPr>
          <p:cNvSpPr txBox="1"/>
          <p:nvPr/>
        </p:nvSpPr>
        <p:spPr>
          <a:xfrm>
            <a:off x="2650331" y="622727"/>
            <a:ext cx="6100762" cy="830997"/>
          </a:xfrm>
          <a:prstGeom prst="rect">
            <a:avLst/>
          </a:prstGeom>
          <a:noFill/>
        </p:spPr>
        <p:txBody>
          <a:bodyPr wrap="square">
            <a:spAutoFit/>
          </a:bodyPr>
          <a:lstStyle/>
          <a:p>
            <a:pPr>
              <a:buNone/>
            </a:pPr>
            <a:r>
              <a:rPr lang="en-US" b="0" i="0" dirty="0">
                <a:solidFill>
                  <a:srgbClr val="273239"/>
                </a:solidFill>
                <a:effectLst/>
                <a:latin typeface="Nunito" pitchFamily="2" charset="0"/>
              </a:rPr>
              <a:t>Open the app on the web browser in local host and default port 8050.</a:t>
            </a:r>
            <a:endParaRPr lang="en-US" dirty="0"/>
          </a:p>
          <a:p>
            <a:pPr algn="l" fontAlgn="base">
              <a:spcAft>
                <a:spcPts val="750"/>
              </a:spcAft>
              <a:buNone/>
            </a:pPr>
            <a:r>
              <a:rPr lang="en-US" sz="1200" b="0" i="0" dirty="0">
                <a:effectLst/>
                <a:latin typeface="Consolas" panose="020B0609020204030204" pitchFamily="49" charset="0"/>
              </a:rPr>
              <a:t>http://127.0.0.1:8050/</a:t>
            </a:r>
          </a:p>
        </p:txBody>
      </p:sp>
      <p:pic>
        <p:nvPicPr>
          <p:cNvPr id="5122" name="Picture 2">
            <a:extLst>
              <a:ext uri="{FF2B5EF4-FFF2-40B4-BE49-F238E27FC236}">
                <a16:creationId xmlns:a16="http://schemas.microsoft.com/office/drawing/2014/main" id="{47458901-549F-0E8B-27BA-A2D29E6EF5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0331" y="1847851"/>
            <a:ext cx="5703094" cy="29051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3087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Gill Sans MT"/>
                <a:ea typeface="+mn-ea"/>
                <a:cs typeface="+mn-cs"/>
              </a:rPr>
              <a:t>REFERENCES FOR FURTHER LEARNING OF THE SESSION</a:t>
            </a:r>
            <a:endParaRPr kumimoji="0" lang="en-US" sz="1800" b="0" i="0" u="none" strike="noStrike" kern="1200" cap="none" spc="0" normalizeH="0" baseline="0" noProof="0" dirty="0">
              <a:ln>
                <a:noFill/>
              </a:ln>
              <a:solidFill>
                <a:prstClr val="white"/>
              </a:solidFill>
              <a:effectLst/>
              <a:uLnTx/>
              <a:uFillTx/>
              <a:latin typeface="Poppins" panose="00000500000000000000" pitchFamily="2" charset="0"/>
              <a:ea typeface="+mn-ea"/>
              <a:cs typeface="Poppins" panose="00000500000000000000" pitchFamily="2" charset="0"/>
            </a:endParaRPr>
          </a:p>
        </p:txBody>
      </p:sp>
      <p:sp>
        <p:nvSpPr>
          <p:cNvPr id="9" name="TextBox 8"/>
          <p:cNvSpPr txBox="1"/>
          <p:nvPr/>
        </p:nvSpPr>
        <p:spPr>
          <a:xfrm>
            <a:off x="900331" y="1167618"/>
            <a:ext cx="10409819" cy="4060022"/>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Gill Sans MT"/>
                <a:ea typeface="+mn-ea"/>
                <a:cs typeface="+mn-cs"/>
              </a:rPr>
              <a:t>Text Books:</a:t>
            </a: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Introduction to Data Science- A Structured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Methodology,Goran</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trajkovski</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a:t>
            </a: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Data Science from Scratch- Joel Grus - O’Reilly - 2015 </a:t>
            </a: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Practical Statistics for Data Scientists - Peter Bruce, Andrew Bruce &amp; Peter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Gedeck</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 O’Reilly - 2020 </a:t>
            </a: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Data Science and Machine Learning (Mathematical and Statistical Methods) - Dirk P. Kroese, Zdravko I. Botev, Thomas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Taimre</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Radislav Vaisman- Chapman and Hall/CRC - 2025 </a:t>
            </a: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Foundations of Data Science -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Avrim</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Blum, John Hopcroft, and Ravindran Kannan - Cambridge University Press – 2020</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Gill Sans MT"/>
                <a:ea typeface="+mn-ea"/>
                <a:cs typeface="+mn-cs"/>
              </a:rPr>
              <a:t>Reference Books:</a:t>
            </a: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R1.Data Science and Its Applications by Aakanksha </a:t>
            </a:r>
            <a:r>
              <a:rPr kumimoji="0" lang="en-US" sz="1800" b="0" i="0" u="none" strike="noStrike" kern="1200" cap="none" spc="0" normalizeH="0" baseline="0" noProof="0" dirty="0" err="1">
                <a:ln>
                  <a:noFill/>
                </a:ln>
                <a:solidFill>
                  <a:prstClr val="black"/>
                </a:solidFill>
                <a:effectLst/>
                <a:uLnTx/>
                <a:uFillTx/>
                <a:latin typeface="Gill Sans MT"/>
                <a:ea typeface="+mn-ea"/>
                <a:cs typeface="+mn-cs"/>
              </a:rPr>
              <a:t>Sharaff</a:t>
            </a:r>
            <a:r>
              <a:rPr kumimoji="0" lang="en-US" sz="1800" b="0" i="0" u="none" strike="noStrike" kern="1200" cap="none" spc="0" normalizeH="0" baseline="0" noProof="0" dirty="0">
                <a:ln>
                  <a:noFill/>
                </a:ln>
                <a:solidFill>
                  <a:prstClr val="black"/>
                </a:solidFill>
                <a:effectLst/>
                <a:uLnTx/>
                <a:uFillTx/>
                <a:latin typeface="Gill Sans MT"/>
                <a:ea typeface="+mn-ea"/>
                <a:cs typeface="+mn-cs"/>
              </a:rPr>
              <a:t> and G. R. Sinha. </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R2. Introducing Data Science Big Data, Machine Learning, and more using Python tools. by Davy </a:t>
            </a:r>
            <a:r>
              <a:rPr kumimoji="0" lang="en-US" sz="1800" b="0" i="0" u="none" strike="noStrike" kern="1200" cap="none" spc="0" normalizeH="0" baseline="0" noProof="0" dirty="0" err="1">
                <a:ln>
                  <a:noFill/>
                </a:ln>
                <a:solidFill>
                  <a:prstClr val="black"/>
                </a:solidFill>
                <a:effectLst/>
                <a:uLnTx/>
                <a:uFillTx/>
                <a:latin typeface="Gill Sans MT"/>
                <a:ea typeface="+mn-ea"/>
                <a:cs typeface="+mn-cs"/>
              </a:rPr>
              <a:t>cielen</a:t>
            </a:r>
            <a:r>
              <a:rPr kumimoji="0" lang="en-US" sz="1800" b="0" i="0" u="none" strike="noStrike" kern="1200" cap="none" spc="0" normalizeH="0" baseline="0" noProof="0" dirty="0">
                <a:ln>
                  <a:noFill/>
                </a:ln>
                <a:solidFill>
                  <a:prstClr val="black"/>
                </a:solidFill>
                <a:effectLst/>
                <a:uLnTx/>
                <a:uFillTx/>
                <a:latin typeface="Gill Sans MT"/>
                <a:ea typeface="+mn-ea"/>
                <a:cs typeface="+mn-cs"/>
              </a:rPr>
              <a:t>, Arno D.B. </a:t>
            </a:r>
            <a:r>
              <a:rPr kumimoji="0" lang="en-US" sz="1800" b="0" i="0" u="none" strike="noStrike" kern="1200" cap="none" spc="0" normalizeH="0" baseline="0" noProof="0" dirty="0" err="1">
                <a:ln>
                  <a:noFill/>
                </a:ln>
                <a:solidFill>
                  <a:prstClr val="black"/>
                </a:solidFill>
                <a:effectLst/>
                <a:uLnTx/>
                <a:uFillTx/>
                <a:latin typeface="Gill Sans MT"/>
                <a:ea typeface="+mn-ea"/>
                <a:cs typeface="+mn-cs"/>
              </a:rPr>
              <a:t>Meysman</a:t>
            </a:r>
            <a:r>
              <a:rPr kumimoji="0" lang="en-US" sz="1800" b="0" i="0" u="none" strike="noStrike" kern="1200" cap="none" spc="0" normalizeH="0" baseline="0" noProof="0" dirty="0">
                <a:ln>
                  <a:noFill/>
                </a:ln>
                <a:solidFill>
                  <a:prstClr val="black"/>
                </a:solidFill>
                <a:effectLst/>
                <a:uLnTx/>
                <a:uFillTx/>
                <a:latin typeface="Gill Sans MT"/>
                <a:ea typeface="+mn-ea"/>
                <a:cs typeface="+mn-cs"/>
              </a:rPr>
              <a:t> and Mohamed Ali.</a:t>
            </a:r>
            <a:endParaRPr kumimoji="0" lang="en-US" altLang="en-US" sz="1800" b="0" i="0" u="none" strike="noStrike" kern="1200" cap="none" spc="0" normalizeH="0" baseline="0" noProof="0" dirty="0">
              <a:ln>
                <a:noFill/>
              </a:ln>
              <a:solidFill>
                <a:prstClr val="black"/>
              </a:solidFill>
              <a:effectLst/>
              <a:uLnTx/>
              <a:uFillTx/>
              <a:latin typeface="Gill Sans MT"/>
              <a:ea typeface="+mn-ea"/>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p:txBody>
      </p:sp>
    </p:spTree>
    <p:extLst>
      <p:ext uri="{BB962C8B-B14F-4D97-AF65-F5344CB8AC3E}">
        <p14:creationId xmlns:p14="http://schemas.microsoft.com/office/powerpoint/2010/main" val="104527235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THANK YOU</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Team – DS</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1031</TotalTime>
  <Words>1379</Words>
  <Application>Microsoft Office PowerPoint</Application>
  <PresentationFormat>Widescreen</PresentationFormat>
  <Paragraphs>142</Paragraphs>
  <Slides>13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Arial</vt:lpstr>
      <vt:lpstr>Calibri</vt:lpstr>
      <vt:lpstr>Consolas</vt:lpstr>
      <vt:lpstr>Gill Sans MT</vt:lpstr>
      <vt:lpstr>Nunito</vt:lpstr>
      <vt:lpstr>Poppins</vt:lpstr>
      <vt:lpstr>Times New Roman</vt:lpstr>
      <vt:lpstr>Wingdings</vt:lpstr>
      <vt:lpstr>Gallery</vt:lpstr>
      <vt:lpstr>PowerPoint Presentation</vt:lpstr>
      <vt:lpstr>PowerPoint Presentation</vt:lpstr>
      <vt:lpstr>      Key Concepts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Data Visualization?</dc:title>
  <dc:creator>N Sunanda</dc:creator>
  <cp:lastModifiedBy>sunanda nalajala</cp:lastModifiedBy>
  <cp:revision>28</cp:revision>
  <dcterms:created xsi:type="dcterms:W3CDTF">2023-11-08T08:15:22Z</dcterms:created>
  <dcterms:modified xsi:type="dcterms:W3CDTF">2026-05-30T06:24:39Z</dcterms:modified>
</cp:coreProperties>
</file>