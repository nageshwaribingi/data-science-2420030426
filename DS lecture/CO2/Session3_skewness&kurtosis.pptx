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5894-587D-B36D-E0B6-7B285FBE04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1123F8-1291-A926-81BE-3B8649429E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CAB955-B856-DD63-DC5B-593547551E6D}"/>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578ED243-7B93-7897-0B52-591FE4BA50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AF40EC-382A-785B-06B5-A66C19095F8E}"/>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3821234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D218-2FEE-E242-5286-7879771537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6CCC88-C70A-14B9-A862-3A4B4D1190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1674A3-155F-6B4F-6EB0-C4EC934877F5}"/>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3F1DCC38-96D7-AF6B-89EF-31EC49DF9E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686BEB-B844-3D35-209E-F6899EAC98E3}"/>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3018887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096F-8155-AACA-DDE8-4136003470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F978CF-959C-443D-17E8-219CBD9843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9ADC50-F127-1F06-33E7-7B1BF82BFDFB}"/>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DDA17DDE-F731-287E-3BED-EA72C5E5D2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9BE394-C3B2-9FBD-9D35-42761F70722B}"/>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1561100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4553-7DBC-9011-B712-8C965668AC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B48545-1A17-F3A6-77E4-DA2435BCE1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6FEBB1-BA52-7EDC-18E0-2A646A72C0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1AE854-5300-E55D-3D1B-C8A5001C3BD9}"/>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6" name="Footer Placeholder 5">
            <a:extLst>
              <a:ext uri="{FF2B5EF4-FFF2-40B4-BE49-F238E27FC236}">
                <a16:creationId xmlns:a16="http://schemas.microsoft.com/office/drawing/2014/main" id="{3775EA67-EA59-41FA-34A8-0E569E5985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D43740-C224-0E6E-0B38-89BABB77A69F}"/>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3209555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3177E-D761-B8F2-4CDE-762961E2F5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F8C946-9A9C-C2F6-925C-1ABA37A9A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975760-3AD1-51CB-C062-27F20F3EF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A8F050D-2CF9-4BF4-B9D9-F29E959D7F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DCF54-490F-7016-7459-87A8E08A8A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4B93AD-D2DA-DB53-1C43-9ED4A930B866}"/>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8" name="Footer Placeholder 7">
            <a:extLst>
              <a:ext uri="{FF2B5EF4-FFF2-40B4-BE49-F238E27FC236}">
                <a16:creationId xmlns:a16="http://schemas.microsoft.com/office/drawing/2014/main" id="{F788A97D-4DDB-74AA-B379-4E79D55B55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2CD12A-E7E3-D3B5-3784-9FDD049AA2D1}"/>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7528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28FD-B938-AA2C-0A58-67E915D864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06ED21-6B9D-15B1-3E19-0C0FCCE25F08}"/>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4" name="Footer Placeholder 3">
            <a:extLst>
              <a:ext uri="{FF2B5EF4-FFF2-40B4-BE49-F238E27FC236}">
                <a16:creationId xmlns:a16="http://schemas.microsoft.com/office/drawing/2014/main" id="{6BA21562-6A31-C417-5061-C0100E0ADD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49D13D-B56C-D7E7-BA64-1CBF16A9F74C}"/>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2809001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DFE65-E18B-928F-388D-6FE9B9A8205A}"/>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3" name="Footer Placeholder 2">
            <a:extLst>
              <a:ext uri="{FF2B5EF4-FFF2-40B4-BE49-F238E27FC236}">
                <a16:creationId xmlns:a16="http://schemas.microsoft.com/office/drawing/2014/main" id="{B2D82384-5448-51E7-2A97-A0AAFEEA9C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21B412-B1BA-CDF9-CE7A-7FE276DF2FCE}"/>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26146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FFEB9-A820-97C5-E561-124258319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A8A33E-DFB8-7A5B-9115-81C663E181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126AE5-1722-86F0-403F-816933FFB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A030D1-9FCC-2F70-626F-5656B582B914}"/>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6" name="Footer Placeholder 5">
            <a:extLst>
              <a:ext uri="{FF2B5EF4-FFF2-40B4-BE49-F238E27FC236}">
                <a16:creationId xmlns:a16="http://schemas.microsoft.com/office/drawing/2014/main" id="{3B10F83D-8A9F-4797-87F3-2EA0F19510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D2E01A-1F02-B2B8-E8DD-839942C19C04}"/>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2622112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35AD1-E957-F9FB-20B7-361DAA3D8F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871814-5DB3-B33B-8C8C-948BAC5EC6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F19A9FF-4E4C-7EB7-9B75-F39CB2C85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13FEB1-8807-2E46-C61F-5C1166A3B670}"/>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6" name="Footer Placeholder 5">
            <a:extLst>
              <a:ext uri="{FF2B5EF4-FFF2-40B4-BE49-F238E27FC236}">
                <a16:creationId xmlns:a16="http://schemas.microsoft.com/office/drawing/2014/main" id="{000E6D65-00F2-8C97-28CF-F77A2C9AC7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78B542-C3D7-6917-71EE-4A9F9D85CBF2}"/>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917598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4353-48AF-7965-3644-AD56A351E1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6267B0-6788-5E7D-82DC-735A9394B4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BC9303-2E5D-C6EC-70BB-A8C9F73D4DE5}"/>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9337F4AC-44E8-6249-B8C5-1A5A0CD78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860AE-6FE1-66CF-721A-1FEAECAB86D2}"/>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3888817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64B2B4-902E-884B-2FBB-9936942CCB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E09C8E-A064-7E27-8101-72DD851F1A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DEAC4B-4F68-B2C2-91AC-C529340E9BFC}"/>
              </a:ext>
            </a:extLst>
          </p:cNvPr>
          <p:cNvSpPr>
            <a:spLocks noGrp="1"/>
          </p:cNvSpPr>
          <p:nvPr>
            <p:ph type="dt" sz="half" idx="10"/>
          </p:nvPr>
        </p:nvSpPr>
        <p:spPr/>
        <p:txBody>
          <a:body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F65D7181-BE3F-76B8-6744-FDFA8BF5C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DF8DF7-B87A-40BF-58C3-430B584843E7}"/>
              </a:ext>
            </a:extLst>
          </p:cNvPr>
          <p:cNvSpPr>
            <a:spLocks noGrp="1"/>
          </p:cNvSpPr>
          <p:nvPr>
            <p:ph type="sldNum" sz="quarter" idx="12"/>
          </p:nvPr>
        </p:nvSpPr>
        <p:spPr/>
        <p:txBody>
          <a:bodyPr/>
          <a:lstStyle/>
          <a:p>
            <a:fld id="{EEA91471-96FF-437E-9C8F-3CE0CC89E485}" type="slidenum">
              <a:rPr lang="en-IN" smtClean="0"/>
              <a:t>‹#›</a:t>
            </a:fld>
            <a:endParaRPr lang="en-IN"/>
          </a:p>
        </p:txBody>
      </p:sp>
    </p:spTree>
    <p:extLst>
      <p:ext uri="{BB962C8B-B14F-4D97-AF65-F5344CB8AC3E}">
        <p14:creationId xmlns:p14="http://schemas.microsoft.com/office/powerpoint/2010/main" val="310748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1F12A0-8C7B-3B91-175D-39323DC62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45D1F0-A61B-2EED-1D05-599F272F3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75BB79-887B-7B60-AEDB-771AC6429D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CC5588-5174-425A-82FD-56532AE7EDE7}" type="datetimeFigureOut">
              <a:rPr lang="en-IN" smtClean="0"/>
              <a:t>21-05-2026</a:t>
            </a:fld>
            <a:endParaRPr lang="en-IN"/>
          </a:p>
        </p:txBody>
      </p:sp>
      <p:sp>
        <p:nvSpPr>
          <p:cNvPr id="5" name="Footer Placeholder 4">
            <a:extLst>
              <a:ext uri="{FF2B5EF4-FFF2-40B4-BE49-F238E27FC236}">
                <a16:creationId xmlns:a16="http://schemas.microsoft.com/office/drawing/2014/main" id="{69087AA9-C4CC-C3B6-103B-9015766111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CC7330-D061-C336-BCDE-9E4F8B9009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A91471-96FF-437E-9C8F-3CE0CC89E485}" type="slidenum">
              <a:rPr lang="en-IN" smtClean="0"/>
              <a:t>‹#›</a:t>
            </a:fld>
            <a:endParaRPr lang="en-IN"/>
          </a:p>
        </p:txBody>
      </p:sp>
    </p:spTree>
    <p:extLst>
      <p:ext uri="{BB962C8B-B14F-4D97-AF65-F5344CB8AC3E}">
        <p14:creationId xmlns:p14="http://schemas.microsoft.com/office/powerpoint/2010/main" val="1005854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8717CE9-3DDC-C29C-5802-EF0607CC1C5B}"/>
              </a:ext>
            </a:extLst>
          </p:cNvPr>
          <p:cNvSpPr>
            <a:spLocks noGrp="1"/>
          </p:cNvSpPr>
          <p:nvPr>
            <p:ph type="subTitle" idx="1"/>
          </p:nvPr>
        </p:nvSpPr>
        <p:spPr>
          <a:xfrm>
            <a:off x="1524000" y="3283974"/>
            <a:ext cx="9144000" cy="865239"/>
          </a:xfrm>
        </p:spPr>
        <p:txBody>
          <a:bodyPr>
            <a:normAutofit/>
          </a:bodyPr>
          <a:lstStyle/>
          <a:p>
            <a:r>
              <a:rPr lang="en-US" sz="3600" dirty="0"/>
              <a:t>Skewness and Kurtosis </a:t>
            </a:r>
            <a:endParaRPr lang="en-IN" sz="3600" dirty="0"/>
          </a:p>
        </p:txBody>
      </p:sp>
    </p:spTree>
    <p:extLst>
      <p:ext uri="{BB962C8B-B14F-4D97-AF65-F5344CB8AC3E}">
        <p14:creationId xmlns:p14="http://schemas.microsoft.com/office/powerpoint/2010/main" val="1515803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BF09E1-D660-38B6-958A-35653AA01253}"/>
              </a:ext>
            </a:extLst>
          </p:cNvPr>
          <p:cNvPicPr>
            <a:picLocks noGrp="1" noChangeAspect="1"/>
          </p:cNvPicPr>
          <p:nvPr>
            <p:ph idx="1"/>
          </p:nvPr>
        </p:nvPicPr>
        <p:blipFill>
          <a:blip r:embed="rId2"/>
          <a:stretch>
            <a:fillRect/>
          </a:stretch>
        </p:blipFill>
        <p:spPr>
          <a:xfrm>
            <a:off x="586409" y="208615"/>
            <a:ext cx="10281616" cy="5983355"/>
          </a:xfrm>
        </p:spPr>
      </p:pic>
    </p:spTree>
    <p:extLst>
      <p:ext uri="{BB962C8B-B14F-4D97-AF65-F5344CB8AC3E}">
        <p14:creationId xmlns:p14="http://schemas.microsoft.com/office/powerpoint/2010/main" val="3921658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17552A-1672-82D5-B971-E7B555EB9C0A}"/>
              </a:ext>
            </a:extLst>
          </p:cNvPr>
          <p:cNvSpPr>
            <a:spLocks noGrp="1"/>
          </p:cNvSpPr>
          <p:nvPr>
            <p:ph idx="1"/>
          </p:nvPr>
        </p:nvSpPr>
        <p:spPr>
          <a:xfrm>
            <a:off x="838200" y="275303"/>
            <a:ext cx="10515600" cy="5901660"/>
          </a:xfrm>
        </p:spPr>
        <p:txBody>
          <a:bodyPr>
            <a:normAutofit fontScale="92500"/>
          </a:bodyPr>
          <a:lstStyle/>
          <a:p>
            <a:pPr algn="l" fontAlgn="base"/>
            <a:r>
              <a:rPr lang="en-US" b="1" i="0" dirty="0">
                <a:solidFill>
                  <a:srgbClr val="273239"/>
                </a:solidFill>
                <a:effectLst/>
                <a:latin typeface="Nunito" pitchFamily="2" charset="0"/>
              </a:rPr>
              <a:t>Skewness</a:t>
            </a:r>
            <a:r>
              <a:rPr lang="en-US" b="0" i="0" dirty="0">
                <a:solidFill>
                  <a:srgbClr val="273239"/>
                </a:solidFill>
                <a:effectLst/>
                <a:latin typeface="Nunito" pitchFamily="2" charset="0"/>
              </a:rPr>
              <a:t> is a statistical term and it is a way to estimate or measure the shape of a distribution.  It is an important statistical methodology that is used to estimate the asymmetrical behavior rather than computing frequency distribution. Skewness can be two types:</a:t>
            </a:r>
          </a:p>
          <a:p>
            <a:pPr algn="l" fontAlgn="base">
              <a:buFont typeface="Arial" panose="020B0604020202020204" pitchFamily="34" charset="0"/>
              <a:buChar char="•"/>
            </a:pPr>
            <a:r>
              <a:rPr lang="en-US" b="1" i="0" dirty="0">
                <a:solidFill>
                  <a:srgbClr val="273239"/>
                </a:solidFill>
                <a:effectLst/>
                <a:latin typeface="Nunito" pitchFamily="2" charset="0"/>
              </a:rPr>
              <a:t>Symmetrical: </a:t>
            </a:r>
            <a:r>
              <a:rPr lang="en-US" b="0" i="0" dirty="0">
                <a:solidFill>
                  <a:srgbClr val="273239"/>
                </a:solidFill>
                <a:effectLst/>
                <a:latin typeface="Nunito" pitchFamily="2" charset="0"/>
              </a:rPr>
              <a:t>A distribution can be called symmetric if it appears the same from the left and right from the center point.</a:t>
            </a:r>
          </a:p>
          <a:p>
            <a:pPr algn="l" fontAlgn="base">
              <a:buFont typeface="Arial" panose="020B0604020202020204" pitchFamily="34" charset="0"/>
              <a:buChar char="•"/>
            </a:pPr>
            <a:r>
              <a:rPr lang="en-US" b="1" i="0" dirty="0">
                <a:solidFill>
                  <a:srgbClr val="273239"/>
                </a:solidFill>
                <a:effectLst/>
                <a:latin typeface="Nunito" pitchFamily="2" charset="0"/>
              </a:rPr>
              <a:t>Asymmetrical: </a:t>
            </a:r>
            <a:r>
              <a:rPr lang="en-US" b="0" i="0" dirty="0">
                <a:solidFill>
                  <a:srgbClr val="273239"/>
                </a:solidFill>
                <a:effectLst/>
                <a:latin typeface="Nunito" pitchFamily="2" charset="0"/>
              </a:rPr>
              <a:t>A distribution can be called asymmetric if it doesn’t appear the same from the left and right from the center point.</a:t>
            </a:r>
          </a:p>
          <a:p>
            <a:pPr algn="l" fontAlgn="base"/>
            <a:r>
              <a:rPr lang="en-US" b="1" i="0" dirty="0">
                <a:solidFill>
                  <a:srgbClr val="273239"/>
                </a:solidFill>
                <a:effectLst/>
                <a:latin typeface="Nunito" pitchFamily="2" charset="0"/>
              </a:rPr>
              <a:t>Distribution on the basis of skewness value:</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Skewness = 0:</a:t>
            </a:r>
            <a:r>
              <a:rPr lang="en-US" b="0" i="0" dirty="0">
                <a:solidFill>
                  <a:srgbClr val="273239"/>
                </a:solidFill>
                <a:effectLst/>
                <a:latin typeface="Nunito" pitchFamily="2" charset="0"/>
              </a:rPr>
              <a:t> Then normally distributed.</a:t>
            </a:r>
          </a:p>
          <a:p>
            <a:pPr algn="l" fontAlgn="base">
              <a:buFont typeface="Arial" panose="020B0604020202020204" pitchFamily="34" charset="0"/>
              <a:buChar char="•"/>
            </a:pPr>
            <a:r>
              <a:rPr lang="en-US" b="1" i="0" dirty="0">
                <a:solidFill>
                  <a:srgbClr val="273239"/>
                </a:solidFill>
                <a:effectLst/>
                <a:latin typeface="Nunito" pitchFamily="2" charset="0"/>
              </a:rPr>
              <a:t>Skewness &gt; 0:</a:t>
            </a:r>
            <a:r>
              <a:rPr lang="en-US" b="0" i="0" dirty="0">
                <a:solidFill>
                  <a:srgbClr val="273239"/>
                </a:solidFill>
                <a:effectLst/>
                <a:latin typeface="Nunito" pitchFamily="2" charset="0"/>
              </a:rPr>
              <a:t> Then more weight in the left tail of the distribution.</a:t>
            </a:r>
          </a:p>
          <a:p>
            <a:pPr algn="l" fontAlgn="base">
              <a:buFont typeface="Arial" panose="020B0604020202020204" pitchFamily="34" charset="0"/>
              <a:buChar char="•"/>
            </a:pPr>
            <a:r>
              <a:rPr lang="en-US" b="1" i="0" dirty="0">
                <a:solidFill>
                  <a:srgbClr val="273239"/>
                </a:solidFill>
                <a:effectLst/>
                <a:latin typeface="Nunito" pitchFamily="2" charset="0"/>
              </a:rPr>
              <a:t>Skewness &lt; 0:</a:t>
            </a:r>
            <a:r>
              <a:rPr lang="en-US" b="0" i="0" dirty="0">
                <a:solidFill>
                  <a:srgbClr val="273239"/>
                </a:solidFill>
                <a:effectLst/>
                <a:latin typeface="Nunito" pitchFamily="2" charset="0"/>
              </a:rPr>
              <a:t> Then more weight in the right tail of the distribution.</a:t>
            </a:r>
          </a:p>
          <a:p>
            <a:endParaRPr lang="en-IN" dirty="0"/>
          </a:p>
        </p:txBody>
      </p:sp>
    </p:spTree>
    <p:extLst>
      <p:ext uri="{BB962C8B-B14F-4D97-AF65-F5344CB8AC3E}">
        <p14:creationId xmlns:p14="http://schemas.microsoft.com/office/powerpoint/2010/main" val="3186551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BC87A0-06E3-4A4E-DC07-5D2AD7C44624}"/>
              </a:ext>
            </a:extLst>
          </p:cNvPr>
          <p:cNvSpPr>
            <a:spLocks noGrp="1"/>
          </p:cNvSpPr>
          <p:nvPr>
            <p:ph idx="1"/>
          </p:nvPr>
        </p:nvSpPr>
        <p:spPr>
          <a:xfrm>
            <a:off x="838200" y="255639"/>
            <a:ext cx="10515600" cy="6430296"/>
          </a:xfrm>
        </p:spPr>
        <p:txBody>
          <a:bodyPr>
            <a:normAutofit/>
          </a:bodyPr>
          <a:lstStyle/>
          <a:p>
            <a:pPr algn="l" fontAlgn="base"/>
            <a:r>
              <a:rPr lang="en-US" b="1" i="0" dirty="0">
                <a:solidFill>
                  <a:srgbClr val="273239"/>
                </a:solidFill>
                <a:effectLst/>
                <a:latin typeface="Nunito" pitchFamily="2" charset="0"/>
              </a:rPr>
              <a:t>Kurtosis:</a:t>
            </a:r>
          </a:p>
          <a:p>
            <a:pPr algn="l" fontAlgn="base"/>
            <a:r>
              <a:rPr lang="en-US" b="0" i="0" dirty="0">
                <a:solidFill>
                  <a:srgbClr val="273239"/>
                </a:solidFill>
                <a:effectLst/>
                <a:latin typeface="Nunito" pitchFamily="2" charset="0"/>
              </a:rPr>
              <a:t>It is also a statistical term and an important characteristic of frequency distribution. It determines whether a distribution is heavy-tailed in respect of the normal distribution. It provides information about the shape of a frequency distribution.</a:t>
            </a:r>
          </a:p>
          <a:p>
            <a:pPr algn="l" fontAlgn="base"/>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kurtosis for normal distribution is equal to 3 : it is called as Mesokurtic</a:t>
            </a:r>
          </a:p>
          <a:p>
            <a:pPr algn="l" fontAlgn="base">
              <a:buFont typeface="Arial" panose="020B0604020202020204" pitchFamily="34" charset="0"/>
              <a:buChar char="•"/>
            </a:pP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For a distribution having kurtosis &lt; 3: It is called platykurtic</a:t>
            </a:r>
          </a:p>
          <a:p>
            <a:pPr marL="0" indent="0" algn="l" fontAlgn="base">
              <a:buNone/>
            </a:pP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For a distribution having kurtosis &gt; 3, It is called leptokurtic and it signifies that it tries to produce more outliers rather than the normal distribution.</a:t>
            </a:r>
          </a:p>
          <a:p>
            <a:endParaRPr lang="en-IN" dirty="0"/>
          </a:p>
        </p:txBody>
      </p:sp>
    </p:spTree>
    <p:extLst>
      <p:ext uri="{BB962C8B-B14F-4D97-AF65-F5344CB8AC3E}">
        <p14:creationId xmlns:p14="http://schemas.microsoft.com/office/powerpoint/2010/main" val="261616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distribution graph&#10;&#10;Description automatically generated">
            <a:extLst>
              <a:ext uri="{FF2B5EF4-FFF2-40B4-BE49-F238E27FC236}">
                <a16:creationId xmlns:a16="http://schemas.microsoft.com/office/drawing/2014/main" id="{0E3189E7-4EDE-8A21-307F-94948D672C5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3094" y="824948"/>
            <a:ext cx="9448305" cy="5352015"/>
          </a:xfrm>
          <a:prstGeom prst="rect">
            <a:avLst/>
          </a:prstGeom>
          <a:noFill/>
          <a:ln>
            <a:noFill/>
          </a:ln>
        </p:spPr>
      </p:pic>
    </p:spTree>
    <p:extLst>
      <p:ext uri="{BB962C8B-B14F-4D97-AF65-F5344CB8AC3E}">
        <p14:creationId xmlns:p14="http://schemas.microsoft.com/office/powerpoint/2010/main" val="401756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7815-3229-C2A4-0904-174339920EA9}"/>
              </a:ext>
            </a:extLst>
          </p:cNvPr>
          <p:cNvSpPr>
            <a:spLocks noGrp="1"/>
          </p:cNvSpPr>
          <p:nvPr>
            <p:ph type="title"/>
          </p:nvPr>
        </p:nvSpPr>
        <p:spPr>
          <a:xfrm>
            <a:off x="838200" y="365125"/>
            <a:ext cx="10515600" cy="460785"/>
          </a:xfrm>
        </p:spPr>
        <p:txBody>
          <a:bodyPr>
            <a:normAutofit fontScale="90000"/>
          </a:bodyPr>
          <a:lstStyle/>
          <a:p>
            <a:r>
              <a:rPr lang="en-US" dirty="0"/>
              <a:t>Calculation of skewness and kurtosis</a:t>
            </a:r>
            <a:endParaRPr lang="en-IN" dirty="0"/>
          </a:p>
        </p:txBody>
      </p:sp>
      <p:sp>
        <p:nvSpPr>
          <p:cNvPr id="3" name="Content Placeholder 2">
            <a:extLst>
              <a:ext uri="{FF2B5EF4-FFF2-40B4-BE49-F238E27FC236}">
                <a16:creationId xmlns:a16="http://schemas.microsoft.com/office/drawing/2014/main" id="{AAB2D8BB-5BE6-355A-511E-88158D63160E}"/>
              </a:ext>
            </a:extLst>
          </p:cNvPr>
          <p:cNvSpPr>
            <a:spLocks noGrp="1"/>
          </p:cNvSpPr>
          <p:nvPr>
            <p:ph idx="1"/>
          </p:nvPr>
        </p:nvSpPr>
        <p:spPr>
          <a:xfrm>
            <a:off x="838200" y="825910"/>
            <a:ext cx="10515600" cy="5801032"/>
          </a:xfrm>
        </p:spPr>
        <p:txBody>
          <a:bodyPr/>
          <a:lstStyle/>
          <a:p>
            <a:r>
              <a:rPr lang="en-US" b="1" i="0" dirty="0">
                <a:solidFill>
                  <a:srgbClr val="273239"/>
                </a:solidFill>
                <a:effectLst/>
                <a:latin typeface="Nunito" pitchFamily="2" charset="0"/>
              </a:rPr>
              <a:t>Step 1: </a:t>
            </a:r>
            <a:r>
              <a:rPr lang="en-US" b="0" i="0" dirty="0">
                <a:solidFill>
                  <a:srgbClr val="273239"/>
                </a:solidFill>
                <a:effectLst/>
                <a:latin typeface="Nunito" pitchFamily="2" charset="0"/>
              </a:rPr>
              <a:t>Importing SciPy library.</a:t>
            </a:r>
          </a:p>
          <a:p>
            <a:r>
              <a:rPr lang="en-IN" b="1" i="0" dirty="0">
                <a:solidFill>
                  <a:srgbClr val="273239"/>
                </a:solidFill>
                <a:effectLst/>
                <a:latin typeface="Nunito" pitchFamily="2" charset="0"/>
              </a:rPr>
              <a:t>Step 2:</a:t>
            </a:r>
            <a:r>
              <a:rPr lang="en-IN" b="0" i="0" dirty="0">
                <a:solidFill>
                  <a:srgbClr val="273239"/>
                </a:solidFill>
                <a:effectLst/>
                <a:latin typeface="Nunito" pitchFamily="2" charset="0"/>
              </a:rPr>
              <a:t> Create a dataset.</a:t>
            </a:r>
          </a:p>
          <a:p>
            <a:r>
              <a:rPr lang="en-US" b="1" i="0" dirty="0">
                <a:solidFill>
                  <a:srgbClr val="273239"/>
                </a:solidFill>
                <a:effectLst/>
                <a:latin typeface="Nunito" pitchFamily="2" charset="0"/>
              </a:rPr>
              <a:t>Step 3 </a:t>
            </a:r>
            <a:r>
              <a:rPr lang="en-US" b="0" i="0" dirty="0">
                <a:solidFill>
                  <a:srgbClr val="273239"/>
                </a:solidFill>
                <a:effectLst/>
                <a:latin typeface="Nunito" pitchFamily="2" charset="0"/>
              </a:rPr>
              <a:t>:Computing skewness of the dataset by using skew()function</a:t>
            </a:r>
          </a:p>
          <a:p>
            <a:pPr algn="l" fontAlgn="base"/>
            <a:r>
              <a:rPr lang="en-IN" b="1" i="1" dirty="0">
                <a:solidFill>
                  <a:srgbClr val="273239"/>
                </a:solidFill>
                <a:effectLst/>
                <a:latin typeface="Nunito" pitchFamily="2" charset="0"/>
              </a:rPr>
              <a:t>Syntax:</a:t>
            </a:r>
            <a:endParaRPr lang="en-IN" b="0" i="1" dirty="0">
              <a:solidFill>
                <a:srgbClr val="273239"/>
              </a:solidFill>
              <a:effectLst/>
              <a:latin typeface="Nunito" pitchFamily="2" charset="0"/>
            </a:endParaRPr>
          </a:p>
          <a:p>
            <a:pPr algn="l" fontAlgn="base"/>
            <a:r>
              <a:rPr lang="en-IN" b="0" i="1" dirty="0" err="1">
                <a:solidFill>
                  <a:srgbClr val="273239"/>
                </a:solidFill>
                <a:effectLst/>
                <a:latin typeface="Nunito" pitchFamily="2" charset="0"/>
              </a:rPr>
              <a:t>scipy.stats.skew</a:t>
            </a:r>
            <a:r>
              <a:rPr lang="en-IN" b="0" i="1" dirty="0">
                <a:solidFill>
                  <a:srgbClr val="273239"/>
                </a:solidFill>
                <a:effectLst/>
                <a:latin typeface="Nunito" pitchFamily="2" charset="0"/>
              </a:rPr>
              <a:t>(array, axis=0, bias=True)</a:t>
            </a:r>
          </a:p>
          <a:p>
            <a:pPr algn="l" fontAlgn="base">
              <a:buFont typeface="Arial" panose="020B0604020202020204" pitchFamily="34" charset="0"/>
              <a:buChar char="•"/>
            </a:pPr>
            <a:r>
              <a:rPr lang="en-US" b="0" i="1" dirty="0">
                <a:solidFill>
                  <a:srgbClr val="273239"/>
                </a:solidFill>
                <a:effectLst/>
                <a:latin typeface="Nunito" pitchFamily="2" charset="0"/>
              </a:rPr>
              <a:t>array: It represents the input array (or object) containing elements.</a:t>
            </a:r>
          </a:p>
          <a:p>
            <a:pPr algn="l" fontAlgn="base">
              <a:buFont typeface="Arial" panose="020B0604020202020204" pitchFamily="34" charset="0"/>
              <a:buChar char="•"/>
            </a:pPr>
            <a:r>
              <a:rPr lang="en-US" b="0" i="1" dirty="0">
                <a:solidFill>
                  <a:srgbClr val="273239"/>
                </a:solidFill>
                <a:effectLst/>
                <a:latin typeface="Nunito" pitchFamily="2" charset="0"/>
              </a:rPr>
              <a:t>axis: It signifies the axis along which we want to find the skewness value (By default axis = 0).</a:t>
            </a:r>
          </a:p>
          <a:p>
            <a:pPr algn="l" fontAlgn="base">
              <a:buFont typeface="Arial" panose="020B0604020202020204" pitchFamily="34" charset="0"/>
              <a:buChar char="•"/>
            </a:pPr>
            <a:r>
              <a:rPr lang="en-US" b="0" i="1" dirty="0">
                <a:solidFill>
                  <a:srgbClr val="273239"/>
                </a:solidFill>
                <a:effectLst/>
                <a:latin typeface="Nunito" pitchFamily="2" charset="0"/>
              </a:rPr>
              <a:t>bias = False: Calculations are corrected to statistical bias.</a:t>
            </a:r>
          </a:p>
          <a:p>
            <a:pPr algn="l" fontAlgn="base"/>
            <a:endParaRPr lang="en-IN" b="0" i="1" dirty="0">
              <a:solidFill>
                <a:srgbClr val="273239"/>
              </a:solidFill>
              <a:effectLst/>
              <a:latin typeface="Nunito" pitchFamily="2" charset="0"/>
            </a:endParaRPr>
          </a:p>
          <a:p>
            <a:pPr marL="0" indent="0">
              <a:buNone/>
            </a:pPr>
            <a:endParaRPr lang="en-US" b="0" i="0" dirty="0">
              <a:solidFill>
                <a:srgbClr val="273239"/>
              </a:solidFill>
              <a:effectLst/>
              <a:latin typeface="Nunito" pitchFamily="2" charset="0"/>
            </a:endParaRPr>
          </a:p>
          <a:p>
            <a:endParaRPr lang="en-US" b="0" i="0" dirty="0">
              <a:solidFill>
                <a:srgbClr val="273239"/>
              </a:solidFill>
              <a:effectLst/>
              <a:latin typeface="Nunito" pitchFamily="2" charset="0"/>
            </a:endParaRPr>
          </a:p>
          <a:p>
            <a:pPr marL="0" indent="0">
              <a:buNone/>
            </a:pPr>
            <a:endParaRPr lang="en-IN" dirty="0"/>
          </a:p>
        </p:txBody>
      </p:sp>
    </p:spTree>
    <p:extLst>
      <p:ext uri="{BB962C8B-B14F-4D97-AF65-F5344CB8AC3E}">
        <p14:creationId xmlns:p14="http://schemas.microsoft.com/office/powerpoint/2010/main" val="324883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E54216-2E8B-EFE5-E02A-FA142A3969D6}"/>
              </a:ext>
            </a:extLst>
          </p:cNvPr>
          <p:cNvPicPr>
            <a:picLocks noGrp="1" noChangeAspect="1"/>
          </p:cNvPicPr>
          <p:nvPr>
            <p:ph idx="1"/>
          </p:nvPr>
        </p:nvPicPr>
        <p:blipFill>
          <a:blip r:embed="rId2"/>
          <a:stretch>
            <a:fillRect/>
          </a:stretch>
        </p:blipFill>
        <p:spPr>
          <a:xfrm>
            <a:off x="1262271" y="805071"/>
            <a:ext cx="8648492" cy="4744036"/>
          </a:xfrm>
        </p:spPr>
      </p:pic>
    </p:spTree>
    <p:extLst>
      <p:ext uri="{BB962C8B-B14F-4D97-AF65-F5344CB8AC3E}">
        <p14:creationId xmlns:p14="http://schemas.microsoft.com/office/powerpoint/2010/main" val="1503069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4EAF14-20DC-5EB5-9222-E0B3CBCC1BE8}"/>
              </a:ext>
            </a:extLst>
          </p:cNvPr>
          <p:cNvSpPr>
            <a:spLocks noGrp="1"/>
          </p:cNvSpPr>
          <p:nvPr>
            <p:ph idx="1"/>
          </p:nvPr>
        </p:nvSpPr>
        <p:spPr>
          <a:xfrm>
            <a:off x="838200" y="365125"/>
            <a:ext cx="10515600" cy="5811838"/>
          </a:xfrm>
        </p:spPr>
        <p:txBody>
          <a:bodyPr/>
          <a:lstStyle/>
          <a:p>
            <a:r>
              <a:rPr lang="en-US" b="1" i="0" dirty="0">
                <a:solidFill>
                  <a:srgbClr val="273239"/>
                </a:solidFill>
                <a:effectLst/>
                <a:latin typeface="Nunito" pitchFamily="2" charset="0"/>
              </a:rPr>
              <a:t>Step 4:</a:t>
            </a:r>
            <a:r>
              <a:rPr lang="en-US" b="0" i="0" dirty="0">
                <a:solidFill>
                  <a:srgbClr val="273239"/>
                </a:solidFill>
                <a:effectLst/>
                <a:latin typeface="Nunito" pitchFamily="2" charset="0"/>
              </a:rPr>
              <a:t> Computing kurtosis of the dataset by using kurtosis().</a:t>
            </a:r>
          </a:p>
          <a:p>
            <a:pPr algn="l" fontAlgn="base"/>
            <a:r>
              <a:rPr lang="en-IN" b="1" i="1" dirty="0">
                <a:solidFill>
                  <a:srgbClr val="273239"/>
                </a:solidFill>
                <a:effectLst/>
                <a:latin typeface="Nunito" pitchFamily="2" charset="0"/>
              </a:rPr>
              <a:t>Syntax:</a:t>
            </a:r>
            <a:endParaRPr lang="en-IN" b="0" i="1" dirty="0">
              <a:solidFill>
                <a:srgbClr val="273239"/>
              </a:solidFill>
              <a:effectLst/>
              <a:latin typeface="Nunito" pitchFamily="2" charset="0"/>
            </a:endParaRPr>
          </a:p>
          <a:p>
            <a:pPr algn="l" fontAlgn="base"/>
            <a:r>
              <a:rPr lang="en-IN" b="0" i="1" dirty="0" err="1">
                <a:solidFill>
                  <a:srgbClr val="273239"/>
                </a:solidFill>
                <a:effectLst/>
                <a:latin typeface="Nunito" pitchFamily="2" charset="0"/>
              </a:rPr>
              <a:t>scipy.stats.kurtosis</a:t>
            </a:r>
            <a:r>
              <a:rPr lang="en-IN" b="0" i="1" dirty="0">
                <a:solidFill>
                  <a:srgbClr val="273239"/>
                </a:solidFill>
                <a:effectLst/>
                <a:latin typeface="Nunito" pitchFamily="2" charset="0"/>
              </a:rPr>
              <a:t>(array, axis=0, fisher=True, bias=True)</a:t>
            </a:r>
          </a:p>
          <a:p>
            <a:endParaRPr lang="en-IN" dirty="0"/>
          </a:p>
        </p:txBody>
      </p:sp>
      <p:pic>
        <p:nvPicPr>
          <p:cNvPr id="6" name="Picture 5">
            <a:extLst>
              <a:ext uri="{FF2B5EF4-FFF2-40B4-BE49-F238E27FC236}">
                <a16:creationId xmlns:a16="http://schemas.microsoft.com/office/drawing/2014/main" id="{BE54BF9C-971B-F4B4-B6CB-07130FE08136}"/>
              </a:ext>
            </a:extLst>
          </p:cNvPr>
          <p:cNvPicPr>
            <a:picLocks noChangeAspect="1"/>
          </p:cNvPicPr>
          <p:nvPr/>
        </p:nvPicPr>
        <p:blipFill>
          <a:blip r:embed="rId2"/>
          <a:stretch>
            <a:fillRect/>
          </a:stretch>
        </p:blipFill>
        <p:spPr>
          <a:xfrm>
            <a:off x="1425023" y="2495688"/>
            <a:ext cx="9163050" cy="2933700"/>
          </a:xfrm>
          <a:prstGeom prst="rect">
            <a:avLst/>
          </a:prstGeom>
        </p:spPr>
      </p:pic>
    </p:spTree>
    <p:extLst>
      <p:ext uri="{BB962C8B-B14F-4D97-AF65-F5344CB8AC3E}">
        <p14:creationId xmlns:p14="http://schemas.microsoft.com/office/powerpoint/2010/main" val="1923639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D23695-BF3E-2222-B76E-D7356F03BE0F}"/>
              </a:ext>
            </a:extLst>
          </p:cNvPr>
          <p:cNvPicPr>
            <a:picLocks noGrp="1" noChangeAspect="1"/>
          </p:cNvPicPr>
          <p:nvPr>
            <p:ph idx="1"/>
          </p:nvPr>
        </p:nvPicPr>
        <p:blipFill>
          <a:blip r:embed="rId2"/>
          <a:stretch>
            <a:fillRect/>
          </a:stretch>
        </p:blipFill>
        <p:spPr>
          <a:xfrm>
            <a:off x="1376362" y="2467769"/>
            <a:ext cx="9439275" cy="3067050"/>
          </a:xfrm>
        </p:spPr>
      </p:pic>
    </p:spTree>
    <p:extLst>
      <p:ext uri="{BB962C8B-B14F-4D97-AF65-F5344CB8AC3E}">
        <p14:creationId xmlns:p14="http://schemas.microsoft.com/office/powerpoint/2010/main" val="344466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9A3875-B9E6-C717-583C-20D3032C5F3B}"/>
              </a:ext>
            </a:extLst>
          </p:cNvPr>
          <p:cNvSpPr>
            <a:spLocks noGrp="1"/>
          </p:cNvSpPr>
          <p:nvPr>
            <p:ph idx="1"/>
          </p:nvPr>
        </p:nvSpPr>
        <p:spPr>
          <a:xfrm>
            <a:off x="838200" y="235974"/>
            <a:ext cx="10515600" cy="5940989"/>
          </a:xfrm>
        </p:spPr>
        <p:txBody>
          <a:bodyPr/>
          <a:lstStyle/>
          <a:p>
            <a:r>
              <a:rPr lang="en-IN" b="1" i="0" dirty="0">
                <a:solidFill>
                  <a:srgbClr val="273239"/>
                </a:solidFill>
                <a:effectLst/>
                <a:latin typeface="Nunito" pitchFamily="2" charset="0"/>
              </a:rPr>
              <a:t>Univariate Analysis</a:t>
            </a:r>
          </a:p>
          <a:p>
            <a:pPr marL="0" indent="0">
              <a:buNone/>
            </a:pPr>
            <a:r>
              <a:rPr lang="en-US" b="0" i="0" dirty="0">
                <a:solidFill>
                  <a:srgbClr val="273239"/>
                </a:solidFill>
                <a:effectLst/>
                <a:latin typeface="Nunito" pitchFamily="2" charset="0"/>
              </a:rPr>
              <a:t>Univariate Analysis is a type of data visualization where we visualize only a single variable at a time. Univariate Analysis helps us to analyze the distribution of the variable present in the data so that we can perform further analysis.</a:t>
            </a:r>
          </a:p>
          <a:p>
            <a:pPr marL="0" indent="0">
              <a:buNone/>
            </a:pPr>
            <a:endParaRPr lang="en-US" dirty="0">
              <a:solidFill>
                <a:srgbClr val="273239"/>
              </a:solidFill>
              <a:latin typeface="Nunito" pitchFamily="2" charset="0"/>
            </a:endParaRPr>
          </a:p>
          <a:p>
            <a:pPr marL="0" indent="0">
              <a:buNone/>
            </a:pPr>
            <a:r>
              <a:rPr lang="en-IN" b="1" i="0" dirty="0" err="1">
                <a:solidFill>
                  <a:srgbClr val="273239"/>
                </a:solidFill>
                <a:effectLst/>
                <a:latin typeface="Nunito" pitchFamily="2" charset="0"/>
              </a:rPr>
              <a:t>Histplot</a:t>
            </a:r>
            <a:r>
              <a:rPr lang="en-IN" b="1" dirty="0">
                <a:solidFill>
                  <a:srgbClr val="273239"/>
                </a:solidFill>
                <a:latin typeface="Nunito" pitchFamily="2" charset="0"/>
              </a:rPr>
              <a:t>(</a:t>
            </a:r>
            <a:r>
              <a:rPr lang="en-IN" b="1" dirty="0" err="1">
                <a:solidFill>
                  <a:srgbClr val="273239"/>
                </a:solidFill>
                <a:latin typeface="Nunito" pitchFamily="2" charset="0"/>
              </a:rPr>
              <a:t>df</a:t>
            </a:r>
            <a:r>
              <a:rPr lang="en-IN" b="1" dirty="0">
                <a:solidFill>
                  <a:srgbClr val="273239"/>
                </a:solidFill>
                <a:latin typeface="Nunito" pitchFamily="2" charset="0"/>
              </a:rPr>
              <a:t>[‘data science’]</a:t>
            </a:r>
            <a:endParaRPr lang="en-IN" b="1"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3669704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76BDB-30E3-99CE-C933-AE20A116C865}"/>
              </a:ext>
            </a:extLst>
          </p:cNvPr>
          <p:cNvSpPr>
            <a:spLocks noGrp="1"/>
          </p:cNvSpPr>
          <p:nvPr>
            <p:ph idx="1"/>
          </p:nvPr>
        </p:nvSpPr>
        <p:spPr>
          <a:xfrm>
            <a:off x="838200" y="314632"/>
            <a:ext cx="10515600" cy="5862331"/>
          </a:xfrm>
        </p:spPr>
        <p:txBody>
          <a:bodyPr/>
          <a:lstStyle/>
          <a:p>
            <a:pPr algn="l" fontAlgn="base"/>
            <a:r>
              <a:rPr lang="en-US" b="1" i="0" dirty="0">
                <a:solidFill>
                  <a:srgbClr val="273239"/>
                </a:solidFill>
                <a:effectLst/>
                <a:latin typeface="Nunito" pitchFamily="2" charset="0"/>
              </a:rPr>
              <a:t>Bivariate analysis</a:t>
            </a:r>
          </a:p>
          <a:p>
            <a:pPr algn="l" fontAlgn="base"/>
            <a:r>
              <a:rPr lang="en-US" b="0" i="0" dirty="0">
                <a:solidFill>
                  <a:srgbClr val="273239"/>
                </a:solidFill>
                <a:effectLst/>
                <a:latin typeface="Nunito" pitchFamily="2" charset="0"/>
              </a:rPr>
              <a:t>Bivariate analysis is the simultaneous analysis of two variables. It explores the concept of the relationship between two variable whether there exists an association and the strength of this association or whether there are differences between two variables and the significance of these differences.</a:t>
            </a:r>
          </a:p>
          <a:p>
            <a:endParaRPr lang="en-IN" dirty="0"/>
          </a:p>
        </p:txBody>
      </p:sp>
    </p:spTree>
    <p:extLst>
      <p:ext uri="{BB962C8B-B14F-4D97-AF65-F5344CB8AC3E}">
        <p14:creationId xmlns:p14="http://schemas.microsoft.com/office/powerpoint/2010/main" val="1954654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467</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Nunito</vt:lpstr>
      <vt:lpstr>Office Theme</vt:lpstr>
      <vt:lpstr>PowerPoint Presentation</vt:lpstr>
      <vt:lpstr>PowerPoint Presentation</vt:lpstr>
      <vt:lpstr>PowerPoint Presentation</vt:lpstr>
      <vt:lpstr>PowerPoint Presentation</vt:lpstr>
      <vt:lpstr>PowerPoint Presentation</vt:lpstr>
      <vt:lpstr>Calculation of skewness and kurtosis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sunanda nalajala</dc:creator>
  <cp:lastModifiedBy>sunanda nalajala</cp:lastModifiedBy>
  <cp:revision>3</cp:revision>
  <dcterms:created xsi:type="dcterms:W3CDTF">2023-11-28T04:41:02Z</dcterms:created>
  <dcterms:modified xsi:type="dcterms:W3CDTF">2026-05-21T03:50:55Z</dcterms:modified>
</cp:coreProperties>
</file>