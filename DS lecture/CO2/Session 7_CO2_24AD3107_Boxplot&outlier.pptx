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9"/>
  </p:notesMasterIdLst>
  <p:sldIdLst>
    <p:sldId id="364" r:id="rId2"/>
    <p:sldId id="365" r:id="rId3"/>
    <p:sldId id="366" r:id="rId4"/>
    <p:sldId id="299" r:id="rId5"/>
    <p:sldId id="300" r:id="rId6"/>
    <p:sldId id="402" r:id="rId7"/>
    <p:sldId id="403" r:id="rId8"/>
    <p:sldId id="301" r:id="rId9"/>
    <p:sldId id="288" r:id="rId10"/>
    <p:sldId id="287" r:id="rId11"/>
    <p:sldId id="289" r:id="rId12"/>
    <p:sldId id="290" r:id="rId13"/>
    <p:sldId id="291" r:id="rId14"/>
    <p:sldId id="292" r:id="rId15"/>
    <p:sldId id="293" r:id="rId16"/>
    <p:sldId id="400" r:id="rId17"/>
    <p:sldId id="40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71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2385BB-1C1E-4CFB-8DA9-47E88EC3EE48}" type="datetimeFigureOut">
              <a:rPr lang="en-IN" smtClean="0"/>
              <a:t>31-08-2026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04E726-5613-41E6-8224-3BE6D87DFA57}" type="slidenum">
              <a:rPr lang="en-IN" smtClean="0"/>
              <a:t>‹#›</a:t>
            </a:fld>
            <a:endParaRPr lang="en-IN"/>
          </a:p>
        </p:txBody>
      </p:sp>
    </p:spTree>
    <p:extLst>
      <p:ext uri="{BB962C8B-B14F-4D97-AF65-F5344CB8AC3E}">
        <p14:creationId xmlns:p14="http://schemas.microsoft.com/office/powerpoint/2010/main" val="4130035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12"/>
          </p:nvPr>
        </p:nvSpPr>
        <p:spPr>
          <a:xfrm>
            <a:off x="1437664" y="798973"/>
            <a:ext cx="811019" cy="503578"/>
          </a:xfrm>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311388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160064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591335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30587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8/31/2026</a:t>
            </a:fld>
            <a:endParaRPr lang="en-US"/>
          </a:p>
        </p:txBody>
      </p:sp>
      <p:sp>
        <p:nvSpPr>
          <p:cNvPr id="9" name="Slide Number Placeholder 8"/>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41605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Slide Number Placeholder 4"/>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4123039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8/31/2026</a:t>
            </a:fld>
            <a:endParaRPr lang="en-US"/>
          </a:p>
        </p:txBody>
      </p:sp>
      <p:sp>
        <p:nvSpPr>
          <p:cNvPr id="4" name="Slide Number Placeholder 3"/>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4172220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21179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D8BD707-D9CF-40AE-B4C6-C98DA3205C09}" type="datetimeFigureOut">
              <a:rPr lang="en-US" smtClean="0"/>
              <a:pPr/>
              <a:t>8/31/2026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12322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298089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916420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Click icon to add picture</a:t>
            </a:r>
            <a:endParaRPr/>
          </a:p>
        </p:txBody>
      </p:sp>
    </p:spTree>
    <p:extLst>
      <p:ext uri="{BB962C8B-B14F-4D97-AF65-F5344CB8AC3E}">
        <p14:creationId xmlns:p14="http://schemas.microsoft.com/office/powerpoint/2010/main" val="2362687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pPr marL="109855">
              <a:lnSpc>
                <a:spcPts val="1070"/>
              </a:lnSpc>
            </a:pPr>
            <a:fld id="{81D60167-4931-47E6-BA6A-407CBD079E47}" type="slidenum">
              <a:rPr lang="en-IN" smtClean="0"/>
              <a:pPr marL="109855">
                <a:lnSpc>
                  <a:spcPts val="1070"/>
                </a:lnSpc>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201169384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hemeOverride" Target="../theme/themeOverride5.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11.xml.rels><?xml version="1.0" encoding="UTF-8" standalone="yes"?>
<Relationships xmlns="http://schemas.openxmlformats.org/package/2006/relationships"><Relationship Id="rId3" Type="http://schemas.openxmlformats.org/officeDocument/2006/relationships/hyperlink" Target="https://www.geeksforgeeks.org/interquartile-range-iqr/" TargetMode="External"/><Relationship Id="rId2" Type="http://schemas.openxmlformats.org/officeDocument/2006/relationships/slideLayout" Target="../slideLayouts/slideLayout2.xml"/><Relationship Id="rId1" Type="http://schemas.openxmlformats.org/officeDocument/2006/relationships/themeOverride" Target="../theme/themeOverride8.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hemeOverride" Target="../theme/themeOverr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75;p16">
            <a:extLst>
              <a:ext uri="{FF2B5EF4-FFF2-40B4-BE49-F238E27FC236}">
                <a16:creationId xmlns:a16="http://schemas.microsoft.com/office/drawing/2014/main" id="{CB69EC99-FFAF-B3A6-842B-B510C0EAB741}"/>
              </a:ext>
            </a:extLst>
          </p:cNvPr>
          <p:cNvSpPr txBox="1"/>
          <p:nvPr/>
        </p:nvSpPr>
        <p:spPr>
          <a:xfrm>
            <a:off x="2971800" y="762000"/>
            <a:ext cx="5650523" cy="707846"/>
          </a:xfrm>
          <a:prstGeom prst="rect">
            <a:avLst/>
          </a:prstGeom>
          <a:noFill/>
          <a:ln>
            <a:noFill/>
          </a:ln>
          <a:effectLst/>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00B0F0"/>
                </a:solidFill>
                <a:effectLst/>
                <a:uLnTx/>
                <a:uFillTx/>
                <a:latin typeface="Gill Sans MT"/>
                <a:ea typeface="+mn-ea"/>
                <a:cs typeface="Poppins" pitchFamily="2" charset="77"/>
              </a:rPr>
              <a:t>Department of </a:t>
            </a:r>
            <a:r>
              <a:rPr lang="en-US" sz="4000" dirty="0">
                <a:solidFill>
                  <a:srgbClr val="00B0F0"/>
                </a:solidFill>
                <a:latin typeface="Gill Sans MT"/>
                <a:cs typeface="Poppins" pitchFamily="2" charset="77"/>
              </a:rPr>
              <a:t>CSE</a:t>
            </a:r>
            <a:endParaRPr kumimoji="0" lang="en-US" sz="4000" b="0" i="0" u="none" strike="noStrike" kern="1200" cap="none" spc="0" normalizeH="0" baseline="0" noProof="0" dirty="0">
              <a:ln>
                <a:noFill/>
              </a:ln>
              <a:solidFill>
                <a:srgbClr val="00B0F0"/>
              </a:solidFill>
              <a:effectLst/>
              <a:uLnTx/>
              <a:uFillTx/>
              <a:latin typeface="Gill Sans MT"/>
              <a:ea typeface="+mn-ea"/>
              <a:cs typeface="Poppins" pitchFamily="2" charset="77"/>
            </a:endParaRPr>
          </a:p>
        </p:txBody>
      </p:sp>
      <p:sp>
        <p:nvSpPr>
          <p:cNvPr id="6" name="Google Shape;476;p16">
            <a:extLst>
              <a:ext uri="{FF2B5EF4-FFF2-40B4-BE49-F238E27FC236}">
                <a16:creationId xmlns:a16="http://schemas.microsoft.com/office/drawing/2014/main" id="{84A891A9-D46F-5E9B-65D6-C64F832A0362}"/>
              </a:ext>
            </a:extLst>
          </p:cNvPr>
          <p:cNvSpPr txBox="1"/>
          <p:nvPr/>
        </p:nvSpPr>
        <p:spPr>
          <a:xfrm>
            <a:off x="1447800" y="2090192"/>
            <a:ext cx="8218565" cy="2677616"/>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rPr>
              <a:t>COURSE NAME: Data science</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all" spc="0" normalizeH="0" baseline="0" noProof="0" dirty="0">
                <a:ln/>
                <a:solidFill>
                  <a:srgbClr val="00B0F0"/>
                </a:solidFill>
                <a:effectLst/>
                <a:uLnTx/>
                <a:uFillTx/>
                <a:latin typeface="Gill Sans MT"/>
                <a:ea typeface="+mn-ea"/>
                <a:cs typeface="Poppins" panose="00000500000000000000" pitchFamily="2" charset="0"/>
                <a:sym typeface="BioRhyme ExtraBold"/>
              </a:rPr>
              <a:t>COURSE CODE: 24AD3107</a:t>
            </a:r>
            <a:r>
              <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rPr>
              <a:t>	</a:t>
            </a:r>
            <a:endParaRPr kumimoji="0" lang="en-US" sz="2000" b="1" i="0" u="none" strike="noStrike" kern="1200" cap="none" spc="0" normalizeH="0" baseline="0" noProof="0" dirty="0">
              <a:ln>
                <a:noFill/>
              </a:ln>
              <a:solidFill>
                <a:prstClr val="white">
                  <a:lumMod val="50000"/>
                </a:prstClr>
              </a:solidFill>
              <a:effectLst/>
              <a:uLnTx/>
              <a:uFillTx/>
              <a:latin typeface="Gill Sans MT"/>
              <a:ea typeface="BioRhyme ExtraBold"/>
              <a:cs typeface="Poppins" panose="00000500000000000000" pitchFamily="2" charset="0"/>
              <a:sym typeface="BioRhyme ExtraBold"/>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lumMod val="50000"/>
                </a:prstClr>
              </a:solidFill>
              <a:effectLst/>
              <a:uLnTx/>
              <a:uFillTx/>
              <a:latin typeface="Gill Sans MT"/>
              <a:ea typeface="BioRhyme ExtraBold"/>
              <a:cs typeface="Poppins" panose="00000500000000000000" pitchFamily="2" charset="0"/>
              <a:sym typeface="BioRhyme ExtraBold"/>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lumMod val="50000"/>
                  </a:prstClr>
                </a:solidFill>
                <a:effectLst/>
                <a:uLnTx/>
                <a:uFillTx/>
                <a:latin typeface="Gill Sans MT"/>
                <a:ea typeface="BioRhyme ExtraBold"/>
                <a:cs typeface="Poppins" panose="00000500000000000000" pitchFamily="2" charset="0"/>
                <a:sym typeface="BioRhyme ExtraBold"/>
              </a:rPr>
              <a:t>Topic: </a:t>
            </a:r>
          </a:p>
          <a:p>
            <a:pPr lvl="0" algn="ctr" defTabSz="457200"/>
            <a:r>
              <a:rPr kumimoji="0" lang="en-US" sz="3200" b="0" i="0" u="none" strike="noStrike" kern="1200" cap="none" spc="0" normalizeH="0" baseline="0" noProof="0" dirty="0">
                <a:ln>
                  <a:noFill/>
                </a:ln>
                <a:solidFill>
                  <a:prstClr val="black"/>
                </a:solidFill>
                <a:effectLst/>
                <a:uLnTx/>
                <a:uFillTx/>
                <a:latin typeface="Gill Sans MT"/>
                <a:ea typeface="+mn-ea"/>
                <a:cs typeface="+mn-cs"/>
              </a:rPr>
              <a:t>Box Plots and Outlier Analysis</a:t>
            </a:r>
            <a:endPar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endParaRPr>
          </a:p>
        </p:txBody>
      </p:sp>
      <p:sp>
        <p:nvSpPr>
          <p:cNvPr id="7" name="Google Shape;502;p17">
            <a:extLst>
              <a:ext uri="{FF2B5EF4-FFF2-40B4-BE49-F238E27FC236}">
                <a16:creationId xmlns:a16="http://schemas.microsoft.com/office/drawing/2014/main" id="{A5120A7A-ED85-153C-EE7C-2FEB2D482089}"/>
              </a:ext>
            </a:extLst>
          </p:cNvPr>
          <p:cNvSpPr/>
          <p:nvPr/>
        </p:nvSpPr>
        <p:spPr>
          <a:xfrm>
            <a:off x="4876800" y="541020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Gill Sans MT"/>
                <a:ea typeface="Calibri"/>
                <a:cs typeface="Poppins" panose="00000500000000000000" pitchFamily="2" charset="0"/>
                <a:sym typeface="Calibri"/>
              </a:rPr>
              <a:t>Session - 7</a:t>
            </a:r>
            <a:endParaRPr kumimoji="0" sz="2800" b="1" i="0" u="none" strike="noStrike" kern="1200" cap="none" spc="0" normalizeH="0" baseline="0" noProof="0" dirty="0">
              <a:ln>
                <a:noFill/>
              </a:ln>
              <a:solidFill>
                <a:prstClr val="white"/>
              </a:solidFill>
              <a:effectLst/>
              <a:uLnTx/>
              <a:uFillTx/>
              <a:latin typeface="Gill Sans MT"/>
              <a:ea typeface="Calibri"/>
              <a:cs typeface="Poppins" panose="00000500000000000000" pitchFamily="2" charset="0"/>
              <a:sym typeface="Calibri"/>
            </a:endParaRPr>
          </a:p>
        </p:txBody>
      </p:sp>
    </p:spTree>
    <p:extLst>
      <p:ext uri="{BB962C8B-B14F-4D97-AF65-F5344CB8AC3E}">
        <p14:creationId xmlns:p14="http://schemas.microsoft.com/office/powerpoint/2010/main" val="469216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376488"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110343" y="689854"/>
            <a:ext cx="10731286" cy="42678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Poppins"/>
                <a:ea typeface="+mn-ea"/>
                <a:cs typeface="Poppins"/>
              </a:rPr>
              <a:t>To familiarize students with the basic concept of  Box plots and Outliers.</a:t>
            </a: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449514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9982200" cy="519116"/>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lvl="0" defTabSz="457200">
              <a:lnSpc>
                <a:spcPct val="200000"/>
              </a:lnSpc>
            </a:pPr>
            <a:r>
              <a:rPr kumimoji="0" lang="en-US" sz="1600" b="0" i="0" u="none" strike="noStrike" kern="1200" cap="none" spc="0" normalizeH="0" baseline="0" noProof="0" dirty="0">
                <a:ln>
                  <a:noFill/>
                </a:ln>
                <a:solidFill>
                  <a:prstClr val="black"/>
                </a:solidFill>
                <a:effectLst/>
                <a:uLnTx/>
                <a:uFillTx/>
                <a:latin typeface="Poppins"/>
                <a:ea typeface="+mn-ea"/>
                <a:cs typeface="Poppins"/>
              </a:rPr>
              <a:t>This Session is designed to: </a:t>
            </a:r>
            <a:r>
              <a:rPr lang="en-US" sz="1600" dirty="0">
                <a:solidFill>
                  <a:prstClr val="black"/>
                </a:solidFill>
                <a:latin typeface="Poppins"/>
                <a:cs typeface="Poppins"/>
              </a:rPr>
              <a:t>Introduction to Box Plots and Finding Outliers.</a:t>
            </a:r>
            <a:endParaRPr kumimoji="0" lang="en-US" sz="1600" b="0" i="0" u="none" strike="noStrike" kern="1200" cap="none" spc="0" normalizeH="0" baseline="0" noProof="0" dirty="0">
              <a:ln>
                <a:noFill/>
              </a:ln>
              <a:solidFill>
                <a:prstClr val="black"/>
              </a:solidFill>
              <a:effectLst/>
              <a:uLnTx/>
              <a:uFillTx/>
              <a:latin typeface="Poppins"/>
              <a:ea typeface="+mn-ea"/>
              <a:cs typeface="Poppins"/>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47684" y="4863626"/>
            <a:ext cx="9906000" cy="1000787"/>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marL="0" marR="0" lvl="0" indent="0" algn="l" defTabSz="457200" rtl="0" eaLnBrk="1" fontAlgn="auto" latinLnBrk="0" hangingPunct="1">
              <a:lnSpc>
                <a:spcPct val="2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a:ea typeface="+mn-ea"/>
                <a:cs typeface="Arial"/>
              </a:rPr>
              <a:t>At the end of this session, you should be able to: have knowledge on creating Box Plots and detecting outliers</a:t>
            </a:r>
          </a:p>
        </p:txBody>
      </p:sp>
    </p:spTree>
    <p:extLst>
      <p:ext uri="{BB962C8B-B14F-4D97-AF65-F5344CB8AC3E}">
        <p14:creationId xmlns:p14="http://schemas.microsoft.com/office/powerpoint/2010/main" val="134585469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1FB182DA-8516-88B8-108C-8195B819749E}"/>
              </a:ext>
            </a:extLst>
          </p:cNvPr>
          <p:cNvSpPr>
            <a:spLocks noGrp="1"/>
          </p:cNvSpPr>
          <p:nvPr>
            <p:ph type="title" idx="4294967295"/>
          </p:nvPr>
        </p:nvSpPr>
        <p:spPr>
          <a:xfrm>
            <a:off x="0" y="652463"/>
            <a:ext cx="10515600" cy="1325562"/>
          </a:xfrm>
        </p:spPr>
        <p:txBody>
          <a:bodyPr/>
          <a:lstStyle/>
          <a:p>
            <a:r>
              <a:rPr lang="en-US" altLang="en-US" dirty="0"/>
              <a:t>      Key Concepts</a:t>
            </a:r>
          </a:p>
        </p:txBody>
      </p:sp>
      <p:sp>
        <p:nvSpPr>
          <p:cNvPr id="18435" name="Content Placeholder 2">
            <a:extLst>
              <a:ext uri="{FF2B5EF4-FFF2-40B4-BE49-F238E27FC236}">
                <a16:creationId xmlns:a16="http://schemas.microsoft.com/office/drawing/2014/main" id="{56F88FC0-F086-2D56-9F7F-55E81DA658CB}"/>
              </a:ext>
            </a:extLst>
          </p:cNvPr>
          <p:cNvSpPr>
            <a:spLocks noGrp="1"/>
          </p:cNvSpPr>
          <p:nvPr>
            <p:ph idx="4294967295"/>
          </p:nvPr>
        </p:nvSpPr>
        <p:spPr>
          <a:xfrm>
            <a:off x="589281" y="1316038"/>
            <a:ext cx="11602720" cy="4595812"/>
          </a:xfrm>
        </p:spPr>
        <p:txBody>
          <a:bodyPr>
            <a:normAutofit/>
          </a:bodyPr>
          <a:lstStyle/>
          <a:p>
            <a:pPr>
              <a:buFont typeface="Wingdings" pitchFamily="2" charset="2"/>
              <a:buChar char="v"/>
              <a:defRPr/>
            </a:pPr>
            <a:r>
              <a:rPr lang="en-US" sz="2800" dirty="0"/>
              <a:t>Introduction to Box Plots</a:t>
            </a:r>
          </a:p>
          <a:p>
            <a:pPr>
              <a:buFont typeface="Wingdings" pitchFamily="2" charset="2"/>
              <a:buChar char="v"/>
              <a:defRPr/>
            </a:pPr>
            <a:r>
              <a:rPr lang="en-US" sz="2800" dirty="0"/>
              <a:t>Calculating Quartiles</a:t>
            </a:r>
          </a:p>
          <a:p>
            <a:pPr>
              <a:buFont typeface="Wingdings" pitchFamily="2" charset="2"/>
              <a:buChar char="v"/>
              <a:defRPr/>
            </a:pPr>
            <a:r>
              <a:rPr lang="en-US" sz="2800" dirty="0"/>
              <a:t> Introduction to Outliers</a:t>
            </a:r>
          </a:p>
          <a:p>
            <a:pPr>
              <a:buFont typeface="Wingdings" pitchFamily="2" charset="2"/>
              <a:buChar char="v"/>
              <a:defRPr/>
            </a:pPr>
            <a:r>
              <a:rPr lang="en-US" sz="2800" dirty="0"/>
              <a:t>Finding </a:t>
            </a:r>
            <a:r>
              <a:rPr lang="en-US" sz="2800" dirty="0" err="1"/>
              <a:t>Poutliers</a:t>
            </a:r>
            <a:r>
              <a:rPr lang="en-US" sz="2800" dirty="0"/>
              <a:t> in a dataset</a:t>
            </a:r>
          </a:p>
          <a:p>
            <a:pPr>
              <a:buFont typeface="Wingdings" pitchFamily="2" charset="2"/>
              <a:buChar char="v"/>
              <a:defRPr/>
            </a:pPr>
            <a:endParaRPr lang="en-US" sz="2800" dirty="0"/>
          </a:p>
          <a:p>
            <a:pPr>
              <a:buFont typeface="Wingdings" pitchFamily="2" charset="2"/>
              <a:buChar char="v"/>
              <a:defRPr/>
            </a:pPr>
            <a:endParaRPr lang="en-US" altLang="en-US" sz="2800" dirty="0"/>
          </a:p>
          <a:p>
            <a:pPr>
              <a:buFont typeface="Wingdings" pitchFamily="2" charset="2"/>
              <a:buChar char="v"/>
              <a:defRPr/>
            </a:pPr>
            <a:endParaRPr lang="en-US" altLang="en-US" sz="2800" dirty="0"/>
          </a:p>
          <a:p>
            <a:pPr marL="0" indent="0">
              <a:buNone/>
              <a:defRPr/>
            </a:pPr>
            <a:endParaRPr lang="en-US" altLang="en-US" sz="4200" dirty="0">
              <a:latin typeface="Times New Roman" pitchFamily="16" charset="0"/>
              <a:cs typeface="Times New Roman" pitchFamily="16" charset="0"/>
            </a:endParaRPr>
          </a:p>
          <a:p>
            <a:pPr marL="457200" indent="-457200">
              <a:buFont typeface="Wingdings" pitchFamily="2" charset="2"/>
              <a:buChar char="v"/>
              <a:defRPr/>
            </a:pPr>
            <a:endParaRPr lang="en-US" altLang="en-US" dirty="0">
              <a:latin typeface="Times New Roman" pitchFamily="16" charset="0"/>
              <a:cs typeface="Times New Roman" pitchFamily="16" charset="0"/>
            </a:endParaRPr>
          </a:p>
          <a:p>
            <a:pPr marL="457200" indent="-457200">
              <a:buNone/>
              <a:defRPr/>
            </a:pPr>
            <a:endParaRPr lang="en-US" altLang="en-US" dirty="0">
              <a:latin typeface="Times New Roman" pitchFamily="16" charset="0"/>
              <a:cs typeface="Times New Roman" pitchFamily="16" charset="0"/>
            </a:endParaRPr>
          </a:p>
          <a:p>
            <a:pPr marL="457200" indent="-457200">
              <a:buNone/>
              <a:defRPr/>
            </a:pPr>
            <a:endParaRPr lang="en-US" altLang="en-US" dirty="0">
              <a:latin typeface="Times New Roman" pitchFamily="16" charset="0"/>
              <a:cs typeface="Times New Roman" pitchFamily="16" charset="0"/>
            </a:endParaRPr>
          </a:p>
        </p:txBody>
      </p:sp>
      <p:sp>
        <p:nvSpPr>
          <p:cNvPr id="2" name="Rounded Rectangle 17">
            <a:extLst>
              <a:ext uri="{FF2B5EF4-FFF2-40B4-BE49-F238E27FC236}">
                <a16:creationId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SESSION INTRODUCTION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left)">
                                      <p:cBhvr>
                                        <p:cTn id="7" dur="500"/>
                                        <p:tgtEl>
                                          <p:spTgt spid="18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wipe(left)">
                                      <p:cBhvr>
                                        <p:cTn id="12" dur="500"/>
                                        <p:tgtEl>
                                          <p:spTgt spid="18435">
                                            <p:txEl>
                                              <p:pRg st="1" end="1"/>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8435">
                                            <p:txEl>
                                              <p:pRg st="2" end="2"/>
                                            </p:txEl>
                                          </p:spTgt>
                                        </p:tgtEl>
                                        <p:attrNameLst>
                                          <p:attrName>style.visibility</p:attrName>
                                        </p:attrNameLst>
                                      </p:cBhvr>
                                      <p:to>
                                        <p:strVal val="visible"/>
                                      </p:to>
                                    </p:set>
                                    <p:animEffect transition="in" filter="wipe(left)">
                                      <p:cBhvr>
                                        <p:cTn id="16" dur="500"/>
                                        <p:tgtEl>
                                          <p:spTgt spid="1843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8435">
                                            <p:txEl>
                                              <p:pRg st="3" end="3"/>
                                            </p:txEl>
                                          </p:spTgt>
                                        </p:tgtEl>
                                        <p:attrNameLst>
                                          <p:attrName>style.visibility</p:attrName>
                                        </p:attrNameLst>
                                      </p:cBhvr>
                                      <p:to>
                                        <p:strVal val="visible"/>
                                      </p:to>
                                    </p:set>
                                    <p:animEffect transition="in" filter="wipe(left)">
                                      <p:cBhvr>
                                        <p:cTn id="21" dur="500"/>
                                        <p:tgtEl>
                                          <p:spTgt spid="184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D88FA7-9852-9571-2DC6-CE387FF9A21C}"/>
              </a:ext>
            </a:extLst>
          </p:cNvPr>
          <p:cNvSpPr>
            <a:spLocks noGrp="1"/>
          </p:cNvSpPr>
          <p:nvPr>
            <p:ph idx="1"/>
          </p:nvPr>
        </p:nvSpPr>
        <p:spPr>
          <a:xfrm>
            <a:off x="661696" y="167951"/>
            <a:ext cx="10515600" cy="5841061"/>
          </a:xfrm>
        </p:spPr>
        <p:txBody>
          <a:bodyPr>
            <a:normAutofit fontScale="77500" lnSpcReduction="20000"/>
          </a:bodyPr>
          <a:lstStyle/>
          <a:p>
            <a:pPr fontAlgn="base"/>
            <a:r>
              <a:rPr lang="en-US" dirty="0"/>
              <a:t>Box </a:t>
            </a:r>
            <a:r>
              <a:rPr lang="en-US" dirty="0" err="1"/>
              <a:t>plot:</a:t>
            </a:r>
            <a:r>
              <a:rPr lang="en-US" b="0" i="0" dirty="0" err="1">
                <a:solidFill>
                  <a:srgbClr val="333333"/>
                </a:solidFill>
                <a:effectLst/>
                <a:latin typeface="inter-regular"/>
              </a:rPr>
              <a:t>A</a:t>
            </a:r>
            <a:r>
              <a:rPr lang="en-US" b="0" i="0" dirty="0">
                <a:solidFill>
                  <a:srgbClr val="333333"/>
                </a:solidFill>
                <a:effectLst/>
                <a:latin typeface="inter-regular"/>
              </a:rPr>
              <a:t> Box plot is a way to visualize the distribution of the data by using a box and some vertical lines. It is known as the whisker plot. </a:t>
            </a:r>
            <a:r>
              <a:rPr lang="en-US" dirty="0"/>
              <a:t>A Box Plot is also known as a Box and Whisker Plot and it is a graphical tool used to understand the distribution of numerical data. It shows the median, quartiles and possible outliers in a simple visual form. It helps compare distributions between groups with ease.</a:t>
            </a:r>
          </a:p>
          <a:p>
            <a:pPr marL="457200" lvl="1" indent="0" fontAlgn="base">
              <a:buNone/>
            </a:pPr>
            <a:r>
              <a:rPr lang="en-US" dirty="0"/>
              <a:t>multiple groups effectively.</a:t>
            </a:r>
          </a:p>
          <a:p>
            <a:pPr marL="457200" lvl="1" indent="0" fontAlgn="base">
              <a:buNone/>
            </a:pPr>
            <a:r>
              <a:rPr lang="en-US" dirty="0"/>
              <a:t>Identify outliers quickly and visually.</a:t>
            </a:r>
          </a:p>
          <a:p>
            <a:pPr marL="457200" lvl="1" indent="0" fontAlgn="base">
              <a:buNone/>
            </a:pPr>
            <a:r>
              <a:rPr lang="en-US" dirty="0"/>
              <a:t>Reveal data symmetry or skewness at a glance.</a:t>
            </a:r>
          </a:p>
          <a:p>
            <a:pPr marL="457200" lvl="1" indent="0" fontAlgn="base">
              <a:buNone/>
            </a:pPr>
            <a:r>
              <a:rPr lang="en-US" dirty="0"/>
              <a:t>Show variability clearly even for large datasets.</a:t>
            </a:r>
          </a:p>
          <a:p>
            <a:pPr marL="457200" lvl="1" indent="0" fontAlgn="base">
              <a:buNone/>
            </a:pPr>
            <a:r>
              <a:rPr lang="en-US" dirty="0"/>
              <a:t>Provide compact summaries of data using quartiles and range.</a:t>
            </a:r>
          </a:p>
          <a:p>
            <a:pPr marL="457200" lvl="1" indent="0" fontAlgn="base">
              <a:buNone/>
            </a:pPr>
            <a:r>
              <a:rPr lang="en-US" dirty="0"/>
              <a:t>Useful for comparing multiple groups or categories.</a:t>
            </a:r>
          </a:p>
          <a:p>
            <a:pPr algn="just"/>
            <a:r>
              <a:rPr lang="en-US" b="0" i="0" dirty="0">
                <a:solidFill>
                  <a:srgbClr val="333333"/>
                </a:solidFill>
                <a:effectLst/>
                <a:latin typeface="inter-regular"/>
              </a:rPr>
              <a:t>The data can be distributed between five key ranges, which are as follows:</a:t>
            </a:r>
          </a:p>
          <a:p>
            <a:pPr algn="just">
              <a:buFont typeface="+mj-lt"/>
              <a:buAutoNum type="arabicPeriod"/>
            </a:pPr>
            <a:r>
              <a:rPr lang="en-US" b="1" i="0" dirty="0">
                <a:solidFill>
                  <a:srgbClr val="000000"/>
                </a:solidFill>
                <a:effectLst/>
                <a:latin typeface="inter-bold"/>
              </a:rPr>
              <a:t>Minimum</a:t>
            </a:r>
            <a:r>
              <a:rPr lang="en-US" b="0" i="0" dirty="0">
                <a:solidFill>
                  <a:srgbClr val="000000"/>
                </a:solidFill>
                <a:effectLst/>
                <a:latin typeface="inter-regular"/>
              </a:rPr>
              <a:t>: Q1-1.5*IQR</a:t>
            </a:r>
          </a:p>
          <a:p>
            <a:pPr algn="just">
              <a:buFont typeface="+mj-lt"/>
              <a:buAutoNum type="arabicPeriod"/>
            </a:pPr>
            <a:r>
              <a:rPr lang="en-US" b="1" i="0" dirty="0">
                <a:solidFill>
                  <a:srgbClr val="000000"/>
                </a:solidFill>
                <a:effectLst/>
                <a:latin typeface="inter-bold"/>
              </a:rPr>
              <a:t>1st quartile</a:t>
            </a:r>
            <a:r>
              <a:rPr lang="en-US" b="0" i="0" dirty="0">
                <a:solidFill>
                  <a:srgbClr val="000000"/>
                </a:solidFill>
                <a:effectLst/>
                <a:latin typeface="inter-regular"/>
              </a:rPr>
              <a:t> (Q1): 25th percentile</a:t>
            </a:r>
          </a:p>
          <a:p>
            <a:pPr algn="just">
              <a:buFont typeface="+mj-lt"/>
              <a:buAutoNum type="arabicPeriod"/>
            </a:pPr>
            <a:r>
              <a:rPr lang="en-US" b="1" i="0" dirty="0">
                <a:solidFill>
                  <a:srgbClr val="000000"/>
                </a:solidFill>
                <a:effectLst/>
                <a:latin typeface="inter-bold"/>
              </a:rPr>
              <a:t>Median</a:t>
            </a:r>
            <a:r>
              <a:rPr lang="en-US" b="0" i="0" dirty="0">
                <a:solidFill>
                  <a:srgbClr val="000000"/>
                </a:solidFill>
                <a:effectLst/>
                <a:latin typeface="inter-regular"/>
              </a:rPr>
              <a:t>:50th percentile</a:t>
            </a:r>
          </a:p>
          <a:p>
            <a:pPr algn="just">
              <a:buFont typeface="+mj-lt"/>
              <a:buAutoNum type="arabicPeriod"/>
            </a:pPr>
            <a:r>
              <a:rPr lang="en-US" b="1" i="0" dirty="0">
                <a:solidFill>
                  <a:srgbClr val="000000"/>
                </a:solidFill>
                <a:effectLst/>
                <a:latin typeface="inter-bold"/>
              </a:rPr>
              <a:t>3rd quartile</a:t>
            </a:r>
            <a:r>
              <a:rPr lang="en-US" b="0" i="0" dirty="0">
                <a:solidFill>
                  <a:srgbClr val="000000"/>
                </a:solidFill>
                <a:effectLst/>
                <a:latin typeface="inter-regular"/>
              </a:rPr>
              <a:t>(Q3):75th percentile</a:t>
            </a:r>
          </a:p>
          <a:p>
            <a:pPr algn="just">
              <a:buFont typeface="+mj-lt"/>
              <a:buAutoNum type="arabicPeriod"/>
            </a:pPr>
            <a:r>
              <a:rPr lang="en-US" b="1" i="0" dirty="0">
                <a:solidFill>
                  <a:srgbClr val="000000"/>
                </a:solidFill>
                <a:effectLst/>
                <a:latin typeface="inter-bold"/>
              </a:rPr>
              <a:t>Maximum</a:t>
            </a:r>
            <a:r>
              <a:rPr lang="en-US" b="0" i="0" dirty="0">
                <a:solidFill>
                  <a:srgbClr val="000000"/>
                </a:solidFill>
                <a:effectLst/>
                <a:latin typeface="inter-regular"/>
              </a:rPr>
              <a:t>: Q3+1.5*IQR</a:t>
            </a:r>
          </a:p>
          <a:p>
            <a:pPr algn="just"/>
            <a:r>
              <a:rPr lang="en-US" b="0" i="0" dirty="0">
                <a:solidFill>
                  <a:srgbClr val="333333"/>
                </a:solidFill>
                <a:effectLst/>
                <a:latin typeface="inter-regular"/>
              </a:rPr>
              <a:t>Here IQR represents the </a:t>
            </a:r>
            <a:r>
              <a:rPr lang="en-US" b="1" i="0" dirty="0" err="1">
                <a:solidFill>
                  <a:srgbClr val="333333"/>
                </a:solidFill>
                <a:effectLst/>
                <a:latin typeface="inter-bold"/>
              </a:rPr>
              <a:t>InterQuartile</a:t>
            </a:r>
            <a:r>
              <a:rPr lang="en-US" b="1" i="0" dirty="0">
                <a:solidFill>
                  <a:srgbClr val="333333"/>
                </a:solidFill>
                <a:effectLst/>
                <a:latin typeface="inter-bold"/>
              </a:rPr>
              <a:t> Range</a:t>
            </a:r>
            <a:r>
              <a:rPr lang="en-US" b="0" i="0" dirty="0">
                <a:solidFill>
                  <a:srgbClr val="333333"/>
                </a:solidFill>
                <a:effectLst/>
                <a:latin typeface="inter-regular"/>
              </a:rPr>
              <a:t> which starts from the first quartile (Q1) and ends at the third quartile (Q3).</a:t>
            </a:r>
          </a:p>
          <a:p>
            <a:pPr marL="0" indent="0">
              <a:buNone/>
            </a:pPr>
            <a:r>
              <a:rPr lang="en-US" dirty="0"/>
              <a:t> </a:t>
            </a:r>
            <a:endParaRPr lang="en-IN" dirty="0"/>
          </a:p>
        </p:txBody>
      </p:sp>
      <p:pic>
        <p:nvPicPr>
          <p:cNvPr id="5" name="Picture 4">
            <a:extLst>
              <a:ext uri="{FF2B5EF4-FFF2-40B4-BE49-F238E27FC236}">
                <a16:creationId xmlns:a16="http://schemas.microsoft.com/office/drawing/2014/main" id="{E9B7481F-07DC-8E5C-4028-94A2E86DC21D}"/>
              </a:ext>
            </a:extLst>
          </p:cNvPr>
          <p:cNvPicPr>
            <a:picLocks noChangeAspect="1"/>
          </p:cNvPicPr>
          <p:nvPr/>
        </p:nvPicPr>
        <p:blipFill>
          <a:blip r:embed="rId3"/>
          <a:stretch>
            <a:fillRect/>
          </a:stretch>
        </p:blipFill>
        <p:spPr>
          <a:xfrm>
            <a:off x="6800850" y="3174206"/>
            <a:ext cx="5391150" cy="1819275"/>
          </a:xfrm>
          <a:prstGeom prst="rect">
            <a:avLst/>
          </a:prstGeom>
        </p:spPr>
      </p:pic>
    </p:spTree>
    <p:extLst>
      <p:ext uri="{BB962C8B-B14F-4D97-AF65-F5344CB8AC3E}">
        <p14:creationId xmlns:p14="http://schemas.microsoft.com/office/powerpoint/2010/main" val="1418838353"/>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15D9A2-3722-0534-0121-2A71476AD61D}"/>
              </a:ext>
            </a:extLst>
          </p:cNvPr>
          <p:cNvSpPr>
            <a:spLocks noGrp="1"/>
          </p:cNvSpPr>
          <p:nvPr>
            <p:ph idx="1"/>
          </p:nvPr>
        </p:nvSpPr>
        <p:spPr>
          <a:xfrm>
            <a:off x="838200" y="279918"/>
            <a:ext cx="10515600" cy="5897045"/>
          </a:xfrm>
        </p:spPr>
        <p:txBody>
          <a:bodyPr/>
          <a:lstStyle/>
          <a:p>
            <a:r>
              <a:rPr lang="en-US" b="0" i="0" dirty="0">
                <a:solidFill>
                  <a:srgbClr val="333333"/>
                </a:solidFill>
                <a:effectLst/>
                <a:latin typeface="inter-regular"/>
              </a:rPr>
              <a:t>In the box plot, those points which are out of range are called outliers. We can create the box plot of the data to determine the following:</a:t>
            </a:r>
          </a:p>
          <a:p>
            <a:pPr algn="just">
              <a:buFont typeface="Arial" panose="020B0604020202020204" pitchFamily="34" charset="0"/>
              <a:buChar char="•"/>
            </a:pPr>
            <a:r>
              <a:rPr lang="en-US" b="0" i="0" dirty="0">
                <a:solidFill>
                  <a:srgbClr val="000000"/>
                </a:solidFill>
                <a:effectLst/>
                <a:latin typeface="inter-regular"/>
              </a:rPr>
              <a:t>The number of outliers in a dataset</a:t>
            </a:r>
          </a:p>
          <a:p>
            <a:pPr algn="just">
              <a:buFont typeface="Arial" panose="020B0604020202020204" pitchFamily="34" charset="0"/>
              <a:buChar char="•"/>
            </a:pPr>
            <a:r>
              <a:rPr lang="en-US" b="0" i="0" dirty="0">
                <a:solidFill>
                  <a:srgbClr val="000000"/>
                </a:solidFill>
                <a:effectLst/>
                <a:latin typeface="inter-regular"/>
              </a:rPr>
              <a:t>Is the data skewed or not</a:t>
            </a:r>
          </a:p>
          <a:p>
            <a:pPr algn="just">
              <a:buFont typeface="Arial" panose="020B0604020202020204" pitchFamily="34" charset="0"/>
              <a:buChar char="•"/>
            </a:pPr>
            <a:r>
              <a:rPr lang="en-US" b="0" i="0" dirty="0">
                <a:solidFill>
                  <a:srgbClr val="000000"/>
                </a:solidFill>
                <a:effectLst/>
                <a:latin typeface="inter-regular"/>
              </a:rPr>
              <a:t>The range of the data</a:t>
            </a:r>
          </a:p>
          <a:p>
            <a:pPr algn="just"/>
            <a:r>
              <a:rPr lang="en-US" b="0" i="0" dirty="0">
                <a:solidFill>
                  <a:srgbClr val="333333"/>
                </a:solidFill>
                <a:effectLst/>
                <a:latin typeface="inter-regular"/>
              </a:rPr>
              <a:t>The range of the data from minimum to maximum is called the whisker limit.</a:t>
            </a:r>
          </a:p>
          <a:p>
            <a:endParaRPr lang="en-IN" dirty="0"/>
          </a:p>
        </p:txBody>
      </p:sp>
    </p:spTree>
    <p:extLst>
      <p:ext uri="{BB962C8B-B14F-4D97-AF65-F5344CB8AC3E}">
        <p14:creationId xmlns:p14="http://schemas.microsoft.com/office/powerpoint/2010/main" val="3522875696"/>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6B65EBA-5C31-F8B4-9A3B-2669F90E71A4}"/>
                  </a:ext>
                </a:extLst>
              </p:cNvPr>
              <p:cNvSpPr>
                <a:spLocks noGrp="1"/>
              </p:cNvSpPr>
              <p:nvPr>
                <p:ph idx="1"/>
              </p:nvPr>
            </p:nvSpPr>
            <p:spPr>
              <a:xfrm>
                <a:off x="838200" y="66675"/>
                <a:ext cx="10515600" cy="6110288"/>
              </a:xfrm>
            </p:spPr>
            <p:txBody>
              <a:bodyPr>
                <a:normAutofit fontScale="85000" lnSpcReduction="10000"/>
              </a:bodyPr>
              <a:lstStyle/>
              <a:p>
                <a:pPr fontAlgn="base"/>
                <a:r>
                  <a:rPr lang="en-IN" b="1" dirty="0"/>
                  <a:t>How to Create a Box Plot</a:t>
                </a:r>
              </a:p>
              <a:p>
                <a:pPr marL="0" indent="0" fontAlgn="base">
                  <a:buNone/>
                </a:pPr>
                <a:r>
                  <a:rPr lang="en-IN" dirty="0"/>
                  <a:t>Consider the runs scored by a cricket team in 12 matches: 100, 120, 110, 150, 110, 140, 130, 170, 120, 220, 140, 110</a:t>
                </a:r>
              </a:p>
              <a:p>
                <a:pPr marL="0" indent="0" fontAlgn="base">
                  <a:buNone/>
                </a:pPr>
                <a:r>
                  <a:rPr lang="en-IN" b="1" dirty="0"/>
                  <a:t>Step 1: Arrange Data in Ascending Order</a:t>
                </a:r>
                <a:endParaRPr lang="en-IN" dirty="0"/>
              </a:p>
              <a:p>
                <a:pPr marL="0" indent="0" fontAlgn="base">
                  <a:buNone/>
                </a:pPr>
                <a:r>
                  <a:rPr lang="en-IN" dirty="0"/>
                  <a:t>100, 110, 110, 110, 120, 120, 130, 140, 140, 150, 170, 220</a:t>
                </a:r>
              </a:p>
              <a:p>
                <a:pPr marL="0" indent="0" fontAlgn="base">
                  <a:buNone/>
                </a:pPr>
                <a:r>
                  <a:rPr lang="en-IN" b="1" dirty="0"/>
                  <a:t>Step 2:</a:t>
                </a:r>
                <a:r>
                  <a:rPr lang="en-IN" dirty="0"/>
                  <a:t> </a:t>
                </a:r>
                <a:r>
                  <a:rPr lang="en-IN" b="1" dirty="0"/>
                  <a:t>Find Quartiles and Median</a:t>
                </a:r>
                <a:endParaRPr lang="en-IN" dirty="0"/>
              </a:p>
              <a:p>
                <a:pPr marL="0" indent="0" fontAlgn="base">
                  <a:buNone/>
                </a:pPr>
                <a14:m>
                  <m:oMathPara xmlns:m="http://schemas.openxmlformats.org/officeDocument/2006/math">
                    <m:oMath>
                      <m:r>
                        <m:rPr>
                          <m:nor/>
                        </m:rPr>
                        <a:rPr lang="en-IN" b="0" i="0"/>
                        <m:t>Median </m:t>
                      </m:r>
                      <m:d>
                        <m:dPr>
                          <m:ctrlPr>
                            <a:rPr lang="ar-AE" i="1">
                              <a:latin typeface="Cambria Math" panose="02040503050406030204" pitchFamily="18" charset="0"/>
                            </a:rPr>
                          </m:ctrlPr>
                        </m:dPr>
                        <m:e>
                          <m:sSub>
                            <m:sSubPr>
                              <m:ctrlPr>
                                <a:rPr lang="ar-AE" b="0" i="1">
                                  <a:latin typeface="Cambria Math" panose="02040503050406030204" pitchFamily="18" charset="0"/>
                                </a:rPr>
                              </m:ctrlPr>
                            </m:sSubPr>
                            <m:e>
                              <m:r>
                                <a:rPr lang="ar-AE" b="0" i="1">
                                  <a:latin typeface="Cambria Math" panose="02040503050406030204" pitchFamily="18" charset="0"/>
                                </a:rPr>
                                <m:t>𝑄</m:t>
                              </m:r>
                            </m:e>
                            <m:sub>
                              <m:r>
                                <a:rPr lang="ar-AE">
                                  <a:latin typeface="Cambria Math" panose="02040503050406030204" pitchFamily="18" charset="0"/>
                                </a:rPr>
                                <m:t>2</m:t>
                              </m:r>
                            </m:sub>
                          </m:sSub>
                        </m:e>
                      </m:d>
                      <m:r>
                        <a:rPr lang="ar-AE">
                          <a:latin typeface="Cambria Math" panose="02040503050406030204" pitchFamily="18" charset="0"/>
                        </a:rPr>
                        <m:t>=</m:t>
                      </m:r>
                      <m:f>
                        <m:fPr>
                          <m:ctrlPr>
                            <a:rPr lang="ar-AE">
                              <a:latin typeface="Cambria Math" panose="02040503050406030204" pitchFamily="18" charset="0"/>
                            </a:rPr>
                          </m:ctrlPr>
                        </m:fPr>
                        <m:num>
                          <m:r>
                            <a:rPr lang="ar-AE">
                              <a:latin typeface="Cambria Math" panose="02040503050406030204" pitchFamily="18" charset="0"/>
                            </a:rPr>
                            <m:t>120+130</m:t>
                          </m:r>
                        </m:num>
                        <m:den>
                          <m:r>
                            <a:rPr lang="ar-AE">
                              <a:latin typeface="Cambria Math" panose="02040503050406030204" pitchFamily="18" charset="0"/>
                            </a:rPr>
                            <m:t>2</m:t>
                          </m:r>
                        </m:den>
                      </m:f>
                      <m:r>
                        <a:rPr lang="ar-AE">
                          <a:latin typeface="Cambria Math" panose="02040503050406030204" pitchFamily="18" charset="0"/>
                        </a:rPr>
                        <m:t>=125</m:t>
                      </m:r>
                    </m:oMath>
                  </m:oMathPara>
                </a14:m>
                <a:endParaRPr lang="ar-AE" dirty="0"/>
              </a:p>
              <a:p>
                <a:pPr marL="0" indent="0" fontAlgn="base">
                  <a:buNone/>
                </a:pPr>
                <a14:m>
                  <m:oMathPara xmlns:m="http://schemas.openxmlformats.org/officeDocument/2006/math">
                    <m:oMath>
                      <m:sSub>
                        <m:sSubPr>
                          <m:ctrlPr>
                            <a:rPr lang="ar-AE" i="1">
                              <a:latin typeface="Cambria Math" panose="02040503050406030204" pitchFamily="18" charset="0"/>
                            </a:rPr>
                          </m:ctrlPr>
                        </m:sSubPr>
                        <m:e>
                          <m:r>
                            <a:rPr lang="ar-AE" i="1">
                              <a:latin typeface="Cambria Math" panose="02040503050406030204" pitchFamily="18" charset="0"/>
                            </a:rPr>
                            <m:t>𝑄</m:t>
                          </m:r>
                        </m:e>
                        <m:sub>
                          <m:r>
                            <a:rPr lang="ar-AE">
                              <a:latin typeface="Cambria Math" panose="02040503050406030204" pitchFamily="18" charset="0"/>
                            </a:rPr>
                            <m:t>1</m:t>
                          </m:r>
                        </m:sub>
                      </m:sSub>
                      <m:r>
                        <a:rPr lang="ar-AE">
                          <a:latin typeface="Cambria Math" panose="02040503050406030204" pitchFamily="18" charset="0"/>
                        </a:rPr>
                        <m:t>=</m:t>
                      </m:r>
                      <m:r>
                        <m:rPr>
                          <m:nor/>
                        </m:rPr>
                        <a:rPr lang="en-IN" i="0"/>
                        <m:t>Median of first 6 values</m:t>
                      </m:r>
                      <m:r>
                        <a:rPr lang="en-IN">
                          <a:latin typeface="Cambria Math" panose="02040503050406030204" pitchFamily="18" charset="0"/>
                        </a:rPr>
                        <m:t>=</m:t>
                      </m:r>
                      <m:f>
                        <m:fPr>
                          <m:ctrlPr>
                            <a:rPr lang="ar-AE">
                              <a:latin typeface="Cambria Math" panose="02040503050406030204" pitchFamily="18" charset="0"/>
                            </a:rPr>
                          </m:ctrlPr>
                        </m:fPr>
                        <m:num>
                          <m:r>
                            <a:rPr lang="ar-AE">
                              <a:latin typeface="Cambria Math" panose="02040503050406030204" pitchFamily="18" charset="0"/>
                            </a:rPr>
                            <m:t>110+110</m:t>
                          </m:r>
                        </m:num>
                        <m:den>
                          <m:r>
                            <a:rPr lang="ar-AE">
                              <a:latin typeface="Cambria Math" panose="02040503050406030204" pitchFamily="18" charset="0"/>
                            </a:rPr>
                            <m:t>2</m:t>
                          </m:r>
                        </m:den>
                      </m:f>
                      <m:r>
                        <a:rPr lang="ar-AE">
                          <a:latin typeface="Cambria Math" panose="02040503050406030204" pitchFamily="18" charset="0"/>
                        </a:rPr>
                        <m:t>=110</m:t>
                      </m:r>
                    </m:oMath>
                  </m:oMathPara>
                </a14:m>
                <a:endParaRPr lang="ar-AE" dirty="0"/>
              </a:p>
              <a:p>
                <a:pPr marL="0" indent="0" fontAlgn="base">
                  <a:buNone/>
                </a:pPr>
                <a14:m>
                  <m:oMathPara xmlns:m="http://schemas.openxmlformats.org/officeDocument/2006/math">
                    <m:oMath>
                      <m:sSub>
                        <m:sSubPr>
                          <m:ctrlPr>
                            <a:rPr lang="ar-AE" i="1">
                              <a:latin typeface="Cambria Math" panose="02040503050406030204" pitchFamily="18" charset="0"/>
                            </a:rPr>
                          </m:ctrlPr>
                        </m:sSubPr>
                        <m:e>
                          <m:r>
                            <a:rPr lang="ar-AE" i="1">
                              <a:latin typeface="Cambria Math" panose="02040503050406030204" pitchFamily="18" charset="0"/>
                            </a:rPr>
                            <m:t>𝑄</m:t>
                          </m:r>
                        </m:e>
                        <m:sub>
                          <m:r>
                            <a:rPr lang="ar-AE">
                              <a:latin typeface="Cambria Math" panose="02040503050406030204" pitchFamily="18" charset="0"/>
                            </a:rPr>
                            <m:t>3</m:t>
                          </m:r>
                        </m:sub>
                      </m:sSub>
                      <m:r>
                        <a:rPr lang="ar-AE">
                          <a:latin typeface="Cambria Math" panose="02040503050406030204" pitchFamily="18" charset="0"/>
                        </a:rPr>
                        <m:t>=</m:t>
                      </m:r>
                      <m:r>
                        <m:rPr>
                          <m:nor/>
                        </m:rPr>
                        <a:rPr lang="en-IN" i="0"/>
                        <m:t>Median of last 6 values</m:t>
                      </m:r>
                      <m:r>
                        <a:rPr lang="en-IN">
                          <a:latin typeface="Cambria Math" panose="02040503050406030204" pitchFamily="18" charset="0"/>
                        </a:rPr>
                        <m:t>=</m:t>
                      </m:r>
                      <m:f>
                        <m:fPr>
                          <m:ctrlPr>
                            <a:rPr lang="ar-AE">
                              <a:latin typeface="Cambria Math" panose="02040503050406030204" pitchFamily="18" charset="0"/>
                            </a:rPr>
                          </m:ctrlPr>
                        </m:fPr>
                        <m:num>
                          <m:r>
                            <a:rPr lang="ar-AE">
                              <a:latin typeface="Cambria Math" panose="02040503050406030204" pitchFamily="18" charset="0"/>
                            </a:rPr>
                            <m:t>140+150</m:t>
                          </m:r>
                        </m:num>
                        <m:den>
                          <m:r>
                            <a:rPr lang="ar-AE">
                              <a:latin typeface="Cambria Math" panose="02040503050406030204" pitchFamily="18" charset="0"/>
                            </a:rPr>
                            <m:t>2</m:t>
                          </m:r>
                        </m:den>
                      </m:f>
                      <m:r>
                        <a:rPr lang="ar-AE">
                          <a:latin typeface="Cambria Math" panose="02040503050406030204" pitchFamily="18" charset="0"/>
                        </a:rPr>
                        <m:t>=145</m:t>
                      </m:r>
                    </m:oMath>
                  </m:oMathPara>
                </a14:m>
                <a:endParaRPr lang="ar-AE" dirty="0"/>
              </a:p>
              <a:p>
                <a:pPr marL="0" indent="0" fontAlgn="base">
                  <a:buNone/>
                </a:pPr>
                <a:r>
                  <a:rPr lang="en-IN" b="1" dirty="0"/>
                  <a:t>Step 3: Compute IQR</a:t>
                </a:r>
                <a:endParaRPr lang="en-IN" dirty="0"/>
              </a:p>
              <a:p>
                <a:pPr marL="0" indent="0" fontAlgn="base">
                  <a:buNone/>
                </a:pPr>
                <a14:m>
                  <m:oMathPara xmlns:m="http://schemas.openxmlformats.org/officeDocument/2006/math">
                    <m:oMath>
                      <m:r>
                        <m:rPr>
                          <m:nor/>
                        </m:rPr>
                        <a:rPr lang="en-IN" b="0" i="0"/>
                        <m:t>IQR</m:t>
                      </m:r>
                      <m:r>
                        <a:rPr lang="en-IN">
                          <a:latin typeface="Cambria Math" panose="02040503050406030204" pitchFamily="18" charset="0"/>
                        </a:rPr>
                        <m:t>=145−110=35</m:t>
                      </m:r>
                    </m:oMath>
                  </m:oMathPara>
                </a14:m>
                <a:endParaRPr lang="en-IN" dirty="0"/>
              </a:p>
              <a:p>
                <a:pPr marL="0" indent="0" fontAlgn="base">
                  <a:buNone/>
                </a:pPr>
                <a:r>
                  <a:rPr lang="en-IN" b="1" dirty="0"/>
                  <a:t>Step 4: Calculate Limits</a:t>
                </a:r>
                <a:endParaRPr lang="en-IN" dirty="0"/>
              </a:p>
              <a:p>
                <a:pPr marL="0" indent="0" fontAlgn="base">
                  <a:buNone/>
                </a:pPr>
                <a14:m>
                  <m:oMathPara xmlns:m="http://schemas.openxmlformats.org/officeDocument/2006/math">
                    <m:oMath>
                      <m:r>
                        <m:rPr>
                          <m:nor/>
                        </m:rPr>
                        <a:rPr lang="en-IN" b="0" i="0"/>
                        <m:t>Lower Limit</m:t>
                      </m:r>
                      <m:r>
                        <a:rPr lang="en-IN">
                          <a:latin typeface="Cambria Math" panose="02040503050406030204" pitchFamily="18" charset="0"/>
                        </a:rPr>
                        <m:t>=110−1.5×35=57.5</m:t>
                      </m:r>
                    </m:oMath>
                  </m:oMathPara>
                </a14:m>
                <a:endParaRPr lang="en-IN" dirty="0"/>
              </a:p>
              <a:p>
                <a:pPr marL="0" indent="0" fontAlgn="base">
                  <a:buNone/>
                </a:pPr>
                <a14:m>
                  <m:oMathPara xmlns:m="http://schemas.openxmlformats.org/officeDocument/2006/math">
                    <m:oMath>
                      <m:r>
                        <m:rPr>
                          <m:nor/>
                        </m:rPr>
                        <a:rPr lang="en-IN" b="0" i="0"/>
                        <m:t>Upper Limit</m:t>
                      </m:r>
                      <m:r>
                        <a:rPr lang="en-IN">
                          <a:latin typeface="Cambria Math" panose="02040503050406030204" pitchFamily="18" charset="0"/>
                        </a:rPr>
                        <m:t>=145+1.5×35=197.5</m:t>
                      </m:r>
                    </m:oMath>
                  </m:oMathPara>
                </a14:m>
                <a:endParaRPr lang="en-IN" dirty="0"/>
              </a:p>
              <a:p>
                <a:endParaRPr lang="en-IN" dirty="0"/>
              </a:p>
            </p:txBody>
          </p:sp>
        </mc:Choice>
        <mc:Fallback>
          <p:sp>
            <p:nvSpPr>
              <p:cNvPr id="3" name="Content Placeholder 2">
                <a:extLst>
                  <a:ext uri="{FF2B5EF4-FFF2-40B4-BE49-F238E27FC236}">
                    <a16:creationId xmlns:a16="http://schemas.microsoft.com/office/drawing/2014/main" id="{46B65EBA-5C31-F8B4-9A3B-2669F90E71A4}"/>
                  </a:ext>
                </a:extLst>
              </p:cNvPr>
              <p:cNvSpPr>
                <a:spLocks noGrp="1" noRot="1" noChangeAspect="1" noMove="1" noResize="1" noEditPoints="1" noAdjustHandles="1" noChangeArrowheads="1" noChangeShapeType="1" noTextEdit="1"/>
              </p:cNvSpPr>
              <p:nvPr>
                <p:ph idx="1"/>
              </p:nvPr>
            </p:nvSpPr>
            <p:spPr>
              <a:xfrm>
                <a:off x="838200" y="66675"/>
                <a:ext cx="10515600" cy="6110288"/>
              </a:xfrm>
              <a:blipFill>
                <a:blip r:embed="rId3"/>
                <a:stretch>
                  <a:fillRect l="-406" t="-299"/>
                </a:stretch>
              </a:blipFill>
            </p:spPr>
            <p:txBody>
              <a:bodyPr/>
              <a:lstStyle/>
              <a:p>
                <a:r>
                  <a:rPr lang="en-IN">
                    <a:noFill/>
                  </a:rPr>
                  <a:t> </a:t>
                </a:r>
              </a:p>
            </p:txBody>
          </p:sp>
        </mc:Fallback>
      </mc:AlternateContent>
    </p:spTree>
    <p:extLst>
      <p:ext uri="{BB962C8B-B14F-4D97-AF65-F5344CB8AC3E}">
        <p14:creationId xmlns:p14="http://schemas.microsoft.com/office/powerpoint/2010/main" val="4174774511"/>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BE4497-867F-D764-9EB7-7EEF497A65D3}"/>
              </a:ext>
            </a:extLst>
          </p:cNvPr>
          <p:cNvSpPr>
            <a:spLocks noGrp="1"/>
          </p:cNvSpPr>
          <p:nvPr>
            <p:ph idx="1"/>
          </p:nvPr>
        </p:nvSpPr>
        <p:spPr>
          <a:xfrm>
            <a:off x="838200" y="415924"/>
            <a:ext cx="10515600" cy="6080125"/>
          </a:xfrm>
        </p:spPr>
        <p:txBody>
          <a:bodyPr>
            <a:normAutofit/>
          </a:bodyPr>
          <a:lstStyle/>
          <a:p>
            <a:pPr fontAlgn="base"/>
            <a:r>
              <a:rPr lang="en-US" b="1" dirty="0"/>
              <a:t>Step 5: Identify Min, Max and Outliers</a:t>
            </a:r>
            <a:endParaRPr lang="en-US" dirty="0"/>
          </a:p>
          <a:p>
            <a:pPr marL="0" indent="0" fontAlgn="base">
              <a:buNone/>
            </a:pPr>
            <a:r>
              <a:rPr lang="en-US" dirty="0"/>
              <a:t>Minimum (within limit) = 100</a:t>
            </a:r>
          </a:p>
          <a:p>
            <a:pPr marL="0" indent="0" fontAlgn="base">
              <a:buNone/>
            </a:pPr>
            <a:r>
              <a:rPr lang="en-US" dirty="0"/>
              <a:t>Maximum (within limit) = 170</a:t>
            </a:r>
          </a:p>
          <a:p>
            <a:pPr marL="0" indent="0" fontAlgn="base">
              <a:buNone/>
            </a:pPr>
            <a:r>
              <a:rPr lang="en-US" dirty="0"/>
              <a:t>Outlier = 220</a:t>
            </a:r>
          </a:p>
          <a:p>
            <a:pPr marL="0" indent="0" fontAlgn="base">
              <a:buNone/>
            </a:pPr>
            <a:r>
              <a:rPr lang="en-US" dirty="0"/>
              <a:t>This information is then used to draw the box plot.</a:t>
            </a:r>
          </a:p>
          <a:p>
            <a:pPr marL="0" indent="0" fontAlgn="base">
              <a:buNone/>
            </a:pPr>
            <a:r>
              <a:rPr lang="en-US" b="1" dirty="0"/>
              <a:t>Compare Outliers</a:t>
            </a:r>
          </a:p>
          <a:p>
            <a:pPr marL="0" indent="0" fontAlgn="base">
              <a:buNone/>
            </a:pPr>
            <a:r>
              <a:rPr lang="en-US" dirty="0"/>
              <a:t>Outliers appear as points beyond whiskers.</a:t>
            </a:r>
          </a:p>
          <a:p>
            <a:pPr marL="0" indent="0" fontAlgn="base">
              <a:buNone/>
            </a:pPr>
            <a:r>
              <a:rPr lang="en-US" dirty="0"/>
              <a:t>More outliers indicate irregular or inconsistent data.</a:t>
            </a:r>
          </a:p>
          <a:p>
            <a:pPr marL="0" indent="0" fontAlgn="base">
              <a:buNone/>
            </a:pPr>
            <a:r>
              <a:rPr lang="en-US" dirty="0"/>
              <a:t>Fewer outliers suggest more stable and predictable values.</a:t>
            </a:r>
          </a:p>
          <a:p>
            <a:br>
              <a:rPr lang="en-US" dirty="0"/>
            </a:br>
            <a:endParaRPr lang="en-IN" dirty="0"/>
          </a:p>
        </p:txBody>
      </p:sp>
      <p:pic>
        <p:nvPicPr>
          <p:cNvPr id="6" name="Picture 5">
            <a:extLst>
              <a:ext uri="{FF2B5EF4-FFF2-40B4-BE49-F238E27FC236}">
                <a16:creationId xmlns:a16="http://schemas.microsoft.com/office/drawing/2014/main" id="{7A926DBD-1911-9A95-B3E4-16A8ED917222}"/>
              </a:ext>
            </a:extLst>
          </p:cNvPr>
          <p:cNvPicPr>
            <a:picLocks noChangeAspect="1"/>
          </p:cNvPicPr>
          <p:nvPr/>
        </p:nvPicPr>
        <p:blipFill>
          <a:blip r:embed="rId3"/>
          <a:stretch>
            <a:fillRect/>
          </a:stretch>
        </p:blipFill>
        <p:spPr>
          <a:xfrm>
            <a:off x="6553200" y="4676774"/>
            <a:ext cx="5391150" cy="1819275"/>
          </a:xfrm>
          <a:prstGeom prst="rect">
            <a:avLst/>
          </a:prstGeom>
        </p:spPr>
      </p:pic>
    </p:spTree>
    <p:extLst>
      <p:ext uri="{BB962C8B-B14F-4D97-AF65-F5344CB8AC3E}">
        <p14:creationId xmlns:p14="http://schemas.microsoft.com/office/powerpoint/2010/main" val="4080419436"/>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1CBB595-453C-8DC7-5C28-9D8EFE85BC69}"/>
              </a:ext>
            </a:extLst>
          </p:cNvPr>
          <p:cNvPicPr>
            <a:picLocks noGrp="1" noChangeAspect="1"/>
          </p:cNvPicPr>
          <p:nvPr>
            <p:ph idx="1"/>
          </p:nvPr>
        </p:nvPicPr>
        <p:blipFill>
          <a:blip r:embed="rId3"/>
          <a:stretch>
            <a:fillRect/>
          </a:stretch>
        </p:blipFill>
        <p:spPr>
          <a:xfrm>
            <a:off x="401216" y="435423"/>
            <a:ext cx="6089155" cy="1844200"/>
          </a:xfrm>
        </p:spPr>
      </p:pic>
      <p:pic>
        <p:nvPicPr>
          <p:cNvPr id="7" name="Picture 6">
            <a:extLst>
              <a:ext uri="{FF2B5EF4-FFF2-40B4-BE49-F238E27FC236}">
                <a16:creationId xmlns:a16="http://schemas.microsoft.com/office/drawing/2014/main" id="{0FF18D64-E51C-601C-2687-A021068C49F5}"/>
              </a:ext>
            </a:extLst>
          </p:cNvPr>
          <p:cNvPicPr>
            <a:picLocks noChangeAspect="1"/>
          </p:cNvPicPr>
          <p:nvPr/>
        </p:nvPicPr>
        <p:blipFill>
          <a:blip r:embed="rId4"/>
          <a:stretch>
            <a:fillRect/>
          </a:stretch>
        </p:blipFill>
        <p:spPr>
          <a:xfrm>
            <a:off x="5141167" y="270588"/>
            <a:ext cx="6747711" cy="5773641"/>
          </a:xfrm>
          <a:prstGeom prst="rect">
            <a:avLst/>
          </a:prstGeom>
        </p:spPr>
      </p:pic>
    </p:spTree>
    <p:extLst>
      <p:ext uri="{BB962C8B-B14F-4D97-AF65-F5344CB8AC3E}">
        <p14:creationId xmlns:p14="http://schemas.microsoft.com/office/powerpoint/2010/main" val="1738536204"/>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EDE9D9-6B13-7AD9-2C3B-AB4636834C8C}"/>
              </a:ext>
            </a:extLst>
          </p:cNvPr>
          <p:cNvSpPr>
            <a:spLocks noGrp="1"/>
          </p:cNvSpPr>
          <p:nvPr>
            <p:ph idx="1"/>
          </p:nvPr>
        </p:nvSpPr>
        <p:spPr>
          <a:xfrm>
            <a:off x="838200" y="214604"/>
            <a:ext cx="10515600" cy="5962359"/>
          </a:xfrm>
        </p:spPr>
        <p:txBody>
          <a:bodyPr/>
          <a:lstStyle/>
          <a:p>
            <a:pPr algn="just"/>
            <a:r>
              <a:rPr lang="en-US" dirty="0" err="1"/>
              <a:t>Detectection</a:t>
            </a:r>
            <a:r>
              <a:rPr lang="en-US" dirty="0"/>
              <a:t> and removal of outliers:</a:t>
            </a:r>
          </a:p>
          <a:p>
            <a:pPr marL="0" indent="0" algn="just">
              <a:buNone/>
            </a:pPr>
            <a:r>
              <a:rPr lang="en-US" b="0" i="0" dirty="0">
                <a:solidFill>
                  <a:srgbClr val="273239"/>
                </a:solidFill>
                <a:effectLst/>
                <a:latin typeface="Nunito" pitchFamily="2" charset="0"/>
              </a:rPr>
              <a:t>An Outlier is a data-item/object that deviates significantly from the rest of the (so-called normal)objects. They can be caused by measurement or execution errors. The analysis for outlier detection is referred to as outlier mining. There are many ways to detect the outliers, and the removal process is the data frame same as removing a data item from the panda’s data frame.</a:t>
            </a:r>
          </a:p>
          <a:p>
            <a:pPr algn="just" fontAlgn="base"/>
            <a:r>
              <a:rPr lang="en-US" b="1" i="0" dirty="0">
                <a:solidFill>
                  <a:srgbClr val="273239"/>
                </a:solidFill>
                <a:effectLst/>
                <a:latin typeface="Nunito" pitchFamily="2" charset="0"/>
              </a:rPr>
              <a:t>Visualizing Outliers Using Box Plot</a:t>
            </a:r>
          </a:p>
          <a:p>
            <a:pPr algn="just" fontAlgn="base"/>
            <a:r>
              <a:rPr lang="en-US" b="0" i="0" dirty="0">
                <a:solidFill>
                  <a:srgbClr val="273239"/>
                </a:solidFill>
                <a:effectLst/>
                <a:latin typeface="Nunito" pitchFamily="2" charset="0"/>
              </a:rPr>
              <a:t>It captures the summary of the data effectively and efficiently with only a simple box and whiskers. Boxplot summarizes sample data using 25th, 50th, and 75th percentiles. One can just get insights(quartiles, median, and outliers) into the dataset by just looking at its boxplot.</a:t>
            </a:r>
          </a:p>
          <a:p>
            <a:pPr marL="0" indent="0" algn="just">
              <a:buNone/>
            </a:pPr>
            <a:endParaRPr lang="en-IN" dirty="0"/>
          </a:p>
        </p:txBody>
      </p:sp>
    </p:spTree>
    <p:extLst>
      <p:ext uri="{BB962C8B-B14F-4D97-AF65-F5344CB8AC3E}">
        <p14:creationId xmlns:p14="http://schemas.microsoft.com/office/powerpoint/2010/main" val="3789302404"/>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7334E7-2198-013C-BE6B-D08DE1AC2488}"/>
              </a:ext>
            </a:extLst>
          </p:cNvPr>
          <p:cNvSpPr>
            <a:spLocks noGrp="1"/>
          </p:cNvSpPr>
          <p:nvPr>
            <p:ph idx="1"/>
          </p:nvPr>
        </p:nvSpPr>
        <p:spPr>
          <a:xfrm>
            <a:off x="838200" y="261256"/>
            <a:ext cx="10515600" cy="6531429"/>
          </a:xfrm>
        </p:spPr>
        <p:txBody>
          <a:bodyPr>
            <a:normAutofit fontScale="92500" lnSpcReduction="10000"/>
          </a:bodyPr>
          <a:lstStyle/>
          <a:p>
            <a:pPr marL="0" indent="0">
              <a:buNone/>
            </a:pPr>
            <a:endParaRPr lang="en-US" b="0" i="0" dirty="0">
              <a:solidFill>
                <a:srgbClr val="273239"/>
              </a:solidFill>
              <a:effectLst/>
              <a:latin typeface="Nunito" pitchFamily="2" charset="0"/>
            </a:endParaRPr>
          </a:p>
          <a:p>
            <a:pPr marL="0" indent="0">
              <a:buNone/>
            </a:pPr>
            <a:endParaRPr lang="en-US" dirty="0">
              <a:solidFill>
                <a:srgbClr val="273239"/>
              </a:solidFill>
              <a:latin typeface="Nunito" pitchFamily="2" charset="0"/>
            </a:endParaRPr>
          </a:p>
          <a:p>
            <a:pPr marL="0" indent="0">
              <a:buNone/>
            </a:pPr>
            <a:endParaRPr lang="en-US" b="0" i="0" dirty="0">
              <a:solidFill>
                <a:srgbClr val="273239"/>
              </a:solidFill>
              <a:effectLst/>
              <a:latin typeface="Nunito" pitchFamily="2" charset="0"/>
            </a:endParaRPr>
          </a:p>
          <a:p>
            <a:pPr marL="0" indent="0">
              <a:buNone/>
            </a:pPr>
            <a:endParaRPr lang="en-US" dirty="0">
              <a:solidFill>
                <a:srgbClr val="273239"/>
              </a:solidFill>
              <a:latin typeface="Nunito" pitchFamily="2" charset="0"/>
            </a:endParaRPr>
          </a:p>
          <a:p>
            <a:pPr marL="0" indent="0">
              <a:buNone/>
            </a:pPr>
            <a:endParaRPr lang="en-US" b="0" i="0" dirty="0">
              <a:solidFill>
                <a:srgbClr val="273239"/>
              </a:solidFill>
              <a:effectLst/>
              <a:latin typeface="Nunito" pitchFamily="2" charset="0"/>
            </a:endParaRPr>
          </a:p>
          <a:p>
            <a:pPr marL="0" indent="0">
              <a:buNone/>
            </a:pPr>
            <a:endParaRPr lang="en-US" dirty="0">
              <a:solidFill>
                <a:srgbClr val="273239"/>
              </a:solidFill>
              <a:latin typeface="Nunito" pitchFamily="2" charset="0"/>
            </a:endParaRPr>
          </a:p>
          <a:p>
            <a:pPr marL="0" indent="0">
              <a:buNone/>
            </a:pPr>
            <a:endParaRPr lang="en-US" b="0" i="0" dirty="0">
              <a:solidFill>
                <a:srgbClr val="273239"/>
              </a:solidFill>
              <a:effectLst/>
              <a:latin typeface="Nunito" pitchFamily="2" charset="0"/>
            </a:endParaRPr>
          </a:p>
          <a:p>
            <a:pPr marL="0" indent="0">
              <a:buNone/>
            </a:pPr>
            <a:endParaRPr lang="en-US" dirty="0">
              <a:solidFill>
                <a:srgbClr val="273239"/>
              </a:solidFill>
              <a:latin typeface="Nunito" pitchFamily="2" charset="0"/>
            </a:endParaRPr>
          </a:p>
          <a:p>
            <a:pPr marL="0" indent="0">
              <a:buNone/>
            </a:pPr>
            <a:endParaRPr lang="en-US" b="0" i="0" dirty="0">
              <a:solidFill>
                <a:srgbClr val="273239"/>
              </a:solidFill>
              <a:effectLst/>
              <a:latin typeface="Nunito" pitchFamily="2" charset="0"/>
            </a:endParaRPr>
          </a:p>
          <a:p>
            <a:pPr marL="0" indent="0">
              <a:buNone/>
            </a:pPr>
            <a:endParaRPr lang="en-US" dirty="0">
              <a:solidFill>
                <a:srgbClr val="273239"/>
              </a:solidFill>
              <a:latin typeface="Nunito" pitchFamily="2" charset="0"/>
            </a:endParaRPr>
          </a:p>
          <a:p>
            <a:pPr marL="0" indent="0">
              <a:buNone/>
            </a:pPr>
            <a:endParaRPr lang="en-US" b="0" i="0" dirty="0">
              <a:solidFill>
                <a:srgbClr val="273239"/>
              </a:solidFill>
              <a:effectLst/>
              <a:latin typeface="Nunito" pitchFamily="2" charset="0"/>
            </a:endParaRPr>
          </a:p>
          <a:p>
            <a:pPr marL="0" indent="0">
              <a:buNone/>
            </a:pPr>
            <a:endParaRPr lang="en-US" b="0" i="0" dirty="0">
              <a:solidFill>
                <a:srgbClr val="273239"/>
              </a:solidFill>
              <a:effectLst/>
              <a:latin typeface="Nunito" pitchFamily="2" charset="0"/>
            </a:endParaRPr>
          </a:p>
          <a:p>
            <a:pPr marL="0" indent="0">
              <a:buNone/>
            </a:pPr>
            <a:endParaRPr lang="en-US" b="0" i="0" dirty="0">
              <a:solidFill>
                <a:srgbClr val="273239"/>
              </a:solidFill>
              <a:effectLst/>
              <a:latin typeface="Nunito" pitchFamily="2" charset="0"/>
            </a:endParaRPr>
          </a:p>
          <a:p>
            <a:pPr marL="0" indent="0">
              <a:buNone/>
            </a:pPr>
            <a:r>
              <a:rPr lang="en-US" b="0" i="0" dirty="0">
                <a:solidFill>
                  <a:srgbClr val="273239"/>
                </a:solidFill>
                <a:effectLst/>
                <a:latin typeface="Nunito" pitchFamily="2" charset="0"/>
              </a:rPr>
              <a:t>In  the above graph, can clearly see that values above 60 are acting as outliers.</a:t>
            </a:r>
            <a:endParaRPr lang="en-IN" dirty="0"/>
          </a:p>
        </p:txBody>
      </p:sp>
      <p:pic>
        <p:nvPicPr>
          <p:cNvPr id="4" name="Picture 3">
            <a:extLst>
              <a:ext uri="{FF2B5EF4-FFF2-40B4-BE49-F238E27FC236}">
                <a16:creationId xmlns:a16="http://schemas.microsoft.com/office/drawing/2014/main" id="{63F4C378-197A-ACCE-0B42-E0D02F2A0F7E}"/>
              </a:ext>
            </a:extLst>
          </p:cNvPr>
          <p:cNvPicPr>
            <a:picLocks noChangeAspect="1"/>
          </p:cNvPicPr>
          <p:nvPr/>
        </p:nvPicPr>
        <p:blipFill>
          <a:blip r:embed="rId3"/>
          <a:stretch>
            <a:fillRect/>
          </a:stretch>
        </p:blipFill>
        <p:spPr>
          <a:xfrm>
            <a:off x="963562" y="757958"/>
            <a:ext cx="10390238" cy="5342083"/>
          </a:xfrm>
          <a:prstGeom prst="rect">
            <a:avLst/>
          </a:prstGeom>
        </p:spPr>
      </p:pic>
    </p:spTree>
    <p:extLst>
      <p:ext uri="{BB962C8B-B14F-4D97-AF65-F5344CB8AC3E}">
        <p14:creationId xmlns:p14="http://schemas.microsoft.com/office/powerpoint/2010/main" val="3104710725"/>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A0FCA2-A18F-E47F-F498-641FEFEC77FE}"/>
              </a:ext>
            </a:extLst>
          </p:cNvPr>
          <p:cNvSpPr>
            <a:spLocks noGrp="1"/>
          </p:cNvSpPr>
          <p:nvPr>
            <p:ph idx="1"/>
          </p:nvPr>
        </p:nvSpPr>
        <p:spPr>
          <a:xfrm>
            <a:off x="838200" y="373224"/>
            <a:ext cx="10515600" cy="5803739"/>
          </a:xfrm>
        </p:spPr>
        <p:txBody>
          <a:bodyPr/>
          <a:lstStyle/>
          <a:p>
            <a:pPr algn="l" fontAlgn="base"/>
            <a:r>
              <a:rPr lang="en-US" b="1" i="0" dirty="0">
                <a:solidFill>
                  <a:srgbClr val="273239"/>
                </a:solidFill>
                <a:effectLst/>
                <a:latin typeface="Nunito" pitchFamily="2" charset="0"/>
              </a:rPr>
              <a:t>IQR (Inter Quartile Range) </a:t>
            </a:r>
          </a:p>
          <a:p>
            <a:pPr algn="l" fontAlgn="base"/>
            <a:r>
              <a:rPr lang="en-US" b="0" i="0" dirty="0">
                <a:solidFill>
                  <a:srgbClr val="273239"/>
                </a:solidFill>
                <a:effectLst/>
                <a:latin typeface="Nunito" pitchFamily="2" charset="0"/>
              </a:rPr>
              <a:t>IQR</a:t>
            </a:r>
            <a:r>
              <a:rPr lang="en-US" b="0" i="0" u="sng" dirty="0">
                <a:solidFill>
                  <a:srgbClr val="273239"/>
                </a:solidFill>
                <a:effectLst/>
                <a:latin typeface="Nunito" pitchFamily="2" charset="0"/>
                <a:hlinkClick r:id="rId3"/>
              </a:rPr>
              <a:t> </a:t>
            </a:r>
            <a:r>
              <a:rPr lang="en-US" b="0" i="0" dirty="0">
                <a:solidFill>
                  <a:srgbClr val="273239"/>
                </a:solidFill>
                <a:effectLst/>
                <a:latin typeface="Nunito" pitchFamily="2" charset="0"/>
              </a:rPr>
              <a:t>(Inter Quartile Range) Inter Quartile Range approach to finding the outliers is the most commonly used and most trusted approach used in the research field.</a:t>
            </a:r>
          </a:p>
          <a:p>
            <a:pPr algn="l" fontAlgn="base"/>
            <a:r>
              <a:rPr lang="en-IN" b="0" i="0" dirty="0">
                <a:solidFill>
                  <a:srgbClr val="273239"/>
                </a:solidFill>
                <a:effectLst/>
                <a:latin typeface="Nunito" pitchFamily="2" charset="0"/>
              </a:rPr>
              <a:t>Syntax: </a:t>
            </a:r>
            <a:r>
              <a:rPr lang="en-IN" b="0" i="0" dirty="0" err="1">
                <a:solidFill>
                  <a:srgbClr val="273239"/>
                </a:solidFill>
                <a:effectLst/>
                <a:latin typeface="Nunito" pitchFamily="2" charset="0"/>
              </a:rPr>
              <a:t>numpy.percentile</a:t>
            </a:r>
            <a:r>
              <a:rPr lang="en-IN" b="0" i="0" dirty="0">
                <a:solidFill>
                  <a:srgbClr val="273239"/>
                </a:solidFill>
                <a:effectLst/>
                <a:latin typeface="Nunito" pitchFamily="2" charset="0"/>
              </a:rPr>
              <a:t>(</a:t>
            </a:r>
            <a:r>
              <a:rPr lang="en-IN" b="0" i="0" dirty="0" err="1">
                <a:solidFill>
                  <a:srgbClr val="273239"/>
                </a:solidFill>
                <a:effectLst/>
                <a:latin typeface="Nunito" pitchFamily="2" charset="0"/>
              </a:rPr>
              <a:t>arr</a:t>
            </a:r>
            <a:r>
              <a:rPr lang="en-IN" b="0" i="0" dirty="0">
                <a:solidFill>
                  <a:srgbClr val="273239"/>
                </a:solidFill>
                <a:effectLst/>
                <a:latin typeface="Nunito" pitchFamily="2" charset="0"/>
              </a:rPr>
              <a:t>, n, axis=None, out=None) </a:t>
            </a:r>
            <a:br>
              <a:rPr lang="en-IN" dirty="0"/>
            </a:br>
            <a:r>
              <a:rPr lang="en-IN" b="0" i="0" dirty="0" err="1">
                <a:solidFill>
                  <a:srgbClr val="273239"/>
                </a:solidFill>
                <a:effectLst/>
                <a:latin typeface="Nunito" pitchFamily="2" charset="0"/>
              </a:rPr>
              <a:t>arr</a:t>
            </a:r>
            <a:r>
              <a:rPr lang="en-IN" b="0" i="0" dirty="0">
                <a:solidFill>
                  <a:srgbClr val="273239"/>
                </a:solidFill>
                <a:effectLst/>
                <a:latin typeface="Nunito" pitchFamily="2" charset="0"/>
              </a:rPr>
              <a:t> :input array.</a:t>
            </a:r>
            <a:br>
              <a:rPr lang="en-IN" dirty="0"/>
            </a:br>
            <a:r>
              <a:rPr lang="en-IN" b="0" i="0" dirty="0">
                <a:solidFill>
                  <a:srgbClr val="273239"/>
                </a:solidFill>
                <a:effectLst/>
                <a:latin typeface="Nunito" pitchFamily="2" charset="0"/>
              </a:rPr>
              <a:t>n : percentile value.</a:t>
            </a:r>
            <a:r>
              <a:rPr lang="en-US" dirty="0">
                <a:solidFill>
                  <a:srgbClr val="273239"/>
                </a:solidFill>
                <a:latin typeface="Nunito" pitchFamily="2" charset="0"/>
              </a:rPr>
              <a:t>                </a:t>
            </a:r>
            <a:r>
              <a:rPr lang="en-IN" b="0" i="1" dirty="0">
                <a:solidFill>
                  <a:srgbClr val="273239"/>
                </a:solidFill>
                <a:effectLst/>
                <a:latin typeface="Nunito" pitchFamily="2" charset="0"/>
              </a:rPr>
              <a:t>IQR = Quartile3 – Quartile1</a:t>
            </a:r>
            <a:endParaRPr lang="en-US" b="0" i="0" dirty="0">
              <a:solidFill>
                <a:srgbClr val="273239"/>
              </a:solidFill>
              <a:effectLst/>
              <a:latin typeface="Nunito" pitchFamily="2" charset="0"/>
            </a:endParaRPr>
          </a:p>
          <a:p>
            <a:endParaRPr lang="en-IN" dirty="0"/>
          </a:p>
        </p:txBody>
      </p:sp>
      <p:pic>
        <p:nvPicPr>
          <p:cNvPr id="5" name="Picture 4">
            <a:extLst>
              <a:ext uri="{FF2B5EF4-FFF2-40B4-BE49-F238E27FC236}">
                <a16:creationId xmlns:a16="http://schemas.microsoft.com/office/drawing/2014/main" id="{380FAAC8-A46D-8FB4-111A-EE4A40A8C2B1}"/>
              </a:ext>
            </a:extLst>
          </p:cNvPr>
          <p:cNvPicPr>
            <a:picLocks noChangeAspect="1"/>
          </p:cNvPicPr>
          <p:nvPr/>
        </p:nvPicPr>
        <p:blipFill>
          <a:blip r:embed="rId4"/>
          <a:stretch>
            <a:fillRect/>
          </a:stretch>
        </p:blipFill>
        <p:spPr>
          <a:xfrm>
            <a:off x="2198881" y="3019425"/>
            <a:ext cx="7421011" cy="3362794"/>
          </a:xfrm>
          <a:prstGeom prst="rect">
            <a:avLst/>
          </a:prstGeom>
        </p:spPr>
      </p:pic>
    </p:spTree>
    <p:extLst>
      <p:ext uri="{BB962C8B-B14F-4D97-AF65-F5344CB8AC3E}">
        <p14:creationId xmlns:p14="http://schemas.microsoft.com/office/powerpoint/2010/main" val="2574710602"/>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C5A804-7ECB-B2E8-CB96-0E960523CDAE}"/>
              </a:ext>
            </a:extLst>
          </p:cNvPr>
          <p:cNvSpPr>
            <a:spLocks noGrp="1"/>
          </p:cNvSpPr>
          <p:nvPr>
            <p:ph idx="1"/>
          </p:nvPr>
        </p:nvSpPr>
        <p:spPr>
          <a:xfrm>
            <a:off x="838200" y="491613"/>
            <a:ext cx="10515600" cy="5685350"/>
          </a:xfrm>
        </p:spPr>
        <p:txBody>
          <a:bodyPr/>
          <a:lstStyle/>
          <a:p>
            <a:r>
              <a:rPr lang="en-US" b="0" i="0" dirty="0">
                <a:solidFill>
                  <a:srgbClr val="273239"/>
                </a:solidFill>
                <a:effectLst/>
                <a:latin typeface="Nunito" pitchFamily="2" charset="0"/>
              </a:rPr>
              <a:t>To define the outlier base value is defined above and below dataset’s normal range namely Upper and Lower bounds, define the upper and the lower bound (1.5*IQR value is considered) :</a:t>
            </a:r>
          </a:p>
          <a:p>
            <a:pPr algn="l" fontAlgn="base"/>
            <a:r>
              <a:rPr lang="en-US" b="0" i="1" dirty="0">
                <a:solidFill>
                  <a:srgbClr val="273239"/>
                </a:solidFill>
                <a:effectLst/>
                <a:latin typeface="Nunito" pitchFamily="2" charset="0"/>
              </a:rPr>
              <a:t>upper = Q3 +1.5*IQR</a:t>
            </a:r>
          </a:p>
          <a:p>
            <a:pPr algn="l" fontAlgn="base"/>
            <a:r>
              <a:rPr lang="en-US" b="0" i="1" dirty="0">
                <a:solidFill>
                  <a:srgbClr val="273239"/>
                </a:solidFill>
                <a:effectLst/>
                <a:latin typeface="Nunito" pitchFamily="2" charset="0"/>
              </a:rPr>
              <a:t>lower = Q1 – 1.5*IQR</a:t>
            </a:r>
          </a:p>
          <a:p>
            <a:r>
              <a:rPr lang="en-US" b="0" i="0" dirty="0">
                <a:solidFill>
                  <a:srgbClr val="273239"/>
                </a:solidFill>
                <a:effectLst/>
                <a:latin typeface="Nunito" pitchFamily="2" charset="0"/>
              </a:rPr>
              <a:t>In the above formula as according to statistics, the 0.5 scale-up of IQR (</a:t>
            </a:r>
            <a:r>
              <a:rPr lang="en-US" b="0" i="0" dirty="0" err="1">
                <a:solidFill>
                  <a:srgbClr val="273239"/>
                </a:solidFill>
                <a:effectLst/>
                <a:latin typeface="Nunito" pitchFamily="2" charset="0"/>
              </a:rPr>
              <a:t>new_IQR</a:t>
            </a:r>
            <a:r>
              <a:rPr lang="en-US" b="0" i="0" dirty="0">
                <a:solidFill>
                  <a:srgbClr val="273239"/>
                </a:solidFill>
                <a:effectLst/>
                <a:latin typeface="Nunito" pitchFamily="2" charset="0"/>
              </a:rPr>
              <a:t> = IQR + 0.5*IQR) is taken, to consider all the data between 2.7 standard deviations in the Gaussian Distribution.</a:t>
            </a:r>
            <a:endParaRPr lang="en-IN" dirty="0"/>
          </a:p>
        </p:txBody>
      </p:sp>
    </p:spTree>
    <p:extLst>
      <p:ext uri="{BB962C8B-B14F-4D97-AF65-F5344CB8AC3E}">
        <p14:creationId xmlns:p14="http://schemas.microsoft.com/office/powerpoint/2010/main" val="2747343607"/>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322025-94DC-57BF-D9D6-CCD76E2DB51A}"/>
              </a:ext>
            </a:extLst>
          </p:cNvPr>
          <p:cNvPicPr>
            <a:picLocks noChangeAspect="1"/>
          </p:cNvPicPr>
          <p:nvPr/>
        </p:nvPicPr>
        <p:blipFill>
          <a:blip r:embed="rId3"/>
          <a:stretch>
            <a:fillRect/>
          </a:stretch>
        </p:blipFill>
        <p:spPr>
          <a:xfrm>
            <a:off x="727587" y="285135"/>
            <a:ext cx="9979742" cy="6440129"/>
          </a:xfrm>
          <a:prstGeom prst="rect">
            <a:avLst/>
          </a:prstGeom>
        </p:spPr>
      </p:pic>
    </p:spTree>
    <p:extLst>
      <p:ext uri="{BB962C8B-B14F-4D97-AF65-F5344CB8AC3E}">
        <p14:creationId xmlns:p14="http://schemas.microsoft.com/office/powerpoint/2010/main" val="3793495038"/>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156EB21-CA4E-A0BD-5F1A-7668C34B239C}"/>
              </a:ext>
            </a:extLst>
          </p:cNvPr>
          <p:cNvPicPr>
            <a:picLocks noGrp="1" noChangeAspect="1"/>
          </p:cNvPicPr>
          <p:nvPr>
            <p:ph idx="1"/>
          </p:nvPr>
        </p:nvPicPr>
        <p:blipFill>
          <a:blip r:embed="rId3"/>
          <a:stretch>
            <a:fillRect/>
          </a:stretch>
        </p:blipFill>
        <p:spPr>
          <a:xfrm>
            <a:off x="963561" y="255638"/>
            <a:ext cx="10805652" cy="6371303"/>
          </a:xfrm>
        </p:spPr>
      </p:pic>
    </p:spTree>
    <p:extLst>
      <p:ext uri="{BB962C8B-B14F-4D97-AF65-F5344CB8AC3E}">
        <p14:creationId xmlns:p14="http://schemas.microsoft.com/office/powerpoint/2010/main" val="3055314622"/>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0CFD714-1D70-9F7E-99E3-D4B19BA9DD11}"/>
              </a:ext>
            </a:extLst>
          </p:cNvPr>
          <p:cNvPicPr>
            <a:picLocks noGrp="1" noChangeAspect="1"/>
          </p:cNvPicPr>
          <p:nvPr>
            <p:ph idx="1"/>
          </p:nvPr>
        </p:nvPicPr>
        <p:blipFill>
          <a:blip r:embed="rId3"/>
          <a:stretch>
            <a:fillRect/>
          </a:stretch>
        </p:blipFill>
        <p:spPr>
          <a:xfrm>
            <a:off x="2035277" y="727587"/>
            <a:ext cx="7747820" cy="4060723"/>
          </a:xfrm>
        </p:spPr>
      </p:pic>
    </p:spTree>
    <p:extLst>
      <p:ext uri="{BB962C8B-B14F-4D97-AF65-F5344CB8AC3E}">
        <p14:creationId xmlns:p14="http://schemas.microsoft.com/office/powerpoint/2010/main" val="1124931826"/>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Gill Sans MT"/>
                <a:ea typeface="+mn-ea"/>
                <a:cs typeface="+mn-cs"/>
              </a:rPr>
              <a:t>REFERENCES FOR FURTHER LEARNING OF THE SESSION</a:t>
            </a:r>
            <a:endParaRPr kumimoji="0" lang="en-US" sz="1800" b="0" i="0" u="none" strike="noStrike" kern="1200" cap="none" spc="0" normalizeH="0" baseline="0" noProof="0" dirty="0">
              <a:ln>
                <a:noFill/>
              </a:ln>
              <a:solidFill>
                <a:prstClr val="white"/>
              </a:solidFill>
              <a:effectLst/>
              <a:uLnTx/>
              <a:uFillTx/>
              <a:latin typeface="Poppins" panose="00000500000000000000" pitchFamily="2" charset="0"/>
              <a:ea typeface="+mn-ea"/>
              <a:cs typeface="Poppins" panose="00000500000000000000" pitchFamily="2" charset="0"/>
            </a:endParaRPr>
          </a:p>
        </p:txBody>
      </p:sp>
      <p:sp>
        <p:nvSpPr>
          <p:cNvPr id="9" name="TextBox 8"/>
          <p:cNvSpPr txBox="1"/>
          <p:nvPr/>
        </p:nvSpPr>
        <p:spPr>
          <a:xfrm>
            <a:off x="900331" y="1167618"/>
            <a:ext cx="10409819" cy="4060022"/>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Gill Sans MT"/>
                <a:ea typeface="+mn-ea"/>
                <a:cs typeface="+mn-cs"/>
              </a:rPr>
              <a:t>Text Books:</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Introduction to Data Science- A Structured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Methodology,Goran</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trajkovski</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Data Science from Scratch- Joel Grus - O’Reilly - 2015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Practical Statistics for Data Scientists - Peter Bruce, Andrew Bruce &amp; Peter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Gedeck</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 O’Reilly - 2020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Data Science and Machine Learning (Mathematical and Statistical Methods) - Dirk P. Kroese, Zdravko I. Botev, Thomas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Taimre</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Radislav Vaisman- Chapman and Hall/CRC - 2025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Foundations of Data Science -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Avrim</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Blum, John Hopcroft, and Ravindran Kannan - Cambridge University Press – 2020</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Gill Sans MT"/>
                <a:ea typeface="+mn-ea"/>
                <a:cs typeface="+mn-cs"/>
              </a:rPr>
              <a:t>Reference Books:</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R1.Data Science and Its Applications by Aakanksha </a:t>
            </a:r>
            <a:r>
              <a:rPr kumimoji="0" lang="en-US" sz="1800" b="0" i="0" u="none" strike="noStrike" kern="1200" cap="none" spc="0" normalizeH="0" baseline="0" noProof="0" dirty="0" err="1">
                <a:ln>
                  <a:noFill/>
                </a:ln>
                <a:solidFill>
                  <a:prstClr val="black"/>
                </a:solidFill>
                <a:effectLst/>
                <a:uLnTx/>
                <a:uFillTx/>
                <a:latin typeface="Gill Sans MT"/>
                <a:ea typeface="+mn-ea"/>
                <a:cs typeface="+mn-cs"/>
              </a:rPr>
              <a:t>Sharaff</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and G. R. Sinha. </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R2. Introducing Data Science Big Data, Machine Learning, and more using Python tools. by Davy </a:t>
            </a:r>
            <a:r>
              <a:rPr kumimoji="0" lang="en-US" sz="1800" b="0" i="0" u="none" strike="noStrike" kern="1200" cap="none" spc="0" normalizeH="0" baseline="0" noProof="0" dirty="0" err="1">
                <a:ln>
                  <a:noFill/>
                </a:ln>
                <a:solidFill>
                  <a:prstClr val="black"/>
                </a:solidFill>
                <a:effectLst/>
                <a:uLnTx/>
                <a:uFillTx/>
                <a:latin typeface="Gill Sans MT"/>
                <a:ea typeface="+mn-ea"/>
                <a:cs typeface="+mn-cs"/>
              </a:rPr>
              <a:t>cielen</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Arno D.B. </a:t>
            </a:r>
            <a:r>
              <a:rPr kumimoji="0" lang="en-US" sz="1800" b="0" i="0" u="none" strike="noStrike" kern="1200" cap="none" spc="0" normalizeH="0" baseline="0" noProof="0" dirty="0" err="1">
                <a:ln>
                  <a:noFill/>
                </a:ln>
                <a:solidFill>
                  <a:prstClr val="black"/>
                </a:solidFill>
                <a:effectLst/>
                <a:uLnTx/>
                <a:uFillTx/>
                <a:latin typeface="Gill Sans MT"/>
                <a:ea typeface="+mn-ea"/>
                <a:cs typeface="+mn-cs"/>
              </a:rPr>
              <a:t>Meysman</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and Mohamed Ali.</a:t>
            </a:r>
            <a:endParaRPr kumimoji="0" lang="en-US" altLang="en-US" sz="18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p:txBody>
      </p:sp>
    </p:spTree>
    <p:extLst>
      <p:ext uri="{BB962C8B-B14F-4D97-AF65-F5344CB8AC3E}">
        <p14:creationId xmlns:p14="http://schemas.microsoft.com/office/powerpoint/2010/main" val="104527235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THANK YOU</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Team – DS</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2.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3.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4.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5.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6.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7.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8.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9.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0.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1.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2.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docProps/app.xml><?xml version="1.0" encoding="utf-8"?>
<Properties xmlns="http://schemas.openxmlformats.org/officeDocument/2006/extended-properties" xmlns:vt="http://schemas.openxmlformats.org/officeDocument/2006/docPropsVTypes">
  <Template/>
  <TotalTime>1204</TotalTime>
  <Words>1031</Words>
  <Application>Microsoft Office PowerPoint</Application>
  <PresentationFormat>Widescreen</PresentationFormat>
  <Paragraphs>112</Paragraphs>
  <Slides>17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Arial</vt:lpstr>
      <vt:lpstr>Calibri</vt:lpstr>
      <vt:lpstr>Cambria Math</vt:lpstr>
      <vt:lpstr>Gill Sans MT</vt:lpstr>
      <vt:lpstr>inter-bold</vt:lpstr>
      <vt:lpstr>inter-regular</vt:lpstr>
      <vt:lpstr>Nunito</vt:lpstr>
      <vt:lpstr>Poppins</vt:lpstr>
      <vt:lpstr>Times New Roman</vt:lpstr>
      <vt:lpstr>Wingdings</vt:lpstr>
      <vt:lpstr>Gallery</vt:lpstr>
      <vt:lpstr>PowerPoint Presentation</vt:lpstr>
      <vt:lpstr>PowerPoint Presentation</vt:lpstr>
      <vt:lpstr>      Key Concepts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Data Visualization?</dc:title>
  <dc:creator>N Sunanda</dc:creator>
  <cp:lastModifiedBy>sunanda nalajala</cp:lastModifiedBy>
  <cp:revision>25</cp:revision>
  <dcterms:created xsi:type="dcterms:W3CDTF">2023-11-08T08:15:22Z</dcterms:created>
  <dcterms:modified xsi:type="dcterms:W3CDTF">2026-08-31T08:49:11Z</dcterms:modified>
</cp:coreProperties>
</file>