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1"/>
  </p:notesMasterIdLst>
  <p:sldIdLst>
    <p:sldId id="256" r:id="rId2"/>
    <p:sldId id="300" r:id="rId3"/>
    <p:sldId id="363" r:id="rId4"/>
    <p:sldId id="264" r:id="rId5"/>
    <p:sldId id="431" r:id="rId6"/>
    <p:sldId id="266" r:id="rId7"/>
    <p:sldId id="430" r:id="rId8"/>
    <p:sldId id="267" r:id="rId9"/>
    <p:sldId id="400" r:id="rId10"/>
    <p:sldId id="401" r:id="rId11"/>
    <p:sldId id="433" r:id="rId12"/>
    <p:sldId id="434" r:id="rId13"/>
    <p:sldId id="435" r:id="rId14"/>
    <p:sldId id="436" r:id="rId15"/>
    <p:sldId id="437" r:id="rId16"/>
    <p:sldId id="438" r:id="rId17"/>
    <p:sldId id="397" r:id="rId18"/>
    <p:sldId id="398" r:id="rId19"/>
    <p:sldId id="304" r:id="rId20"/>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84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19ED86E-0269-4E26-9841-88134575E42F}" type="datetimeFigureOut">
              <a:rPr lang="en-IN" smtClean="0"/>
              <a:t>19-08-2026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AD40D49-0E64-48A7-B773-BFD6D66401AF}" type="slidenum">
              <a:rPr lang="en-IN" smtClean="0"/>
              <a:t>‹#›</a:t>
            </a:fld>
            <a:endParaRPr lang="en-IN"/>
          </a:p>
        </p:txBody>
      </p:sp>
    </p:spTree>
    <p:extLst>
      <p:ext uri="{BB962C8B-B14F-4D97-AF65-F5344CB8AC3E}">
        <p14:creationId xmlns:p14="http://schemas.microsoft.com/office/powerpoint/2010/main" val="1272367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AD40D49-0E64-48A7-B773-BFD6D66401AF}" type="slidenum">
              <a:rPr lang="en-IN" smtClean="0"/>
              <a:t>1</a:t>
            </a:fld>
            <a:endParaRPr lang="en-IN"/>
          </a:p>
        </p:txBody>
      </p:sp>
    </p:spTree>
    <p:extLst>
      <p:ext uri="{BB962C8B-B14F-4D97-AF65-F5344CB8AC3E}">
        <p14:creationId xmlns:p14="http://schemas.microsoft.com/office/powerpoint/2010/main" val="117028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72246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187827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4282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10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23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892208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36283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220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8/19/2026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830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0410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29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529304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08000" y="213359"/>
            <a:ext cx="11176000" cy="546735"/>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888888"/>
                </a:solidFill>
                <a:latin typeface="Arial MT"/>
                <a:cs typeface="Arial MT"/>
              </a:defRPr>
            </a:lvl1pPr>
          </a:lstStyle>
          <a:p>
            <a:pPr marL="12700">
              <a:lnSpc>
                <a:spcPts val="1070"/>
              </a:lnSpc>
            </a:pPr>
            <a:r>
              <a:rPr dirty="0"/>
              <a:t>Canadian</a:t>
            </a:r>
            <a:r>
              <a:rPr spc="-25" dirty="0"/>
              <a:t> </a:t>
            </a:r>
            <a:r>
              <a:rPr dirty="0"/>
              <a:t>Data</a:t>
            </a:r>
            <a:r>
              <a:rPr spc="-25" dirty="0"/>
              <a:t> </a:t>
            </a:r>
            <a:r>
              <a:rPr dirty="0"/>
              <a:t>Science</a:t>
            </a:r>
            <a:r>
              <a:rPr spc="-25" dirty="0"/>
              <a:t> </a:t>
            </a:r>
            <a:r>
              <a:rPr spc="-5" dirty="0"/>
              <a:t>Workshop</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8/19/2026</a:t>
            </a:fld>
            <a:endParaRPr lang="en-US"/>
          </a:p>
        </p:txBody>
      </p:sp>
      <p:sp>
        <p:nvSpPr>
          <p:cNvPr id="6" name="Holder 6"/>
          <p:cNvSpPr>
            <a:spLocks noGrp="1"/>
          </p:cNvSpPr>
          <p:nvPr>
            <p:ph type="sldNum" sz="quarter" idx="7"/>
          </p:nvPr>
        </p:nvSpPr>
        <p:spPr/>
        <p:txBody>
          <a:bodyPr lIns="0" tIns="0" rIns="0" bIns="0"/>
          <a:lstStyle>
            <a:lvl1pPr>
              <a:defRPr sz="1000" b="0" i="0">
                <a:solidFill>
                  <a:srgbClr val="888888"/>
                </a:solidFill>
                <a:latin typeface="Arial MT"/>
                <a:cs typeface="Arial MT"/>
              </a:defRPr>
            </a:lvl1pPr>
          </a:lstStyle>
          <a:p>
            <a:pPr marL="109855">
              <a:lnSpc>
                <a:spcPts val="1070"/>
              </a:lnSpc>
            </a:pPr>
            <a:fld id="{81D60167-4931-47E6-BA6A-407CBD079E47}" type="slidenum">
              <a:rPr dirty="0"/>
              <a:pPr marL="109855">
                <a:lnSpc>
                  <a:spcPts val="1070"/>
                </a:lnSpc>
              </a:pPr>
              <a:t>‹#›</a:t>
            </a:fld>
            <a:endParaRPr dirty="0"/>
          </a:p>
        </p:txBody>
      </p:sp>
    </p:spTree>
    <p:extLst>
      <p:ext uri="{BB962C8B-B14F-4D97-AF65-F5344CB8AC3E}">
        <p14:creationId xmlns:p14="http://schemas.microsoft.com/office/powerpoint/2010/main" val="1018033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8/19/2026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7"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8107654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hyperlink" Target="https://github.com/Codecademy/datasets/tree/master/streeteasy" TargetMode="Externa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emf"/></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data-analysis/box-plot/" TargetMode="External"/><Relationship Id="rId2" Type="http://schemas.openxmlformats.org/officeDocument/2006/relationships/hyperlink" Target="https://www.geeksforgeeks.org/maths/histogram/" TargetMode="External"/><Relationship Id="rId1" Type="http://schemas.openxmlformats.org/officeDocument/2006/relationships/slideLayout" Target="../slideLayouts/slideLayout2.xml"/><Relationship Id="rId4" Type="http://schemas.openxmlformats.org/officeDocument/2006/relationships/hyperlink" Target="https://www.geeksforgeeks.org/data-visualization/bar-graph-meaning-types-and-example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maths/scatter-plot/" TargetMode="External"/><Relationship Id="rId7" Type="http://schemas.openxmlformats.org/officeDocument/2006/relationships/hyperlink" Target="https://www.geeksforgeeks.org/data-analysis/mathematics-covariance-and-correlation/" TargetMode="External"/><Relationship Id="rId2" Type="http://schemas.openxmlformats.org/officeDocument/2006/relationships/hyperlink" Target="https://www.geeksforgeeks.org/maths/bivariate-analysis/" TargetMode="External"/><Relationship Id="rId1" Type="http://schemas.openxmlformats.org/officeDocument/2006/relationships/slideLayout" Target="../slideLayouts/slideLayout2.xml"/><Relationship Id="rId6" Type="http://schemas.openxmlformats.org/officeDocument/2006/relationships/hyperlink" Target="https://www.geeksforgeeks.org/maths/line-graph/" TargetMode="External"/><Relationship Id="rId5" Type="http://schemas.openxmlformats.org/officeDocument/2006/relationships/hyperlink" Target="https://www.geeksforgeeks.org/data-analysis/what-is-cross-tabulation-and-how-does-it-organize-data-in-a-table/" TargetMode="External"/><Relationship Id="rId4" Type="http://schemas.openxmlformats.org/officeDocument/2006/relationships/hyperlink" Target="https://www.geeksforgeeks.org/maths/pearson-correlation-coefficient/"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python/pairplot-in-matplotlib/" TargetMode="External"/><Relationship Id="rId2" Type="http://schemas.openxmlformats.org/officeDocument/2006/relationships/hyperlink" Target="https://www.geeksforgeeks.org/r-language/multivariate-analysis-in-r/" TargetMode="External"/><Relationship Id="rId1" Type="http://schemas.openxmlformats.org/officeDocument/2006/relationships/slideLayout" Target="../slideLayouts/slideLayout2.xml"/><Relationship Id="rId5" Type="http://schemas.openxmlformats.org/officeDocument/2006/relationships/hyperlink" Target="https://www.geeksforgeeks.org/data-analysis/what-is-spatial-analysis/" TargetMode="External"/><Relationship Id="rId4" Type="http://schemas.openxmlformats.org/officeDocument/2006/relationships/hyperlink" Target="https://www.geeksforgeeks.org/data-analysis/principal-component-analysis-pca/"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00B0F0"/>
                </a:solidFill>
                <a:cs typeface="Poppins" pitchFamily="2" charset="77"/>
              </a:rPr>
              <a:t>Department of CSE</a:t>
            </a: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317005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Data science</a:t>
            </a: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ln/>
                <a:solidFill>
                  <a:srgbClr val="00B0F0"/>
                </a:solidFill>
                <a:cs typeface="Poppins" panose="00000500000000000000" pitchFamily="2" charset="0"/>
                <a:sym typeface="BioRhyme ExtraBold"/>
              </a:rPr>
              <a:t>COURSE CODE: 24AD3107</a:t>
            </a:r>
            <a:r>
              <a:rPr lang="en-US" sz="3200" b="1" cap="all" dirty="0">
                <a:ln/>
                <a:solidFill>
                  <a:srgbClr val="C00000"/>
                </a:solidFill>
                <a:cs typeface="Poppins" panose="00000500000000000000" pitchFamily="2" charset="0"/>
                <a:sym typeface="BioRhyme ExtraBold"/>
              </a:rPr>
              <a:t>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altLang="en-US" sz="3200" b="1" cap="all" dirty="0">
                <a:ln/>
                <a:solidFill>
                  <a:srgbClr val="C00000"/>
                </a:solidFill>
                <a:cs typeface="Poppins" panose="00000500000000000000" pitchFamily="2" charset="0"/>
              </a:rPr>
              <a:t>Exploratory data analysis  &amp; Data visualization</a:t>
            </a:r>
            <a:endParaRPr lang="en-US" sz="3200" b="1" cap="all" dirty="0">
              <a:ln/>
              <a:solidFill>
                <a:srgbClr val="C00000"/>
              </a:solidFill>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ea typeface="Calibri"/>
                <a:cs typeface="Poppins" panose="00000500000000000000" pitchFamily="2" charset="0"/>
                <a:sym typeface="Calibri"/>
              </a:rPr>
              <a:t>Session - 1</a:t>
            </a:r>
            <a:endParaRPr sz="2800" b="1"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Exploratory data analysis and data visualization</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5191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r>
              <a:rPr lang="en-US" sz="1600" dirty="0">
                <a:latin typeface="Poppins"/>
                <a:cs typeface="Poppins"/>
              </a:rPr>
              <a:t>Introduction to Exploratory data analysis and data visualization</a:t>
            </a:r>
            <a:endParaRPr lang="en-US" sz="1600" b="0" i="0" dirty="0">
              <a:effectLst/>
              <a:latin typeface="Poppins"/>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50834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 basic knowledge </a:t>
            </a:r>
            <a:r>
              <a:rPr lang="en-US" altLang="en-US" sz="1600" dirty="0">
                <a:latin typeface="Arial"/>
                <a:cs typeface="Arial"/>
              </a:rPr>
              <a:t>of EDA &amp; DV</a:t>
            </a:r>
            <a:endParaRPr lang="en-US" sz="1600" b="0" i="0" dirty="0">
              <a:effectLst/>
              <a:latin typeface="Arial"/>
              <a:cs typeface="Arial"/>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9281" y="1316038"/>
            <a:ext cx="11602720" cy="4595812"/>
          </a:xfrm>
        </p:spPr>
        <p:txBody>
          <a:bodyPr>
            <a:normAutofit/>
          </a:bodyPr>
          <a:lstStyle/>
          <a:p>
            <a:pPr>
              <a:buFont typeface="Wingdings" pitchFamily="2" charset="2"/>
              <a:buChar char="v"/>
              <a:defRPr/>
            </a:pPr>
            <a:r>
              <a:rPr lang="en-US" altLang="en-US" sz="2800" dirty="0"/>
              <a:t>Introduction to EDA</a:t>
            </a:r>
            <a:endParaRPr lang="en-US" sz="2800" dirty="0"/>
          </a:p>
          <a:p>
            <a:pPr>
              <a:buFont typeface="Wingdings" pitchFamily="2" charset="2"/>
              <a:buChar char="v"/>
              <a:defRPr/>
            </a:pPr>
            <a:r>
              <a:rPr lang="en-US" altLang="en-US" sz="2800" dirty="0"/>
              <a:t>Types of EDA</a:t>
            </a:r>
          </a:p>
          <a:p>
            <a:pPr>
              <a:buFont typeface="Wingdings" pitchFamily="2" charset="2"/>
              <a:buChar char="v"/>
              <a:defRPr/>
            </a:pPr>
            <a:r>
              <a:rPr lang="en-US" sz="2800" dirty="0"/>
              <a:t>Introduction to Data Visualization</a:t>
            </a:r>
          </a:p>
          <a:p>
            <a:pPr>
              <a:buFont typeface="Wingdings" pitchFamily="2" charset="2"/>
              <a:buChar char="v"/>
              <a:defRPr/>
            </a:pPr>
            <a:endParaRPr lang="en-US" sz="2800" dirty="0"/>
          </a:p>
          <a:p>
            <a:pPr>
              <a:buFont typeface="Wingdings" pitchFamily="2" charset="2"/>
              <a:buChar char="v"/>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animEffect transition="in" filter="wipe(left)">
                                      <p:cBhvr>
                                        <p:cTn id="11" dur="500"/>
                                        <p:tgtEl>
                                          <p:spTgt spid="18435">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animEffect transition="in" filter="wipe(left)">
                                      <p:cBhvr>
                                        <p:cTn id="15"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8000" y="937260"/>
            <a:ext cx="11226800" cy="5173211"/>
          </a:xfrm>
          <a:prstGeom prst="rect">
            <a:avLst/>
          </a:prstGeom>
        </p:spPr>
        <p:txBody>
          <a:bodyPr vert="horz" wrap="square" lIns="0" tIns="2540" rIns="0" bIns="0" rtlCol="0">
            <a:spAutoFit/>
          </a:bodyPr>
          <a:lstStyle/>
          <a:p>
            <a:pPr algn="just"/>
            <a:r>
              <a:rPr lang="en-US" sz="2800" dirty="0"/>
              <a:t>Data visualization is an important component of Exploratory Data Analysis (EDA) because it allows a data analyst to “look at” their data and get to know the variables and  relationships between them. In order to choose and design a data visualization, </a:t>
            </a:r>
          </a:p>
          <a:p>
            <a:pPr algn="just"/>
            <a:r>
              <a:rPr lang="en-US" sz="2800" dirty="0"/>
              <a:t>It is important to consider two things:</a:t>
            </a:r>
          </a:p>
          <a:p>
            <a:pPr algn="just"/>
            <a:r>
              <a:rPr lang="en-US" sz="2800" dirty="0"/>
              <a:t>The question you want to answer (and how many variables that question involves).</a:t>
            </a:r>
          </a:p>
          <a:p>
            <a:pPr algn="just"/>
            <a:r>
              <a:rPr lang="en-US" sz="2800" dirty="0"/>
              <a:t>The data that is available. (is it quantitative or categorical?)</a:t>
            </a:r>
          </a:p>
          <a:p>
            <a:pPr algn="just"/>
            <a:r>
              <a:rPr lang="en-US" sz="2800" dirty="0"/>
              <a:t>Exploratory Data Analysis (EDA) is an important step in data analysis where we explore, summarize, and visualize data to understand its structure, detect patterns, identify anomalies, test assumptions, and check relationships between variables before applying any machine learning or statistical models.</a:t>
            </a:r>
          </a:p>
        </p:txBody>
      </p:sp>
      <p:sp>
        <p:nvSpPr>
          <p:cNvPr id="9" name="object 9"/>
          <p:cNvSpPr txBox="1"/>
          <p:nvPr/>
        </p:nvSpPr>
        <p:spPr>
          <a:xfrm>
            <a:off x="11919714" y="6523031"/>
            <a:ext cx="96520" cy="152400"/>
          </a:xfrm>
          <a:prstGeom prst="rect">
            <a:avLst/>
          </a:prstGeom>
        </p:spPr>
        <p:txBody>
          <a:bodyPr vert="horz" wrap="square" lIns="0" tIns="0" rIns="0" bIns="0" rtlCol="0">
            <a:spAutoFit/>
          </a:bodyPr>
          <a:lstStyle/>
          <a:p>
            <a:pPr marL="12700">
              <a:lnSpc>
                <a:spcPts val="1070"/>
              </a:lnSpc>
            </a:pPr>
            <a:r>
              <a:rPr sz="1000" dirty="0">
                <a:solidFill>
                  <a:srgbClr val="888888"/>
                </a:solidFill>
                <a:latin typeface="Arial MT"/>
                <a:cs typeface="Arial MT"/>
              </a:rPr>
              <a:t>5</a:t>
            </a:r>
            <a:endParaRPr sz="1000">
              <a:latin typeface="Arial MT"/>
              <a:cs typeface="Arial MT"/>
            </a:endParaRPr>
          </a:p>
        </p:txBody>
      </p:sp>
      <p:sp>
        <p:nvSpPr>
          <p:cNvPr id="4" name="Rounded Rectangle 17">
            <a:extLst>
              <a:ext uri="{FF2B5EF4-FFF2-40B4-BE49-F238E27FC236}">
                <a16:creationId xmlns:a16="http://schemas.microsoft.com/office/drawing/2014/main" id="{C872C3B7-119E-6F9C-1ACB-E81F2C34BB0E}"/>
              </a:ext>
            </a:extLst>
          </p:cNvPr>
          <p:cNvSpPr/>
          <p:nvPr/>
        </p:nvSpPr>
        <p:spPr>
          <a:xfrm>
            <a:off x="1295400" y="304800"/>
            <a:ext cx="82401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b="1" dirty="0"/>
              <a:t>Introduction to data visualization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95AD6CA-D354-057C-42D8-7CCE696856E4}"/>
              </a:ext>
            </a:extLst>
          </p:cNvPr>
          <p:cNvPicPr>
            <a:picLocks noGrp="1" noChangeAspect="1"/>
          </p:cNvPicPr>
          <p:nvPr>
            <p:ph idx="1"/>
          </p:nvPr>
        </p:nvPicPr>
        <p:blipFill>
          <a:blip r:embed="rId2"/>
          <a:stretch>
            <a:fillRect/>
          </a:stretch>
        </p:blipFill>
        <p:spPr>
          <a:xfrm>
            <a:off x="1676400" y="0"/>
            <a:ext cx="8686800" cy="3449638"/>
          </a:xfrm>
          <a:prstGeom prst="rect">
            <a:avLst/>
          </a:prstGeom>
        </p:spPr>
      </p:pic>
      <p:sp>
        <p:nvSpPr>
          <p:cNvPr id="7" name="TextBox 6">
            <a:extLst>
              <a:ext uri="{FF2B5EF4-FFF2-40B4-BE49-F238E27FC236}">
                <a16:creationId xmlns:a16="http://schemas.microsoft.com/office/drawing/2014/main" id="{9902DE2B-0CF5-A5D2-B634-25E9B9D1C200}"/>
              </a:ext>
            </a:extLst>
          </p:cNvPr>
          <p:cNvSpPr txBox="1"/>
          <p:nvPr/>
        </p:nvSpPr>
        <p:spPr>
          <a:xfrm>
            <a:off x="1143000" y="3352800"/>
            <a:ext cx="10134599" cy="2946961"/>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Importance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Provides a clear understanding of the dataset, including the number of features, data types and data distribution.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Reveals patterns and relationships between different variables in the data.</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Identifies errors and outliers that may affect analysis.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Highlights the most important features useful for building models.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Supports selecting suitable modelling techniques for better results.</a:t>
            </a:r>
          </a:p>
        </p:txBody>
      </p:sp>
    </p:spTree>
    <p:extLst>
      <p:ext uri="{BB962C8B-B14F-4D97-AF65-F5344CB8AC3E}">
        <p14:creationId xmlns:p14="http://schemas.microsoft.com/office/powerpoint/2010/main" val="3871232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080"/>
              </a:lnSpc>
            </a:pPr>
            <a:r>
              <a:rPr dirty="0"/>
              <a:t>7</a:t>
            </a:r>
          </a:p>
        </p:txBody>
      </p:sp>
      <p:sp>
        <p:nvSpPr>
          <p:cNvPr id="3" name="object 3"/>
          <p:cNvSpPr txBox="1"/>
          <p:nvPr/>
        </p:nvSpPr>
        <p:spPr>
          <a:xfrm>
            <a:off x="1143000" y="952252"/>
            <a:ext cx="10515600" cy="963790"/>
          </a:xfrm>
          <a:prstGeom prst="rect">
            <a:avLst/>
          </a:prstGeom>
        </p:spPr>
        <p:txBody>
          <a:bodyPr vert="horz" wrap="square" lIns="0" tIns="30480" rIns="0" bIns="0" rtlCol="0">
            <a:spAutoFit/>
          </a:bodyPr>
          <a:lstStyle/>
          <a:p>
            <a:pPr marL="825500" marR="5080" indent="-812800">
              <a:lnSpc>
                <a:spcPts val="3800"/>
              </a:lnSpc>
              <a:spcBef>
                <a:spcPts val="240"/>
              </a:spcBef>
            </a:pPr>
            <a:r>
              <a:rPr lang="en-US" dirty="0"/>
              <a:t>We’ll use data visualization to explore a </a:t>
            </a:r>
            <a:r>
              <a:rPr lang="en-US" u="sng" dirty="0">
                <a:hlinkClick r:id="rId2"/>
              </a:rPr>
              <a:t>dataset</a:t>
            </a:r>
            <a:r>
              <a:rPr lang="en-US" u="sng" dirty="0"/>
              <a:t>,</a:t>
            </a:r>
            <a:r>
              <a:rPr lang="en-US" dirty="0"/>
              <a:t> which contains information about housing </a:t>
            </a:r>
          </a:p>
          <a:p>
            <a:pPr marL="825500" marR="5080" indent="-812800">
              <a:lnSpc>
                <a:spcPts val="3800"/>
              </a:lnSpc>
              <a:spcBef>
                <a:spcPts val="240"/>
              </a:spcBef>
            </a:pPr>
            <a:r>
              <a:rPr lang="en-US" dirty="0"/>
              <a:t>rentals in New York City. The first few rows of the dataset are printed below</a:t>
            </a:r>
            <a:endParaRPr sz="3200" dirty="0">
              <a:latin typeface="Arial MT"/>
              <a:cs typeface="Arial MT"/>
            </a:endParaRPr>
          </a:p>
        </p:txBody>
      </p:sp>
      <p:sp>
        <p:nvSpPr>
          <p:cNvPr id="4" name="Rounded Rectangle 17">
            <a:extLst>
              <a:ext uri="{FF2B5EF4-FFF2-40B4-BE49-F238E27FC236}">
                <a16:creationId xmlns:a16="http://schemas.microsoft.com/office/drawing/2014/main" id="{13B7BBE1-D169-27E0-EC58-A0947C966D03}"/>
              </a:ext>
            </a:extLst>
          </p:cNvPr>
          <p:cNvSpPr/>
          <p:nvPr/>
        </p:nvSpPr>
        <p:spPr>
          <a:xfrm>
            <a:off x="2895600" y="45244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WHAT IS IMPORTANT?</a:t>
            </a:r>
          </a:p>
        </p:txBody>
      </p:sp>
      <p:graphicFrame>
        <p:nvGraphicFramePr>
          <p:cNvPr id="7" name="Object 6">
            <a:extLst>
              <a:ext uri="{FF2B5EF4-FFF2-40B4-BE49-F238E27FC236}">
                <a16:creationId xmlns:a16="http://schemas.microsoft.com/office/drawing/2014/main" id="{7014F483-4A12-1181-7454-EA3223CFD3DF}"/>
              </a:ext>
            </a:extLst>
          </p:cNvPr>
          <p:cNvGraphicFramePr>
            <a:graphicFrameLocks noChangeAspect="1"/>
          </p:cNvGraphicFramePr>
          <p:nvPr>
            <p:extLst>
              <p:ext uri="{D42A27DB-BD31-4B8C-83A1-F6EECF244321}">
                <p14:modId xmlns:p14="http://schemas.microsoft.com/office/powerpoint/2010/main" val="1844148324"/>
              </p:ext>
            </p:extLst>
          </p:nvPr>
        </p:nvGraphicFramePr>
        <p:xfrm>
          <a:off x="5481638" y="3241675"/>
          <a:ext cx="1227137" cy="373063"/>
        </p:xfrm>
        <a:graphic>
          <a:graphicData uri="http://schemas.openxmlformats.org/presentationml/2006/ole">
            <mc:AlternateContent xmlns:mc="http://schemas.openxmlformats.org/markup-compatibility/2006">
              <mc:Choice xmlns:v="urn:schemas-microsoft-com:vml" Requires="v">
                <p:oleObj name="Worksheet" r:id="rId3" imgW="1226997" imgH="373530" progId="Excel.Sheet.12">
                  <p:embed/>
                </p:oleObj>
              </mc:Choice>
              <mc:Fallback>
                <p:oleObj name="Worksheet" r:id="rId3" imgW="1226997" imgH="373530" progId="Excel.Sheet.12">
                  <p:embed/>
                  <p:pic>
                    <p:nvPicPr>
                      <p:cNvPr id="0" name=""/>
                      <p:cNvPicPr/>
                      <p:nvPr/>
                    </p:nvPicPr>
                    <p:blipFill>
                      <a:blip r:embed="rId4"/>
                      <a:stretch>
                        <a:fillRect/>
                      </a:stretch>
                    </p:blipFill>
                    <p:spPr>
                      <a:xfrm>
                        <a:off x="5481638" y="3241675"/>
                        <a:ext cx="1227137" cy="373063"/>
                      </a:xfrm>
                      <a:prstGeom prst="rect">
                        <a:avLst/>
                      </a:prstGeom>
                    </p:spPr>
                  </p:pic>
                </p:oleObj>
              </mc:Fallback>
            </mc:AlternateContent>
          </a:graphicData>
        </a:graphic>
      </p:graphicFrame>
      <p:pic>
        <p:nvPicPr>
          <p:cNvPr id="2" name="Picture 1">
            <a:extLst>
              <a:ext uri="{FF2B5EF4-FFF2-40B4-BE49-F238E27FC236}">
                <a16:creationId xmlns:a16="http://schemas.microsoft.com/office/drawing/2014/main" id="{E2BB1230-DF72-C34D-55F2-25DBE524A142}"/>
              </a:ext>
            </a:extLst>
          </p:cNvPr>
          <p:cNvPicPr>
            <a:picLocks noChangeAspect="1"/>
          </p:cNvPicPr>
          <p:nvPr/>
        </p:nvPicPr>
        <p:blipFill>
          <a:blip r:embed="rId5"/>
          <a:stretch>
            <a:fillRect/>
          </a:stretch>
        </p:blipFill>
        <p:spPr>
          <a:xfrm>
            <a:off x="1143000" y="2204761"/>
            <a:ext cx="9905999" cy="37009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3BF6D61-8D17-F00C-3AD7-CA53EE7A5579}"/>
              </a:ext>
            </a:extLst>
          </p:cNvPr>
          <p:cNvSpPr>
            <a:spLocks noGrp="1"/>
          </p:cNvSpPr>
          <p:nvPr>
            <p:ph type="subTitle" idx="4"/>
          </p:nvPr>
        </p:nvSpPr>
        <p:spPr/>
        <p:txBody>
          <a:bodyPr/>
          <a:lstStyle/>
          <a:p>
            <a:endParaRPr lang="en-IN"/>
          </a:p>
        </p:txBody>
      </p:sp>
      <p:pic>
        <p:nvPicPr>
          <p:cNvPr id="6" name="Picture 5">
            <a:extLst>
              <a:ext uri="{FF2B5EF4-FFF2-40B4-BE49-F238E27FC236}">
                <a16:creationId xmlns:a16="http://schemas.microsoft.com/office/drawing/2014/main" id="{64E3BA38-ECF5-50F9-A175-2743CD5955C8}"/>
              </a:ext>
            </a:extLst>
          </p:cNvPr>
          <p:cNvPicPr>
            <a:picLocks noChangeAspect="1"/>
          </p:cNvPicPr>
          <p:nvPr/>
        </p:nvPicPr>
        <p:blipFill>
          <a:blip r:embed="rId2"/>
          <a:stretch>
            <a:fillRect/>
          </a:stretch>
        </p:blipFill>
        <p:spPr>
          <a:xfrm>
            <a:off x="0" y="228600"/>
            <a:ext cx="12192000" cy="6629399"/>
          </a:xfrm>
          <a:prstGeom prst="rect">
            <a:avLst/>
          </a:prstGeom>
        </p:spPr>
      </p:pic>
    </p:spTree>
    <p:extLst>
      <p:ext uri="{BB962C8B-B14F-4D97-AF65-F5344CB8AC3E}">
        <p14:creationId xmlns:p14="http://schemas.microsoft.com/office/powerpoint/2010/main" val="4249821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7">
            <a:extLst>
              <a:ext uri="{FF2B5EF4-FFF2-40B4-BE49-F238E27FC236}">
                <a16:creationId xmlns:a16="http://schemas.microsoft.com/office/drawing/2014/main" id="{4DF644C1-D688-0E53-B57B-AD7AC2C03A6F}"/>
              </a:ext>
            </a:extLst>
          </p:cNvPr>
          <p:cNvSpPr/>
          <p:nvPr/>
        </p:nvSpPr>
        <p:spPr>
          <a:xfrm>
            <a:off x="1552470" y="63284"/>
            <a:ext cx="8582130" cy="68782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b="1" dirty="0"/>
              <a:t>What is univariate analysis?</a:t>
            </a:r>
          </a:p>
        </p:txBody>
      </p:sp>
      <p:sp>
        <p:nvSpPr>
          <p:cNvPr id="4" name="TextBox 3">
            <a:extLst>
              <a:ext uri="{FF2B5EF4-FFF2-40B4-BE49-F238E27FC236}">
                <a16:creationId xmlns:a16="http://schemas.microsoft.com/office/drawing/2014/main" id="{86060250-3116-EE8F-8369-71661D6BABDE}"/>
              </a:ext>
            </a:extLst>
          </p:cNvPr>
          <p:cNvSpPr txBox="1"/>
          <p:nvPr/>
        </p:nvSpPr>
        <p:spPr>
          <a:xfrm>
            <a:off x="304800" y="838200"/>
            <a:ext cx="10668000" cy="5016758"/>
          </a:xfrm>
          <a:prstGeom prst="rect">
            <a:avLst/>
          </a:prstGeom>
          <a:noFill/>
        </p:spPr>
        <p:txBody>
          <a:bodyPr wrap="square">
            <a:spAutoFit/>
          </a:bodyPr>
          <a:lstStyle/>
          <a:p>
            <a:pPr algn="just">
              <a:buNone/>
            </a:pPr>
            <a:r>
              <a:rPr lang="en-US" sz="2000" dirty="0"/>
              <a:t>Univariate analysis focuses on a single variable at a time. Univariate data visualizations can help us answer questions like:</a:t>
            </a:r>
          </a:p>
          <a:p>
            <a:pPr algn="just">
              <a:buFont typeface="Arial" panose="020B0604020202020204" pitchFamily="34" charset="0"/>
              <a:buChar char="•"/>
            </a:pPr>
            <a:r>
              <a:rPr lang="en-US" sz="2000" dirty="0"/>
              <a:t>What is the typical price of a rental in New York City?</a:t>
            </a:r>
          </a:p>
          <a:p>
            <a:pPr algn="just">
              <a:buFont typeface="Arial" panose="020B0604020202020204" pitchFamily="34" charset="0"/>
              <a:buChar char="•"/>
            </a:pPr>
            <a:r>
              <a:rPr lang="en-US" sz="2000" dirty="0"/>
              <a:t>What proportion of NYC rentals have a gym?</a:t>
            </a:r>
          </a:p>
          <a:p>
            <a:pPr algn="just">
              <a:buNone/>
            </a:pPr>
            <a:r>
              <a:rPr lang="en-US" sz="2000" dirty="0"/>
              <a:t>Depending on the type of variable (quantitative or categorical) we want to visualize, we need to use slightly different visualizations.</a:t>
            </a:r>
          </a:p>
          <a:p>
            <a:pPr fontAlgn="base"/>
            <a:r>
              <a:rPr lang="en-US" sz="2000" b="1" u="sng" dirty="0">
                <a:hlinkClick r:id="rId2"/>
              </a:rPr>
              <a:t>Histograms</a:t>
            </a:r>
            <a:r>
              <a:rPr lang="en-US" sz="2000" b="1" dirty="0"/>
              <a:t>:</a:t>
            </a:r>
            <a:r>
              <a:rPr lang="en-US" sz="2000" dirty="0"/>
              <a:t> Show how data values are distributed.</a:t>
            </a:r>
          </a:p>
          <a:p>
            <a:pPr fontAlgn="base"/>
            <a:r>
              <a:rPr lang="en-US" sz="2000" b="1" u="sng" dirty="0">
                <a:hlinkClick r:id="rId3"/>
              </a:rPr>
              <a:t>Box plots</a:t>
            </a:r>
            <a:r>
              <a:rPr lang="en-US" sz="2000" b="1" u="sng" dirty="0"/>
              <a:t>    </a:t>
            </a:r>
            <a:r>
              <a:rPr lang="en-US" sz="2000" b="1" dirty="0"/>
              <a:t>:</a:t>
            </a:r>
            <a:r>
              <a:rPr lang="en-US" sz="2000" dirty="0"/>
              <a:t> Help detect outliers and show data spread.</a:t>
            </a:r>
          </a:p>
          <a:p>
            <a:pPr fontAlgn="base"/>
            <a:r>
              <a:rPr lang="en-US" sz="2000" b="1" u="sng" dirty="0">
                <a:hlinkClick r:id="rId4"/>
              </a:rPr>
              <a:t>Bar charts</a:t>
            </a:r>
            <a:r>
              <a:rPr lang="en-US" sz="2000" b="1" u="sng" dirty="0"/>
              <a:t>  </a:t>
            </a:r>
            <a:r>
              <a:rPr lang="en-US" sz="2000" b="1" dirty="0"/>
              <a:t>:</a:t>
            </a:r>
            <a:r>
              <a:rPr lang="en-US" sz="2000" dirty="0"/>
              <a:t> Used for categorical variables.</a:t>
            </a:r>
          </a:p>
          <a:p>
            <a:pPr algn="just"/>
            <a:r>
              <a:rPr lang="en-US" sz="2000" b="1" dirty="0"/>
              <a:t>How to visualize quantitative variables?</a:t>
            </a:r>
          </a:p>
          <a:p>
            <a:pPr algn="just"/>
            <a:r>
              <a:rPr lang="en-US" sz="2000" dirty="0"/>
              <a:t>Box plots (or violin plots) and histograms are common choices for visually summarizing a quantitative variable. These plots are useful because they simultaneously communicate information about minimum and maximum values, central location, and spread. Histograms can additionally illuminate patterns that can impact an analysis (</a:t>
            </a:r>
            <a:r>
              <a:rPr lang="en-US" sz="2000" dirty="0" err="1"/>
              <a:t>eg.</a:t>
            </a:r>
            <a:r>
              <a:rPr lang="en-US" sz="2000" dirty="0"/>
              <a:t>, skew or multimodality).</a:t>
            </a:r>
          </a:p>
          <a:p>
            <a:pPr algn="just"/>
            <a:r>
              <a:rPr lang="en-US" sz="2000" dirty="0"/>
              <a:t>For example, suppose we are interested in learning more about the price of apartments in NYC. A good starting place is to plot a box plot of the rent variable.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17">
            <a:extLst>
              <a:ext uri="{FF2B5EF4-FFF2-40B4-BE49-F238E27FC236}">
                <a16:creationId xmlns:a16="http://schemas.microsoft.com/office/drawing/2014/main" id="{0C02CF45-4078-F3B5-F2F9-95D83651D362}"/>
              </a:ext>
            </a:extLst>
          </p:cNvPr>
          <p:cNvSpPr/>
          <p:nvPr/>
        </p:nvSpPr>
        <p:spPr>
          <a:xfrm>
            <a:off x="3048000" y="97041"/>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r>
              <a:rPr lang="en-IN" sz="2800" b="1" dirty="0"/>
              <a:t> Bivariate Analysis</a:t>
            </a:r>
          </a:p>
        </p:txBody>
      </p:sp>
      <p:sp>
        <p:nvSpPr>
          <p:cNvPr id="9" name="TextBox 8">
            <a:extLst>
              <a:ext uri="{FF2B5EF4-FFF2-40B4-BE49-F238E27FC236}">
                <a16:creationId xmlns:a16="http://schemas.microsoft.com/office/drawing/2014/main" id="{39474F44-F998-0B93-BB3B-3D1F06D721E0}"/>
              </a:ext>
            </a:extLst>
          </p:cNvPr>
          <p:cNvSpPr txBox="1"/>
          <p:nvPr/>
        </p:nvSpPr>
        <p:spPr>
          <a:xfrm>
            <a:off x="990600" y="929990"/>
            <a:ext cx="9296400" cy="4154984"/>
          </a:xfrm>
          <a:prstGeom prst="rect">
            <a:avLst/>
          </a:prstGeom>
          <a:noFill/>
        </p:spPr>
        <p:txBody>
          <a:bodyPr wrap="square">
            <a:spAutoFit/>
          </a:bodyPr>
          <a:lstStyle/>
          <a:p>
            <a:pPr algn="just"/>
            <a:r>
              <a:rPr lang="en-US" sz="2400" b="0" i="0" u="sng" dirty="0">
                <a:solidFill>
                  <a:srgbClr val="357960"/>
                </a:solidFill>
                <a:effectLst/>
                <a:latin typeface="Nunito" pitchFamily="2" charset="0"/>
                <a:hlinkClick r:id="rId2"/>
              </a:rPr>
              <a:t>Bivariate analysis</a:t>
            </a:r>
            <a:r>
              <a:rPr lang="en-US" sz="2400" b="0" i="0" dirty="0">
                <a:solidFill>
                  <a:srgbClr val="273239"/>
                </a:solidFill>
                <a:effectLst/>
                <a:latin typeface="Nunito" pitchFamily="2" charset="0"/>
              </a:rPr>
              <a:t> examines the relationship between two variables to understand how they interact or influence each other. Common techniques include:</a:t>
            </a:r>
          </a:p>
          <a:p>
            <a:pPr algn="just" fontAlgn="base"/>
            <a:r>
              <a:rPr lang="en-US" sz="2400" b="1" u="sng" dirty="0">
                <a:hlinkClick r:id="rId3"/>
              </a:rPr>
              <a:t>Scatter plots:</a:t>
            </a:r>
            <a:r>
              <a:rPr lang="en-US" sz="2400" dirty="0"/>
              <a:t> Show the relationship between two numerical variables.</a:t>
            </a:r>
          </a:p>
          <a:p>
            <a:pPr algn="just" fontAlgn="base"/>
            <a:r>
              <a:rPr lang="en-US" sz="2400" b="1" u="sng" dirty="0">
                <a:hlinkClick r:id="rId4"/>
              </a:rPr>
              <a:t>Correlation coefficient:</a:t>
            </a:r>
            <a:r>
              <a:rPr lang="en-US" sz="2400" dirty="0"/>
              <a:t> Measures the strength of the relationship between variables .</a:t>
            </a:r>
          </a:p>
          <a:p>
            <a:pPr algn="just" fontAlgn="base"/>
            <a:r>
              <a:rPr lang="en-US" sz="2400" b="1" u="sng" dirty="0">
                <a:hlinkClick r:id="rId5"/>
              </a:rPr>
              <a:t>Cross-tabulation:</a:t>
            </a:r>
            <a:r>
              <a:rPr lang="en-US" sz="2400" dirty="0"/>
              <a:t> Displays the relationship between two categorical variables.</a:t>
            </a:r>
          </a:p>
          <a:p>
            <a:pPr algn="just" fontAlgn="base"/>
            <a:r>
              <a:rPr lang="en-US" sz="2400" b="1" u="sng" dirty="0">
                <a:hlinkClick r:id="rId6"/>
              </a:rPr>
              <a:t>Line graphs:</a:t>
            </a:r>
            <a:r>
              <a:rPr lang="en-US" sz="2400" dirty="0"/>
              <a:t> Compare two variables over time to identify trends.</a:t>
            </a:r>
          </a:p>
          <a:p>
            <a:pPr algn="just" fontAlgn="base"/>
            <a:r>
              <a:rPr lang="en-US" sz="2400" b="1" u="sng" dirty="0">
                <a:hlinkClick r:id="rId7"/>
              </a:rPr>
              <a:t>Covariance:</a:t>
            </a:r>
            <a:r>
              <a:rPr lang="en-US" sz="2400" dirty="0"/>
              <a:t> Shows how two variables change together.</a:t>
            </a:r>
          </a:p>
          <a:p>
            <a:pPr algn="just"/>
            <a:endParaRPr lang="en-IN" sz="2400" dirty="0"/>
          </a:p>
        </p:txBody>
      </p:sp>
    </p:spTree>
    <p:extLst>
      <p:ext uri="{BB962C8B-B14F-4D97-AF65-F5344CB8AC3E}">
        <p14:creationId xmlns:p14="http://schemas.microsoft.com/office/powerpoint/2010/main" val="3973978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51FB75-AB73-7AE0-3F8E-3863114A6489}"/>
              </a:ext>
            </a:extLst>
          </p:cNvPr>
          <p:cNvSpPr>
            <a:spLocks noGrp="1"/>
          </p:cNvSpPr>
          <p:nvPr>
            <p:ph idx="1"/>
          </p:nvPr>
        </p:nvSpPr>
        <p:spPr>
          <a:xfrm>
            <a:off x="609600" y="685800"/>
            <a:ext cx="11201400" cy="5410200"/>
          </a:xfrm>
        </p:spPr>
        <p:txBody>
          <a:bodyPr>
            <a:normAutofit/>
          </a:bodyPr>
          <a:lstStyle/>
          <a:p>
            <a:pPr algn="just" fontAlgn="base"/>
            <a:r>
              <a:rPr lang="en-US" sz="2800" u="sng" dirty="0">
                <a:hlinkClick r:id="rId2"/>
              </a:rPr>
              <a:t>Multivariate analysis </a:t>
            </a:r>
            <a:r>
              <a:rPr lang="en-US" sz="2800" dirty="0"/>
              <a:t>studies three or more variables together to understand complex relationships within the dataset. Common techniques include:</a:t>
            </a:r>
          </a:p>
          <a:p>
            <a:pPr algn="just" fontAlgn="base"/>
            <a:r>
              <a:rPr lang="en-US" sz="2800" b="1" u="sng" dirty="0">
                <a:hlinkClick r:id="rId3"/>
              </a:rPr>
              <a:t>Pair plots</a:t>
            </a:r>
            <a:r>
              <a:rPr lang="en-US" sz="2800" dirty="0"/>
              <a:t>: Show relationships between multiple variables at once.</a:t>
            </a:r>
          </a:p>
          <a:p>
            <a:pPr algn="just" fontAlgn="base"/>
            <a:r>
              <a:rPr lang="en-US" sz="2800" b="1" u="sng" dirty="0">
                <a:hlinkClick r:id="rId4"/>
              </a:rPr>
              <a:t>Principal Component Analysis (PCA)</a:t>
            </a:r>
            <a:r>
              <a:rPr lang="en-US" sz="2800" b="1" dirty="0"/>
              <a:t>:</a:t>
            </a:r>
            <a:r>
              <a:rPr lang="en-US" sz="2800" dirty="0"/>
              <a:t> Reduces dimensionality while preserving important information.</a:t>
            </a:r>
          </a:p>
          <a:p>
            <a:pPr algn="just" fontAlgn="base"/>
            <a:r>
              <a:rPr lang="en-US" sz="2800" b="1" u="sng" dirty="0">
                <a:hlinkClick r:id="rId5"/>
              </a:rPr>
              <a:t>Spatial analysis:</a:t>
            </a:r>
            <a:r>
              <a:rPr lang="en-US" sz="2800" dirty="0"/>
              <a:t> Analyzes geographical patterns using maps and location-based data.</a:t>
            </a:r>
          </a:p>
          <a:p>
            <a:pPr algn="just"/>
            <a:endParaRPr lang="en-IN" sz="2800" dirty="0"/>
          </a:p>
        </p:txBody>
      </p:sp>
      <p:sp>
        <p:nvSpPr>
          <p:cNvPr id="4" name="Rounded Rectangle 17">
            <a:extLst>
              <a:ext uri="{FF2B5EF4-FFF2-40B4-BE49-F238E27FC236}">
                <a16:creationId xmlns:a16="http://schemas.microsoft.com/office/drawing/2014/main" id="{229C6C7A-CCAA-72B4-5D41-2130EC127CE2}"/>
              </a:ext>
            </a:extLst>
          </p:cNvPr>
          <p:cNvSpPr/>
          <p:nvPr/>
        </p:nvSpPr>
        <p:spPr>
          <a:xfrm>
            <a:off x="16764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ase"/>
            <a:r>
              <a:rPr lang="en-IN" sz="3200" b="1" dirty="0"/>
              <a:t>Multivariate Analysis</a:t>
            </a:r>
          </a:p>
        </p:txBody>
      </p:sp>
    </p:spTree>
    <p:extLst>
      <p:ext uri="{BB962C8B-B14F-4D97-AF65-F5344CB8AC3E}">
        <p14:creationId xmlns:p14="http://schemas.microsoft.com/office/powerpoint/2010/main" val="192633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F274E-5B0E-EDE7-970F-7BABDA745E78}"/>
              </a:ext>
            </a:extLst>
          </p:cNvPr>
          <p:cNvSpPr>
            <a:spLocks noGrp="1"/>
          </p:cNvSpPr>
          <p:nvPr>
            <p:ph type="title"/>
          </p:nvPr>
        </p:nvSpPr>
        <p:spPr>
          <a:xfrm>
            <a:off x="1444043" y="228601"/>
            <a:ext cx="9603275" cy="609600"/>
          </a:xfrm>
        </p:spPr>
        <p:txBody>
          <a:bodyPr/>
          <a:lstStyle/>
          <a:p>
            <a:r>
              <a:rPr lang="en-IN" b="1" dirty="0"/>
              <a:t>Introduction to Data Visualization</a:t>
            </a:r>
          </a:p>
        </p:txBody>
      </p:sp>
      <p:sp>
        <p:nvSpPr>
          <p:cNvPr id="3" name="Content Placeholder 2">
            <a:extLst>
              <a:ext uri="{FF2B5EF4-FFF2-40B4-BE49-F238E27FC236}">
                <a16:creationId xmlns:a16="http://schemas.microsoft.com/office/drawing/2014/main" id="{7A461C0E-3A36-F30A-7499-7DEF507B762E}"/>
              </a:ext>
            </a:extLst>
          </p:cNvPr>
          <p:cNvSpPr>
            <a:spLocks noGrp="1"/>
          </p:cNvSpPr>
          <p:nvPr>
            <p:ph idx="1"/>
          </p:nvPr>
        </p:nvSpPr>
        <p:spPr>
          <a:xfrm>
            <a:off x="1294362" y="844263"/>
            <a:ext cx="9603275" cy="3450613"/>
          </a:xfrm>
        </p:spPr>
        <p:txBody>
          <a:bodyPr>
            <a:normAutofit/>
          </a:bodyPr>
          <a:lstStyle/>
          <a:p>
            <a:r>
              <a:rPr lang="en-US" sz="2400" dirty="0"/>
              <a:t>Data visualization uses charts, graphs and maps to present information clearly and simply. It turns complex data into visuals that are easy to understand. With large amounts of data in every industry, visualization helps spot patterns and trends quickly, leading to faster and smarter decisions.</a:t>
            </a:r>
            <a:endParaRPr lang="en-IN" sz="2400" dirty="0"/>
          </a:p>
        </p:txBody>
      </p:sp>
      <p:pic>
        <p:nvPicPr>
          <p:cNvPr id="5" name="Picture 4">
            <a:extLst>
              <a:ext uri="{FF2B5EF4-FFF2-40B4-BE49-F238E27FC236}">
                <a16:creationId xmlns:a16="http://schemas.microsoft.com/office/drawing/2014/main" id="{1621370E-9861-6AC5-5BF3-ED1B21DC8DBA}"/>
              </a:ext>
            </a:extLst>
          </p:cNvPr>
          <p:cNvPicPr>
            <a:picLocks noChangeAspect="1"/>
          </p:cNvPicPr>
          <p:nvPr/>
        </p:nvPicPr>
        <p:blipFill>
          <a:blip r:embed="rId2"/>
          <a:stretch>
            <a:fillRect/>
          </a:stretch>
        </p:blipFill>
        <p:spPr>
          <a:xfrm>
            <a:off x="4419600" y="2607250"/>
            <a:ext cx="7138987" cy="3713555"/>
          </a:xfrm>
          <a:prstGeom prst="rect">
            <a:avLst/>
          </a:prstGeom>
        </p:spPr>
      </p:pic>
    </p:spTree>
    <p:extLst>
      <p:ext uri="{BB962C8B-B14F-4D97-AF65-F5344CB8AC3E}">
        <p14:creationId xmlns:p14="http://schemas.microsoft.com/office/powerpoint/2010/main" val="1232812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F9CD90-B785-3A32-B58C-29E3B9138BCC}"/>
              </a:ext>
            </a:extLst>
          </p:cNvPr>
          <p:cNvPicPr>
            <a:picLocks noGrp="1" noChangeAspect="1"/>
          </p:cNvPicPr>
          <p:nvPr>
            <p:ph idx="1"/>
          </p:nvPr>
        </p:nvPicPr>
        <p:blipFill>
          <a:blip r:embed="rId2"/>
          <a:stretch>
            <a:fillRect/>
          </a:stretch>
        </p:blipFill>
        <p:spPr>
          <a:xfrm>
            <a:off x="152400" y="533400"/>
            <a:ext cx="6629400" cy="5195887"/>
          </a:xfrm>
          <a:prstGeom prst="rect">
            <a:avLst/>
          </a:prstGeom>
        </p:spPr>
      </p:pic>
      <p:pic>
        <p:nvPicPr>
          <p:cNvPr id="7" name="Picture 6">
            <a:extLst>
              <a:ext uri="{FF2B5EF4-FFF2-40B4-BE49-F238E27FC236}">
                <a16:creationId xmlns:a16="http://schemas.microsoft.com/office/drawing/2014/main" id="{F15FE4AE-68A0-0D98-F095-A45FF9979F40}"/>
              </a:ext>
            </a:extLst>
          </p:cNvPr>
          <p:cNvPicPr>
            <a:picLocks noChangeAspect="1"/>
          </p:cNvPicPr>
          <p:nvPr/>
        </p:nvPicPr>
        <p:blipFill>
          <a:blip r:embed="rId3"/>
          <a:stretch>
            <a:fillRect/>
          </a:stretch>
        </p:blipFill>
        <p:spPr>
          <a:xfrm>
            <a:off x="6629400" y="533400"/>
            <a:ext cx="5562600" cy="5195887"/>
          </a:xfrm>
          <a:prstGeom prst="rect">
            <a:avLst/>
          </a:prstGeom>
        </p:spPr>
      </p:pic>
    </p:spTree>
    <p:extLst>
      <p:ext uri="{BB962C8B-B14F-4D97-AF65-F5344CB8AC3E}">
        <p14:creationId xmlns:p14="http://schemas.microsoft.com/office/powerpoint/2010/main" val="198506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BE91-C120-EC71-2664-231A6CED323F}"/>
              </a:ext>
            </a:extLst>
          </p:cNvPr>
          <p:cNvSpPr>
            <a:spLocks noGrp="1"/>
          </p:cNvSpPr>
          <p:nvPr>
            <p:ph type="title"/>
          </p:nvPr>
        </p:nvSpPr>
        <p:spPr>
          <a:xfrm>
            <a:off x="1295400" y="304800"/>
            <a:ext cx="9917709" cy="587136"/>
          </a:xfrm>
        </p:spPr>
        <p:txBody>
          <a:bodyPr>
            <a:normAutofit fontScale="90000"/>
          </a:bodyPr>
          <a:lstStyle/>
          <a:p>
            <a:r>
              <a:rPr lang="en-US" b="1" dirty="0"/>
              <a:t>Common Types of Data Visualization</a:t>
            </a:r>
            <a:br>
              <a:rPr lang="en-US" b="1" dirty="0"/>
            </a:br>
            <a:endParaRPr lang="en-IN" dirty="0"/>
          </a:p>
        </p:txBody>
      </p:sp>
      <p:sp>
        <p:nvSpPr>
          <p:cNvPr id="3" name="Content Placeholder 2">
            <a:extLst>
              <a:ext uri="{FF2B5EF4-FFF2-40B4-BE49-F238E27FC236}">
                <a16:creationId xmlns:a16="http://schemas.microsoft.com/office/drawing/2014/main" id="{BBA00ED7-4612-D1BD-556C-08E14F8ADA59}"/>
              </a:ext>
            </a:extLst>
          </p:cNvPr>
          <p:cNvSpPr>
            <a:spLocks noGrp="1"/>
          </p:cNvSpPr>
          <p:nvPr>
            <p:ph idx="1"/>
          </p:nvPr>
        </p:nvSpPr>
        <p:spPr>
          <a:xfrm>
            <a:off x="914400" y="983209"/>
            <a:ext cx="10140454" cy="4807991"/>
          </a:xfrm>
        </p:spPr>
        <p:txBody>
          <a:bodyPr>
            <a:noAutofit/>
          </a:bodyPr>
          <a:lstStyle/>
          <a:p>
            <a:pPr algn="just" fontAlgn="base"/>
            <a:r>
              <a:rPr lang="en-US" sz="2400" b="1" dirty="0"/>
              <a:t>Charts and Graphs: </a:t>
            </a:r>
            <a:r>
              <a:rPr lang="en-US" sz="2400" dirty="0"/>
              <a:t>They are used to visualize data, with charts comparing data points across categories or showing trends over time and graphs analyzing relationships between variables to identify correlations, trends and outliers. Examples: Bar Charts, Line Charts, Pie Charts, Scatter Plots, Histograms, Box Plots.</a:t>
            </a:r>
          </a:p>
          <a:p>
            <a:pPr algn="just" fontAlgn="base"/>
            <a:r>
              <a:rPr lang="en-US" sz="2400" b="1" dirty="0"/>
              <a:t>Maps</a:t>
            </a:r>
            <a:r>
              <a:rPr lang="en-US" sz="2400" dirty="0"/>
              <a:t>: They are used to display geographical data which provides spatial context to trends and patterns. Examples: Geographic Maps, Heat Maps</a:t>
            </a:r>
          </a:p>
          <a:p>
            <a:pPr algn="just" fontAlgn="base"/>
            <a:r>
              <a:rPr lang="en-US" sz="2400" b="1" dirty="0"/>
              <a:t>Dashboards: </a:t>
            </a:r>
            <a:r>
              <a:rPr lang="en-US" sz="2400" dirty="0"/>
              <a:t>They combine multiple visualizations into a single interface which provides real-time insights and interactive features for users to explore data.</a:t>
            </a:r>
          </a:p>
          <a:p>
            <a:pPr algn="just"/>
            <a:endParaRPr lang="en-IN" sz="2400" dirty="0"/>
          </a:p>
        </p:txBody>
      </p:sp>
    </p:spTree>
    <p:extLst>
      <p:ext uri="{BB962C8B-B14F-4D97-AF65-F5344CB8AC3E}">
        <p14:creationId xmlns:p14="http://schemas.microsoft.com/office/powerpoint/2010/main" val="4284217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61E0F-8926-F81D-2F63-FCC1594D8356}"/>
              </a:ext>
            </a:extLst>
          </p:cNvPr>
          <p:cNvSpPr>
            <a:spLocks noGrp="1"/>
          </p:cNvSpPr>
          <p:nvPr>
            <p:ph type="title"/>
          </p:nvPr>
        </p:nvSpPr>
        <p:spPr>
          <a:xfrm>
            <a:off x="1475024" y="29308"/>
            <a:ext cx="9603275" cy="587136"/>
          </a:xfrm>
        </p:spPr>
        <p:txBody>
          <a:bodyPr>
            <a:normAutofit fontScale="90000"/>
          </a:bodyPr>
          <a:lstStyle/>
          <a:p>
            <a:r>
              <a:rPr lang="en-IN" b="1" dirty="0"/>
              <a:t>Importance of Data Visualization</a:t>
            </a:r>
            <a:br>
              <a:rPr lang="en-IN" b="1" dirty="0"/>
            </a:br>
            <a:endParaRPr lang="en-IN" dirty="0"/>
          </a:p>
        </p:txBody>
      </p:sp>
      <p:sp>
        <p:nvSpPr>
          <p:cNvPr id="3" name="Content Placeholder 2">
            <a:extLst>
              <a:ext uri="{FF2B5EF4-FFF2-40B4-BE49-F238E27FC236}">
                <a16:creationId xmlns:a16="http://schemas.microsoft.com/office/drawing/2014/main" id="{F27A201B-8795-F118-C5BC-CD77FEE4EE07}"/>
              </a:ext>
            </a:extLst>
          </p:cNvPr>
          <p:cNvSpPr>
            <a:spLocks noGrp="1"/>
          </p:cNvSpPr>
          <p:nvPr>
            <p:ph idx="1"/>
          </p:nvPr>
        </p:nvSpPr>
        <p:spPr>
          <a:xfrm>
            <a:off x="1475023" y="626492"/>
            <a:ext cx="9603275" cy="5698108"/>
          </a:xfrm>
        </p:spPr>
        <p:txBody>
          <a:bodyPr>
            <a:noAutofit/>
          </a:bodyPr>
          <a:lstStyle/>
          <a:p>
            <a:pPr algn="just" fontAlgn="base"/>
            <a:r>
              <a:rPr lang="en-US" sz="2200" dirty="0"/>
              <a:t>Data visualization is essential for understanding and communicating information effectively. Here are some key reasons why it's important:</a:t>
            </a:r>
          </a:p>
          <a:p>
            <a:pPr algn="just" fontAlgn="base"/>
            <a:r>
              <a:rPr lang="en-US" sz="2200" b="1" dirty="0"/>
              <a:t>Simplifies Complex Data:</a:t>
            </a:r>
            <a:r>
              <a:rPr lang="en-US" sz="2200" dirty="0"/>
              <a:t> It turns large and complicated data into visual formats like charts and graphs, making the information easier to understand.</a:t>
            </a:r>
          </a:p>
          <a:p>
            <a:pPr algn="just" fontAlgn="base"/>
            <a:r>
              <a:rPr lang="en-US" sz="2200" b="1" dirty="0"/>
              <a:t>Reveals Patterns and Trends</a:t>
            </a:r>
            <a:r>
              <a:rPr lang="en-US" sz="2200" dirty="0"/>
              <a:t>: It helps identify trends, relationships and patterns that are not easily seen in raw data or tables.</a:t>
            </a:r>
          </a:p>
          <a:p>
            <a:pPr algn="just" fontAlgn="base"/>
            <a:r>
              <a:rPr lang="en-US" sz="2200" b="1" dirty="0"/>
              <a:t>Saves Time:</a:t>
            </a:r>
            <a:r>
              <a:rPr lang="en-US" sz="2200" dirty="0"/>
              <a:t> Visuals allow quicker interpretation of data, helping users spot key information at a glance instead of manually scanning through numbers.</a:t>
            </a:r>
          </a:p>
          <a:p>
            <a:pPr algn="just" fontAlgn="base"/>
            <a:r>
              <a:rPr lang="en-US" sz="2200" b="1" dirty="0"/>
              <a:t>Improves Communication:</a:t>
            </a:r>
            <a:r>
              <a:rPr lang="en-US" sz="2200" dirty="0"/>
              <a:t> It makes it easier to explain data insights to others, especially those who may not be familiar with the technical details.</a:t>
            </a:r>
          </a:p>
          <a:p>
            <a:pPr algn="just" fontAlgn="base"/>
            <a:r>
              <a:rPr lang="en-US" sz="2200" b="1" dirty="0"/>
              <a:t>Tells a Clear Story</a:t>
            </a:r>
            <a:r>
              <a:rPr lang="en-US" sz="2200" dirty="0"/>
              <a:t>: Data visuals guide the audience through the information step-by-step, making it easier to reach conclusions and make informed decisions.</a:t>
            </a:r>
          </a:p>
          <a:p>
            <a:pPr algn="just"/>
            <a:endParaRPr lang="en-IN" sz="2200" dirty="0"/>
          </a:p>
        </p:txBody>
      </p:sp>
    </p:spTree>
    <p:extLst>
      <p:ext uri="{BB962C8B-B14F-4D97-AF65-F5344CB8AC3E}">
        <p14:creationId xmlns:p14="http://schemas.microsoft.com/office/powerpoint/2010/main" val="910869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50A02-0494-F1AC-3E0A-AD0548CF139F}"/>
              </a:ext>
            </a:extLst>
          </p:cNvPr>
          <p:cNvSpPr>
            <a:spLocks noGrp="1"/>
          </p:cNvSpPr>
          <p:nvPr>
            <p:ph type="title"/>
          </p:nvPr>
        </p:nvSpPr>
        <p:spPr>
          <a:xfrm>
            <a:off x="1451579" y="228600"/>
            <a:ext cx="9603275" cy="587136"/>
          </a:xfrm>
        </p:spPr>
        <p:txBody>
          <a:bodyPr>
            <a:normAutofit fontScale="90000"/>
          </a:bodyPr>
          <a:lstStyle/>
          <a:p>
            <a:r>
              <a:rPr lang="en-IN" b="1" dirty="0"/>
              <a:t>Real-World Use Cases</a:t>
            </a:r>
            <a:br>
              <a:rPr lang="en-IN" b="1" dirty="0"/>
            </a:br>
            <a:endParaRPr lang="en-IN" dirty="0"/>
          </a:p>
        </p:txBody>
      </p:sp>
      <p:sp>
        <p:nvSpPr>
          <p:cNvPr id="3" name="Content Placeholder 2">
            <a:extLst>
              <a:ext uri="{FF2B5EF4-FFF2-40B4-BE49-F238E27FC236}">
                <a16:creationId xmlns:a16="http://schemas.microsoft.com/office/drawing/2014/main" id="{32E9E442-AF0B-1C51-41AE-43BB6AA82A41}"/>
              </a:ext>
            </a:extLst>
          </p:cNvPr>
          <p:cNvSpPr>
            <a:spLocks noGrp="1"/>
          </p:cNvSpPr>
          <p:nvPr>
            <p:ph idx="1"/>
          </p:nvPr>
        </p:nvSpPr>
        <p:spPr>
          <a:xfrm>
            <a:off x="1451579" y="815736"/>
            <a:ext cx="9603275" cy="4650609"/>
          </a:xfrm>
        </p:spPr>
        <p:txBody>
          <a:bodyPr>
            <a:normAutofit/>
          </a:bodyPr>
          <a:lstStyle/>
          <a:p>
            <a:r>
              <a:rPr lang="en-US" dirty="0"/>
              <a:t>Data visualization is used across various industries to improve decision-making and drive results. Here are a few examples:</a:t>
            </a:r>
          </a:p>
          <a:p>
            <a:pPr fontAlgn="base"/>
            <a:r>
              <a:rPr lang="en-US" b="1" dirty="0"/>
              <a:t>Business Analytics:</a:t>
            </a:r>
            <a:r>
              <a:rPr lang="en-US" dirty="0"/>
              <a:t> Used to monitor company performance, track KPIs(Key Performance Indicators) and make data-driven decisions by visualizing trends, sales and customer metrics.</a:t>
            </a:r>
          </a:p>
          <a:p>
            <a:pPr fontAlgn="base"/>
            <a:r>
              <a:rPr lang="en-US" b="1" dirty="0"/>
              <a:t>Healthcare:</a:t>
            </a:r>
            <a:r>
              <a:rPr lang="en-US" dirty="0"/>
              <a:t> Helps in analyzing patient records, tracking disease outbreaks and managing hospital operations through easy-to-read charts and dashboards.</a:t>
            </a:r>
          </a:p>
          <a:p>
            <a:pPr fontAlgn="base"/>
            <a:r>
              <a:rPr lang="en-US" b="1" dirty="0"/>
              <a:t>Sports: </a:t>
            </a:r>
            <a:r>
              <a:rPr lang="en-US" dirty="0"/>
              <a:t>Used to visualize player statistics, team performance and match outcomes, helping coaches and analysts improve strategies and training plans.</a:t>
            </a:r>
          </a:p>
          <a:p>
            <a:pPr fontAlgn="base"/>
            <a:r>
              <a:rPr lang="en-US" b="1" dirty="0"/>
              <a:t>Retail and E-commerce:</a:t>
            </a:r>
            <a:r>
              <a:rPr lang="en-US" dirty="0"/>
              <a:t> Enables tracking of sales, customer preferences and inventory levels, helping businesses adjust stock and marketing efforts effectively.</a:t>
            </a:r>
          </a:p>
          <a:p>
            <a:endParaRPr lang="en-IN" dirty="0"/>
          </a:p>
        </p:txBody>
      </p:sp>
    </p:spTree>
    <p:extLst>
      <p:ext uri="{BB962C8B-B14F-4D97-AF65-F5344CB8AC3E}">
        <p14:creationId xmlns:p14="http://schemas.microsoft.com/office/powerpoint/2010/main" val="1738611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6D9EB-D1CC-41B2-488B-1098064C2317}"/>
              </a:ext>
            </a:extLst>
          </p:cNvPr>
          <p:cNvSpPr>
            <a:spLocks noGrp="1"/>
          </p:cNvSpPr>
          <p:nvPr>
            <p:ph type="title"/>
          </p:nvPr>
        </p:nvSpPr>
        <p:spPr>
          <a:xfrm>
            <a:off x="1451579" y="804520"/>
            <a:ext cx="9603275" cy="587136"/>
          </a:xfrm>
        </p:spPr>
        <p:txBody>
          <a:bodyPr>
            <a:normAutofit fontScale="90000"/>
          </a:bodyPr>
          <a:lstStyle/>
          <a:p>
            <a:r>
              <a:rPr lang="en-IN" b="1" dirty="0"/>
              <a:t>Challenges</a:t>
            </a:r>
            <a:br>
              <a:rPr lang="en-IN" b="1" dirty="0"/>
            </a:br>
            <a:endParaRPr lang="en-IN" dirty="0"/>
          </a:p>
        </p:txBody>
      </p:sp>
      <p:sp>
        <p:nvSpPr>
          <p:cNvPr id="3" name="Content Placeholder 2">
            <a:extLst>
              <a:ext uri="{FF2B5EF4-FFF2-40B4-BE49-F238E27FC236}">
                <a16:creationId xmlns:a16="http://schemas.microsoft.com/office/drawing/2014/main" id="{0DAD4B8B-D57F-58AE-9648-052823FBA7A3}"/>
              </a:ext>
            </a:extLst>
          </p:cNvPr>
          <p:cNvSpPr>
            <a:spLocks noGrp="1"/>
          </p:cNvSpPr>
          <p:nvPr>
            <p:ph idx="1"/>
          </p:nvPr>
        </p:nvSpPr>
        <p:spPr>
          <a:xfrm>
            <a:off x="1451579" y="1295400"/>
            <a:ext cx="9603275" cy="4170945"/>
          </a:xfrm>
        </p:spPr>
        <p:txBody>
          <a:bodyPr>
            <a:normAutofit/>
          </a:bodyPr>
          <a:lstStyle/>
          <a:p>
            <a:pPr fontAlgn="base"/>
            <a:r>
              <a:rPr lang="en-US" b="1" dirty="0"/>
              <a:t>Data Quality</a:t>
            </a:r>
            <a:r>
              <a:rPr lang="en-US" dirty="0"/>
              <a:t>: Accuracy of visualizations depends on the quality of the data. If the data is inaccurate or incomplete, the insights from the visualization will be misleading.</a:t>
            </a:r>
          </a:p>
          <a:p>
            <a:pPr fontAlgn="base"/>
            <a:r>
              <a:rPr lang="en-US" b="1" dirty="0"/>
              <a:t>Over-Simplification</a:t>
            </a:r>
            <a:r>
              <a:rPr lang="en-US" dirty="0"/>
              <a:t>: Simplifying data too much can lead to important details being lost like using a pie chart that oversimplifies complex relationships between categories.</a:t>
            </a:r>
          </a:p>
          <a:p>
            <a:pPr fontAlgn="base"/>
            <a:r>
              <a:rPr lang="en-US" b="1" dirty="0"/>
              <a:t>Choosing the Right Visualization</a:t>
            </a:r>
            <a:r>
              <a:rPr lang="en-US" dirty="0"/>
              <a:t>: Using the wrong type of visualization can distort the message. For example, a pie chart might not work well with many categories which leads to confusion.</a:t>
            </a:r>
          </a:p>
          <a:p>
            <a:pPr fontAlgn="base"/>
            <a:r>
              <a:rPr lang="en-US" b="1" dirty="0"/>
              <a:t>Overload of Information</a:t>
            </a:r>
            <a:r>
              <a:rPr lang="en-US" dirty="0"/>
              <a:t>: Too much information in a visualization can overwhelm viewers. It's important to focus on key data points and avoid clutter.</a:t>
            </a:r>
          </a:p>
          <a:p>
            <a:endParaRPr lang="en-IN" dirty="0"/>
          </a:p>
        </p:txBody>
      </p:sp>
    </p:spTree>
    <p:extLst>
      <p:ext uri="{BB962C8B-B14F-4D97-AF65-F5344CB8AC3E}">
        <p14:creationId xmlns:p14="http://schemas.microsoft.com/office/powerpoint/2010/main" val="3887043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143060" y="67404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t>Which type of EDA focuses on analyzing the relationship between two variables?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143060" y="1515251"/>
            <a:ext cx="2901705" cy="1456549"/>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Univariate Analysis</a:t>
            </a:r>
          </a:p>
          <a:p>
            <a:r>
              <a:rPr lang="en-IN" b="1" dirty="0"/>
              <a:t>B. </a:t>
            </a:r>
            <a:r>
              <a:rPr lang="en-IN" dirty="0"/>
              <a:t>Bivariate Analysis</a:t>
            </a:r>
          </a:p>
          <a:p>
            <a:r>
              <a:rPr lang="en-IN" b="1" dirty="0"/>
              <a:t>C. </a:t>
            </a:r>
            <a:r>
              <a:rPr lang="en-IN" dirty="0"/>
              <a:t>Multivariate Analysis</a:t>
            </a:r>
          </a:p>
          <a:p>
            <a:r>
              <a:rPr lang="en-IN" b="1" dirty="0"/>
              <a:t>D. </a:t>
            </a:r>
            <a:r>
              <a:rPr lang="en-IN" dirty="0"/>
              <a:t>Time Series Analysis</a:t>
            </a:r>
          </a:p>
          <a:p>
            <a:pPr marL="342900" indent="-342900">
              <a:lnSpc>
                <a:spcPct val="150000"/>
              </a:lnSpc>
              <a:buFontTx/>
              <a:buAutoNum type="alphaLcParenBoth"/>
            </a:pPr>
            <a:endParaRPr lang="en-US" sz="1600" dirty="0"/>
          </a:p>
        </p:txBody>
      </p:sp>
      <p:sp>
        <p:nvSpPr>
          <p:cNvPr id="5" name="Google Shape;502;p17">
            <a:extLst>
              <a:ext uri="{FF2B5EF4-FFF2-40B4-BE49-F238E27FC236}">
                <a16:creationId xmlns:a16="http://schemas.microsoft.com/office/drawing/2014/main" id="{A2D81F24-326F-C87F-4DB8-F812735EB045}"/>
              </a:ext>
            </a:extLst>
          </p:cNvPr>
          <p:cNvSpPr/>
          <p:nvPr/>
        </p:nvSpPr>
        <p:spPr>
          <a:xfrm>
            <a:off x="986151" y="3449097"/>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sz="1600" dirty="0">
                <a:solidFill>
                  <a:schemeClr val="bg1"/>
                </a:solidFill>
                <a:latin typeface="Poppins" panose="00000500000000000000" pitchFamily="2" charset="0"/>
                <a:ea typeface="Calibri"/>
                <a:cs typeface="Poppins" panose="00000500000000000000" pitchFamily="2" charset="0"/>
              </a:rPr>
              <a:t>.</a:t>
            </a:r>
          </a:p>
          <a:p>
            <a:r>
              <a:rPr lang="en-IN" sz="1600" dirty="0">
                <a:solidFill>
                  <a:schemeClr val="bg1"/>
                </a:solidFill>
                <a:latin typeface="Poppins" panose="00000500000000000000" pitchFamily="2" charset="0"/>
                <a:ea typeface="Calibri"/>
                <a:cs typeface="Poppins" panose="00000500000000000000" pitchFamily="2" charset="0"/>
              </a:rPr>
              <a:t>2.</a:t>
            </a:r>
            <a:r>
              <a:rPr lang="en-US" dirty="0"/>
              <a:t> What is a major challenge in data visualization?</a:t>
            </a:r>
            <a:endParaRPr lang="en-IN" sz="1600" dirty="0">
              <a:solidFill>
                <a:schemeClr val="bg1"/>
              </a:solidFill>
              <a:latin typeface="Poppins" panose="00000500000000000000" pitchFamily="2" charset="0"/>
              <a:ea typeface="Calibri"/>
              <a:cs typeface="Poppins" panose="00000500000000000000" pitchFamily="2" charset="0"/>
            </a:endParaRPr>
          </a:p>
        </p:txBody>
      </p:sp>
      <p:sp>
        <p:nvSpPr>
          <p:cNvPr id="10" name="Rounded Rectangle 17">
            <a:extLst>
              <a:ext uri="{FF2B5EF4-FFF2-40B4-BE49-F238E27FC236}">
                <a16:creationId xmlns:a16="http://schemas.microsoft.com/office/drawing/2014/main" id="{4CA626F5-3E8E-9CEF-D379-7D7C5B644948}"/>
              </a:ext>
            </a:extLst>
          </p:cNvPr>
          <p:cNvSpPr/>
          <p:nvPr/>
        </p:nvSpPr>
        <p:spPr>
          <a:xfrm>
            <a:off x="995362" y="4209520"/>
            <a:ext cx="972652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t always speeds up understanding</a:t>
            </a:r>
          </a:p>
          <a:p>
            <a:r>
              <a:rPr lang="en-US" b="1" dirty="0"/>
              <a:t>B </a:t>
            </a:r>
            <a:r>
              <a:rPr lang="en-US" dirty="0"/>
              <a:t>Choosing the wrong chart can mislead viewers</a:t>
            </a:r>
          </a:p>
          <a:p>
            <a:r>
              <a:rPr lang="en-US" b="1" dirty="0"/>
              <a:t>C </a:t>
            </a:r>
            <a:r>
              <a:rPr lang="en-US" dirty="0"/>
              <a:t>It eliminates the need for data cleaning</a:t>
            </a:r>
          </a:p>
          <a:p>
            <a:r>
              <a:rPr lang="en-US" b="1" dirty="0"/>
              <a:t>D </a:t>
            </a:r>
            <a:r>
              <a:rPr lang="en-US" dirty="0"/>
              <a:t>It guarantees perfect insights</a:t>
            </a:r>
          </a:p>
          <a:p>
            <a:pPr>
              <a:lnSpc>
                <a:spcPct val="150000"/>
              </a:lnSpc>
            </a:pPr>
            <a:endParaRPr lang="en-US" sz="1600" dirty="0"/>
          </a:p>
        </p:txBody>
      </p:sp>
    </p:spTree>
    <p:extLst>
      <p:ext uri="{BB962C8B-B14F-4D97-AF65-F5344CB8AC3E}">
        <p14:creationId xmlns:p14="http://schemas.microsoft.com/office/powerpoint/2010/main" val="356465484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5"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REFERENCES FOR FURTHER LEARNING OF THE SESSION</a:t>
            </a:r>
            <a:endParaRPr lang="en-US"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a:lnSpc>
                <a:spcPct val="150000"/>
              </a:lnSpc>
            </a:pPr>
            <a:r>
              <a:rPr lang="en-US" b="1" dirty="0"/>
              <a:t>Text Books:</a:t>
            </a:r>
            <a:endParaRPr lang="en-US" dirty="0"/>
          </a:p>
          <a:p>
            <a:pPr marL="514350" indent="-514350" algn="just">
              <a:buFont typeface="Arial" panose="020B0604020202020204" pitchFamily="34" charset="0"/>
              <a:buAutoNum type="arabicPeriod"/>
            </a:pPr>
            <a:r>
              <a:rPr lang="en-IN" dirty="0"/>
              <a:t>Introduction to Data Science- A Structured </a:t>
            </a:r>
            <a:r>
              <a:rPr lang="en-IN" dirty="0" err="1"/>
              <a:t>Methodology,Goran</a:t>
            </a:r>
            <a:r>
              <a:rPr lang="en-IN" dirty="0"/>
              <a:t> </a:t>
            </a:r>
            <a:r>
              <a:rPr lang="en-IN" dirty="0" err="1"/>
              <a:t>trajkovski</a:t>
            </a:r>
            <a:r>
              <a:rPr lang="en-IN" dirty="0"/>
              <a:t>. </a:t>
            </a:r>
          </a:p>
          <a:p>
            <a:pPr marL="514350" indent="-514350" algn="just">
              <a:buFont typeface="Arial" panose="020B0604020202020204" pitchFamily="34" charset="0"/>
              <a:buAutoNum type="arabicPeriod"/>
            </a:pPr>
            <a:r>
              <a:rPr lang="en-IN" dirty="0"/>
              <a:t>Data Science from Scratch- Joel Grus - O’Reilly - 2015 </a:t>
            </a:r>
          </a:p>
          <a:p>
            <a:pPr marL="514350" indent="-514350" algn="just">
              <a:buFont typeface="Arial" panose="020B0604020202020204" pitchFamily="34" charset="0"/>
              <a:buAutoNum type="arabicPeriod"/>
            </a:pPr>
            <a:r>
              <a:rPr lang="en-IN" dirty="0"/>
              <a:t>Practical Statistics for Data Scientists - Peter Bruce, Andrew Bruce &amp; Peter </a:t>
            </a:r>
            <a:r>
              <a:rPr lang="en-IN" dirty="0" err="1"/>
              <a:t>Gedeck</a:t>
            </a:r>
            <a:r>
              <a:rPr lang="en-IN" dirty="0"/>
              <a:t> - O’Reilly - 2020 </a:t>
            </a:r>
          </a:p>
          <a:p>
            <a:pPr marL="514350" indent="-514350" algn="just">
              <a:buFont typeface="Arial" panose="020B0604020202020204" pitchFamily="34" charset="0"/>
              <a:buAutoNum type="arabicPeriod"/>
            </a:pPr>
            <a:r>
              <a:rPr lang="en-IN" dirty="0"/>
              <a:t>Data Science and Machine Learning (Mathematical and Statistical Methods) - Dirk P. Kroese, Zdravko I. Botev, Thomas </a:t>
            </a:r>
            <a:r>
              <a:rPr lang="en-IN" dirty="0" err="1"/>
              <a:t>Taimre</a:t>
            </a:r>
            <a:r>
              <a:rPr lang="en-IN" dirty="0"/>
              <a:t>, Radislav Vaisman- Chapman and Hall/CRC - 2025 </a:t>
            </a:r>
          </a:p>
          <a:p>
            <a:pPr marL="514350" indent="-514350" algn="just">
              <a:buFont typeface="Arial" panose="020B0604020202020204" pitchFamily="34" charset="0"/>
              <a:buAutoNum type="arabicPeriod"/>
            </a:pPr>
            <a:r>
              <a:rPr lang="en-IN" dirty="0"/>
              <a:t>Foundations of Data Science - </a:t>
            </a:r>
            <a:r>
              <a:rPr lang="en-IN" dirty="0" err="1"/>
              <a:t>Avrim</a:t>
            </a:r>
            <a:r>
              <a:rPr lang="en-IN" dirty="0"/>
              <a:t> Blum, John Hopcroft, and Ravindran Kannan - Cambridge University Press – 2020</a:t>
            </a:r>
          </a:p>
          <a:p>
            <a:pPr>
              <a:lnSpc>
                <a:spcPct val="150000"/>
              </a:lnSpc>
            </a:pPr>
            <a:r>
              <a:rPr lang="en-US" b="1" dirty="0"/>
              <a:t>Reference Books:</a:t>
            </a:r>
            <a:endParaRPr lang="en-US" dirty="0"/>
          </a:p>
          <a:p>
            <a:pPr algn="just"/>
            <a:r>
              <a:rPr lang="en-US" dirty="0"/>
              <a:t>R1.Data Science and Its Applications by Aakanksha </a:t>
            </a:r>
            <a:r>
              <a:rPr lang="en-US" dirty="0" err="1"/>
              <a:t>Sharaff</a:t>
            </a:r>
            <a:r>
              <a:rPr lang="en-US" dirty="0"/>
              <a:t> and G. R. Sinha</a:t>
            </a:r>
            <a:r>
              <a:rPr lang="en-US"/>
              <a:t>. </a:t>
            </a:r>
          </a:p>
          <a:p>
            <a:pPr algn="just"/>
            <a:r>
              <a:rPr lang="en-US"/>
              <a:t>R2</a:t>
            </a:r>
            <a:r>
              <a:rPr lang="en-US" dirty="0"/>
              <a:t>. Introducing Data Science Big Data, Machine Learning, and more using Python tools. by Davy </a:t>
            </a:r>
            <a:r>
              <a:rPr lang="en-US" dirty="0" err="1"/>
              <a:t>cielen</a:t>
            </a:r>
            <a:r>
              <a:rPr lang="en-US" dirty="0"/>
              <a:t>, Arno D.B. </a:t>
            </a:r>
            <a:r>
              <a:rPr lang="en-US" dirty="0" err="1"/>
              <a:t>Meysman</a:t>
            </a:r>
            <a:r>
              <a:rPr lang="en-US" dirty="0"/>
              <a:t> and Mohamed Ali.</a:t>
            </a:r>
            <a:endParaRPr lang="en-US" altLang="en-US" dirty="0"/>
          </a:p>
          <a:p>
            <a:pPr>
              <a:lnSpc>
                <a:spcPct val="150000"/>
              </a:lnSpc>
            </a:pPr>
            <a:endParaRPr lang="en-US" dirty="0"/>
          </a:p>
        </p:txBody>
      </p:sp>
    </p:spTree>
    <p:extLst>
      <p:ext uri="{BB962C8B-B14F-4D97-AF65-F5344CB8AC3E}">
        <p14:creationId xmlns:p14="http://schemas.microsoft.com/office/powerpoint/2010/main" val="33379583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DAV</Template>
  <TotalTime>999</TotalTime>
  <Words>1448</Words>
  <Application>Microsoft Office PowerPoint</Application>
  <PresentationFormat>Widescreen</PresentationFormat>
  <Paragraphs>121</Paragraphs>
  <Slides>19</Slides>
  <Notes>1</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30" baseType="lpstr">
      <vt:lpstr>Arial</vt:lpstr>
      <vt:lpstr>Arial MT</vt:lpstr>
      <vt:lpstr>BioRhyme ExtraBold</vt:lpstr>
      <vt:lpstr>Calibri</vt:lpstr>
      <vt:lpstr>Gill Sans MT</vt:lpstr>
      <vt:lpstr>Nunito</vt:lpstr>
      <vt:lpstr>Poppins</vt:lpstr>
      <vt:lpstr>Times New Roman</vt:lpstr>
      <vt:lpstr>Wingdings</vt:lpstr>
      <vt:lpstr>Gallery</vt:lpstr>
      <vt:lpstr>Worksheet</vt:lpstr>
      <vt:lpstr>PowerPoint Presentation</vt:lpstr>
      <vt:lpstr>PowerPoint Presentation</vt:lpstr>
      <vt:lpstr>      Key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Data Visualization</vt:lpstr>
      <vt:lpstr>PowerPoint Presentation</vt:lpstr>
      <vt:lpstr>Common Types of Data Visualization </vt:lpstr>
      <vt:lpstr>Importance of Data Visualization </vt:lpstr>
      <vt:lpstr>Real-World Use Cases </vt:lpstr>
      <vt:lpstr>Challenges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VOCABULARY</dc:title>
  <dc:creator>ramesh babu padamata</dc:creator>
  <cp:lastModifiedBy>sunanda nalajala</cp:lastModifiedBy>
  <cp:revision>42</cp:revision>
  <dcterms:created xsi:type="dcterms:W3CDTF">2023-10-26T04:57:25Z</dcterms:created>
  <dcterms:modified xsi:type="dcterms:W3CDTF">2026-08-19T06:55:02Z</dcterms:modified>
</cp:coreProperties>
</file>