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sldIdLst>
    <p:sldId id="256" r:id="rId2"/>
    <p:sldId id="300" r:id="rId3"/>
    <p:sldId id="363" r:id="rId4"/>
    <p:sldId id="264" r:id="rId5"/>
    <p:sldId id="439" r:id="rId6"/>
    <p:sldId id="440" r:id="rId7"/>
    <p:sldId id="267" r:id="rId8"/>
    <p:sldId id="441" r:id="rId9"/>
    <p:sldId id="401" r:id="rId10"/>
    <p:sldId id="400" r:id="rId11"/>
    <p:sldId id="397" r:id="rId12"/>
    <p:sldId id="398" r:id="rId13"/>
    <p:sldId id="304" r:id="rId14"/>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821"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6" name="Slide Number Placeholder 5"/>
          <p:cNvSpPr>
            <a:spLocks noGrp="1"/>
          </p:cNvSpPr>
          <p:nvPr>
            <p:ph type="sldNum" sz="quarter" idx="12"/>
          </p:nvPr>
        </p:nvSpPr>
        <p:spPr>
          <a:xfrm>
            <a:off x="1437664" y="798973"/>
            <a:ext cx="811019" cy="503578"/>
          </a:xfrm>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722468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1878274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42825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8/24/2026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41031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8/24/2026</a:t>
            </a:fld>
            <a:endParaRPr lang="en-US"/>
          </a:p>
        </p:txBody>
      </p:sp>
      <p:sp>
        <p:nvSpPr>
          <p:cNvPr id="9" name="Slide Number Placeholder 8"/>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89231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8/24/2026</a:t>
            </a:fld>
            <a:endParaRPr lang="en-US"/>
          </a:p>
        </p:txBody>
      </p:sp>
      <p:sp>
        <p:nvSpPr>
          <p:cNvPr id="5" name="Slide Number Placeholder 4"/>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892208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8/24/2026</a:t>
            </a:fld>
            <a:endParaRPr lang="en-US"/>
          </a:p>
        </p:txBody>
      </p:sp>
      <p:sp>
        <p:nvSpPr>
          <p:cNvPr id="4" name="Slide Number Placeholder 3"/>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362832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8/24/2026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82202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D8BD707-D9CF-40AE-B4C6-C98DA3205C09}" type="datetimeFigureOut">
              <a:rPr lang="en-US" smtClean="0"/>
              <a:pPr/>
              <a:t>8/24/2026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38302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204109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8/24/2026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5129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Click icon to add picture</a:t>
            </a:r>
            <a:endParaRPr/>
          </a:p>
        </p:txBody>
      </p:sp>
    </p:spTree>
    <p:extLst>
      <p:ext uri="{BB962C8B-B14F-4D97-AF65-F5344CB8AC3E}">
        <p14:creationId xmlns:p14="http://schemas.microsoft.com/office/powerpoint/2010/main" val="529304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D8BD707-D9CF-40AE-B4C6-C98DA3205C09}" type="datetimeFigureOut">
              <a:rPr lang="en-US" smtClean="0"/>
              <a:pPr/>
              <a:t>8/24/2026</a:t>
            </a:fld>
            <a:endParaRPr lang="en-US"/>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pPr marL="109855">
              <a:lnSpc>
                <a:spcPts val="1070"/>
              </a:lnSpc>
            </a:pPr>
            <a:fld id="{81D60167-4931-47E6-BA6A-407CBD079E47}" type="slidenum">
              <a:rPr lang="en-IN" smtClean="0"/>
              <a:pPr marL="109855">
                <a:lnSpc>
                  <a:spcPts val="1070"/>
                </a:lnSpc>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28107654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75;p16">
            <a:extLst>
              <a:ext uri="{FF2B5EF4-FFF2-40B4-BE49-F238E27FC236}">
                <a16:creationId xmlns:a16="http://schemas.microsoft.com/office/drawing/2014/main" id="{CB69EC99-FFAF-B3A6-842B-B510C0EAB741}"/>
              </a:ext>
            </a:extLst>
          </p:cNvPr>
          <p:cNvSpPr txBox="1"/>
          <p:nvPr/>
        </p:nvSpPr>
        <p:spPr>
          <a:xfrm>
            <a:off x="2971800" y="762000"/>
            <a:ext cx="5650523"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00B0F0"/>
                </a:solidFill>
                <a:cs typeface="Poppins" pitchFamily="2" charset="77"/>
              </a:rPr>
              <a:t>Department of AI &amp; DS</a:t>
            </a:r>
          </a:p>
        </p:txBody>
      </p:sp>
      <p:sp>
        <p:nvSpPr>
          <p:cNvPr id="6" name="Google Shape;476;p16">
            <a:extLst>
              <a:ext uri="{FF2B5EF4-FFF2-40B4-BE49-F238E27FC236}">
                <a16:creationId xmlns:a16="http://schemas.microsoft.com/office/drawing/2014/main" id="{84A891A9-D46F-5E9B-65D6-C64F832A0362}"/>
              </a:ext>
            </a:extLst>
          </p:cNvPr>
          <p:cNvSpPr txBox="1"/>
          <p:nvPr/>
        </p:nvSpPr>
        <p:spPr>
          <a:xfrm>
            <a:off x="1447800" y="2090192"/>
            <a:ext cx="8218565" cy="3170058"/>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COURSE NAME: Data science</a:t>
            </a:r>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3200" b="1" cap="all" dirty="0">
                <a:ln/>
                <a:solidFill>
                  <a:srgbClr val="00B0F0"/>
                </a:solidFill>
                <a:cs typeface="Poppins" panose="00000500000000000000" pitchFamily="2" charset="0"/>
                <a:sym typeface="BioRhyme ExtraBold"/>
              </a:rPr>
              <a:t>COURSE CODE: 24AD3107</a:t>
            </a:r>
            <a:r>
              <a:rPr lang="en-US" sz="3200" b="1" cap="all" dirty="0">
                <a:ln/>
                <a:solidFill>
                  <a:srgbClr val="C00000"/>
                </a:solidFill>
                <a:cs typeface="Poppins" panose="00000500000000000000" pitchFamily="2" charset="0"/>
                <a:sym typeface="BioRhyme ExtraBold"/>
              </a:rPr>
              <a:t>	</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3200" dirty="0"/>
              <a:t>Data Inspection, Summary Statistics, Data Understanding using Python.</a:t>
            </a:r>
            <a:endParaRPr lang="en-US" sz="3200" b="1" cap="all" dirty="0">
              <a:ln/>
              <a:solidFill>
                <a:srgbClr val="C00000"/>
              </a:solidFill>
              <a:cs typeface="Poppins" panose="00000500000000000000" pitchFamily="2" charset="0"/>
              <a:sym typeface="BioRhyme ExtraBold"/>
            </a:endParaRPr>
          </a:p>
        </p:txBody>
      </p:sp>
      <p:sp>
        <p:nvSpPr>
          <p:cNvPr id="7" name="Google Shape;502;p17">
            <a:extLst>
              <a:ext uri="{FF2B5EF4-FFF2-40B4-BE49-F238E27FC236}">
                <a16:creationId xmlns:a16="http://schemas.microsoft.com/office/drawing/2014/main" id="{A5120A7A-ED85-153C-EE7C-2FEB2D482089}"/>
              </a:ext>
            </a:extLst>
          </p:cNvPr>
          <p:cNvSpPr/>
          <p:nvPr/>
        </p:nvSpPr>
        <p:spPr>
          <a:xfrm>
            <a:off x="4876800" y="541020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dirty="0">
                <a:solidFill>
                  <a:schemeClr val="lt1"/>
                </a:solidFill>
                <a:ea typeface="Calibri"/>
                <a:cs typeface="Poppins" panose="00000500000000000000" pitchFamily="2" charset="0"/>
                <a:sym typeface="Calibri"/>
              </a:rPr>
              <a:t>Session - 2</a:t>
            </a:r>
            <a:endParaRPr sz="2800" b="1" dirty="0">
              <a:solidFill>
                <a:schemeClr val="lt1"/>
              </a:solidFill>
              <a:ea typeface="Calibri"/>
              <a:cs typeface="Poppins" panose="00000500000000000000" pitchFamily="2" charset="0"/>
              <a:sym typeface="Calibri"/>
            </a:endParaRPr>
          </a:p>
        </p:txBody>
      </p:sp>
    </p:spTree>
    <p:extLst>
      <p:ext uri="{BB962C8B-B14F-4D97-AF65-F5344CB8AC3E}">
        <p14:creationId xmlns:p14="http://schemas.microsoft.com/office/powerpoint/2010/main" val="2503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376488"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110343" y="689854"/>
            <a:ext cx="10731286" cy="794192"/>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a:t>
            </a:r>
            <a:r>
              <a:rPr lang="en-US" sz="1600" dirty="0">
                <a:latin typeface="Poppins"/>
                <a:cs typeface="Poppins"/>
              </a:rPr>
              <a:t>of  Data Inspection, Summary Statistics, Data Understanding using Python.</a:t>
            </a: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449514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9982200" cy="1009635"/>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r>
              <a:rPr lang="en-US" sz="1600" dirty="0">
                <a:latin typeface="Poppins"/>
                <a:cs typeface="Poppins"/>
              </a:rPr>
              <a:t>Introduction to Data Inspection, Summary Statistics, Data Understanding using Python.</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47684" y="4863626"/>
            <a:ext cx="9906000" cy="508344"/>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 have basic </a:t>
            </a:r>
            <a:r>
              <a:rPr lang="en-US" altLang="en-US" sz="1600" dirty="0">
                <a:latin typeface="Arial"/>
                <a:cs typeface="Arial"/>
              </a:rPr>
              <a:t>of  Summary statistics</a:t>
            </a:r>
            <a:endParaRPr lang="en-US" sz="1600" b="0" i="0" dirty="0">
              <a:effectLst/>
              <a:latin typeface="Arial"/>
              <a:cs typeface="Arial"/>
            </a:endParaRPr>
          </a:p>
        </p:txBody>
      </p:sp>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1FB182DA-8516-88B8-108C-8195B819749E}"/>
              </a:ext>
            </a:extLst>
          </p:cNvPr>
          <p:cNvSpPr>
            <a:spLocks noGrp="1"/>
          </p:cNvSpPr>
          <p:nvPr>
            <p:ph type="title" idx="4294967295"/>
          </p:nvPr>
        </p:nvSpPr>
        <p:spPr>
          <a:xfrm>
            <a:off x="0" y="652463"/>
            <a:ext cx="10515600" cy="1325562"/>
          </a:xfrm>
        </p:spPr>
        <p:txBody>
          <a:bodyPr/>
          <a:lstStyle/>
          <a:p>
            <a:r>
              <a:rPr lang="en-US" altLang="en-US" dirty="0"/>
              <a:t>      Key Concepts</a:t>
            </a:r>
          </a:p>
        </p:txBody>
      </p:sp>
      <p:sp>
        <p:nvSpPr>
          <p:cNvPr id="18435" name="Content Placeholder 2">
            <a:extLst>
              <a:ext uri="{FF2B5EF4-FFF2-40B4-BE49-F238E27FC236}">
                <a16:creationId xmlns:a16="http://schemas.microsoft.com/office/drawing/2014/main" id="{56F88FC0-F086-2D56-9F7F-55E81DA658CB}"/>
              </a:ext>
            </a:extLst>
          </p:cNvPr>
          <p:cNvSpPr>
            <a:spLocks noGrp="1"/>
          </p:cNvSpPr>
          <p:nvPr>
            <p:ph idx="4294967295"/>
          </p:nvPr>
        </p:nvSpPr>
        <p:spPr>
          <a:xfrm>
            <a:off x="589281" y="1316038"/>
            <a:ext cx="11602720" cy="4595812"/>
          </a:xfrm>
        </p:spPr>
        <p:txBody>
          <a:bodyPr>
            <a:normAutofit/>
          </a:bodyPr>
          <a:lstStyle/>
          <a:p>
            <a:pPr>
              <a:buFont typeface="Wingdings" pitchFamily="2" charset="2"/>
              <a:buChar char="v"/>
              <a:defRPr/>
            </a:pPr>
            <a:r>
              <a:rPr lang="en-US" sz="2800" dirty="0"/>
              <a:t>Data Inspection,</a:t>
            </a:r>
          </a:p>
          <a:p>
            <a:pPr>
              <a:buFont typeface="Wingdings" pitchFamily="2" charset="2"/>
              <a:buChar char="v"/>
              <a:defRPr/>
            </a:pPr>
            <a:r>
              <a:rPr lang="en-US" sz="2800" dirty="0"/>
              <a:t>Summary Statistics,</a:t>
            </a:r>
          </a:p>
          <a:p>
            <a:pPr>
              <a:buFont typeface="Wingdings" pitchFamily="2" charset="2"/>
              <a:buChar char="v"/>
              <a:defRPr/>
            </a:pPr>
            <a:r>
              <a:rPr lang="en-US" sz="2800" dirty="0"/>
              <a:t>Data Understanding using Python.</a:t>
            </a:r>
          </a:p>
          <a:p>
            <a:pPr>
              <a:buFont typeface="Wingdings" pitchFamily="2" charset="2"/>
              <a:buChar char="v"/>
              <a:defRPr/>
            </a:pPr>
            <a:endParaRPr lang="en-US" sz="2800" dirty="0"/>
          </a:p>
          <a:p>
            <a:pPr>
              <a:buFont typeface="Wingdings" pitchFamily="2" charset="2"/>
              <a:buChar char="v"/>
              <a:defRPr/>
            </a:pPr>
            <a:endParaRPr lang="en-US" altLang="en-US" sz="2800" dirty="0"/>
          </a:p>
          <a:p>
            <a:pPr>
              <a:buFont typeface="Wingdings" pitchFamily="2" charset="2"/>
              <a:buChar char="v"/>
              <a:defRPr/>
            </a:pPr>
            <a:endParaRPr lang="en-US" altLang="en-US" sz="2800" dirty="0"/>
          </a:p>
          <a:p>
            <a:pPr marL="0" indent="0">
              <a:buNone/>
              <a:defRPr/>
            </a:pPr>
            <a:endParaRPr lang="en-US" altLang="en-US" sz="4200" dirty="0">
              <a:latin typeface="Times New Roman" pitchFamily="16" charset="0"/>
              <a:cs typeface="Times New Roman" pitchFamily="16" charset="0"/>
            </a:endParaRPr>
          </a:p>
          <a:p>
            <a:pPr marL="457200" indent="-457200">
              <a:buFont typeface="Wingdings" pitchFamily="2" charset="2"/>
              <a:buChar char="v"/>
              <a:defRPr/>
            </a:pPr>
            <a:endParaRPr lang="en-US" altLang="en-US" dirty="0">
              <a:latin typeface="Times New Roman" pitchFamily="16" charset="0"/>
              <a:cs typeface="Times New Roman" pitchFamily="16" charset="0"/>
            </a:endParaRPr>
          </a:p>
          <a:p>
            <a:pPr marL="457200" indent="-457200">
              <a:buNone/>
              <a:defRPr/>
            </a:pPr>
            <a:endParaRPr lang="en-US" altLang="en-US" dirty="0">
              <a:latin typeface="Times New Roman" pitchFamily="16" charset="0"/>
              <a:cs typeface="Times New Roman" pitchFamily="16" charset="0"/>
            </a:endParaRPr>
          </a:p>
          <a:p>
            <a:pPr marL="457200" indent="-457200">
              <a:buNone/>
              <a:defRPr/>
            </a:pPr>
            <a:endParaRPr lang="en-US" altLang="en-US" dirty="0">
              <a:latin typeface="Times New Roman" pitchFamily="16" charset="0"/>
              <a:cs typeface="Times New Roman" pitchFamily="16" charset="0"/>
            </a:endParaRPr>
          </a:p>
        </p:txBody>
      </p:sp>
      <p:sp>
        <p:nvSpPr>
          <p:cNvPr id="2" name="Rounded Rectangle 17">
            <a:extLst>
              <a:ext uri="{FF2B5EF4-FFF2-40B4-BE49-F238E27FC236}">
                <a16:creationId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left)">
                                      <p:cBhvr>
                                        <p:cTn id="7" dur="500"/>
                                        <p:tgtEl>
                                          <p:spTgt spid="18435">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animEffect transition="in" filter="wipe(left)">
                                      <p:cBhvr>
                                        <p:cTn id="11" dur="500"/>
                                        <p:tgtEl>
                                          <p:spTgt spid="18435">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8435">
                                            <p:txEl>
                                              <p:pRg st="2" end="2"/>
                                            </p:txEl>
                                          </p:spTgt>
                                        </p:tgtEl>
                                        <p:attrNameLst>
                                          <p:attrName>style.visibility</p:attrName>
                                        </p:attrNameLst>
                                      </p:cBhvr>
                                      <p:to>
                                        <p:strVal val="visible"/>
                                      </p:to>
                                    </p:set>
                                    <p:animEffect transition="in" filter="wipe(left)">
                                      <p:cBhvr>
                                        <p:cTn id="15" dur="500"/>
                                        <p:tgtEl>
                                          <p:spTgt spid="184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75766" y="937260"/>
            <a:ext cx="11559034" cy="5173211"/>
          </a:xfrm>
          <a:prstGeom prst="rect">
            <a:avLst/>
          </a:prstGeom>
        </p:spPr>
        <p:txBody>
          <a:bodyPr vert="horz" wrap="square" lIns="0" tIns="2540" rIns="0" bIns="0" rtlCol="0">
            <a:spAutoFit/>
          </a:bodyPr>
          <a:lstStyle/>
          <a:p>
            <a:pPr algn="just"/>
            <a:r>
              <a:rPr lang="en-US" sz="2800" dirty="0"/>
              <a:t>Data inspection is the first step in exploratory data analysis (EDA). It helps you understand the </a:t>
            </a:r>
            <a:r>
              <a:rPr lang="en-US" sz="2800" b="1" dirty="0"/>
              <a:t>structure</a:t>
            </a:r>
            <a:r>
              <a:rPr lang="en-US" sz="2800" dirty="0"/>
              <a:t> of the dataset: number of rows/columns, data types, missing values, and a quick look at the actual records. This step ensures you know what kind of data you’re dealing with before applying statistical methods.</a:t>
            </a:r>
          </a:p>
          <a:p>
            <a:r>
              <a:rPr lang="en-US" sz="2800" dirty="0"/>
              <a:t>import pandas as pd</a:t>
            </a:r>
          </a:p>
          <a:p>
            <a:r>
              <a:rPr lang="en-US" sz="2800" dirty="0"/>
              <a:t># Load dataset</a:t>
            </a:r>
          </a:p>
          <a:p>
            <a:r>
              <a:rPr lang="en-US" sz="2800" dirty="0" err="1"/>
              <a:t>df</a:t>
            </a:r>
            <a:r>
              <a:rPr lang="en-US" sz="2800" dirty="0"/>
              <a:t> = </a:t>
            </a:r>
            <a:r>
              <a:rPr lang="en-US" sz="2800" dirty="0" err="1"/>
              <a:t>pd.read_csv</a:t>
            </a:r>
            <a:r>
              <a:rPr lang="en-US" sz="2800" dirty="0"/>
              <a:t>("your_data.csv")</a:t>
            </a:r>
          </a:p>
          <a:p>
            <a:r>
              <a:rPr lang="en-US" sz="2800" dirty="0"/>
              <a:t># Inspect first few rows</a:t>
            </a:r>
          </a:p>
          <a:p>
            <a:r>
              <a:rPr lang="en-US" sz="2800" dirty="0"/>
              <a:t>print(</a:t>
            </a:r>
            <a:r>
              <a:rPr lang="en-US" sz="2800" dirty="0" err="1"/>
              <a:t>df.head</a:t>
            </a:r>
            <a:r>
              <a:rPr lang="en-US" sz="2800" dirty="0"/>
              <a:t>())        # Preview data</a:t>
            </a:r>
          </a:p>
          <a:p>
            <a:r>
              <a:rPr lang="en-US" sz="2800" dirty="0"/>
              <a:t>print(</a:t>
            </a:r>
            <a:r>
              <a:rPr lang="en-US" sz="2800" dirty="0" err="1"/>
              <a:t>df.shape</a:t>
            </a:r>
            <a:r>
              <a:rPr lang="en-US" sz="2800" dirty="0"/>
              <a:t>)         # Rows and columns</a:t>
            </a:r>
          </a:p>
          <a:p>
            <a:r>
              <a:rPr lang="en-US" sz="2800" dirty="0"/>
              <a:t>print(df.info())        # Data types and non-null counts</a:t>
            </a:r>
          </a:p>
          <a:p>
            <a:r>
              <a:rPr lang="en-US" sz="2800" dirty="0"/>
              <a:t>print(</a:t>
            </a:r>
            <a:r>
              <a:rPr lang="en-US" sz="2800" dirty="0" err="1"/>
              <a:t>df.isnull</a:t>
            </a:r>
            <a:r>
              <a:rPr lang="en-US" sz="2800" dirty="0"/>
              <a:t>().sum()) # Missing values per column</a:t>
            </a:r>
          </a:p>
        </p:txBody>
      </p:sp>
      <p:sp>
        <p:nvSpPr>
          <p:cNvPr id="9" name="object 9"/>
          <p:cNvSpPr txBox="1"/>
          <p:nvPr/>
        </p:nvSpPr>
        <p:spPr>
          <a:xfrm>
            <a:off x="11919714" y="6523031"/>
            <a:ext cx="96520" cy="152400"/>
          </a:xfrm>
          <a:prstGeom prst="rect">
            <a:avLst/>
          </a:prstGeom>
        </p:spPr>
        <p:txBody>
          <a:bodyPr vert="horz" wrap="square" lIns="0" tIns="0" rIns="0" bIns="0" rtlCol="0">
            <a:spAutoFit/>
          </a:bodyPr>
          <a:lstStyle/>
          <a:p>
            <a:pPr marL="12700">
              <a:lnSpc>
                <a:spcPts val="1070"/>
              </a:lnSpc>
            </a:pPr>
            <a:r>
              <a:rPr sz="1000" dirty="0">
                <a:solidFill>
                  <a:srgbClr val="888888"/>
                </a:solidFill>
                <a:latin typeface="Arial MT"/>
                <a:cs typeface="Arial MT"/>
              </a:rPr>
              <a:t>5</a:t>
            </a:r>
            <a:endParaRPr sz="1000">
              <a:latin typeface="Arial MT"/>
              <a:cs typeface="Arial MT"/>
            </a:endParaRPr>
          </a:p>
        </p:txBody>
      </p:sp>
      <p:sp>
        <p:nvSpPr>
          <p:cNvPr id="4" name="Rounded Rectangle 17">
            <a:extLst>
              <a:ext uri="{FF2B5EF4-FFF2-40B4-BE49-F238E27FC236}">
                <a16:creationId xmlns:a16="http://schemas.microsoft.com/office/drawing/2014/main" id="{C872C3B7-119E-6F9C-1ACB-E81F2C34BB0E}"/>
              </a:ext>
            </a:extLst>
          </p:cNvPr>
          <p:cNvSpPr/>
          <p:nvPr/>
        </p:nvSpPr>
        <p:spPr>
          <a:xfrm>
            <a:off x="1295400" y="304800"/>
            <a:ext cx="82401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a:t>Data Inspection</a:t>
            </a:r>
            <a:endParaRPr lang="en-IN" sz="3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left)">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3F3F8C-65B3-DC7F-2BDA-2E5D412362DD}"/>
              </a:ext>
            </a:extLst>
          </p:cNvPr>
          <p:cNvSpPr>
            <a:spLocks noGrp="1"/>
          </p:cNvSpPr>
          <p:nvPr>
            <p:ph idx="1"/>
          </p:nvPr>
        </p:nvSpPr>
        <p:spPr>
          <a:xfrm>
            <a:off x="1066800" y="76200"/>
            <a:ext cx="10515599" cy="6096000"/>
          </a:xfrm>
        </p:spPr>
        <p:txBody>
          <a:bodyPr>
            <a:noAutofit/>
          </a:bodyPr>
          <a:lstStyle/>
          <a:p>
            <a:r>
              <a:rPr lang="en-US" sz="2200" dirty="0"/>
              <a:t>The Iris dataset contains 150 samples of iris flowers, with 4 numerical features (sepal length, sepal width, petal length, petal width) and a categorical target (species). Inspection helps confirm structure, data types, and missing values.</a:t>
            </a:r>
          </a:p>
          <a:p>
            <a:r>
              <a:rPr lang="en-IN" sz="2200" dirty="0"/>
              <a:t>import pandas as pd</a:t>
            </a:r>
          </a:p>
          <a:p>
            <a:r>
              <a:rPr lang="en-IN" sz="2200" dirty="0"/>
              <a:t>from </a:t>
            </a:r>
            <a:r>
              <a:rPr lang="en-IN" sz="2200" dirty="0" err="1"/>
              <a:t>sklearn.datasets</a:t>
            </a:r>
            <a:r>
              <a:rPr lang="en-IN" sz="2200" dirty="0"/>
              <a:t> import </a:t>
            </a:r>
            <a:r>
              <a:rPr lang="en-IN" sz="2200" dirty="0" err="1"/>
              <a:t>load_iris</a:t>
            </a:r>
            <a:endParaRPr lang="en-IN" sz="2200" dirty="0"/>
          </a:p>
          <a:p>
            <a:r>
              <a:rPr lang="en-IN" sz="2200" dirty="0"/>
              <a:t>iris = </a:t>
            </a:r>
            <a:r>
              <a:rPr lang="en-IN" sz="2200" dirty="0" err="1"/>
              <a:t>load_iris</a:t>
            </a:r>
            <a:r>
              <a:rPr lang="en-IN" sz="2200" dirty="0"/>
              <a:t>()            # Load iris dataset</a:t>
            </a:r>
          </a:p>
          <a:p>
            <a:pPr algn="just"/>
            <a:r>
              <a:rPr lang="en-IN" sz="2200" dirty="0" err="1"/>
              <a:t>df</a:t>
            </a:r>
            <a:r>
              <a:rPr lang="en-IN" sz="2200" dirty="0"/>
              <a:t> = </a:t>
            </a:r>
            <a:r>
              <a:rPr lang="en-IN" sz="2200" dirty="0" err="1"/>
              <a:t>pd.DataFrame</a:t>
            </a:r>
            <a:r>
              <a:rPr lang="en-IN" sz="2200" dirty="0"/>
              <a:t>(</a:t>
            </a:r>
            <a:r>
              <a:rPr lang="en-IN" sz="2200" dirty="0" err="1"/>
              <a:t>iris.data</a:t>
            </a:r>
            <a:r>
              <a:rPr lang="en-IN" sz="2200" dirty="0"/>
              <a:t>, columns=</a:t>
            </a:r>
            <a:r>
              <a:rPr lang="en-IN" sz="2200" dirty="0" err="1"/>
              <a:t>iris.feature_names</a:t>
            </a:r>
            <a:r>
              <a:rPr lang="en-IN" sz="2200" dirty="0"/>
              <a:t>)</a:t>
            </a:r>
          </a:p>
          <a:p>
            <a:r>
              <a:rPr lang="en-IN" sz="2200" dirty="0" err="1"/>
              <a:t>df</a:t>
            </a:r>
            <a:r>
              <a:rPr lang="en-IN" sz="2200" dirty="0"/>
              <a:t>['species'] = </a:t>
            </a:r>
            <a:r>
              <a:rPr lang="en-IN" sz="2200" dirty="0" err="1"/>
              <a:t>iris.target</a:t>
            </a:r>
            <a:endParaRPr lang="en-IN" sz="2200" dirty="0"/>
          </a:p>
          <a:p>
            <a:r>
              <a:rPr lang="en-IN" sz="2200" dirty="0"/>
              <a:t># Map species numbers to names</a:t>
            </a:r>
          </a:p>
          <a:p>
            <a:r>
              <a:rPr lang="en-IN" sz="2200" dirty="0" err="1"/>
              <a:t>df</a:t>
            </a:r>
            <a:r>
              <a:rPr lang="en-IN" sz="2200" dirty="0"/>
              <a:t>['species'] = </a:t>
            </a:r>
            <a:r>
              <a:rPr lang="en-IN" sz="2200" dirty="0" err="1"/>
              <a:t>df</a:t>
            </a:r>
            <a:r>
              <a:rPr lang="en-IN" sz="2200" dirty="0"/>
              <a:t>['species'].map({0:'setosa', 1:'versicolor', 2:'virginica'})</a:t>
            </a:r>
          </a:p>
          <a:p>
            <a:r>
              <a:rPr lang="en-IN" sz="2200" dirty="0"/>
              <a:t># Inspect</a:t>
            </a:r>
          </a:p>
          <a:p>
            <a:r>
              <a:rPr lang="en-IN" sz="2200" dirty="0"/>
              <a:t>print(</a:t>
            </a:r>
            <a:r>
              <a:rPr lang="en-IN" sz="2200" dirty="0" err="1"/>
              <a:t>df.head</a:t>
            </a:r>
            <a:r>
              <a:rPr lang="en-IN" sz="2200" dirty="0"/>
              <a:t>())   print(df.info())      print(</a:t>
            </a:r>
            <a:r>
              <a:rPr lang="en-IN" sz="2200" dirty="0" err="1"/>
              <a:t>df.isnull</a:t>
            </a:r>
            <a:r>
              <a:rPr lang="en-IN" sz="2200" dirty="0"/>
              <a:t>().sum()</a:t>
            </a:r>
          </a:p>
        </p:txBody>
      </p:sp>
    </p:spTree>
    <p:extLst>
      <p:ext uri="{BB962C8B-B14F-4D97-AF65-F5344CB8AC3E}">
        <p14:creationId xmlns:p14="http://schemas.microsoft.com/office/powerpoint/2010/main" val="1509218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752804-431E-1DFF-9D02-79387ED21E7D}"/>
              </a:ext>
            </a:extLst>
          </p:cNvPr>
          <p:cNvSpPr>
            <a:spLocks noGrp="1"/>
          </p:cNvSpPr>
          <p:nvPr>
            <p:ph idx="1"/>
          </p:nvPr>
        </p:nvSpPr>
        <p:spPr>
          <a:xfrm>
            <a:off x="685801" y="152400"/>
            <a:ext cx="10369054" cy="6858000"/>
          </a:xfrm>
        </p:spPr>
        <p:txBody>
          <a:bodyPr>
            <a:noAutofit/>
          </a:bodyPr>
          <a:lstStyle/>
          <a:p>
            <a:r>
              <a:rPr lang="en-IN" sz="2400" dirty="0"/>
              <a:t> sepal length (cm)  sepal width (cm)  petal length (cm)  petal width (cm) species</a:t>
            </a:r>
          </a:p>
          <a:p>
            <a:r>
              <a:rPr lang="en-IN" sz="2400" dirty="0"/>
              <a:t>0                5.1               3.5                1.4               0.2  			</a:t>
            </a:r>
            <a:r>
              <a:rPr lang="en-IN" sz="2400" dirty="0" err="1"/>
              <a:t>setosa</a:t>
            </a:r>
            <a:endParaRPr lang="en-IN" sz="2400" dirty="0"/>
          </a:p>
          <a:p>
            <a:r>
              <a:rPr lang="en-IN" sz="2400" dirty="0"/>
              <a:t>1                4.9               3.0                1.4               0.2  			</a:t>
            </a:r>
            <a:r>
              <a:rPr lang="en-IN" sz="2400" dirty="0" err="1"/>
              <a:t>setosa</a:t>
            </a:r>
            <a:endParaRPr lang="en-IN" sz="2400" dirty="0"/>
          </a:p>
          <a:p>
            <a:r>
              <a:rPr lang="en-IN" sz="2400" dirty="0"/>
              <a:t>2                4.7               3.2                1.3               0.2  			</a:t>
            </a:r>
            <a:r>
              <a:rPr lang="en-IN" sz="2400" dirty="0" err="1"/>
              <a:t>setosa</a:t>
            </a:r>
            <a:endParaRPr lang="en-IN" sz="2400" dirty="0"/>
          </a:p>
          <a:p>
            <a:r>
              <a:rPr lang="en-IN" sz="2400" dirty="0"/>
              <a:t>3                4.6               3.1                1.5               0.2  			</a:t>
            </a:r>
            <a:r>
              <a:rPr lang="en-IN" sz="2400" dirty="0" err="1"/>
              <a:t>setosa</a:t>
            </a:r>
            <a:endParaRPr lang="en-IN" sz="2400" dirty="0"/>
          </a:p>
          <a:p>
            <a:r>
              <a:rPr lang="en-IN" sz="2400" dirty="0"/>
              <a:t>4                5.0               3.6                1.4               0.2  			</a:t>
            </a:r>
            <a:r>
              <a:rPr lang="en-IN" sz="2400" dirty="0" err="1"/>
              <a:t>setosa</a:t>
            </a:r>
            <a:endParaRPr lang="en-IN" sz="2400" dirty="0"/>
          </a:p>
          <a:p>
            <a:r>
              <a:rPr lang="en-IN" sz="2400" dirty="0"/>
              <a:t>&lt;class '</a:t>
            </a:r>
            <a:r>
              <a:rPr lang="en-IN" sz="2400" dirty="0" err="1"/>
              <a:t>pandas.core.frame.DataFrame</a:t>
            </a:r>
            <a:r>
              <a:rPr lang="en-IN" sz="2400" dirty="0"/>
              <a:t>'&gt;</a:t>
            </a:r>
          </a:p>
          <a:p>
            <a:r>
              <a:rPr lang="en-IN" sz="2400" dirty="0" err="1"/>
              <a:t>RangeIndex</a:t>
            </a:r>
            <a:r>
              <a:rPr lang="en-IN" sz="2400" dirty="0"/>
              <a:t>: 150 entries, 0 to 149</a:t>
            </a:r>
          </a:p>
          <a:p>
            <a:r>
              <a:rPr lang="en-IN" sz="2400" dirty="0"/>
              <a:t>Data columns (total 5 columns):</a:t>
            </a:r>
          </a:p>
          <a:p>
            <a:r>
              <a:rPr lang="en-IN" sz="2400" dirty="0"/>
              <a:t> #   Column             Non-Null Count  </a:t>
            </a:r>
            <a:r>
              <a:rPr lang="en-IN" sz="2400" dirty="0" err="1"/>
              <a:t>Dtype</a:t>
            </a:r>
            <a:r>
              <a:rPr lang="en-IN" sz="2400" dirty="0"/>
              <a:t>  </a:t>
            </a:r>
          </a:p>
          <a:p>
            <a:r>
              <a:rPr lang="en-IN" sz="2400" dirty="0"/>
              <a:t>---  ------             --------------  -----  </a:t>
            </a:r>
          </a:p>
          <a:p>
            <a:r>
              <a:rPr lang="en-IN" sz="2400" dirty="0"/>
              <a:t> 0   sepal length (cm)  150 non-null    float64</a:t>
            </a:r>
          </a:p>
          <a:p>
            <a:r>
              <a:rPr lang="en-IN" sz="2400" dirty="0"/>
              <a:t> 1   sepal width (cm)   150 non-null    float64</a:t>
            </a:r>
          </a:p>
          <a:p>
            <a:r>
              <a:rPr lang="en-IN" sz="2400" dirty="0"/>
              <a:t> 2   petal length (cm)  150 non-null    float64</a:t>
            </a:r>
          </a:p>
          <a:p>
            <a:r>
              <a:rPr lang="en-IN" sz="2400" dirty="0"/>
              <a:t> 3   petal width (cm)   150 non-null    float64</a:t>
            </a:r>
          </a:p>
          <a:p>
            <a:r>
              <a:rPr lang="en-IN" sz="2400" dirty="0"/>
              <a:t> 4   species            150 non-null    object</a:t>
            </a:r>
          </a:p>
          <a:p>
            <a:r>
              <a:rPr lang="en-IN" sz="2400" dirty="0" err="1"/>
              <a:t>dtypes</a:t>
            </a:r>
            <a:r>
              <a:rPr lang="en-IN" sz="2400" dirty="0"/>
              <a:t>: float64(4), object(1)</a:t>
            </a:r>
          </a:p>
          <a:p>
            <a:r>
              <a:rPr lang="en-IN" sz="2400" dirty="0"/>
              <a:t>memory usage: 6.0+ KB</a:t>
            </a:r>
          </a:p>
          <a:p>
            <a:endParaRPr lang="en-IN" sz="2400" dirty="0"/>
          </a:p>
          <a:p>
            <a:r>
              <a:rPr lang="en-IN" sz="2400" dirty="0"/>
              <a:t>sepal length (cm)    0</a:t>
            </a:r>
          </a:p>
          <a:p>
            <a:r>
              <a:rPr lang="en-IN" sz="2400" dirty="0"/>
              <a:t>sepal width (cm)     0</a:t>
            </a:r>
          </a:p>
          <a:p>
            <a:r>
              <a:rPr lang="en-IN" sz="2400" dirty="0"/>
              <a:t>petal length (cm)    0</a:t>
            </a:r>
          </a:p>
          <a:p>
            <a:r>
              <a:rPr lang="en-IN" sz="2400" dirty="0"/>
              <a:t>petal width (cm)     0</a:t>
            </a:r>
          </a:p>
          <a:p>
            <a:r>
              <a:rPr lang="en-IN" sz="2400" dirty="0"/>
              <a:t>species              0</a:t>
            </a:r>
          </a:p>
          <a:p>
            <a:r>
              <a:rPr lang="en-IN" sz="2400" dirty="0" err="1"/>
              <a:t>dtype</a:t>
            </a:r>
            <a:r>
              <a:rPr lang="en-IN" sz="2400" dirty="0"/>
              <a:t>: int64</a:t>
            </a:r>
          </a:p>
        </p:txBody>
      </p:sp>
    </p:spTree>
    <p:extLst>
      <p:ext uri="{BB962C8B-B14F-4D97-AF65-F5344CB8AC3E}">
        <p14:creationId xmlns:p14="http://schemas.microsoft.com/office/powerpoint/2010/main" val="1879371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a:spLocks noGrp="1"/>
          </p:cNvSpPr>
          <p:nvPr>
            <p:ph type="sldNum" sz="quarter" idx="12"/>
          </p:nvPr>
        </p:nvSpPr>
        <p:spPr>
          <a:prstGeom prst="rect">
            <a:avLst/>
          </a:prstGeom>
        </p:spPr>
        <p:txBody>
          <a:bodyPr vert="horz" wrap="square" lIns="0" tIns="0" rIns="0" bIns="0" rtlCol="0">
            <a:spAutoFit/>
          </a:bodyPr>
          <a:lstStyle/>
          <a:p>
            <a:pPr marL="38100">
              <a:lnSpc>
                <a:spcPts val="1080"/>
              </a:lnSpc>
            </a:pPr>
            <a:r>
              <a:rPr dirty="0"/>
              <a:t>8</a:t>
            </a:r>
          </a:p>
        </p:txBody>
      </p:sp>
      <p:sp>
        <p:nvSpPr>
          <p:cNvPr id="13" name="Rounded Rectangle 17">
            <a:extLst>
              <a:ext uri="{FF2B5EF4-FFF2-40B4-BE49-F238E27FC236}">
                <a16:creationId xmlns:a16="http://schemas.microsoft.com/office/drawing/2014/main" id="{4DF644C1-D688-0E53-B57B-AD7AC2C03A6F}"/>
              </a:ext>
            </a:extLst>
          </p:cNvPr>
          <p:cNvSpPr/>
          <p:nvPr/>
        </p:nvSpPr>
        <p:spPr>
          <a:xfrm>
            <a:off x="1552470" y="63284"/>
            <a:ext cx="8582130" cy="68782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3600" dirty="0"/>
              <a:t>Summary Statistics</a:t>
            </a:r>
            <a:endParaRPr lang="en-IN" sz="3600" b="1" dirty="0"/>
          </a:p>
        </p:txBody>
      </p:sp>
      <p:sp>
        <p:nvSpPr>
          <p:cNvPr id="4" name="TextBox 3">
            <a:extLst>
              <a:ext uri="{FF2B5EF4-FFF2-40B4-BE49-F238E27FC236}">
                <a16:creationId xmlns:a16="http://schemas.microsoft.com/office/drawing/2014/main" id="{86060250-3116-EE8F-8369-71661D6BABDE}"/>
              </a:ext>
            </a:extLst>
          </p:cNvPr>
          <p:cNvSpPr txBox="1"/>
          <p:nvPr/>
        </p:nvSpPr>
        <p:spPr>
          <a:xfrm>
            <a:off x="304800" y="990600"/>
            <a:ext cx="10134600" cy="5632311"/>
          </a:xfrm>
          <a:prstGeom prst="rect">
            <a:avLst/>
          </a:prstGeom>
          <a:noFill/>
        </p:spPr>
        <p:txBody>
          <a:bodyPr wrap="square">
            <a:spAutoFit/>
          </a:bodyPr>
          <a:lstStyle/>
          <a:p>
            <a:pPr algn="just">
              <a:buNone/>
            </a:pPr>
            <a:r>
              <a:rPr lang="en-US" sz="2400" dirty="0"/>
              <a:t>Summary statistics provide </a:t>
            </a:r>
            <a:r>
              <a:rPr lang="en-US" sz="2400" b="1" dirty="0"/>
              <a:t>numerical measures</a:t>
            </a:r>
            <a:r>
              <a:rPr lang="en-US" sz="2400" dirty="0"/>
              <a:t> that describe the dataset. For numerical data, you look at measures of central tendency (mean, median), dispersion (variance, standard deviation), and range (min, max). For categorical data, you look at frequency counts. This step gives a quick overview of how the data is distributed.</a:t>
            </a:r>
          </a:p>
          <a:p>
            <a:pPr algn="just">
              <a:buNone/>
            </a:pPr>
            <a:endParaRPr lang="en-US" sz="2400" b="0" i="0" dirty="0">
              <a:solidFill>
                <a:srgbClr val="10162F"/>
              </a:solidFill>
              <a:effectLst/>
              <a:latin typeface="Apercu"/>
            </a:endParaRPr>
          </a:p>
          <a:p>
            <a:pPr algn="just">
              <a:buNone/>
            </a:pPr>
            <a:r>
              <a:rPr lang="en-US" sz="2400" dirty="0">
                <a:latin typeface="Apercu"/>
              </a:rPr>
              <a:t># Numerical summary</a:t>
            </a:r>
          </a:p>
          <a:p>
            <a:pPr algn="just">
              <a:buNone/>
            </a:pPr>
            <a:r>
              <a:rPr lang="en-US" sz="2400" dirty="0">
                <a:latin typeface="Apercu"/>
              </a:rPr>
              <a:t>print(</a:t>
            </a:r>
            <a:r>
              <a:rPr lang="en-US" sz="2400" dirty="0" err="1">
                <a:latin typeface="Apercu"/>
              </a:rPr>
              <a:t>df.describe</a:t>
            </a:r>
            <a:r>
              <a:rPr lang="en-US" sz="2400" dirty="0">
                <a:latin typeface="Apercu"/>
              </a:rPr>
              <a:t>())</a:t>
            </a:r>
          </a:p>
          <a:p>
            <a:pPr algn="just">
              <a:buNone/>
            </a:pPr>
            <a:endParaRPr lang="en-US" sz="2400" dirty="0">
              <a:latin typeface="Apercu"/>
            </a:endParaRPr>
          </a:p>
          <a:p>
            <a:pPr algn="just">
              <a:buNone/>
            </a:pPr>
            <a:r>
              <a:rPr lang="en-US" sz="2400" dirty="0">
                <a:latin typeface="Apercu"/>
              </a:rPr>
              <a:t># Categorical summary</a:t>
            </a:r>
          </a:p>
          <a:p>
            <a:pPr algn="just">
              <a:buNone/>
            </a:pPr>
            <a:r>
              <a:rPr lang="en-US" sz="2400" dirty="0">
                <a:latin typeface="Apercu"/>
              </a:rPr>
              <a:t>print(</a:t>
            </a:r>
            <a:r>
              <a:rPr lang="en-US" sz="2400" dirty="0" err="1">
                <a:latin typeface="Apercu"/>
              </a:rPr>
              <a:t>df.describe</a:t>
            </a:r>
            <a:r>
              <a:rPr lang="en-US" sz="2400" dirty="0">
                <a:latin typeface="Apercu"/>
              </a:rPr>
              <a:t>(include=['object']))</a:t>
            </a:r>
          </a:p>
          <a:p>
            <a:pPr algn="just">
              <a:buNone/>
            </a:pPr>
            <a:endParaRPr lang="en-US" sz="2400" dirty="0">
              <a:latin typeface="Apercu"/>
            </a:endParaRPr>
          </a:p>
          <a:p>
            <a:pPr algn="just">
              <a:buNone/>
            </a:pPr>
            <a:r>
              <a:rPr lang="en-US" sz="2400" dirty="0">
                <a:latin typeface="Apercu"/>
              </a:rPr>
              <a:t># Frequency counts for a categorical column</a:t>
            </a:r>
          </a:p>
          <a:p>
            <a:pPr algn="just">
              <a:buNone/>
            </a:pPr>
            <a:r>
              <a:rPr lang="en-US" sz="2400" dirty="0">
                <a:latin typeface="Apercu"/>
              </a:rPr>
              <a:t>print(</a:t>
            </a:r>
            <a:r>
              <a:rPr lang="en-US" sz="2400" dirty="0" err="1">
                <a:latin typeface="Apercu"/>
              </a:rPr>
              <a:t>df</a:t>
            </a:r>
            <a:r>
              <a:rPr lang="en-US" sz="2400" dirty="0">
                <a:latin typeface="Apercu"/>
              </a:rPr>
              <a:t>['</a:t>
            </a:r>
            <a:r>
              <a:rPr lang="en-US" sz="2400" dirty="0" err="1">
                <a:latin typeface="Apercu"/>
              </a:rPr>
              <a:t>column_name</a:t>
            </a:r>
            <a:r>
              <a:rPr lang="en-US" sz="2400" dirty="0">
                <a:latin typeface="Apercu"/>
              </a:rPr>
              <a:t>'].</a:t>
            </a:r>
            <a:r>
              <a:rPr lang="en-US" sz="2400" dirty="0" err="1">
                <a:latin typeface="Apercu"/>
              </a:rPr>
              <a:t>value_counts</a:t>
            </a:r>
            <a:r>
              <a:rPr lang="en-US" sz="2400" dirty="0">
                <a:latin typeface="Apercu"/>
              </a:rPr>
              <a:t>())</a:t>
            </a:r>
          </a:p>
          <a:p>
            <a:pPr algn="just">
              <a:buNone/>
            </a:pPr>
            <a:endParaRPr lang="en-US" sz="2400" b="0" i="0" dirty="0">
              <a:solidFill>
                <a:srgbClr val="10162F"/>
              </a:solidFill>
              <a:effectLst/>
              <a:latin typeface="Apercu"/>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C85224-1801-5D91-8A9F-3CFB1BD95492}"/>
              </a:ext>
            </a:extLst>
          </p:cNvPr>
          <p:cNvSpPr>
            <a:spLocks noGrp="1"/>
          </p:cNvSpPr>
          <p:nvPr>
            <p:ph idx="1"/>
          </p:nvPr>
        </p:nvSpPr>
        <p:spPr>
          <a:xfrm>
            <a:off x="838200" y="0"/>
            <a:ext cx="11125200" cy="6858000"/>
          </a:xfrm>
        </p:spPr>
        <p:txBody>
          <a:bodyPr>
            <a:noAutofit/>
          </a:bodyPr>
          <a:lstStyle/>
          <a:p>
            <a:r>
              <a:rPr lang="en-US" dirty="0"/>
              <a:t>print(</a:t>
            </a:r>
            <a:r>
              <a:rPr lang="en-US" dirty="0" err="1"/>
              <a:t>df.describe</a:t>
            </a:r>
            <a:r>
              <a:rPr lang="en-US" dirty="0"/>
              <a:t>())</a:t>
            </a:r>
          </a:p>
          <a:p>
            <a:r>
              <a:rPr lang="en-US" dirty="0"/>
              <a:t>print(</a:t>
            </a:r>
            <a:r>
              <a:rPr lang="en-US" dirty="0" err="1"/>
              <a:t>df</a:t>
            </a:r>
            <a:r>
              <a:rPr lang="en-US" dirty="0"/>
              <a:t>['species'].</a:t>
            </a:r>
            <a:r>
              <a:rPr lang="en-US" dirty="0" err="1"/>
              <a:t>value_counts</a:t>
            </a:r>
            <a:r>
              <a:rPr lang="en-US" dirty="0"/>
              <a:t>()) </a:t>
            </a:r>
          </a:p>
          <a:p>
            <a:pPr marL="0" indent="0">
              <a:buNone/>
            </a:pPr>
            <a:r>
              <a:rPr lang="en-US" dirty="0"/>
              <a:t> sepal length (cm)  sepal width (cm)  petal length (cm)  petal width (cm)</a:t>
            </a:r>
          </a:p>
          <a:p>
            <a:pPr marL="0" indent="0">
              <a:buNone/>
            </a:pPr>
            <a:r>
              <a:rPr lang="en-US" dirty="0"/>
              <a:t>count         150.000000        150.000000        150.000000       150.000000</a:t>
            </a:r>
          </a:p>
          <a:p>
            <a:pPr marL="0" indent="0">
              <a:buNone/>
            </a:pPr>
            <a:r>
              <a:rPr lang="en-US" dirty="0"/>
              <a:t>mean            5.843333          3.057333          3.758000         1.199333</a:t>
            </a:r>
          </a:p>
          <a:p>
            <a:pPr marL="0" indent="0">
              <a:buNone/>
            </a:pPr>
            <a:r>
              <a:rPr lang="en-US" dirty="0"/>
              <a:t>std             0.828066          0.435866          1.765298         0.762238</a:t>
            </a:r>
          </a:p>
          <a:p>
            <a:pPr marL="0" indent="0">
              <a:buNone/>
            </a:pPr>
            <a:r>
              <a:rPr lang="en-US" dirty="0"/>
              <a:t>min             4.300000          2.000000          1.000000         0.100000</a:t>
            </a:r>
          </a:p>
          <a:p>
            <a:pPr marL="0" indent="0">
              <a:buNone/>
            </a:pPr>
            <a:r>
              <a:rPr lang="en-US" dirty="0"/>
              <a:t>25%             5.100000          2.800000          1.600000         0.300000</a:t>
            </a:r>
          </a:p>
          <a:p>
            <a:pPr marL="0" indent="0">
              <a:buNone/>
            </a:pPr>
            <a:r>
              <a:rPr lang="en-US" dirty="0"/>
              <a:t>50%             5.800000          3.000000          4.350000         1.300000</a:t>
            </a:r>
          </a:p>
          <a:p>
            <a:pPr marL="0" indent="0">
              <a:buNone/>
            </a:pPr>
            <a:r>
              <a:rPr lang="en-US" dirty="0"/>
              <a:t>75%             6.400000          3.300000          5.100000         1.800000</a:t>
            </a:r>
          </a:p>
          <a:p>
            <a:pPr marL="0" indent="0">
              <a:buNone/>
            </a:pPr>
            <a:r>
              <a:rPr lang="en-US" dirty="0"/>
              <a:t>max             7.900000          4.400000          6.900000         2.500000</a:t>
            </a:r>
          </a:p>
          <a:p>
            <a:pPr marL="0" indent="0">
              <a:buNone/>
            </a:pPr>
            <a:r>
              <a:rPr lang="en-US" dirty="0" err="1"/>
              <a:t>setosa</a:t>
            </a:r>
            <a:r>
              <a:rPr lang="en-US" dirty="0"/>
              <a:t>        50</a:t>
            </a:r>
          </a:p>
          <a:p>
            <a:pPr marL="0" indent="0">
              <a:buNone/>
            </a:pPr>
            <a:r>
              <a:rPr lang="en-US" dirty="0"/>
              <a:t>versicolor    50</a:t>
            </a:r>
          </a:p>
          <a:p>
            <a:pPr marL="0" indent="0">
              <a:buNone/>
            </a:pPr>
            <a:r>
              <a:rPr lang="en-US" dirty="0"/>
              <a:t>virginica     50</a:t>
            </a:r>
          </a:p>
          <a:p>
            <a:pPr marL="0" indent="0">
              <a:buNone/>
            </a:pPr>
            <a:r>
              <a:rPr lang="en-US" dirty="0"/>
              <a:t>Name: species, </a:t>
            </a:r>
            <a:r>
              <a:rPr lang="en-US" dirty="0" err="1"/>
              <a:t>dtype</a:t>
            </a:r>
            <a:r>
              <a:rPr lang="en-US" dirty="0"/>
              <a:t>: int64</a:t>
            </a:r>
          </a:p>
          <a:p>
            <a:endParaRPr lang="en-IN" dirty="0"/>
          </a:p>
        </p:txBody>
      </p:sp>
    </p:spTree>
    <p:extLst>
      <p:ext uri="{BB962C8B-B14F-4D97-AF65-F5344CB8AC3E}">
        <p14:creationId xmlns:p14="http://schemas.microsoft.com/office/powerpoint/2010/main" val="3330026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51FB75-AB73-7AE0-3F8E-3863114A6489}"/>
              </a:ext>
            </a:extLst>
          </p:cNvPr>
          <p:cNvSpPr>
            <a:spLocks noGrp="1"/>
          </p:cNvSpPr>
          <p:nvPr>
            <p:ph idx="1"/>
          </p:nvPr>
        </p:nvSpPr>
        <p:spPr>
          <a:xfrm>
            <a:off x="609600" y="685800"/>
            <a:ext cx="11201400" cy="5410200"/>
          </a:xfrm>
        </p:spPr>
        <p:txBody>
          <a:bodyPr>
            <a:normAutofit/>
          </a:bodyPr>
          <a:lstStyle/>
          <a:p>
            <a:pPr algn="just" fontAlgn="base"/>
            <a:r>
              <a:rPr lang="en-US" sz="2800" dirty="0"/>
              <a:t>Beyond raw statistics, you need to </a:t>
            </a:r>
            <a:r>
              <a:rPr lang="en-US" sz="2800" b="1" dirty="0"/>
              <a:t>visualize</a:t>
            </a:r>
            <a:r>
              <a:rPr lang="en-US" sz="2800" dirty="0"/>
              <a:t> and analyze relationships. Visualization helps detect </a:t>
            </a:r>
            <a:r>
              <a:rPr lang="en-US" sz="2800" b="1" dirty="0"/>
              <a:t>patterns, outliers, and correlations</a:t>
            </a:r>
            <a:r>
              <a:rPr lang="en-US" sz="2800" dirty="0"/>
              <a:t> that numbers alone might hide. Correlation analysis shows how variables move together, which is crucial for predictive modeling.</a:t>
            </a:r>
            <a:endParaRPr lang="en-IN" sz="2800" dirty="0"/>
          </a:p>
        </p:txBody>
      </p:sp>
      <p:sp>
        <p:nvSpPr>
          <p:cNvPr id="2" name="Rounded Rectangle 17">
            <a:extLst>
              <a:ext uri="{FF2B5EF4-FFF2-40B4-BE49-F238E27FC236}">
                <a16:creationId xmlns:a16="http://schemas.microsoft.com/office/drawing/2014/main" id="{E68F2B42-1C1D-36EC-D779-6BA6140BEF07}"/>
              </a:ext>
            </a:extLst>
          </p:cNvPr>
          <p:cNvSpPr/>
          <p:nvPr/>
        </p:nvSpPr>
        <p:spPr>
          <a:xfrm>
            <a:off x="1524000" y="1524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r>
              <a:rPr lang="en-IN" sz="3200" dirty="0"/>
              <a:t>Data Understanding</a:t>
            </a:r>
            <a:endParaRPr lang="en-IN" sz="3200" b="1" dirty="0"/>
          </a:p>
        </p:txBody>
      </p:sp>
    </p:spTree>
    <p:extLst>
      <p:ext uri="{BB962C8B-B14F-4D97-AF65-F5344CB8AC3E}">
        <p14:creationId xmlns:p14="http://schemas.microsoft.com/office/powerpoint/2010/main" val="1926332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17">
            <a:extLst>
              <a:ext uri="{FF2B5EF4-FFF2-40B4-BE49-F238E27FC236}">
                <a16:creationId xmlns:a16="http://schemas.microsoft.com/office/drawing/2014/main" id="{0C02CF45-4078-F3B5-F2F9-95D83651D362}"/>
              </a:ext>
            </a:extLst>
          </p:cNvPr>
          <p:cNvSpPr/>
          <p:nvPr/>
        </p:nvSpPr>
        <p:spPr>
          <a:xfrm>
            <a:off x="1524000" y="1524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r>
              <a:rPr lang="en-IN" sz="3200" dirty="0"/>
              <a:t>Data Understanding</a:t>
            </a:r>
            <a:endParaRPr lang="en-IN" sz="3200" b="1" dirty="0"/>
          </a:p>
        </p:txBody>
      </p:sp>
      <p:sp>
        <p:nvSpPr>
          <p:cNvPr id="9" name="TextBox 8">
            <a:extLst>
              <a:ext uri="{FF2B5EF4-FFF2-40B4-BE49-F238E27FC236}">
                <a16:creationId xmlns:a16="http://schemas.microsoft.com/office/drawing/2014/main" id="{39474F44-F998-0B93-BB3B-3D1F06D721E0}"/>
              </a:ext>
            </a:extLst>
          </p:cNvPr>
          <p:cNvSpPr txBox="1"/>
          <p:nvPr/>
        </p:nvSpPr>
        <p:spPr>
          <a:xfrm>
            <a:off x="990600" y="630435"/>
            <a:ext cx="9296400" cy="5262979"/>
          </a:xfrm>
          <a:prstGeom prst="rect">
            <a:avLst/>
          </a:prstGeom>
          <a:noFill/>
        </p:spPr>
        <p:txBody>
          <a:bodyPr wrap="square">
            <a:spAutoFit/>
          </a:bodyPr>
          <a:lstStyle/>
          <a:p>
            <a:r>
              <a:rPr lang="en-US" sz="2400" dirty="0">
                <a:solidFill>
                  <a:srgbClr val="357960"/>
                </a:solidFill>
                <a:latin typeface="Nunito" pitchFamily="2" charset="0"/>
              </a:rPr>
              <a:t>import </a:t>
            </a:r>
            <a:r>
              <a:rPr lang="en-US" sz="2400" dirty="0" err="1">
                <a:solidFill>
                  <a:srgbClr val="357960"/>
                </a:solidFill>
                <a:latin typeface="Nunito" pitchFamily="2" charset="0"/>
              </a:rPr>
              <a:t>matplotlib.pyplot</a:t>
            </a:r>
            <a:r>
              <a:rPr lang="en-US" sz="2400" dirty="0">
                <a:solidFill>
                  <a:srgbClr val="357960"/>
                </a:solidFill>
                <a:latin typeface="Nunito" pitchFamily="2" charset="0"/>
              </a:rPr>
              <a:t> as </a:t>
            </a:r>
            <a:r>
              <a:rPr lang="en-US" sz="2400" dirty="0" err="1">
                <a:solidFill>
                  <a:srgbClr val="357960"/>
                </a:solidFill>
                <a:latin typeface="Nunito" pitchFamily="2" charset="0"/>
              </a:rPr>
              <a:t>plt</a:t>
            </a:r>
            <a:endParaRPr lang="en-US" sz="2400" dirty="0">
              <a:solidFill>
                <a:srgbClr val="357960"/>
              </a:solidFill>
              <a:latin typeface="Nunito" pitchFamily="2" charset="0"/>
            </a:endParaRPr>
          </a:p>
          <a:p>
            <a:r>
              <a:rPr lang="en-US" sz="2400" dirty="0">
                <a:solidFill>
                  <a:srgbClr val="357960"/>
                </a:solidFill>
                <a:latin typeface="Nunito" pitchFamily="2" charset="0"/>
              </a:rPr>
              <a:t>import seaborn as </a:t>
            </a:r>
            <a:r>
              <a:rPr lang="en-US" sz="2400" dirty="0" err="1">
                <a:solidFill>
                  <a:srgbClr val="357960"/>
                </a:solidFill>
                <a:latin typeface="Nunito" pitchFamily="2" charset="0"/>
              </a:rPr>
              <a:t>sns</a:t>
            </a:r>
            <a:endParaRPr lang="en-US" sz="2400" dirty="0">
              <a:solidFill>
                <a:srgbClr val="357960"/>
              </a:solidFill>
              <a:latin typeface="Nunito" pitchFamily="2" charset="0"/>
            </a:endParaRPr>
          </a:p>
          <a:p>
            <a:r>
              <a:rPr lang="en-US" sz="2400" dirty="0">
                <a:solidFill>
                  <a:srgbClr val="357960"/>
                </a:solidFill>
                <a:latin typeface="Nunito" pitchFamily="2" charset="0"/>
              </a:rPr>
              <a:t># Histogram: distribution of values</a:t>
            </a:r>
          </a:p>
          <a:p>
            <a:r>
              <a:rPr lang="en-US" sz="2400" dirty="0" err="1">
                <a:solidFill>
                  <a:srgbClr val="357960"/>
                </a:solidFill>
                <a:latin typeface="Nunito" pitchFamily="2" charset="0"/>
              </a:rPr>
              <a:t>df</a:t>
            </a:r>
            <a:r>
              <a:rPr lang="en-US" sz="2400" dirty="0">
                <a:solidFill>
                  <a:srgbClr val="357960"/>
                </a:solidFill>
                <a:latin typeface="Nunito" pitchFamily="2" charset="0"/>
              </a:rPr>
              <a:t>['</a:t>
            </a:r>
            <a:r>
              <a:rPr lang="en-US" sz="2400" dirty="0" err="1">
                <a:solidFill>
                  <a:srgbClr val="357960"/>
                </a:solidFill>
                <a:latin typeface="Nunito" pitchFamily="2" charset="0"/>
              </a:rPr>
              <a:t>column_name</a:t>
            </a:r>
            <a:r>
              <a:rPr lang="en-US" sz="2400" dirty="0">
                <a:solidFill>
                  <a:srgbClr val="357960"/>
                </a:solidFill>
                <a:latin typeface="Nunito" pitchFamily="2" charset="0"/>
              </a:rPr>
              <a:t>'].hist()</a:t>
            </a:r>
          </a:p>
          <a:p>
            <a:r>
              <a:rPr lang="en-US" sz="2400" dirty="0" err="1">
                <a:solidFill>
                  <a:srgbClr val="357960"/>
                </a:solidFill>
                <a:latin typeface="Nunito" pitchFamily="2" charset="0"/>
              </a:rPr>
              <a:t>plt.show</a:t>
            </a:r>
            <a:r>
              <a:rPr lang="en-US" sz="2400" dirty="0">
                <a:solidFill>
                  <a:srgbClr val="357960"/>
                </a:solidFill>
                <a:latin typeface="Nunito" pitchFamily="2" charset="0"/>
              </a:rPr>
              <a:t>()</a:t>
            </a:r>
          </a:p>
          <a:p>
            <a:endParaRPr lang="en-US" sz="2400" dirty="0">
              <a:solidFill>
                <a:srgbClr val="357960"/>
              </a:solidFill>
              <a:latin typeface="Nunito" pitchFamily="2" charset="0"/>
            </a:endParaRPr>
          </a:p>
          <a:p>
            <a:r>
              <a:rPr lang="en-US" sz="2400" dirty="0">
                <a:solidFill>
                  <a:srgbClr val="357960"/>
                </a:solidFill>
                <a:latin typeface="Nunito" pitchFamily="2" charset="0"/>
              </a:rPr>
              <a:t># Boxplot: detect outliers</a:t>
            </a:r>
          </a:p>
          <a:p>
            <a:r>
              <a:rPr lang="en-US" sz="2400" dirty="0" err="1">
                <a:solidFill>
                  <a:srgbClr val="357960"/>
                </a:solidFill>
                <a:latin typeface="Nunito" pitchFamily="2" charset="0"/>
              </a:rPr>
              <a:t>sns.boxplot</a:t>
            </a:r>
            <a:r>
              <a:rPr lang="en-US" sz="2400" dirty="0">
                <a:solidFill>
                  <a:srgbClr val="357960"/>
                </a:solidFill>
                <a:latin typeface="Nunito" pitchFamily="2" charset="0"/>
              </a:rPr>
              <a:t>(x=</a:t>
            </a:r>
            <a:r>
              <a:rPr lang="en-US" sz="2400" dirty="0" err="1">
                <a:solidFill>
                  <a:srgbClr val="357960"/>
                </a:solidFill>
                <a:latin typeface="Nunito" pitchFamily="2" charset="0"/>
              </a:rPr>
              <a:t>df</a:t>
            </a:r>
            <a:r>
              <a:rPr lang="en-US" sz="2400" dirty="0">
                <a:solidFill>
                  <a:srgbClr val="357960"/>
                </a:solidFill>
                <a:latin typeface="Nunito" pitchFamily="2" charset="0"/>
              </a:rPr>
              <a:t>['</a:t>
            </a:r>
            <a:r>
              <a:rPr lang="en-US" sz="2400" dirty="0" err="1">
                <a:solidFill>
                  <a:srgbClr val="357960"/>
                </a:solidFill>
                <a:latin typeface="Nunito" pitchFamily="2" charset="0"/>
              </a:rPr>
              <a:t>column_name</a:t>
            </a:r>
            <a:r>
              <a:rPr lang="en-US" sz="2400" dirty="0">
                <a:solidFill>
                  <a:srgbClr val="357960"/>
                </a:solidFill>
                <a:latin typeface="Nunito" pitchFamily="2" charset="0"/>
              </a:rPr>
              <a:t>'])</a:t>
            </a:r>
          </a:p>
          <a:p>
            <a:r>
              <a:rPr lang="en-US" sz="2400" dirty="0" err="1">
                <a:solidFill>
                  <a:srgbClr val="357960"/>
                </a:solidFill>
                <a:latin typeface="Nunito" pitchFamily="2" charset="0"/>
              </a:rPr>
              <a:t>plt.show</a:t>
            </a:r>
            <a:r>
              <a:rPr lang="en-US" sz="2400" dirty="0">
                <a:solidFill>
                  <a:srgbClr val="357960"/>
                </a:solidFill>
                <a:latin typeface="Nunito" pitchFamily="2" charset="0"/>
              </a:rPr>
              <a:t>()</a:t>
            </a:r>
          </a:p>
          <a:p>
            <a:endParaRPr lang="en-US" sz="2400" dirty="0">
              <a:solidFill>
                <a:srgbClr val="357960"/>
              </a:solidFill>
              <a:latin typeface="Nunito" pitchFamily="2" charset="0"/>
            </a:endParaRPr>
          </a:p>
          <a:p>
            <a:r>
              <a:rPr lang="en-US" sz="2400" dirty="0">
                <a:solidFill>
                  <a:srgbClr val="357960"/>
                </a:solidFill>
                <a:latin typeface="Nunito" pitchFamily="2" charset="0"/>
              </a:rPr>
              <a:t># Correlation heatmap: relationships between numerical variables</a:t>
            </a:r>
          </a:p>
          <a:p>
            <a:r>
              <a:rPr lang="en-US" sz="2400" dirty="0" err="1">
                <a:solidFill>
                  <a:srgbClr val="357960"/>
                </a:solidFill>
                <a:latin typeface="Nunito" pitchFamily="2" charset="0"/>
              </a:rPr>
              <a:t>plt.figure</a:t>
            </a:r>
            <a:r>
              <a:rPr lang="en-US" sz="2400" dirty="0">
                <a:solidFill>
                  <a:srgbClr val="357960"/>
                </a:solidFill>
                <a:latin typeface="Nunito" pitchFamily="2" charset="0"/>
              </a:rPr>
              <a:t>(</a:t>
            </a:r>
            <a:r>
              <a:rPr lang="en-US" sz="2400" dirty="0" err="1">
                <a:solidFill>
                  <a:srgbClr val="357960"/>
                </a:solidFill>
                <a:latin typeface="Nunito" pitchFamily="2" charset="0"/>
              </a:rPr>
              <a:t>figsize</a:t>
            </a:r>
            <a:r>
              <a:rPr lang="en-US" sz="2400" dirty="0">
                <a:solidFill>
                  <a:srgbClr val="357960"/>
                </a:solidFill>
                <a:latin typeface="Nunito" pitchFamily="2" charset="0"/>
              </a:rPr>
              <a:t>=(10,6))</a:t>
            </a:r>
          </a:p>
          <a:p>
            <a:r>
              <a:rPr lang="en-US" sz="2400" dirty="0" err="1">
                <a:solidFill>
                  <a:srgbClr val="357960"/>
                </a:solidFill>
                <a:latin typeface="Nunito" pitchFamily="2" charset="0"/>
              </a:rPr>
              <a:t>sns.heatmap</a:t>
            </a:r>
            <a:r>
              <a:rPr lang="en-US" sz="2400" dirty="0">
                <a:solidFill>
                  <a:srgbClr val="357960"/>
                </a:solidFill>
                <a:latin typeface="Nunito" pitchFamily="2" charset="0"/>
              </a:rPr>
              <a:t>(</a:t>
            </a:r>
            <a:r>
              <a:rPr lang="en-US" sz="2400" dirty="0" err="1">
                <a:solidFill>
                  <a:srgbClr val="357960"/>
                </a:solidFill>
                <a:latin typeface="Nunito" pitchFamily="2" charset="0"/>
              </a:rPr>
              <a:t>df.corr</a:t>
            </a:r>
            <a:r>
              <a:rPr lang="en-US" sz="2400" dirty="0">
                <a:solidFill>
                  <a:srgbClr val="357960"/>
                </a:solidFill>
                <a:latin typeface="Nunito" pitchFamily="2" charset="0"/>
              </a:rPr>
              <a:t>(), </a:t>
            </a:r>
            <a:r>
              <a:rPr lang="en-US" sz="2400" dirty="0" err="1">
                <a:solidFill>
                  <a:srgbClr val="357960"/>
                </a:solidFill>
                <a:latin typeface="Nunito" pitchFamily="2" charset="0"/>
              </a:rPr>
              <a:t>annot</a:t>
            </a:r>
            <a:r>
              <a:rPr lang="en-US" sz="2400" dirty="0">
                <a:solidFill>
                  <a:srgbClr val="357960"/>
                </a:solidFill>
                <a:latin typeface="Nunito" pitchFamily="2" charset="0"/>
              </a:rPr>
              <a:t>=True, </a:t>
            </a:r>
            <a:r>
              <a:rPr lang="en-US" sz="2400" dirty="0" err="1">
                <a:solidFill>
                  <a:srgbClr val="357960"/>
                </a:solidFill>
                <a:latin typeface="Nunito" pitchFamily="2" charset="0"/>
              </a:rPr>
              <a:t>cmap</a:t>
            </a:r>
            <a:r>
              <a:rPr lang="en-US" sz="2400" dirty="0">
                <a:solidFill>
                  <a:srgbClr val="357960"/>
                </a:solidFill>
                <a:latin typeface="Nunito" pitchFamily="2" charset="0"/>
              </a:rPr>
              <a:t>="</a:t>
            </a:r>
            <a:r>
              <a:rPr lang="en-US" sz="2400" dirty="0" err="1">
                <a:solidFill>
                  <a:srgbClr val="357960"/>
                </a:solidFill>
                <a:latin typeface="Nunito" pitchFamily="2" charset="0"/>
              </a:rPr>
              <a:t>coolwarm</a:t>
            </a:r>
            <a:r>
              <a:rPr lang="en-US" sz="2400" dirty="0">
                <a:solidFill>
                  <a:srgbClr val="357960"/>
                </a:solidFill>
                <a:latin typeface="Nunito" pitchFamily="2" charset="0"/>
              </a:rPr>
              <a:t>")</a:t>
            </a:r>
          </a:p>
          <a:p>
            <a:r>
              <a:rPr lang="en-US" sz="2400" dirty="0" err="1">
                <a:solidFill>
                  <a:srgbClr val="357960"/>
                </a:solidFill>
                <a:latin typeface="Nunito" pitchFamily="2" charset="0"/>
              </a:rPr>
              <a:t>plt.show</a:t>
            </a:r>
            <a:r>
              <a:rPr lang="en-US" sz="2400" dirty="0">
                <a:solidFill>
                  <a:srgbClr val="357960"/>
                </a:solidFill>
                <a:latin typeface="Nunito" pitchFamily="2" charset="0"/>
              </a:rPr>
              <a:t>()</a:t>
            </a:r>
          </a:p>
        </p:txBody>
      </p:sp>
    </p:spTree>
    <p:extLst>
      <p:ext uri="{BB962C8B-B14F-4D97-AF65-F5344CB8AC3E}">
        <p14:creationId xmlns:p14="http://schemas.microsoft.com/office/powerpoint/2010/main" val="3973978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143060" y="674044"/>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dirty="0"/>
              <a:t>Which type of EDA focuses on analyzing the relationship between two variables?</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143060" y="1515251"/>
            <a:ext cx="2901705" cy="1456549"/>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A. Univariate Analysis</a:t>
            </a:r>
          </a:p>
          <a:p>
            <a:r>
              <a:rPr lang="en-IN" b="1" dirty="0"/>
              <a:t>B. </a:t>
            </a:r>
            <a:r>
              <a:rPr lang="en-IN" dirty="0"/>
              <a:t>Bivariate Analysis</a:t>
            </a:r>
          </a:p>
          <a:p>
            <a:r>
              <a:rPr lang="en-IN" b="1" dirty="0"/>
              <a:t>C. </a:t>
            </a:r>
            <a:r>
              <a:rPr lang="en-IN" dirty="0"/>
              <a:t>Multivariate Analysis</a:t>
            </a:r>
          </a:p>
          <a:p>
            <a:r>
              <a:rPr lang="en-IN" b="1" dirty="0"/>
              <a:t>D. </a:t>
            </a:r>
            <a:r>
              <a:rPr lang="en-IN" dirty="0"/>
              <a:t>Time Series Analysis</a:t>
            </a:r>
          </a:p>
          <a:p>
            <a:pPr marL="342900" indent="-342900">
              <a:lnSpc>
                <a:spcPct val="150000"/>
              </a:lnSpc>
              <a:buFontTx/>
              <a:buAutoNum type="alphaLcParenBoth"/>
            </a:pPr>
            <a:endParaRPr lang="en-US" sz="1600" dirty="0"/>
          </a:p>
        </p:txBody>
      </p:sp>
      <p:sp>
        <p:nvSpPr>
          <p:cNvPr id="5" name="Google Shape;502;p17">
            <a:extLst>
              <a:ext uri="{FF2B5EF4-FFF2-40B4-BE49-F238E27FC236}">
                <a16:creationId xmlns:a16="http://schemas.microsoft.com/office/drawing/2014/main" id="{A2D81F24-326F-C87F-4DB8-F812735EB045}"/>
              </a:ext>
            </a:extLst>
          </p:cNvPr>
          <p:cNvSpPr/>
          <p:nvPr/>
        </p:nvSpPr>
        <p:spPr>
          <a:xfrm>
            <a:off x="986151" y="3449097"/>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US" sz="1600" dirty="0">
                <a:solidFill>
                  <a:schemeClr val="bg1"/>
                </a:solidFill>
                <a:latin typeface="Poppins" panose="00000500000000000000" pitchFamily="2" charset="0"/>
                <a:ea typeface="Calibri"/>
                <a:cs typeface="Poppins" panose="00000500000000000000" pitchFamily="2" charset="0"/>
              </a:rPr>
              <a:t>.</a:t>
            </a:r>
          </a:p>
          <a:p>
            <a:r>
              <a:rPr lang="en-IN" sz="1600" dirty="0">
                <a:solidFill>
                  <a:schemeClr val="bg1"/>
                </a:solidFill>
                <a:latin typeface="Poppins" panose="00000500000000000000" pitchFamily="2" charset="0"/>
                <a:ea typeface="Calibri"/>
                <a:cs typeface="Poppins" panose="00000500000000000000" pitchFamily="2" charset="0"/>
              </a:rPr>
              <a:t>2.</a:t>
            </a:r>
            <a:r>
              <a:rPr lang="en-US" dirty="0"/>
              <a:t> What is a major challenge in data visualization?</a:t>
            </a:r>
            <a:endParaRPr lang="en-IN" sz="1600" dirty="0">
              <a:solidFill>
                <a:schemeClr val="bg1"/>
              </a:solidFill>
              <a:latin typeface="Poppins" panose="00000500000000000000" pitchFamily="2" charset="0"/>
              <a:ea typeface="Calibri"/>
              <a:cs typeface="Poppins" panose="00000500000000000000" pitchFamily="2" charset="0"/>
            </a:endParaRPr>
          </a:p>
        </p:txBody>
      </p:sp>
      <p:sp>
        <p:nvSpPr>
          <p:cNvPr id="10" name="Rounded Rectangle 17">
            <a:extLst>
              <a:ext uri="{FF2B5EF4-FFF2-40B4-BE49-F238E27FC236}">
                <a16:creationId xmlns:a16="http://schemas.microsoft.com/office/drawing/2014/main" id="{4CA626F5-3E8E-9CEF-D379-7D7C5B644948}"/>
              </a:ext>
            </a:extLst>
          </p:cNvPr>
          <p:cNvSpPr/>
          <p:nvPr/>
        </p:nvSpPr>
        <p:spPr>
          <a:xfrm>
            <a:off x="995362" y="4209520"/>
            <a:ext cx="972652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  t always speeds up understanding</a:t>
            </a:r>
          </a:p>
          <a:p>
            <a:r>
              <a:rPr lang="en-US" b="1" dirty="0"/>
              <a:t>B </a:t>
            </a:r>
            <a:r>
              <a:rPr lang="en-US" dirty="0"/>
              <a:t>Choosing the wrong chart can mislead viewers</a:t>
            </a:r>
          </a:p>
          <a:p>
            <a:r>
              <a:rPr lang="en-US" b="1" dirty="0"/>
              <a:t>C </a:t>
            </a:r>
            <a:r>
              <a:rPr lang="en-US" dirty="0"/>
              <a:t>It eliminates the need for data cleaning</a:t>
            </a:r>
          </a:p>
          <a:p>
            <a:r>
              <a:rPr lang="en-US" b="1" dirty="0"/>
              <a:t>D </a:t>
            </a:r>
            <a:r>
              <a:rPr lang="en-US" dirty="0"/>
              <a:t>It guarantees perfect insights</a:t>
            </a:r>
          </a:p>
          <a:p>
            <a:pPr>
              <a:lnSpc>
                <a:spcPct val="150000"/>
              </a:lnSpc>
            </a:pPr>
            <a:endParaRPr lang="en-US" sz="1600" dirty="0"/>
          </a:p>
        </p:txBody>
      </p:sp>
    </p:spTree>
    <p:extLst>
      <p:ext uri="{BB962C8B-B14F-4D97-AF65-F5344CB8AC3E}">
        <p14:creationId xmlns:p14="http://schemas.microsoft.com/office/powerpoint/2010/main" val="356465484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5"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REFERENCES FOR FURTHER LEARNING OF THE SESSION</a:t>
            </a:r>
            <a:endParaRPr lang="en-US"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1" y="1167618"/>
            <a:ext cx="10409819" cy="4060022"/>
          </a:xfrm>
          <a:prstGeom prst="rect">
            <a:avLst/>
          </a:prstGeom>
          <a:noFill/>
        </p:spPr>
        <p:txBody>
          <a:bodyPr wrap="square" rtlCol="0">
            <a:spAutoFit/>
          </a:bodyPr>
          <a:lstStyle/>
          <a:p>
            <a:pPr>
              <a:lnSpc>
                <a:spcPct val="150000"/>
              </a:lnSpc>
            </a:pPr>
            <a:r>
              <a:rPr lang="en-US" b="1" dirty="0"/>
              <a:t>Text Books:</a:t>
            </a:r>
            <a:endParaRPr lang="en-US" dirty="0"/>
          </a:p>
          <a:p>
            <a:pPr marL="514350" indent="-514350" algn="just">
              <a:buFont typeface="Arial" panose="020B0604020202020204" pitchFamily="34" charset="0"/>
              <a:buAutoNum type="arabicPeriod"/>
            </a:pPr>
            <a:r>
              <a:rPr lang="en-IN" dirty="0"/>
              <a:t>Introduction to Data Science- A Structured </a:t>
            </a:r>
            <a:r>
              <a:rPr lang="en-IN" dirty="0" err="1"/>
              <a:t>Methodology,Goran</a:t>
            </a:r>
            <a:r>
              <a:rPr lang="en-IN" dirty="0"/>
              <a:t> </a:t>
            </a:r>
            <a:r>
              <a:rPr lang="en-IN" dirty="0" err="1"/>
              <a:t>trajkovski</a:t>
            </a:r>
            <a:r>
              <a:rPr lang="en-IN" dirty="0"/>
              <a:t>. </a:t>
            </a:r>
          </a:p>
          <a:p>
            <a:pPr marL="514350" indent="-514350" algn="just">
              <a:buFont typeface="Arial" panose="020B0604020202020204" pitchFamily="34" charset="0"/>
              <a:buAutoNum type="arabicPeriod"/>
            </a:pPr>
            <a:r>
              <a:rPr lang="en-IN" dirty="0"/>
              <a:t>Data Science from Scratch- Joel Grus - O’Reilly - 2015 </a:t>
            </a:r>
          </a:p>
          <a:p>
            <a:pPr marL="514350" indent="-514350" algn="just">
              <a:buFont typeface="Arial" panose="020B0604020202020204" pitchFamily="34" charset="0"/>
              <a:buAutoNum type="arabicPeriod"/>
            </a:pPr>
            <a:r>
              <a:rPr lang="en-IN" dirty="0"/>
              <a:t>Practical Statistics for Data Scientists - Peter Bruce, Andrew Bruce &amp; Peter </a:t>
            </a:r>
            <a:r>
              <a:rPr lang="en-IN" dirty="0" err="1"/>
              <a:t>Gedeck</a:t>
            </a:r>
            <a:r>
              <a:rPr lang="en-IN" dirty="0"/>
              <a:t> - O’Reilly - 2020 </a:t>
            </a:r>
          </a:p>
          <a:p>
            <a:pPr marL="514350" indent="-514350" algn="just">
              <a:buFont typeface="Arial" panose="020B0604020202020204" pitchFamily="34" charset="0"/>
              <a:buAutoNum type="arabicPeriod"/>
            </a:pPr>
            <a:r>
              <a:rPr lang="en-IN" dirty="0"/>
              <a:t>Data Science and Machine Learning (Mathematical and Statistical Methods) - Dirk P. Kroese, Zdravko I. Botev, Thomas </a:t>
            </a:r>
            <a:r>
              <a:rPr lang="en-IN" dirty="0" err="1"/>
              <a:t>Taimre</a:t>
            </a:r>
            <a:r>
              <a:rPr lang="en-IN" dirty="0"/>
              <a:t>, Radislav Vaisman- Chapman and Hall/CRC - 2025 </a:t>
            </a:r>
          </a:p>
          <a:p>
            <a:pPr marL="514350" indent="-514350" algn="just">
              <a:buFont typeface="Arial" panose="020B0604020202020204" pitchFamily="34" charset="0"/>
              <a:buAutoNum type="arabicPeriod"/>
            </a:pPr>
            <a:r>
              <a:rPr lang="en-IN" dirty="0"/>
              <a:t>Foundations of Data Science - </a:t>
            </a:r>
            <a:r>
              <a:rPr lang="en-IN" dirty="0" err="1"/>
              <a:t>Avrim</a:t>
            </a:r>
            <a:r>
              <a:rPr lang="en-IN" dirty="0"/>
              <a:t> Blum, John Hopcroft, and Ravindran Kannan - Cambridge University Press – 2020</a:t>
            </a:r>
          </a:p>
          <a:p>
            <a:pPr>
              <a:lnSpc>
                <a:spcPct val="150000"/>
              </a:lnSpc>
            </a:pPr>
            <a:r>
              <a:rPr lang="en-US" b="1" dirty="0"/>
              <a:t>Reference Books:</a:t>
            </a:r>
            <a:endParaRPr lang="en-US" dirty="0"/>
          </a:p>
          <a:p>
            <a:pPr algn="just"/>
            <a:r>
              <a:rPr lang="en-US" dirty="0"/>
              <a:t>R1.Data Science and Its Applications by Aakanksha </a:t>
            </a:r>
            <a:r>
              <a:rPr lang="en-US" dirty="0" err="1"/>
              <a:t>Sharaff</a:t>
            </a:r>
            <a:r>
              <a:rPr lang="en-US" dirty="0"/>
              <a:t> and G. R. Sinha. </a:t>
            </a:r>
          </a:p>
          <a:p>
            <a:pPr algn="just"/>
            <a:r>
              <a:rPr lang="en-US" dirty="0"/>
              <a:t>R2. Introducing Data Science Big Data, Machine Learning, and more using Python tools. by Davy </a:t>
            </a:r>
            <a:r>
              <a:rPr lang="en-US" dirty="0" err="1"/>
              <a:t>cielen</a:t>
            </a:r>
            <a:r>
              <a:rPr lang="en-US" dirty="0"/>
              <a:t>, Arno D.B. </a:t>
            </a:r>
            <a:r>
              <a:rPr lang="en-US" dirty="0" err="1"/>
              <a:t>Meysman</a:t>
            </a:r>
            <a:r>
              <a:rPr lang="en-US" dirty="0"/>
              <a:t> and Mohamed Ali.</a:t>
            </a:r>
            <a:endParaRPr lang="en-US" altLang="en-US" dirty="0"/>
          </a:p>
          <a:p>
            <a:pPr>
              <a:lnSpc>
                <a:spcPct val="150000"/>
              </a:lnSpc>
            </a:pPr>
            <a:endParaRPr lang="en-US" dirty="0"/>
          </a:p>
        </p:txBody>
      </p:sp>
    </p:spTree>
    <p:extLst>
      <p:ext uri="{BB962C8B-B14F-4D97-AF65-F5344CB8AC3E}">
        <p14:creationId xmlns:p14="http://schemas.microsoft.com/office/powerpoint/2010/main" val="33379583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DS</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docProps/app.xml><?xml version="1.0" encoding="utf-8"?>
<Properties xmlns="http://schemas.openxmlformats.org/officeDocument/2006/extended-properties" xmlns:vt="http://schemas.openxmlformats.org/officeDocument/2006/docPropsVTypes">
  <Template>DAV</Template>
  <TotalTime>858</TotalTime>
  <Words>1143</Words>
  <Application>Microsoft Office PowerPoint</Application>
  <PresentationFormat>Widescreen</PresentationFormat>
  <Paragraphs>145</Paragraphs>
  <Slides>13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vt:i4>
      </vt:variant>
    </vt:vector>
  </HeadingPairs>
  <TitlesOfParts>
    <vt:vector size="24" baseType="lpstr">
      <vt:lpstr>Apercu</vt:lpstr>
      <vt:lpstr>Arial</vt:lpstr>
      <vt:lpstr>Arial MT</vt:lpstr>
      <vt:lpstr>BioRhyme ExtraBold</vt:lpstr>
      <vt:lpstr>Calibri</vt:lpstr>
      <vt:lpstr>Gill Sans MT</vt:lpstr>
      <vt:lpstr>Nunito</vt:lpstr>
      <vt:lpstr>Poppins</vt:lpstr>
      <vt:lpstr>Times New Roman</vt:lpstr>
      <vt:lpstr>Wingdings</vt:lpstr>
      <vt:lpstr>Gallery</vt:lpstr>
      <vt:lpstr>PowerPoint Presentation</vt:lpstr>
      <vt:lpstr>PowerPoint Presentation</vt:lpstr>
      <vt:lpstr>      Key Concepts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VOCABULARY</dc:title>
  <dc:creator>ramesh babu padamata</dc:creator>
  <cp:lastModifiedBy>sunanda nalajala</cp:lastModifiedBy>
  <cp:revision>43</cp:revision>
  <dcterms:created xsi:type="dcterms:W3CDTF">2023-10-26T04:57:25Z</dcterms:created>
  <dcterms:modified xsi:type="dcterms:W3CDTF">2026-08-24T03:55:23Z</dcterms:modified>
</cp:coreProperties>
</file>