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9"/>
  </p:notesMasterIdLst>
  <p:sldIdLst>
    <p:sldId id="364" r:id="rId2"/>
    <p:sldId id="365" r:id="rId3"/>
    <p:sldId id="366" r:id="rId4"/>
    <p:sldId id="299" r:id="rId5"/>
    <p:sldId id="300" r:id="rId6"/>
    <p:sldId id="402" r:id="rId7"/>
    <p:sldId id="403" r:id="rId8"/>
    <p:sldId id="301" r:id="rId9"/>
    <p:sldId id="404" r:id="rId10"/>
    <p:sldId id="405" r:id="rId11"/>
    <p:sldId id="406" r:id="rId12"/>
    <p:sldId id="407" r:id="rId13"/>
    <p:sldId id="408" r:id="rId14"/>
    <p:sldId id="304" r:id="rId15"/>
    <p:sldId id="303" r:id="rId16"/>
    <p:sldId id="400" r:id="rId17"/>
    <p:sldId id="40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2385BB-1C1E-4CFB-8DA9-47E88EC3EE48}" type="datetimeFigureOut">
              <a:rPr lang="en-IN" smtClean="0"/>
              <a:t>31-08-2026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4E726-5613-41E6-8224-3BE6D87DFA57}" type="slidenum">
              <a:rPr lang="en-IN" smtClean="0"/>
              <a:t>‹#›</a:t>
            </a:fld>
            <a:endParaRPr lang="en-IN"/>
          </a:p>
        </p:txBody>
      </p:sp>
    </p:spTree>
    <p:extLst>
      <p:ext uri="{BB962C8B-B14F-4D97-AF65-F5344CB8AC3E}">
        <p14:creationId xmlns:p14="http://schemas.microsoft.com/office/powerpoint/2010/main" val="4130035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311388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160064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591335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0587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8/31/2026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160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23039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72220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1179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2322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98089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1642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2362687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01169384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python/introduction-to-seaborn-python/" TargetMode="External"/><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maths/pearson-correlation-coefficient/" TargetMode="External"/><Relationship Id="rId2" Type="http://schemas.openxmlformats.org/officeDocument/2006/relationships/slideLayout" Target="../slideLayouts/slideLayout2.xml"/><Relationship Id="rId1" Type="http://schemas.openxmlformats.org/officeDocument/2006/relationships/themeOverride" Target="../theme/themeOverride8.xml"/><Relationship Id="rId5" Type="http://schemas.openxmlformats.org/officeDocument/2006/relationships/hyperlink" Target="https://www.geeksforgeeks.org/python/python-kendall-rank-correlation-coefficient/" TargetMode="External"/><Relationship Id="rId4" Type="http://schemas.openxmlformats.org/officeDocument/2006/relationships/hyperlink" Target="https://www.geeksforgeeks.org/data-science/spearmans-rank-correlation/"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rPr>
              <a:t>Department of </a:t>
            </a:r>
            <a:r>
              <a:rPr lang="en-US" sz="4000" dirty="0">
                <a:solidFill>
                  <a:srgbClr val="00B0F0"/>
                </a:solidFill>
                <a:latin typeface="Gill Sans MT"/>
                <a:cs typeface="Poppins" pitchFamily="2" charset="77"/>
              </a:rPr>
              <a:t>CSE</a:t>
            </a:r>
            <a:endPar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endParaRPr>
          </a:p>
        </p:txBody>
      </p:sp>
      <p:sp>
        <p:nvSpPr>
          <p:cNvPr id="6" name="Google Shape;476;p16">
            <a:extLst>
              <a:ext uri="{FF2B5EF4-FFF2-40B4-BE49-F238E27FC236}">
                <a16:creationId xmlns:a16="http://schemas.microsoft.com/office/drawing/2014/main" id="{84A891A9-D46F-5E9B-65D6-C64F832A0362}"/>
              </a:ext>
            </a:extLst>
          </p:cNvPr>
          <p:cNvSpPr txBox="1"/>
          <p:nvPr/>
        </p:nvSpPr>
        <p:spPr>
          <a:xfrm>
            <a:off x="1447800" y="2090192"/>
            <a:ext cx="8218565" cy="2677616"/>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COURSE NAME: Data science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00B0F0"/>
                </a:solidFill>
                <a:effectLst/>
                <a:uLnTx/>
                <a:uFillTx/>
                <a:latin typeface="Gill Sans MT"/>
                <a:ea typeface="+mn-ea"/>
                <a:cs typeface="Poppins" panose="00000500000000000000" pitchFamily="2" charset="0"/>
                <a:sym typeface="BioRhyme ExtraBold"/>
              </a:rPr>
              <a:t>COURSE CODE: 24AD3107</a:t>
            </a: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	</a:t>
            </a: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rPr>
              <a:t>Topic: </a:t>
            </a:r>
          </a:p>
          <a:p>
            <a:pPr lvl="0" algn="ctr" defTabSz="457200"/>
            <a:r>
              <a:rPr lang="en-US" sz="3200" dirty="0">
                <a:solidFill>
                  <a:prstClr val="black"/>
                </a:solidFill>
                <a:latin typeface="Gill Sans MT"/>
              </a:rPr>
              <a:t>Heat Maps and </a:t>
            </a:r>
            <a:r>
              <a:rPr lang="en-US" sz="3200" dirty="0" err="1">
                <a:solidFill>
                  <a:prstClr val="black"/>
                </a:solidFill>
                <a:latin typeface="Gill Sans MT"/>
              </a:rPr>
              <a:t>Corelation</a:t>
            </a:r>
            <a:r>
              <a:rPr lang="en-US" sz="3200" dirty="0">
                <a:solidFill>
                  <a:prstClr val="black"/>
                </a:solidFill>
                <a:latin typeface="Gill Sans MT"/>
              </a:rPr>
              <a:t> </a:t>
            </a:r>
            <a:r>
              <a:rPr kumimoji="0" lang="en-US" sz="3200" b="0" i="0" u="none" strike="noStrike" kern="1200" cap="none" spc="0" normalizeH="0" baseline="0" noProof="0" dirty="0">
                <a:ln>
                  <a:noFill/>
                </a:ln>
                <a:solidFill>
                  <a:prstClr val="black"/>
                </a:solidFill>
                <a:effectLst/>
                <a:uLnTx/>
                <a:uFillTx/>
                <a:latin typeface="Gill Sans MT"/>
                <a:ea typeface="+mn-ea"/>
                <a:cs typeface="+mn-cs"/>
              </a:rPr>
              <a:t>Analysis</a:t>
            </a: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p:txBody>
      </p:sp>
      <p:sp>
        <p:nvSpPr>
          <p:cNvPr id="7" name="Google Shape;502;p17">
            <a:extLst>
              <a:ext uri="{FF2B5EF4-FFF2-40B4-BE49-F238E27FC236}">
                <a16:creationId xmlns:a16="http://schemas.microsoft.com/office/drawing/2014/main" id="{A5120A7A-ED85-153C-EE7C-2FEB2D482089}"/>
              </a:ext>
            </a:extLst>
          </p:cNvPr>
          <p:cNvSpPr/>
          <p:nvPr/>
        </p:nvSpPr>
        <p:spPr>
          <a:xfrm>
            <a:off x="4876800" y="541020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rPr>
              <a:t>Session - 8</a:t>
            </a:r>
            <a:endParaRPr kumimoji="0"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endParaRPr>
          </a:p>
        </p:txBody>
      </p:sp>
    </p:spTree>
    <p:extLst>
      <p:ext uri="{BB962C8B-B14F-4D97-AF65-F5344CB8AC3E}">
        <p14:creationId xmlns:p14="http://schemas.microsoft.com/office/powerpoint/2010/main" val="469216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10343" y="689854"/>
            <a:ext cx="10731286" cy="42678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Poppins"/>
                <a:ea typeface="+mn-ea"/>
                <a:cs typeface="Poppins"/>
              </a:rPr>
              <a:t>To familiarize students with the basic concepts of  Heat</a:t>
            </a:r>
            <a:r>
              <a:rPr kumimoji="0" lang="en-US" sz="1600" b="0" i="0" u="none" strike="noStrike" kern="1200" cap="none" spc="0" normalizeH="0" noProof="0" dirty="0">
                <a:ln>
                  <a:noFill/>
                </a:ln>
                <a:solidFill>
                  <a:prstClr val="black"/>
                </a:solidFill>
                <a:effectLst/>
                <a:uLnTx/>
                <a:uFillTx/>
                <a:latin typeface="Poppins"/>
                <a:ea typeface="+mn-ea"/>
                <a:cs typeface="Poppins"/>
              </a:rPr>
              <a:t> Maps and </a:t>
            </a:r>
            <a:r>
              <a:rPr kumimoji="0" lang="en-US" sz="1600" b="0" i="0" u="none" strike="noStrike" kern="1200" cap="none" spc="0" normalizeH="0" noProof="0" dirty="0" err="1">
                <a:ln>
                  <a:noFill/>
                </a:ln>
                <a:solidFill>
                  <a:prstClr val="black"/>
                </a:solidFill>
                <a:effectLst/>
                <a:uLnTx/>
                <a:uFillTx/>
                <a:latin typeface="Poppins"/>
                <a:ea typeface="+mn-ea"/>
                <a:cs typeface="Poppins"/>
              </a:rPr>
              <a:t>Corelation</a:t>
            </a:r>
            <a:r>
              <a:rPr kumimoji="0" lang="en-US" sz="1600" b="0" i="0" u="none" strike="noStrike" kern="1200" cap="none" spc="0" normalizeH="0" noProof="0" dirty="0">
                <a:ln>
                  <a:noFill/>
                </a:ln>
                <a:solidFill>
                  <a:prstClr val="black"/>
                </a:solidFill>
                <a:effectLst/>
                <a:uLnTx/>
                <a:uFillTx/>
                <a:latin typeface="Poppins"/>
                <a:ea typeface="+mn-ea"/>
                <a:cs typeface="Poppins"/>
              </a:rPr>
              <a:t> Analysis</a:t>
            </a:r>
            <a:r>
              <a:rPr kumimoji="0" lang="en-US" sz="1600" b="0" i="0" u="none" strike="noStrike" kern="1200" cap="none" spc="0" normalizeH="0" baseline="0" noProof="0" dirty="0">
                <a:ln>
                  <a:noFill/>
                </a:ln>
                <a:solidFill>
                  <a:prstClr val="black"/>
                </a:solidFill>
                <a:effectLst/>
                <a:uLnTx/>
                <a:uFillTx/>
                <a:latin typeface="Poppins"/>
                <a:ea typeface="+mn-ea"/>
                <a:cs typeface="Poppins"/>
              </a:rPr>
              <a:t>.</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9982200" cy="51911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lvl="0" defTabSz="457200">
              <a:lnSpc>
                <a:spcPct val="200000"/>
              </a:lnSpc>
            </a:pPr>
            <a:r>
              <a:rPr kumimoji="0" lang="en-US" sz="1600" b="0" i="0" u="none" strike="noStrike" kern="1200" cap="none" spc="0" normalizeH="0" baseline="0" noProof="0" dirty="0">
                <a:ln>
                  <a:noFill/>
                </a:ln>
                <a:solidFill>
                  <a:prstClr val="black"/>
                </a:solidFill>
                <a:effectLst/>
                <a:uLnTx/>
                <a:uFillTx/>
                <a:latin typeface="Poppins"/>
                <a:ea typeface="+mn-ea"/>
                <a:cs typeface="Poppins"/>
              </a:rPr>
              <a:t>This Session is designed to: </a:t>
            </a:r>
            <a:r>
              <a:rPr lang="en-US" sz="1600" dirty="0">
                <a:solidFill>
                  <a:prstClr val="black"/>
                </a:solidFill>
                <a:latin typeface="Poppins"/>
                <a:cs typeface="Poppins"/>
              </a:rPr>
              <a:t>Introduction to Heat Maps and </a:t>
            </a:r>
            <a:r>
              <a:rPr lang="en-US" sz="1600" dirty="0" err="1">
                <a:solidFill>
                  <a:prstClr val="black"/>
                </a:solidFill>
                <a:latin typeface="Poppins"/>
                <a:cs typeface="Poppins"/>
              </a:rPr>
              <a:t>Corelation</a:t>
            </a:r>
            <a:r>
              <a:rPr lang="en-US" sz="1600" dirty="0">
                <a:solidFill>
                  <a:prstClr val="black"/>
                </a:solidFill>
                <a:latin typeface="Poppins"/>
                <a:cs typeface="Poppins"/>
              </a:rPr>
              <a:t> Analysis.</a:t>
            </a:r>
            <a:endParaRPr kumimoji="0" lang="en-US" sz="1600" b="0" i="0" u="none" strike="noStrike" kern="1200" cap="none" spc="0" normalizeH="0" baseline="0" noProof="0" dirty="0">
              <a:ln>
                <a:noFill/>
              </a:ln>
              <a:solidFill>
                <a:prstClr val="black"/>
              </a:solidFill>
              <a:effectLst/>
              <a:uLnTx/>
              <a:uFillTx/>
              <a:latin typeface="Poppins"/>
              <a:ea typeface="+mn-ea"/>
              <a:cs typeface="Poppins"/>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47684" y="4863626"/>
            <a:ext cx="9906000" cy="1000787"/>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lvl="0" defTabSz="457200">
              <a:lnSpc>
                <a:spcPct val="200000"/>
              </a:lnSpc>
              <a:defRPr/>
            </a:pPr>
            <a:r>
              <a:rPr kumimoji="0" lang="en-US" sz="1600" b="0" i="0" u="none" strike="noStrike" kern="1200" cap="none" spc="0" normalizeH="0" baseline="0" noProof="0" dirty="0">
                <a:ln>
                  <a:noFill/>
                </a:ln>
                <a:solidFill>
                  <a:prstClr val="black"/>
                </a:solidFill>
                <a:effectLst/>
                <a:uLnTx/>
                <a:uFillTx/>
                <a:latin typeface="Arial"/>
                <a:ea typeface="+mn-ea"/>
                <a:cs typeface="Arial"/>
              </a:rPr>
              <a:t>At the end of this session, you should be able to: have knowledge on </a:t>
            </a:r>
            <a:r>
              <a:rPr lang="en-US" sz="1600" dirty="0">
                <a:solidFill>
                  <a:prstClr val="black"/>
                </a:solidFill>
                <a:latin typeface="Poppins"/>
                <a:cs typeface="Poppins"/>
              </a:rPr>
              <a:t>Heat Maps and </a:t>
            </a:r>
            <a:r>
              <a:rPr lang="en-US" sz="1600" dirty="0" err="1">
                <a:solidFill>
                  <a:prstClr val="black"/>
                </a:solidFill>
                <a:latin typeface="Poppins"/>
                <a:cs typeface="Poppins"/>
              </a:rPr>
              <a:t>Corelation</a:t>
            </a:r>
            <a:r>
              <a:rPr lang="en-US" sz="1600" dirty="0">
                <a:solidFill>
                  <a:prstClr val="black"/>
                </a:solidFill>
                <a:latin typeface="Poppins"/>
                <a:cs typeface="Poppins"/>
              </a:rPr>
              <a:t> Analysis between the features in a data set</a:t>
            </a: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134585469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FB182DA-8516-88B8-108C-8195B819749E}"/>
              </a:ext>
            </a:extLst>
          </p:cNvPr>
          <p:cNvSpPr>
            <a:spLocks noGrp="1"/>
          </p:cNvSpPr>
          <p:nvPr>
            <p:ph type="title" idx="4294967295"/>
          </p:nvPr>
        </p:nvSpPr>
        <p:spPr>
          <a:xfrm>
            <a:off x="0" y="652463"/>
            <a:ext cx="10515600" cy="1325562"/>
          </a:xfrm>
        </p:spPr>
        <p:txBody>
          <a:bodyPr/>
          <a:lstStyle/>
          <a:p>
            <a:r>
              <a:rPr lang="en-US" altLang="en-US" dirty="0"/>
              <a:t>      Key Concepts</a:t>
            </a:r>
          </a:p>
        </p:txBody>
      </p:sp>
      <p:sp>
        <p:nvSpPr>
          <p:cNvPr id="18435" name="Content Placeholder 2">
            <a:extLst>
              <a:ext uri="{FF2B5EF4-FFF2-40B4-BE49-F238E27FC236}">
                <a16:creationId xmlns:a16="http://schemas.microsoft.com/office/drawing/2014/main" id="{56F88FC0-F086-2D56-9F7F-55E81DA658CB}"/>
              </a:ext>
            </a:extLst>
          </p:cNvPr>
          <p:cNvSpPr>
            <a:spLocks noGrp="1"/>
          </p:cNvSpPr>
          <p:nvPr>
            <p:ph idx="4294967295"/>
          </p:nvPr>
        </p:nvSpPr>
        <p:spPr>
          <a:xfrm>
            <a:off x="588963" y="1316038"/>
            <a:ext cx="11603037" cy="4595812"/>
          </a:xfrm>
        </p:spPr>
        <p:txBody>
          <a:bodyPr>
            <a:normAutofit/>
          </a:bodyPr>
          <a:lstStyle/>
          <a:p>
            <a:pPr>
              <a:buFont typeface="Wingdings" pitchFamily="2" charset="2"/>
              <a:buChar char="v"/>
              <a:defRPr/>
            </a:pPr>
            <a:r>
              <a:rPr lang="en-US" sz="2800" dirty="0"/>
              <a:t>Introduction to </a:t>
            </a:r>
            <a:r>
              <a:rPr lang="en-US" sz="2800" dirty="0" err="1"/>
              <a:t>HeatMaps</a:t>
            </a:r>
            <a:endParaRPr lang="en-US" sz="2800" dirty="0"/>
          </a:p>
          <a:p>
            <a:pPr>
              <a:buFont typeface="Wingdings" pitchFamily="2" charset="2"/>
              <a:buChar char="v"/>
              <a:defRPr/>
            </a:pPr>
            <a:r>
              <a:rPr lang="en-US" sz="2800" dirty="0" err="1"/>
              <a:t>Corelation</a:t>
            </a:r>
            <a:r>
              <a:rPr lang="en-US" sz="2800" dirty="0"/>
              <a:t> analysis</a:t>
            </a:r>
          </a:p>
          <a:p>
            <a:pPr marL="0" indent="0">
              <a:buNone/>
              <a:defRPr/>
            </a:pPr>
            <a:endParaRPr lang="en-US" sz="2800" dirty="0"/>
          </a:p>
          <a:p>
            <a:pPr>
              <a:buFont typeface="Wingdings" pitchFamily="2" charset="2"/>
              <a:buChar char="v"/>
              <a:defRPr/>
            </a:pPr>
            <a:endParaRPr lang="en-US" altLang="en-US" sz="2800" dirty="0"/>
          </a:p>
          <a:p>
            <a:pPr>
              <a:buFont typeface="Wingdings" pitchFamily="2" charset="2"/>
              <a:buChar char="v"/>
              <a:defRPr/>
            </a:pPr>
            <a:endParaRPr lang="en-US" altLang="en-US" sz="2800" dirty="0"/>
          </a:p>
          <a:p>
            <a:pPr marL="0" indent="0">
              <a:buNone/>
              <a:defRPr/>
            </a:pPr>
            <a:endParaRPr lang="en-US" altLang="en-US" sz="4200" dirty="0">
              <a:latin typeface="Times New Roman" pitchFamily="16" charset="0"/>
              <a:cs typeface="Times New Roman" pitchFamily="16" charset="0"/>
            </a:endParaRPr>
          </a:p>
          <a:p>
            <a:pPr marL="457200" indent="-457200">
              <a:buFont typeface="Wingdings" pitchFamily="2" charset="2"/>
              <a:buChar char="v"/>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p:txBody>
      </p:sp>
      <p:sp>
        <p:nvSpPr>
          <p:cNvPr id="2" name="Rounded Rectangle 17">
            <a:extLst>
              <a:ext uri="{FF2B5EF4-FFF2-40B4-BE49-F238E27FC236}">
                <a16:creationId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SESSION INTRODUCTION </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D88FA7-9852-9571-2DC6-CE387FF9A21C}"/>
              </a:ext>
            </a:extLst>
          </p:cNvPr>
          <p:cNvSpPr>
            <a:spLocks noGrp="1"/>
          </p:cNvSpPr>
          <p:nvPr>
            <p:ph idx="1"/>
          </p:nvPr>
        </p:nvSpPr>
        <p:spPr>
          <a:xfrm>
            <a:off x="661696" y="167951"/>
            <a:ext cx="10515600" cy="5841061"/>
          </a:xfrm>
        </p:spPr>
        <p:txBody>
          <a:bodyPr>
            <a:normAutofit fontScale="92500" lnSpcReduction="20000"/>
          </a:bodyPr>
          <a:lstStyle/>
          <a:p>
            <a:pPr fontAlgn="base"/>
            <a:r>
              <a:rPr lang="en-IN" b="1" dirty="0"/>
              <a:t>Seaborn Heatmap</a:t>
            </a:r>
          </a:p>
          <a:p>
            <a:pPr marL="0" indent="0" fontAlgn="base">
              <a:buNone/>
            </a:pPr>
            <a:r>
              <a:rPr lang="en-US" dirty="0"/>
              <a:t>A </a:t>
            </a:r>
            <a:r>
              <a:rPr lang="en-US" b="1" dirty="0"/>
              <a:t>heatmap</a:t>
            </a:r>
            <a:r>
              <a:rPr lang="en-US" dirty="0"/>
              <a:t> is a graphical representation of data where individual values are represented by color intensity. It is widely used in data analysis and visualization to identify patterns, correlations and trends within a dataset. </a:t>
            </a:r>
            <a:r>
              <a:rPr lang="en-US" b="1" dirty="0"/>
              <a:t>Heatmaps in </a:t>
            </a:r>
            <a:r>
              <a:rPr lang="en-US" u="sng" dirty="0">
                <a:hlinkClick r:id="rId3"/>
              </a:rPr>
              <a:t>Seaborn</a:t>
            </a:r>
            <a:r>
              <a:rPr lang="en-US" dirty="0"/>
              <a:t> can be plotted using the</a:t>
            </a:r>
            <a:r>
              <a:rPr lang="en-US" b="1" dirty="0"/>
              <a:t> </a:t>
            </a:r>
            <a:r>
              <a:rPr lang="en-US" b="1" dirty="0" err="1"/>
              <a:t>seaborn.heatmap</a:t>
            </a:r>
            <a:r>
              <a:rPr lang="en-US" b="1" dirty="0"/>
              <a:t>() function</a:t>
            </a:r>
            <a:r>
              <a:rPr lang="en-US" dirty="0"/>
              <a:t>, which offers extensive customization options.</a:t>
            </a:r>
          </a:p>
          <a:p>
            <a:pPr fontAlgn="base"/>
            <a:r>
              <a:rPr lang="en-IN" b="1" dirty="0"/>
              <a:t>import</a:t>
            </a:r>
            <a:r>
              <a:rPr lang="en-IN" dirty="0"/>
              <a:t> </a:t>
            </a:r>
            <a:r>
              <a:rPr lang="en-IN" b="1" dirty="0" err="1"/>
              <a:t>numpy</a:t>
            </a:r>
            <a:r>
              <a:rPr lang="en-IN" dirty="0"/>
              <a:t> </a:t>
            </a:r>
            <a:r>
              <a:rPr lang="en-IN" b="1" dirty="0"/>
              <a:t>as</a:t>
            </a:r>
            <a:r>
              <a:rPr lang="en-IN" dirty="0"/>
              <a:t> </a:t>
            </a:r>
            <a:r>
              <a:rPr lang="en-IN" b="1" dirty="0"/>
              <a:t>np  </a:t>
            </a:r>
            <a:endParaRPr lang="en-IN" dirty="0"/>
          </a:p>
          <a:p>
            <a:pPr fontAlgn="base"/>
            <a:r>
              <a:rPr lang="en-IN" b="1" dirty="0"/>
              <a:t>import</a:t>
            </a:r>
            <a:r>
              <a:rPr lang="en-IN" dirty="0"/>
              <a:t> </a:t>
            </a:r>
            <a:r>
              <a:rPr lang="en-IN" b="1" dirty="0"/>
              <a:t>seaborn</a:t>
            </a:r>
            <a:r>
              <a:rPr lang="en-IN" dirty="0"/>
              <a:t> </a:t>
            </a:r>
            <a:r>
              <a:rPr lang="en-IN" b="1" dirty="0"/>
              <a:t>as</a:t>
            </a:r>
            <a:r>
              <a:rPr lang="en-IN" dirty="0"/>
              <a:t> </a:t>
            </a:r>
            <a:r>
              <a:rPr lang="en-IN" b="1" dirty="0" err="1"/>
              <a:t>sns</a:t>
            </a:r>
            <a:endParaRPr lang="en-IN" dirty="0"/>
          </a:p>
          <a:p>
            <a:pPr fontAlgn="base"/>
            <a:r>
              <a:rPr lang="en-IN" b="1" dirty="0"/>
              <a:t>import</a:t>
            </a:r>
            <a:r>
              <a:rPr lang="en-IN" dirty="0"/>
              <a:t> </a:t>
            </a:r>
            <a:r>
              <a:rPr lang="en-IN" b="1" dirty="0" err="1"/>
              <a:t>matplotlib.pyplot</a:t>
            </a:r>
            <a:r>
              <a:rPr lang="en-IN" dirty="0"/>
              <a:t> </a:t>
            </a:r>
            <a:r>
              <a:rPr lang="en-IN" b="1" dirty="0"/>
              <a:t>as</a:t>
            </a:r>
            <a:r>
              <a:rPr lang="en-IN" dirty="0"/>
              <a:t> </a:t>
            </a:r>
            <a:r>
              <a:rPr lang="en-IN" b="1" dirty="0" err="1"/>
              <a:t>plt</a:t>
            </a:r>
            <a:endParaRPr lang="en-IN" dirty="0"/>
          </a:p>
          <a:p>
            <a:pPr fontAlgn="base"/>
            <a:r>
              <a:rPr lang="en-IN" i="1" dirty="0"/>
              <a:t># Generating a 10x10 matrix of random numbers</a:t>
            </a:r>
            <a:endParaRPr lang="en-IN" dirty="0"/>
          </a:p>
          <a:p>
            <a:pPr fontAlgn="base"/>
            <a:r>
              <a:rPr lang="en-IN" dirty="0"/>
              <a:t>data = </a:t>
            </a:r>
            <a:r>
              <a:rPr lang="en-IN" dirty="0" err="1"/>
              <a:t>np.random.randint</a:t>
            </a:r>
            <a:r>
              <a:rPr lang="en-IN" dirty="0"/>
              <a:t>(1, 100, (10, 10))</a:t>
            </a:r>
          </a:p>
          <a:p>
            <a:pPr fontAlgn="base"/>
            <a:r>
              <a:rPr lang="en-IN" dirty="0" err="1"/>
              <a:t>sns.heatmap</a:t>
            </a:r>
            <a:r>
              <a:rPr lang="en-IN" dirty="0"/>
              <a:t>(data)</a:t>
            </a:r>
          </a:p>
          <a:p>
            <a:pPr fontAlgn="base"/>
            <a:r>
              <a:rPr lang="en-IN" dirty="0" err="1"/>
              <a:t>plt.show</a:t>
            </a:r>
            <a:r>
              <a:rPr lang="en-IN" dirty="0"/>
              <a:t>()</a:t>
            </a:r>
          </a:p>
          <a:p>
            <a:pPr marL="0" indent="0" fontAlgn="base">
              <a:buNone/>
            </a:pPr>
            <a:endParaRPr lang="en-US" dirty="0"/>
          </a:p>
          <a:p>
            <a:pPr marL="0" indent="0" fontAlgn="base">
              <a:buNone/>
            </a:pPr>
            <a:r>
              <a:rPr lang="en-US" dirty="0"/>
              <a:t>This will produce a heatmap where the intensity of color represents the magnitude of values in the matrix.</a:t>
            </a:r>
            <a:endParaRPr lang="en-IN" dirty="0"/>
          </a:p>
          <a:p>
            <a:pPr marL="0" indent="0" fontAlgn="base">
              <a:buNone/>
            </a:pPr>
            <a:endParaRPr lang="en-IN" dirty="0"/>
          </a:p>
        </p:txBody>
      </p:sp>
      <p:pic>
        <p:nvPicPr>
          <p:cNvPr id="4" name="Picture 3">
            <a:extLst>
              <a:ext uri="{FF2B5EF4-FFF2-40B4-BE49-F238E27FC236}">
                <a16:creationId xmlns:a16="http://schemas.microsoft.com/office/drawing/2014/main" id="{043303C6-3071-E273-703B-AC2B15481BA2}"/>
              </a:ext>
            </a:extLst>
          </p:cNvPr>
          <p:cNvPicPr>
            <a:picLocks noChangeAspect="1"/>
          </p:cNvPicPr>
          <p:nvPr/>
        </p:nvPicPr>
        <p:blipFill>
          <a:blip r:embed="rId4"/>
          <a:stretch>
            <a:fillRect/>
          </a:stretch>
        </p:blipFill>
        <p:spPr>
          <a:xfrm>
            <a:off x="8162925" y="2619375"/>
            <a:ext cx="3014371" cy="2600325"/>
          </a:xfrm>
          <a:prstGeom prst="rect">
            <a:avLst/>
          </a:prstGeom>
        </p:spPr>
      </p:pic>
    </p:spTree>
    <p:extLst>
      <p:ext uri="{BB962C8B-B14F-4D97-AF65-F5344CB8AC3E}">
        <p14:creationId xmlns:p14="http://schemas.microsoft.com/office/powerpoint/2010/main" val="141883835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15D9A2-3722-0534-0121-2A71476AD61D}"/>
              </a:ext>
            </a:extLst>
          </p:cNvPr>
          <p:cNvSpPr>
            <a:spLocks noGrp="1"/>
          </p:cNvSpPr>
          <p:nvPr>
            <p:ph idx="1"/>
          </p:nvPr>
        </p:nvSpPr>
        <p:spPr>
          <a:xfrm>
            <a:off x="838200" y="279918"/>
            <a:ext cx="10515600" cy="5897045"/>
          </a:xfrm>
        </p:spPr>
        <p:txBody>
          <a:bodyPr>
            <a:normAutofit fontScale="85000" lnSpcReduction="20000"/>
          </a:bodyPr>
          <a:lstStyle/>
          <a:p>
            <a:pPr fontAlgn="base"/>
            <a:r>
              <a:rPr lang="en-IN" b="1" dirty="0"/>
              <a:t>Syntax of </a:t>
            </a:r>
            <a:r>
              <a:rPr lang="en-IN" b="1" dirty="0" err="1"/>
              <a:t>seaborn.heatmap</a:t>
            </a:r>
            <a:r>
              <a:rPr lang="en-IN" b="1" dirty="0"/>
              <a:t>()</a:t>
            </a:r>
          </a:p>
          <a:p>
            <a:pPr fontAlgn="base"/>
            <a:r>
              <a:rPr lang="en-IN" i="1" dirty="0" err="1"/>
              <a:t>seaborn.heatmap</a:t>
            </a:r>
            <a:r>
              <a:rPr lang="en-IN" i="1" dirty="0"/>
              <a:t>(data, *, </a:t>
            </a:r>
            <a:r>
              <a:rPr lang="en-IN" i="1" dirty="0" err="1"/>
              <a:t>vmin</a:t>
            </a:r>
            <a:r>
              <a:rPr lang="en-IN" i="1" dirty="0"/>
              <a:t>=None, </a:t>
            </a:r>
            <a:r>
              <a:rPr lang="en-IN" i="1" dirty="0" err="1"/>
              <a:t>vmax</a:t>
            </a:r>
            <a:r>
              <a:rPr lang="en-IN" i="1" dirty="0"/>
              <a:t>=None, </a:t>
            </a:r>
            <a:r>
              <a:rPr lang="en-IN" i="1" dirty="0" err="1"/>
              <a:t>cmap</a:t>
            </a:r>
            <a:r>
              <a:rPr lang="en-IN" i="1" dirty="0"/>
              <a:t>=None, </a:t>
            </a:r>
            <a:r>
              <a:rPr lang="en-IN" i="1" dirty="0" err="1"/>
              <a:t>center</a:t>
            </a:r>
            <a:r>
              <a:rPr lang="en-IN" i="1" dirty="0"/>
              <a:t>=None, </a:t>
            </a:r>
            <a:r>
              <a:rPr lang="en-IN" i="1" dirty="0" err="1"/>
              <a:t>annot_kws</a:t>
            </a:r>
            <a:r>
              <a:rPr lang="en-IN" i="1" dirty="0"/>
              <a:t>=None, linewidths=0, </a:t>
            </a:r>
            <a:r>
              <a:rPr lang="en-IN" i="1" dirty="0" err="1"/>
              <a:t>linecolor</a:t>
            </a:r>
            <a:r>
              <a:rPr lang="en-IN" i="1" dirty="0"/>
              <a:t>='white', cbar=True, **</a:t>
            </a:r>
            <a:r>
              <a:rPr lang="en-IN" i="1" dirty="0" err="1"/>
              <a:t>kwargs</a:t>
            </a:r>
            <a:r>
              <a:rPr lang="en-IN" i="1" dirty="0"/>
              <a:t>)</a:t>
            </a:r>
          </a:p>
          <a:p>
            <a:pPr fontAlgn="base"/>
            <a:r>
              <a:rPr lang="en-US" b="1" dirty="0"/>
              <a:t>Parameters:</a:t>
            </a:r>
            <a:endParaRPr lang="en-US" dirty="0"/>
          </a:p>
          <a:p>
            <a:pPr marL="0" indent="0" fontAlgn="base">
              <a:buNone/>
            </a:pPr>
            <a:r>
              <a:rPr lang="en-US" b="1" dirty="0"/>
              <a:t>data: </a:t>
            </a:r>
            <a:r>
              <a:rPr lang="en-US" dirty="0"/>
              <a:t>A 2D dataset that can be coerced into a NumPy </a:t>
            </a:r>
            <a:r>
              <a:rPr lang="en-US" dirty="0" err="1"/>
              <a:t>ndarray</a:t>
            </a:r>
            <a:r>
              <a:rPr lang="en-US" dirty="0"/>
              <a:t>.</a:t>
            </a:r>
          </a:p>
          <a:p>
            <a:pPr marL="0" indent="0" fontAlgn="base">
              <a:buNone/>
            </a:pPr>
            <a:r>
              <a:rPr lang="en-US" b="1" dirty="0" err="1"/>
              <a:t>vmin</a:t>
            </a:r>
            <a:r>
              <a:rPr lang="en-US" b="1" dirty="0"/>
              <a:t>, </a:t>
            </a:r>
            <a:r>
              <a:rPr lang="en-US" b="1" dirty="0" err="1"/>
              <a:t>vmax</a:t>
            </a:r>
            <a:r>
              <a:rPr lang="en-US" b="1" dirty="0"/>
              <a:t>: </a:t>
            </a:r>
            <a:r>
              <a:rPr lang="en-US" dirty="0"/>
              <a:t>Values to anchor the colormap; if not specified, they are inferred from the data.</a:t>
            </a:r>
          </a:p>
          <a:p>
            <a:pPr marL="0" indent="0" fontAlgn="base">
              <a:buNone/>
            </a:pPr>
            <a:r>
              <a:rPr lang="en-US" b="1" dirty="0" err="1"/>
              <a:t>cmap</a:t>
            </a:r>
            <a:r>
              <a:rPr lang="en-US" b="1" dirty="0"/>
              <a:t>: </a:t>
            </a:r>
            <a:r>
              <a:rPr lang="en-US" dirty="0"/>
              <a:t>The colormap for mapping data values to colors.</a:t>
            </a:r>
          </a:p>
          <a:p>
            <a:pPr marL="0" indent="0" fontAlgn="base">
              <a:buNone/>
            </a:pPr>
            <a:r>
              <a:rPr lang="en-US" b="1" dirty="0"/>
              <a:t>center:</a:t>
            </a:r>
            <a:r>
              <a:rPr lang="en-US" dirty="0"/>
              <a:t> Value at which to center the colormap when plotting divergent data.</a:t>
            </a:r>
          </a:p>
          <a:p>
            <a:pPr marL="0" indent="0" fontAlgn="base">
              <a:buNone/>
            </a:pPr>
            <a:r>
              <a:rPr lang="en-US" b="1" dirty="0" err="1"/>
              <a:t>annot</a:t>
            </a:r>
            <a:r>
              <a:rPr lang="en-US" b="1" dirty="0"/>
              <a:t>:</a:t>
            </a:r>
            <a:r>
              <a:rPr lang="en-US" dirty="0"/>
              <a:t> If True, displays numerical values inside the cells.</a:t>
            </a:r>
          </a:p>
          <a:p>
            <a:pPr marL="0" indent="0" fontAlgn="base">
              <a:buNone/>
            </a:pPr>
            <a:r>
              <a:rPr lang="en-US" b="1" dirty="0" err="1"/>
              <a:t>fmt</a:t>
            </a:r>
            <a:r>
              <a:rPr lang="en-US" b="1" dirty="0"/>
              <a:t>: </a:t>
            </a:r>
            <a:r>
              <a:rPr lang="en-US" dirty="0"/>
              <a:t>String format for annotations.</a:t>
            </a:r>
          </a:p>
          <a:p>
            <a:pPr marL="0" indent="0" fontAlgn="base">
              <a:buNone/>
            </a:pPr>
            <a:r>
              <a:rPr lang="en-US" b="1" dirty="0"/>
              <a:t>linewidths:</a:t>
            </a:r>
            <a:r>
              <a:rPr lang="en-US" dirty="0"/>
              <a:t> Width of the lines separating cells.</a:t>
            </a:r>
          </a:p>
          <a:p>
            <a:pPr marL="0" indent="0" fontAlgn="base">
              <a:buNone/>
            </a:pPr>
            <a:r>
              <a:rPr lang="en-US" b="1" dirty="0" err="1"/>
              <a:t>linecolor</a:t>
            </a:r>
            <a:r>
              <a:rPr lang="en-US" b="1" dirty="0"/>
              <a:t>: </a:t>
            </a:r>
            <a:r>
              <a:rPr lang="en-US" dirty="0"/>
              <a:t>Color of the separating lines.</a:t>
            </a:r>
          </a:p>
          <a:p>
            <a:pPr marL="0" indent="0" fontAlgn="base">
              <a:buNone/>
            </a:pPr>
            <a:r>
              <a:rPr lang="en-US" b="1" dirty="0"/>
              <a:t>cbar</a:t>
            </a:r>
            <a:r>
              <a:rPr lang="en-US" dirty="0"/>
              <a:t>: Whether to display a color bar.</a:t>
            </a:r>
          </a:p>
          <a:p>
            <a:pPr marL="0" indent="0" fontAlgn="base">
              <a:buNone/>
            </a:pPr>
            <a:r>
              <a:rPr lang="en-US" i="1" dirty="0"/>
              <a:t>Note: All parameters except data are optional.</a:t>
            </a:r>
          </a:p>
          <a:p>
            <a:pPr marL="0" indent="0" fontAlgn="base">
              <a:buNone/>
            </a:pPr>
            <a:r>
              <a:rPr lang="en-US" b="1" dirty="0"/>
              <a:t>Returns: </a:t>
            </a:r>
            <a:r>
              <a:rPr lang="en-US" dirty="0"/>
              <a:t>returns an object of type </a:t>
            </a:r>
            <a:r>
              <a:rPr lang="en-US" b="1" dirty="0" err="1"/>
              <a:t>matplotlib.axes.Axes</a:t>
            </a:r>
            <a:endParaRPr lang="en-US" dirty="0"/>
          </a:p>
          <a:p>
            <a:endParaRPr lang="en-IN" dirty="0"/>
          </a:p>
        </p:txBody>
      </p:sp>
    </p:spTree>
    <p:extLst>
      <p:ext uri="{BB962C8B-B14F-4D97-AF65-F5344CB8AC3E}">
        <p14:creationId xmlns:p14="http://schemas.microsoft.com/office/powerpoint/2010/main" val="3522875696"/>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B65EBA-5C31-F8B4-9A3B-2669F90E71A4}"/>
              </a:ext>
            </a:extLst>
          </p:cNvPr>
          <p:cNvSpPr>
            <a:spLocks noGrp="1"/>
          </p:cNvSpPr>
          <p:nvPr>
            <p:ph idx="1"/>
          </p:nvPr>
        </p:nvSpPr>
        <p:spPr>
          <a:xfrm>
            <a:off x="104775" y="180975"/>
            <a:ext cx="10515600" cy="6110288"/>
          </a:xfrm>
        </p:spPr>
        <p:txBody>
          <a:bodyPr>
            <a:normAutofit/>
          </a:bodyPr>
          <a:lstStyle/>
          <a:p>
            <a:r>
              <a:rPr lang="en-IN" b="1" dirty="0"/>
              <a:t>Example 1: </a:t>
            </a:r>
            <a:r>
              <a:rPr lang="en-IN" dirty="0"/>
              <a:t>By setting </a:t>
            </a:r>
            <a:r>
              <a:rPr lang="en-IN" dirty="0" err="1"/>
              <a:t>vmin</a:t>
            </a:r>
            <a:r>
              <a:rPr lang="en-IN" dirty="0"/>
              <a:t> and </a:t>
            </a:r>
            <a:r>
              <a:rPr lang="en-IN" dirty="0" err="1"/>
              <a:t>vmax</a:t>
            </a:r>
            <a:r>
              <a:rPr lang="en-IN" dirty="0"/>
              <a:t>, we explicitly define the range of values that influence the </a:t>
            </a:r>
            <a:r>
              <a:rPr lang="en-IN" dirty="0" err="1"/>
              <a:t>color</a:t>
            </a:r>
            <a:r>
              <a:rPr lang="en-IN" dirty="0"/>
              <a:t> scaling in the heatmap. This ensures consistency across multiple heatmaps, preventing extreme values from distorting the visualization.</a:t>
            </a:r>
          </a:p>
          <a:p>
            <a:r>
              <a:rPr lang="en-IN" dirty="0"/>
              <a:t>import </a:t>
            </a:r>
            <a:r>
              <a:rPr lang="en-IN" dirty="0" err="1"/>
              <a:t>numpy</a:t>
            </a:r>
            <a:r>
              <a:rPr lang="en-IN" dirty="0"/>
              <a:t> as np</a:t>
            </a:r>
          </a:p>
          <a:p>
            <a:r>
              <a:rPr lang="en-IN" dirty="0"/>
              <a:t>import seaborn as </a:t>
            </a:r>
            <a:r>
              <a:rPr lang="en-IN" dirty="0" err="1"/>
              <a:t>sns</a:t>
            </a:r>
            <a:endParaRPr lang="en-IN" dirty="0"/>
          </a:p>
          <a:p>
            <a:r>
              <a:rPr lang="en-IN" dirty="0"/>
              <a:t>import </a:t>
            </a:r>
            <a:r>
              <a:rPr lang="en-IN" dirty="0" err="1"/>
              <a:t>matplotlib.pyplot</a:t>
            </a:r>
            <a:r>
              <a:rPr lang="en-IN" dirty="0"/>
              <a:t> as </a:t>
            </a:r>
            <a:r>
              <a:rPr lang="en-IN" dirty="0" err="1"/>
              <a:t>plt</a:t>
            </a:r>
            <a:endParaRPr lang="en-IN" dirty="0"/>
          </a:p>
          <a:p>
            <a:r>
              <a:rPr lang="en-IN" dirty="0"/>
              <a:t>data = </a:t>
            </a:r>
            <a:r>
              <a:rPr lang="en-IN" dirty="0" err="1"/>
              <a:t>np.random.randint</a:t>
            </a:r>
            <a:r>
              <a:rPr lang="en-IN" dirty="0"/>
              <a:t>(1, 100, (10, 10))</a:t>
            </a:r>
          </a:p>
          <a:p>
            <a:r>
              <a:rPr lang="en-IN" dirty="0" err="1"/>
              <a:t>sns.heatmap</a:t>
            </a:r>
            <a:r>
              <a:rPr lang="en-IN" dirty="0"/>
              <a:t>(data, </a:t>
            </a:r>
            <a:r>
              <a:rPr lang="en-IN" dirty="0" err="1"/>
              <a:t>vmin</a:t>
            </a:r>
            <a:r>
              <a:rPr lang="en-IN" dirty="0"/>
              <a:t>=30, </a:t>
            </a:r>
            <a:r>
              <a:rPr lang="en-IN" dirty="0" err="1"/>
              <a:t>vmax</a:t>
            </a:r>
            <a:r>
              <a:rPr lang="en-IN" dirty="0"/>
              <a:t>=70)</a:t>
            </a:r>
          </a:p>
          <a:p>
            <a:r>
              <a:rPr lang="en-IN" dirty="0" err="1"/>
              <a:t>plt.show</a:t>
            </a:r>
            <a:r>
              <a:rPr lang="en-IN" dirty="0"/>
              <a:t>()</a:t>
            </a:r>
          </a:p>
          <a:p>
            <a:endParaRPr lang="en-IN" dirty="0"/>
          </a:p>
          <a:p>
            <a:r>
              <a:rPr lang="en-US" dirty="0"/>
              <a:t>The parameters </a:t>
            </a:r>
            <a:r>
              <a:rPr lang="en-US" dirty="0" err="1"/>
              <a:t>vmin</a:t>
            </a:r>
            <a:r>
              <a:rPr lang="en-US" dirty="0"/>
              <a:t>=30 and </a:t>
            </a:r>
            <a:r>
              <a:rPr lang="en-US" dirty="0" err="1"/>
              <a:t>vmax</a:t>
            </a:r>
            <a:r>
              <a:rPr lang="en-US" dirty="0"/>
              <a:t>=70 define the limits of the color scale range. Values lower than 30 are represented by the lowest intensity color, while values higher than 70 are mapped to the highest intensity color.</a:t>
            </a:r>
            <a:endParaRPr lang="en-IN" dirty="0"/>
          </a:p>
        </p:txBody>
      </p:sp>
      <p:pic>
        <p:nvPicPr>
          <p:cNvPr id="1028" name="Picture 4" descr="Output">
            <a:extLst>
              <a:ext uri="{FF2B5EF4-FFF2-40B4-BE49-F238E27FC236}">
                <a16:creationId xmlns:a16="http://schemas.microsoft.com/office/drawing/2014/main" id="{FD2836D5-B5B1-1DC4-10EF-9836FA723C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5188" y="2052638"/>
            <a:ext cx="2428875"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77451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BE4497-867F-D764-9EB7-7EEF497A65D3}"/>
              </a:ext>
            </a:extLst>
          </p:cNvPr>
          <p:cNvSpPr>
            <a:spLocks noGrp="1"/>
          </p:cNvSpPr>
          <p:nvPr>
            <p:ph idx="1"/>
          </p:nvPr>
        </p:nvSpPr>
        <p:spPr>
          <a:xfrm>
            <a:off x="838200" y="415924"/>
            <a:ext cx="10515600" cy="6080125"/>
          </a:xfrm>
        </p:spPr>
        <p:txBody>
          <a:bodyPr>
            <a:normAutofit/>
          </a:bodyPr>
          <a:lstStyle/>
          <a:p>
            <a:pPr fontAlgn="base"/>
            <a:r>
              <a:rPr lang="en-IN" b="1" dirty="0"/>
              <a:t>Example 2:</a:t>
            </a:r>
            <a:r>
              <a:rPr lang="en-IN" dirty="0"/>
              <a:t>The </a:t>
            </a:r>
            <a:r>
              <a:rPr lang="en-IN" dirty="0" err="1"/>
              <a:t>cmap</a:t>
            </a:r>
            <a:r>
              <a:rPr lang="en-IN" dirty="0"/>
              <a:t> parameter allows us to modify the </a:t>
            </a:r>
            <a:r>
              <a:rPr lang="en-IN" dirty="0" err="1"/>
              <a:t>color</a:t>
            </a:r>
            <a:r>
              <a:rPr lang="en-IN" dirty="0"/>
              <a:t> scheme of the heatmap, improving its visual appeal and making it easier to distinguish between different values.</a:t>
            </a:r>
          </a:p>
          <a:p>
            <a:pPr fontAlgn="base"/>
            <a:r>
              <a:rPr lang="en-IN" dirty="0"/>
              <a:t>import </a:t>
            </a:r>
            <a:r>
              <a:rPr lang="en-IN" dirty="0" err="1"/>
              <a:t>numpy</a:t>
            </a:r>
            <a:r>
              <a:rPr lang="en-IN" dirty="0"/>
              <a:t> as np</a:t>
            </a:r>
          </a:p>
          <a:p>
            <a:pPr fontAlgn="base"/>
            <a:r>
              <a:rPr lang="en-IN" dirty="0"/>
              <a:t>import seaborn as </a:t>
            </a:r>
            <a:r>
              <a:rPr lang="en-IN" dirty="0" err="1"/>
              <a:t>sns</a:t>
            </a:r>
            <a:endParaRPr lang="en-IN" dirty="0"/>
          </a:p>
          <a:p>
            <a:pPr fontAlgn="base"/>
            <a:r>
              <a:rPr lang="en-IN" dirty="0"/>
              <a:t>import </a:t>
            </a:r>
            <a:r>
              <a:rPr lang="en-IN" dirty="0" err="1"/>
              <a:t>matplotlib.pyplot</a:t>
            </a:r>
            <a:r>
              <a:rPr lang="en-IN" dirty="0"/>
              <a:t> as </a:t>
            </a:r>
            <a:r>
              <a:rPr lang="en-IN" dirty="0" err="1"/>
              <a:t>plt</a:t>
            </a:r>
            <a:endParaRPr lang="en-IN" dirty="0"/>
          </a:p>
          <a:p>
            <a:pPr fontAlgn="base"/>
            <a:r>
              <a:rPr lang="en-IN" dirty="0"/>
              <a:t>data = </a:t>
            </a:r>
            <a:r>
              <a:rPr lang="en-IN" dirty="0" err="1"/>
              <a:t>np.random.randint</a:t>
            </a:r>
            <a:r>
              <a:rPr lang="en-IN" dirty="0"/>
              <a:t>(1, 100, (10, 10))</a:t>
            </a:r>
          </a:p>
          <a:p>
            <a:pPr fontAlgn="base"/>
            <a:r>
              <a:rPr lang="en-IN" dirty="0" err="1"/>
              <a:t>sns.heatmap</a:t>
            </a:r>
            <a:r>
              <a:rPr lang="en-IN" dirty="0"/>
              <a:t>(data, </a:t>
            </a:r>
            <a:r>
              <a:rPr lang="en-IN" dirty="0" err="1"/>
              <a:t>cmap</a:t>
            </a:r>
            <a:r>
              <a:rPr lang="en-IN" dirty="0"/>
              <a:t>='tab20')</a:t>
            </a:r>
          </a:p>
          <a:p>
            <a:pPr fontAlgn="base"/>
            <a:r>
              <a:rPr lang="en-IN" dirty="0" err="1"/>
              <a:t>plt.show</a:t>
            </a:r>
            <a:r>
              <a:rPr lang="en-IN" dirty="0"/>
              <a:t>()</a:t>
            </a:r>
          </a:p>
          <a:p>
            <a:pPr fontAlgn="base"/>
            <a:endParaRPr lang="en-IN" dirty="0"/>
          </a:p>
          <a:p>
            <a:pPr fontAlgn="base"/>
            <a:r>
              <a:rPr lang="en-IN" dirty="0"/>
              <a:t>The argument </a:t>
            </a:r>
            <a:r>
              <a:rPr lang="en-IN" b="1" dirty="0" err="1"/>
              <a:t>cmap</a:t>
            </a:r>
            <a:r>
              <a:rPr lang="en-IN" b="1" dirty="0"/>
              <a:t>='tab20'</a:t>
            </a:r>
            <a:r>
              <a:rPr lang="en-IN" dirty="0"/>
              <a:t> sets a categorical colormap. Sequential colormaps (Blues, Reds, Greens) suit continuous data, while diverging colormaps (</a:t>
            </a:r>
            <a:r>
              <a:rPr lang="en-IN" dirty="0" err="1"/>
              <a:t>coolwarm</a:t>
            </a:r>
            <a:r>
              <a:rPr lang="en-IN" dirty="0"/>
              <a:t>, </a:t>
            </a:r>
            <a:r>
              <a:rPr lang="en-IN" dirty="0" err="1"/>
              <a:t>RdBu</a:t>
            </a:r>
            <a:r>
              <a:rPr lang="en-IN" dirty="0"/>
              <a:t>) highlight variations.</a:t>
            </a:r>
          </a:p>
        </p:txBody>
      </p:sp>
      <p:pic>
        <p:nvPicPr>
          <p:cNvPr id="2052" name="Picture 4" descr="output">
            <a:extLst>
              <a:ext uri="{FF2B5EF4-FFF2-40B4-BE49-F238E27FC236}">
                <a16:creationId xmlns:a16="http://schemas.microsoft.com/office/drawing/2014/main" id="{476478B2-FB7B-C49B-1395-0C67B5D57D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7163" y="2028825"/>
            <a:ext cx="2428875" cy="196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419436"/>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349A22-B67C-F235-07C4-50AA3BFE1698}"/>
              </a:ext>
            </a:extLst>
          </p:cNvPr>
          <p:cNvSpPr>
            <a:spLocks noGrp="1"/>
          </p:cNvSpPr>
          <p:nvPr>
            <p:ph idx="1"/>
          </p:nvPr>
        </p:nvSpPr>
        <p:spPr>
          <a:xfrm>
            <a:off x="381000" y="180975"/>
            <a:ext cx="10515600" cy="5910263"/>
          </a:xfrm>
        </p:spPr>
        <p:txBody>
          <a:bodyPr>
            <a:normAutofit/>
          </a:bodyPr>
          <a:lstStyle/>
          <a:p>
            <a:r>
              <a:rPr lang="en-IN" b="1" dirty="0"/>
              <a:t>Example 3: </a:t>
            </a:r>
            <a:r>
              <a:rPr lang="en-IN" dirty="0"/>
              <a:t>By setting the </a:t>
            </a:r>
            <a:r>
              <a:rPr lang="en-IN" dirty="0" err="1"/>
              <a:t>center</a:t>
            </a:r>
            <a:r>
              <a:rPr lang="en-IN" dirty="0"/>
              <a:t> parameter, we ensure that a specific value (such as the mean or median) appears neutral in the colormap. This adjustment makes deviations above and below this value more distinguishable.</a:t>
            </a:r>
          </a:p>
          <a:p>
            <a:r>
              <a:rPr lang="en-IN" dirty="0"/>
              <a:t>import </a:t>
            </a:r>
            <a:r>
              <a:rPr lang="en-IN" dirty="0" err="1"/>
              <a:t>numpy</a:t>
            </a:r>
            <a:r>
              <a:rPr lang="en-IN" dirty="0"/>
              <a:t> as np</a:t>
            </a:r>
          </a:p>
          <a:p>
            <a:r>
              <a:rPr lang="en-IN" dirty="0"/>
              <a:t>import seaborn as </a:t>
            </a:r>
            <a:r>
              <a:rPr lang="en-IN" dirty="0" err="1"/>
              <a:t>sns</a:t>
            </a:r>
            <a:endParaRPr lang="en-IN" dirty="0"/>
          </a:p>
          <a:p>
            <a:r>
              <a:rPr lang="en-IN" dirty="0"/>
              <a:t>import </a:t>
            </a:r>
            <a:r>
              <a:rPr lang="en-IN" dirty="0" err="1"/>
              <a:t>matplotlib.pyplot</a:t>
            </a:r>
            <a:r>
              <a:rPr lang="en-IN" dirty="0"/>
              <a:t> as </a:t>
            </a:r>
            <a:r>
              <a:rPr lang="en-IN" dirty="0" err="1"/>
              <a:t>plt</a:t>
            </a:r>
            <a:endParaRPr lang="en-IN" dirty="0"/>
          </a:p>
          <a:p>
            <a:r>
              <a:rPr lang="en-IN" dirty="0"/>
              <a:t>data = </a:t>
            </a:r>
            <a:r>
              <a:rPr lang="en-IN" dirty="0" err="1"/>
              <a:t>np.random.randint</a:t>
            </a:r>
            <a:r>
              <a:rPr lang="en-IN" dirty="0"/>
              <a:t>(1, 100, (10, 10))</a:t>
            </a:r>
          </a:p>
          <a:p>
            <a:r>
              <a:rPr lang="en-IN" dirty="0" err="1"/>
              <a:t>sns.heatmap</a:t>
            </a:r>
            <a:r>
              <a:rPr lang="en-IN" dirty="0"/>
              <a:t>(data, </a:t>
            </a:r>
            <a:r>
              <a:rPr lang="en-IN" dirty="0" err="1"/>
              <a:t>cmap</a:t>
            </a:r>
            <a:r>
              <a:rPr lang="en-IN" dirty="0"/>
              <a:t>='</a:t>
            </a:r>
            <a:r>
              <a:rPr lang="en-IN" dirty="0" err="1"/>
              <a:t>coolwarm</a:t>
            </a:r>
            <a:r>
              <a:rPr lang="en-IN" dirty="0"/>
              <a:t>', </a:t>
            </a:r>
            <a:r>
              <a:rPr lang="en-IN" dirty="0" err="1"/>
              <a:t>center</a:t>
            </a:r>
            <a:r>
              <a:rPr lang="en-IN" dirty="0"/>
              <a:t>=50)</a:t>
            </a:r>
          </a:p>
          <a:p>
            <a:r>
              <a:rPr lang="en-IN" dirty="0" err="1"/>
              <a:t>plt.show</a:t>
            </a:r>
            <a:r>
              <a:rPr lang="en-IN" dirty="0"/>
              <a:t>()</a:t>
            </a:r>
          </a:p>
          <a:p>
            <a:r>
              <a:rPr lang="en-US" dirty="0"/>
              <a:t>Th</a:t>
            </a:r>
            <a:r>
              <a:rPr lang="en-US" b="1" dirty="0"/>
              <a:t>e center=50 parameter</a:t>
            </a:r>
            <a:r>
              <a:rPr lang="en-US" dirty="0"/>
              <a:t> sets 50 as a neutral color. Values above it are shaded in one color (e.g., red) and below in another (e.g., blue), making it useful for highlighting deviations from a reference point.</a:t>
            </a:r>
            <a:endParaRPr lang="en-IN" dirty="0"/>
          </a:p>
        </p:txBody>
      </p:sp>
      <p:pic>
        <p:nvPicPr>
          <p:cNvPr id="3076" name="Picture 4" descr="output">
            <a:extLst>
              <a:ext uri="{FF2B5EF4-FFF2-40B4-BE49-F238E27FC236}">
                <a16:creationId xmlns:a16="http://schemas.microsoft.com/office/drawing/2014/main" id="{02BF6EE3-460C-BAD1-C939-3BFDE10B12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9113" y="2381250"/>
            <a:ext cx="2428875" cy="196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536204"/>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7DD50-7A85-02F5-2323-A015F1638100}"/>
              </a:ext>
            </a:extLst>
          </p:cNvPr>
          <p:cNvSpPr>
            <a:spLocks noGrp="1"/>
          </p:cNvSpPr>
          <p:nvPr>
            <p:ph type="title"/>
          </p:nvPr>
        </p:nvSpPr>
        <p:spPr>
          <a:xfrm>
            <a:off x="838200" y="365126"/>
            <a:ext cx="10515600" cy="596900"/>
          </a:xfrm>
        </p:spPr>
        <p:txBody>
          <a:bodyPr>
            <a:normAutofit/>
          </a:bodyPr>
          <a:lstStyle/>
          <a:p>
            <a:r>
              <a:rPr lang="en-US" dirty="0" err="1"/>
              <a:t>Corelation</a:t>
            </a:r>
            <a:r>
              <a:rPr lang="en-US" dirty="0"/>
              <a:t>:</a:t>
            </a:r>
            <a:endParaRPr lang="en-IN" dirty="0"/>
          </a:p>
        </p:txBody>
      </p:sp>
      <p:sp>
        <p:nvSpPr>
          <p:cNvPr id="3" name="Content Placeholder 2">
            <a:extLst>
              <a:ext uri="{FF2B5EF4-FFF2-40B4-BE49-F238E27FC236}">
                <a16:creationId xmlns:a16="http://schemas.microsoft.com/office/drawing/2014/main" id="{92BC2EE1-2241-43C8-A3BD-A7BBF22557AC}"/>
              </a:ext>
            </a:extLst>
          </p:cNvPr>
          <p:cNvSpPr>
            <a:spLocks noGrp="1"/>
          </p:cNvSpPr>
          <p:nvPr>
            <p:ph idx="1"/>
          </p:nvPr>
        </p:nvSpPr>
        <p:spPr>
          <a:xfrm>
            <a:off x="838200" y="962026"/>
            <a:ext cx="10515600" cy="5214937"/>
          </a:xfrm>
        </p:spPr>
        <p:txBody>
          <a:bodyPr>
            <a:normAutofit/>
          </a:bodyPr>
          <a:lstStyle/>
          <a:p>
            <a:pPr fontAlgn="base"/>
            <a:r>
              <a:rPr lang="en-US" sz="2400" dirty="0"/>
              <a:t>Correlation is one of the most commonly used statistical measures to understand how variables are related to each other. In Python, correlation helps identify whether two variables move together, move in opposite directions or have no relationship at all.</a:t>
            </a:r>
          </a:p>
          <a:p>
            <a:pPr fontAlgn="base"/>
            <a:r>
              <a:rPr lang="en-US" sz="2400" dirty="0"/>
              <a:t>Helps understand data relationships.</a:t>
            </a:r>
          </a:p>
          <a:p>
            <a:pPr fontAlgn="base"/>
            <a:r>
              <a:rPr lang="en-US" sz="2400" dirty="0"/>
              <a:t>Useful in feature selection for ML models.</a:t>
            </a:r>
          </a:p>
          <a:p>
            <a:pPr fontAlgn="base"/>
            <a:r>
              <a:rPr lang="en-US" sz="2400" dirty="0"/>
              <a:t>Detects multicollinearity.</a:t>
            </a:r>
          </a:p>
          <a:p>
            <a:pPr fontAlgn="base"/>
            <a:r>
              <a:rPr lang="en-US" sz="2400" dirty="0"/>
              <a:t>Supports better decision-making.</a:t>
            </a:r>
          </a:p>
          <a:p>
            <a:endParaRPr lang="en-IN" sz="2400" dirty="0"/>
          </a:p>
        </p:txBody>
      </p:sp>
      <p:pic>
        <p:nvPicPr>
          <p:cNvPr id="5" name="Picture 4">
            <a:extLst>
              <a:ext uri="{FF2B5EF4-FFF2-40B4-BE49-F238E27FC236}">
                <a16:creationId xmlns:a16="http://schemas.microsoft.com/office/drawing/2014/main" id="{4E39CB4A-AFB0-4BC5-75B8-28FEC829E3A3}"/>
              </a:ext>
            </a:extLst>
          </p:cNvPr>
          <p:cNvPicPr>
            <a:picLocks noChangeAspect="1"/>
          </p:cNvPicPr>
          <p:nvPr/>
        </p:nvPicPr>
        <p:blipFill>
          <a:blip r:embed="rId3"/>
          <a:stretch>
            <a:fillRect/>
          </a:stretch>
        </p:blipFill>
        <p:spPr>
          <a:xfrm>
            <a:off x="6562725" y="2285999"/>
            <a:ext cx="6000750" cy="3810000"/>
          </a:xfrm>
          <a:prstGeom prst="rect">
            <a:avLst/>
          </a:prstGeom>
        </p:spPr>
      </p:pic>
    </p:spTree>
    <p:extLst>
      <p:ext uri="{BB962C8B-B14F-4D97-AF65-F5344CB8AC3E}">
        <p14:creationId xmlns:p14="http://schemas.microsoft.com/office/powerpoint/2010/main" val="2403018007"/>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E0DCA9-FEB8-49C7-6C94-0B2A76EE39E2}"/>
              </a:ext>
            </a:extLst>
          </p:cNvPr>
          <p:cNvSpPr>
            <a:spLocks noGrp="1"/>
          </p:cNvSpPr>
          <p:nvPr>
            <p:ph idx="1"/>
          </p:nvPr>
        </p:nvSpPr>
        <p:spPr>
          <a:xfrm>
            <a:off x="838200" y="190500"/>
            <a:ext cx="10515600" cy="5986463"/>
          </a:xfrm>
        </p:spPr>
        <p:txBody>
          <a:bodyPr>
            <a:normAutofit fontScale="70000" lnSpcReduction="20000"/>
          </a:bodyPr>
          <a:lstStyle/>
          <a:p>
            <a:pPr fontAlgn="base"/>
            <a:r>
              <a:rPr lang="en-US" dirty="0"/>
              <a:t>Correlation measures the strength and direction of the relationship between two numerical variables. Value ranges from -1 to +1</a:t>
            </a:r>
          </a:p>
          <a:p>
            <a:pPr fontAlgn="base"/>
            <a:r>
              <a:rPr lang="en-US" b="1" dirty="0"/>
              <a:t>+1: </a:t>
            </a:r>
            <a:r>
              <a:rPr lang="en-US" dirty="0"/>
              <a:t>Perfect positive relationship. That means both variables increase or decrease together. </a:t>
            </a:r>
            <a:r>
              <a:rPr lang="en-US" b="1" dirty="0"/>
              <a:t>Example</a:t>
            </a:r>
            <a:r>
              <a:rPr lang="en-US" dirty="0"/>
              <a:t>: Height and weight</a:t>
            </a:r>
          </a:p>
          <a:p>
            <a:pPr fontAlgn="base"/>
            <a:r>
              <a:rPr lang="en-US" b="1" dirty="0"/>
              <a:t>-1:</a:t>
            </a:r>
            <a:r>
              <a:rPr lang="en-US" dirty="0"/>
              <a:t> Perfect negative relationship meaning one variable increases while the other decreases. </a:t>
            </a:r>
            <a:r>
              <a:rPr lang="en-US" b="1" dirty="0"/>
              <a:t>Example:</a:t>
            </a:r>
            <a:r>
              <a:rPr lang="en-US" dirty="0"/>
              <a:t> Price and demand</a:t>
            </a:r>
          </a:p>
          <a:p>
            <a:pPr fontAlgn="base"/>
            <a:r>
              <a:rPr lang="en-US" b="1" dirty="0"/>
              <a:t>0</a:t>
            </a:r>
            <a:r>
              <a:rPr lang="en-US" dirty="0"/>
              <a:t>: No relationship or no correlation means no visible relationship between variables. </a:t>
            </a:r>
            <a:r>
              <a:rPr lang="en-US" b="1" dirty="0"/>
              <a:t>Example:</a:t>
            </a:r>
            <a:r>
              <a:rPr lang="en-US" dirty="0"/>
              <a:t> Shoe size and exam marks</a:t>
            </a:r>
          </a:p>
          <a:p>
            <a:pPr marL="0" indent="0" fontAlgn="base">
              <a:buNone/>
            </a:pPr>
            <a:r>
              <a:rPr lang="en-US" b="1" dirty="0"/>
              <a:t>Common Correlation Methods in Python</a:t>
            </a:r>
          </a:p>
          <a:p>
            <a:pPr marL="0" indent="0" fontAlgn="base">
              <a:buNone/>
            </a:pPr>
            <a:r>
              <a:rPr lang="en-US" b="1" dirty="0"/>
              <a:t>1. Pearson Correlation</a:t>
            </a:r>
          </a:p>
          <a:p>
            <a:pPr fontAlgn="base"/>
            <a:r>
              <a:rPr lang="en-US" u="sng" dirty="0">
                <a:hlinkClick r:id="rId3"/>
              </a:rPr>
              <a:t>Pearson Correlation</a:t>
            </a:r>
            <a:r>
              <a:rPr lang="en-US" dirty="0"/>
              <a:t> measures linear relationship between two continuous variables.</a:t>
            </a:r>
          </a:p>
          <a:p>
            <a:pPr fontAlgn="base"/>
            <a:r>
              <a:rPr lang="en-US" dirty="0"/>
              <a:t>Range: -1 to +1</a:t>
            </a:r>
          </a:p>
          <a:p>
            <a:pPr fontAlgn="base"/>
            <a:r>
              <a:rPr lang="en-US" dirty="0"/>
              <a:t>Assumes normally distributed data</a:t>
            </a:r>
          </a:p>
          <a:p>
            <a:pPr fontAlgn="base"/>
            <a:r>
              <a:rPr lang="en-US" b="1" dirty="0"/>
              <a:t>2. Spearman Correlation</a:t>
            </a:r>
          </a:p>
          <a:p>
            <a:pPr fontAlgn="base"/>
            <a:r>
              <a:rPr lang="en-US" u="sng" dirty="0">
                <a:hlinkClick r:id="rId4"/>
              </a:rPr>
              <a:t>Spearman Correlation</a:t>
            </a:r>
            <a:r>
              <a:rPr lang="en-US" dirty="0"/>
              <a:t> measures monotonic relationship using ranks.</a:t>
            </a:r>
          </a:p>
          <a:p>
            <a:pPr fontAlgn="base"/>
            <a:r>
              <a:rPr lang="en-US" dirty="0"/>
              <a:t>Works with non-linear data</a:t>
            </a:r>
          </a:p>
          <a:p>
            <a:pPr fontAlgn="base"/>
            <a:r>
              <a:rPr lang="en-US" dirty="0"/>
              <a:t>Suitable for ordinal data</a:t>
            </a:r>
          </a:p>
          <a:p>
            <a:pPr fontAlgn="base"/>
            <a:r>
              <a:rPr lang="en-US" b="1" dirty="0"/>
              <a:t>3. Kendall Correlation</a:t>
            </a:r>
          </a:p>
          <a:p>
            <a:pPr fontAlgn="base"/>
            <a:r>
              <a:rPr lang="en-US" u="sng" dirty="0">
                <a:hlinkClick r:id="rId5"/>
              </a:rPr>
              <a:t>Kendall Correlation</a:t>
            </a:r>
            <a:r>
              <a:rPr lang="en-US" dirty="0"/>
              <a:t> measures rank consistency between variables.</a:t>
            </a:r>
          </a:p>
          <a:p>
            <a:pPr fontAlgn="base"/>
            <a:r>
              <a:rPr lang="en-US" dirty="0"/>
              <a:t>More robust for small datasets</a:t>
            </a:r>
          </a:p>
          <a:p>
            <a:pPr fontAlgn="base"/>
            <a:endParaRPr lang="en-US" dirty="0"/>
          </a:p>
          <a:p>
            <a:endParaRPr lang="en-IN" dirty="0"/>
          </a:p>
        </p:txBody>
      </p:sp>
    </p:spTree>
    <p:extLst>
      <p:ext uri="{BB962C8B-B14F-4D97-AF65-F5344CB8AC3E}">
        <p14:creationId xmlns:p14="http://schemas.microsoft.com/office/powerpoint/2010/main" val="210023555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105521-5937-9462-6B47-ADA1AEC69901}"/>
              </a:ext>
            </a:extLst>
          </p:cNvPr>
          <p:cNvSpPr>
            <a:spLocks noGrp="1"/>
          </p:cNvSpPr>
          <p:nvPr>
            <p:ph idx="1"/>
          </p:nvPr>
        </p:nvSpPr>
        <p:spPr>
          <a:xfrm>
            <a:off x="838200" y="352425"/>
            <a:ext cx="10515600" cy="5824538"/>
          </a:xfrm>
        </p:spPr>
        <p:txBody>
          <a:bodyPr>
            <a:normAutofit/>
          </a:bodyPr>
          <a:lstStyle/>
          <a:p>
            <a:pPr fontAlgn="base"/>
            <a:r>
              <a:rPr lang="en-US" dirty="0"/>
              <a:t>Syntax:  </a:t>
            </a:r>
          </a:p>
          <a:p>
            <a:pPr marL="0" indent="0" fontAlgn="base">
              <a:buNone/>
            </a:pPr>
            <a:r>
              <a:rPr lang="en-US" dirty="0"/>
              <a:t>var = </a:t>
            </a:r>
            <a:r>
              <a:rPr lang="en-US" dirty="0" err="1"/>
              <a:t>df.corr</a:t>
            </a:r>
            <a:r>
              <a:rPr lang="en-US" dirty="0"/>
              <a:t>(method='</a:t>
            </a:r>
            <a:r>
              <a:rPr lang="en-US" dirty="0" err="1"/>
              <a:t>pearson</a:t>
            </a:r>
            <a:r>
              <a:rPr lang="en-US" dirty="0"/>
              <a:t>’)  #here method may be any one of  </a:t>
            </a:r>
            <a:r>
              <a:rPr lang="en-US" dirty="0" err="1"/>
              <a:t>corelations</a:t>
            </a:r>
            <a:r>
              <a:rPr lang="en-US" dirty="0"/>
              <a:t> in python  </a:t>
            </a:r>
          </a:p>
          <a:p>
            <a:pPr marL="0" indent="0" fontAlgn="base">
              <a:buNone/>
            </a:pPr>
            <a:r>
              <a:rPr lang="en-US" dirty="0"/>
              <a:t>print(var)     </a:t>
            </a:r>
          </a:p>
          <a:p>
            <a:pPr fontAlgn="base"/>
            <a:r>
              <a:rPr lang="en-US" b="1" dirty="0"/>
              <a:t>Limitations of Correlation</a:t>
            </a:r>
          </a:p>
          <a:p>
            <a:pPr fontAlgn="base"/>
            <a:r>
              <a:rPr lang="en-US" dirty="0"/>
              <a:t>Only measures association</a:t>
            </a:r>
          </a:p>
          <a:p>
            <a:pPr fontAlgn="base"/>
            <a:r>
              <a:rPr lang="en-US" dirty="0"/>
              <a:t>Sensitive to outliers</a:t>
            </a:r>
          </a:p>
          <a:p>
            <a:pPr fontAlgn="base"/>
            <a:r>
              <a:rPr lang="en-US" b="1" dirty="0"/>
              <a:t>Applications of Correlation</a:t>
            </a:r>
          </a:p>
          <a:p>
            <a:pPr fontAlgn="base"/>
            <a:r>
              <a:rPr lang="en-US" dirty="0"/>
              <a:t>Feature selection in machine learning</a:t>
            </a:r>
          </a:p>
          <a:p>
            <a:pPr fontAlgn="base"/>
            <a:r>
              <a:rPr lang="en-US" dirty="0"/>
              <a:t>Financial market analysis</a:t>
            </a:r>
          </a:p>
          <a:p>
            <a:pPr fontAlgn="base"/>
            <a:r>
              <a:rPr lang="en-US" dirty="0"/>
              <a:t>Medical research</a:t>
            </a:r>
          </a:p>
          <a:p>
            <a:pPr fontAlgn="base"/>
            <a:r>
              <a:rPr lang="en-US" dirty="0"/>
              <a:t>Recommendation systems</a:t>
            </a:r>
          </a:p>
          <a:p>
            <a:endParaRPr lang="en-IN" dirty="0"/>
          </a:p>
        </p:txBody>
      </p:sp>
    </p:spTree>
    <p:extLst>
      <p:ext uri="{BB962C8B-B14F-4D97-AF65-F5344CB8AC3E}">
        <p14:creationId xmlns:p14="http://schemas.microsoft.com/office/powerpoint/2010/main" val="2497787220"/>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F8BDB-141F-8C4D-1CE3-1314D42FA695}"/>
              </a:ext>
            </a:extLst>
          </p:cNvPr>
          <p:cNvSpPr>
            <a:spLocks noGrp="1"/>
          </p:cNvSpPr>
          <p:nvPr>
            <p:ph type="title"/>
          </p:nvPr>
        </p:nvSpPr>
        <p:spPr>
          <a:xfrm>
            <a:off x="838200" y="681036"/>
            <a:ext cx="10515600" cy="204789"/>
          </a:xfrm>
        </p:spPr>
        <p:txBody>
          <a:bodyPr>
            <a:normAutofit fontScale="90000"/>
          </a:bodyPr>
          <a:lstStyle/>
          <a:p>
            <a:r>
              <a:rPr lang="en-IN" b="1" dirty="0"/>
              <a:t>Interpreting Correlation Values</a:t>
            </a:r>
            <a:br>
              <a:rPr lang="en-IN" b="1" dirty="0"/>
            </a:br>
            <a:endParaRPr lang="en-IN" dirty="0"/>
          </a:p>
        </p:txBody>
      </p:sp>
      <p:graphicFrame>
        <p:nvGraphicFramePr>
          <p:cNvPr id="4" name="Content Placeholder 3">
            <a:extLst>
              <a:ext uri="{FF2B5EF4-FFF2-40B4-BE49-F238E27FC236}">
                <a16:creationId xmlns:a16="http://schemas.microsoft.com/office/drawing/2014/main" id="{018244A6-2493-11DD-4B7F-4F11121D9FAC}"/>
              </a:ext>
            </a:extLst>
          </p:cNvPr>
          <p:cNvGraphicFramePr>
            <a:graphicFrameLocks noGrp="1"/>
          </p:cNvGraphicFramePr>
          <p:nvPr>
            <p:ph idx="1"/>
            <p:extLst>
              <p:ext uri="{D42A27DB-BD31-4B8C-83A1-F6EECF244321}">
                <p14:modId xmlns:p14="http://schemas.microsoft.com/office/powerpoint/2010/main" val="2669122316"/>
              </p:ext>
            </p:extLst>
          </p:nvPr>
        </p:nvGraphicFramePr>
        <p:xfrm>
          <a:off x="838200" y="1704974"/>
          <a:ext cx="10515600" cy="4886323"/>
        </p:xfrm>
        <a:graphic>
          <a:graphicData uri="http://schemas.openxmlformats.org/drawingml/2006/table">
            <a:tbl>
              <a:tblPr/>
              <a:tblGrid>
                <a:gridCol w="3823855">
                  <a:extLst>
                    <a:ext uri="{9D8B030D-6E8A-4147-A177-3AD203B41FA5}">
                      <a16:colId xmlns:a16="http://schemas.microsoft.com/office/drawing/2014/main" val="1300081406"/>
                    </a:ext>
                  </a:extLst>
                </a:gridCol>
                <a:gridCol w="6691745">
                  <a:extLst>
                    <a:ext uri="{9D8B030D-6E8A-4147-A177-3AD203B41FA5}">
                      <a16:colId xmlns:a16="http://schemas.microsoft.com/office/drawing/2014/main" val="1570021467"/>
                    </a:ext>
                  </a:extLst>
                </a:gridCol>
              </a:tblGrid>
              <a:tr h="559770">
                <a:tc>
                  <a:txBody>
                    <a:bodyPr/>
                    <a:lstStyle/>
                    <a:p>
                      <a:pPr algn="ctr" fontAlgn="base">
                        <a:buNone/>
                      </a:pPr>
                      <a:r>
                        <a:rPr lang="en-IN" sz="1400" b="1">
                          <a:effectLst/>
                          <a:latin typeface="Nunito" pitchFamily="2" charset="0"/>
                        </a:rPr>
                        <a:t>Correlation Value</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IN" sz="1400" b="1">
                          <a:effectLst/>
                          <a:latin typeface="Nunito" pitchFamily="2" charset="0"/>
                        </a:rPr>
                        <a:t>Meaning</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921783339"/>
                  </a:ext>
                </a:extLst>
              </a:tr>
              <a:tr h="618079">
                <a:tc>
                  <a:txBody>
                    <a:bodyPr/>
                    <a:lstStyle/>
                    <a:p>
                      <a:pPr algn="ctr" fontAlgn="base">
                        <a:buNone/>
                      </a:pPr>
                      <a:r>
                        <a:rPr lang="en-IN" b="1">
                          <a:effectLst/>
                          <a:latin typeface="Nunito" pitchFamily="2" charset="0"/>
                        </a:rPr>
                        <a:t>0.8 to 1.0</a:t>
                      </a:r>
                    </a:p>
                  </a:txBody>
                  <a:tcPr marL="38100" marR="38100" marT="24765" marB="2476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IN" sz="1250" b="0">
                          <a:effectLst/>
                          <a:latin typeface="Nunito" pitchFamily="2" charset="0"/>
                        </a:rPr>
                        <a:t>Strong positive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96697272"/>
                  </a:ext>
                </a:extLst>
              </a:tr>
              <a:tr h="618079">
                <a:tc>
                  <a:txBody>
                    <a:bodyPr/>
                    <a:lstStyle/>
                    <a:p>
                      <a:pPr algn="ctr" fontAlgn="base">
                        <a:buNone/>
                      </a:pPr>
                      <a:r>
                        <a:rPr lang="en-IN" b="1">
                          <a:effectLst/>
                          <a:latin typeface="Nunito" pitchFamily="2" charset="0"/>
                        </a:rPr>
                        <a:t>0.5 to 0.8</a:t>
                      </a:r>
                    </a:p>
                  </a:txBody>
                  <a:tcPr marL="38100" marR="38100" marT="24765" marB="2476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IN" sz="1250" b="0" dirty="0">
                          <a:effectLst/>
                          <a:latin typeface="Nunito" pitchFamily="2" charset="0"/>
                        </a:rPr>
                        <a:t>Moderate positive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06108983"/>
                  </a:ext>
                </a:extLst>
              </a:tr>
              <a:tr h="618079">
                <a:tc>
                  <a:txBody>
                    <a:bodyPr/>
                    <a:lstStyle/>
                    <a:p>
                      <a:pPr algn="ctr" fontAlgn="base">
                        <a:buNone/>
                      </a:pPr>
                      <a:r>
                        <a:rPr lang="en-IN" b="1">
                          <a:effectLst/>
                          <a:latin typeface="Nunito" pitchFamily="2" charset="0"/>
                        </a:rPr>
                        <a:t>0.0 to 0.5</a:t>
                      </a:r>
                    </a:p>
                  </a:txBody>
                  <a:tcPr marL="38100" marR="38100" marT="24765" marB="2476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IN" sz="1250" b="0">
                          <a:effectLst/>
                          <a:latin typeface="Nunito" pitchFamily="2" charset="0"/>
                        </a:rPr>
                        <a:t>Weak positive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06596085"/>
                  </a:ext>
                </a:extLst>
              </a:tr>
              <a:tr h="618079">
                <a:tc>
                  <a:txBody>
                    <a:bodyPr/>
                    <a:lstStyle/>
                    <a:p>
                      <a:pPr algn="ctr" fontAlgn="base">
                        <a:buNone/>
                      </a:pPr>
                      <a:r>
                        <a:rPr lang="en-IN" b="1">
                          <a:effectLst/>
                          <a:latin typeface="Nunito" pitchFamily="2" charset="0"/>
                        </a:rPr>
                        <a:t>0</a:t>
                      </a:r>
                    </a:p>
                  </a:txBody>
                  <a:tcPr marL="38100" marR="38100" marT="24765" marB="2476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IN" sz="1250" b="0">
                          <a:effectLst/>
                          <a:latin typeface="Nunito" pitchFamily="2" charset="0"/>
                        </a:rPr>
                        <a:t>No correlation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77372622"/>
                  </a:ext>
                </a:extLst>
              </a:tr>
              <a:tr h="618079">
                <a:tc>
                  <a:txBody>
                    <a:bodyPr/>
                    <a:lstStyle/>
                    <a:p>
                      <a:pPr algn="ctr" fontAlgn="base">
                        <a:buNone/>
                      </a:pPr>
                      <a:r>
                        <a:rPr lang="en-IN" b="1">
                          <a:effectLst/>
                          <a:latin typeface="Nunito" pitchFamily="2" charset="0"/>
                        </a:rPr>
                        <a:t>-0.5 to 0</a:t>
                      </a:r>
                    </a:p>
                  </a:txBody>
                  <a:tcPr marL="38100" marR="38100" marT="24765" marB="2476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IN" sz="1250" b="0">
                          <a:effectLst/>
                          <a:latin typeface="Nunito" pitchFamily="2" charset="0"/>
                        </a:rPr>
                        <a:t>Weak negative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89828813"/>
                  </a:ext>
                </a:extLst>
              </a:tr>
              <a:tr h="618079">
                <a:tc>
                  <a:txBody>
                    <a:bodyPr/>
                    <a:lstStyle/>
                    <a:p>
                      <a:pPr algn="ctr" fontAlgn="base">
                        <a:buNone/>
                      </a:pPr>
                      <a:r>
                        <a:rPr lang="en-IN" b="1">
                          <a:effectLst/>
                          <a:latin typeface="Nunito" pitchFamily="2" charset="0"/>
                        </a:rPr>
                        <a:t>-0.8 to -0.5</a:t>
                      </a:r>
                    </a:p>
                  </a:txBody>
                  <a:tcPr marL="38100" marR="38100" marT="24765" marB="2476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IN" sz="1250" b="0">
                          <a:effectLst/>
                          <a:latin typeface="Nunito" pitchFamily="2" charset="0"/>
                        </a:rPr>
                        <a:t>Moderate negative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88721200"/>
                  </a:ext>
                </a:extLst>
              </a:tr>
              <a:tr h="618079">
                <a:tc>
                  <a:txBody>
                    <a:bodyPr/>
                    <a:lstStyle/>
                    <a:p>
                      <a:pPr algn="ctr" fontAlgn="base">
                        <a:buNone/>
                      </a:pPr>
                      <a:r>
                        <a:rPr lang="en-IN" b="1">
                          <a:effectLst/>
                          <a:latin typeface="Nunito" pitchFamily="2" charset="0"/>
                        </a:rPr>
                        <a:t>-1.0 to -0.8</a:t>
                      </a:r>
                    </a:p>
                  </a:txBody>
                  <a:tcPr marL="38100" marR="38100" marT="24765" marB="2476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IN" sz="1250" b="0" dirty="0">
                          <a:effectLst/>
                          <a:latin typeface="Nunito" pitchFamily="2" charset="0"/>
                        </a:rPr>
                        <a:t>Strong negative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034309700"/>
                  </a:ext>
                </a:extLst>
              </a:tr>
            </a:tbl>
          </a:graphicData>
        </a:graphic>
      </p:graphicFrame>
    </p:spTree>
    <p:extLst>
      <p:ext uri="{BB962C8B-B14F-4D97-AF65-F5344CB8AC3E}">
        <p14:creationId xmlns:p14="http://schemas.microsoft.com/office/powerpoint/2010/main" val="1251475102"/>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1173BD-E9EB-AB0D-0246-E5545421A5F3}"/>
              </a:ext>
            </a:extLst>
          </p:cNvPr>
          <p:cNvSpPr>
            <a:spLocks noGrp="1"/>
          </p:cNvSpPr>
          <p:nvPr>
            <p:ph idx="1"/>
          </p:nvPr>
        </p:nvSpPr>
        <p:spPr>
          <a:xfrm>
            <a:off x="1451579" y="314326"/>
            <a:ext cx="9603275" cy="5152020"/>
          </a:xfrm>
        </p:spPr>
        <p:txBody>
          <a:bodyPr>
            <a:normAutofit fontScale="85000" lnSpcReduction="20000"/>
          </a:bodyPr>
          <a:lstStyle/>
          <a:p>
            <a:r>
              <a:rPr lang="en-US" dirty="0"/>
              <a:t>Histograms: </a:t>
            </a:r>
          </a:p>
          <a:p>
            <a:r>
              <a:rPr lang="en-IN" dirty="0"/>
              <a:t>n Python, histograms are a powerful way to visualize the distribution of data. They group values into bins and show how many data points fall into each bin. </a:t>
            </a:r>
          </a:p>
          <a:p>
            <a:r>
              <a:rPr lang="en-IN" dirty="0"/>
              <a:t>import </a:t>
            </a:r>
            <a:r>
              <a:rPr lang="en-IN" dirty="0" err="1"/>
              <a:t>matplotlib.pyplot</a:t>
            </a:r>
            <a:r>
              <a:rPr lang="en-IN" dirty="0"/>
              <a:t> as </a:t>
            </a:r>
            <a:r>
              <a:rPr lang="en-IN" dirty="0" err="1"/>
              <a:t>plt</a:t>
            </a:r>
            <a:endParaRPr lang="en-IN" dirty="0"/>
          </a:p>
          <a:p>
            <a:r>
              <a:rPr lang="en-IN" dirty="0"/>
              <a:t>data = [12, 15, 20, 20, 22, 23, 25, 25, 25, 30, 32, 35, 40]</a:t>
            </a:r>
          </a:p>
          <a:p>
            <a:r>
              <a:rPr lang="en-IN" dirty="0" err="1"/>
              <a:t>plt.hist</a:t>
            </a:r>
            <a:r>
              <a:rPr lang="en-IN" dirty="0"/>
              <a:t>(data, bins=5, </a:t>
            </a:r>
            <a:r>
              <a:rPr lang="en-IN" dirty="0" err="1"/>
              <a:t>color</a:t>
            </a:r>
            <a:r>
              <a:rPr lang="en-IN" dirty="0"/>
              <a:t>='</a:t>
            </a:r>
            <a:r>
              <a:rPr lang="en-IN" dirty="0" err="1"/>
              <a:t>skyblue</a:t>
            </a:r>
            <a:r>
              <a:rPr lang="en-IN" dirty="0"/>
              <a:t>', </a:t>
            </a:r>
            <a:r>
              <a:rPr lang="en-IN" dirty="0" err="1"/>
              <a:t>edgecolor</a:t>
            </a:r>
            <a:r>
              <a:rPr lang="en-IN" dirty="0"/>
              <a:t>='black')</a:t>
            </a:r>
          </a:p>
          <a:p>
            <a:r>
              <a:rPr lang="en-IN" dirty="0" err="1"/>
              <a:t>plt.title</a:t>
            </a:r>
            <a:r>
              <a:rPr lang="en-IN" dirty="0"/>
              <a:t>("Histogram Example")</a:t>
            </a:r>
          </a:p>
          <a:p>
            <a:r>
              <a:rPr lang="en-IN" dirty="0" err="1"/>
              <a:t>plt.xlabel</a:t>
            </a:r>
            <a:r>
              <a:rPr lang="en-IN" dirty="0"/>
              <a:t>("Value Range")</a:t>
            </a:r>
          </a:p>
          <a:p>
            <a:r>
              <a:rPr lang="en-IN" dirty="0" err="1"/>
              <a:t>plt.ylabel</a:t>
            </a:r>
            <a:r>
              <a:rPr lang="en-IN" dirty="0"/>
              <a:t>("Frequency")</a:t>
            </a:r>
          </a:p>
          <a:p>
            <a:r>
              <a:rPr lang="en-IN" dirty="0" err="1"/>
              <a:t>plt.show</a:t>
            </a:r>
            <a:r>
              <a:rPr lang="en-IN" dirty="0"/>
              <a:t>()</a:t>
            </a:r>
          </a:p>
          <a:p>
            <a:r>
              <a:rPr lang="en-IN" dirty="0"/>
              <a:t>data: your dataset (list, NumPy array, etc.)</a:t>
            </a:r>
          </a:p>
          <a:p>
            <a:r>
              <a:rPr lang="en-IN" dirty="0"/>
              <a:t>bins: number of intervals (e.g., 5 bins)</a:t>
            </a:r>
          </a:p>
          <a:p>
            <a:r>
              <a:rPr lang="en-IN" dirty="0" err="1"/>
              <a:t>color</a:t>
            </a:r>
            <a:r>
              <a:rPr lang="en-IN" dirty="0"/>
              <a:t> &amp; </a:t>
            </a:r>
            <a:r>
              <a:rPr lang="en-IN" dirty="0" err="1"/>
              <a:t>edgecolor</a:t>
            </a:r>
            <a:r>
              <a:rPr lang="en-IN" dirty="0"/>
              <a:t>: styling options</a:t>
            </a:r>
          </a:p>
        </p:txBody>
      </p:sp>
      <p:sp>
        <p:nvSpPr>
          <p:cNvPr id="4" name="Rectangle 1">
            <a:extLst>
              <a:ext uri="{FF2B5EF4-FFF2-40B4-BE49-F238E27FC236}">
                <a16:creationId xmlns:a16="http://schemas.microsoft.com/office/drawing/2014/main" id="{A30A74BE-6CBD-B3A7-0125-A5951D71972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Unicode MS" panose="020B0604020202020204" pitchFamily="34" charset="-128"/>
              </a:rPr>
              <a:t>data</a:t>
            </a:r>
            <a:r>
              <a:rPr kumimoji="0" lang="en-US" altLang="en-US" sz="800" b="0" i="0" u="none" strike="noStrike" cap="none" normalizeH="0" baseline="0">
                <a:ln>
                  <a:noFill/>
                </a:ln>
                <a:solidFill>
                  <a:schemeClr val="tx1"/>
                </a:solidFill>
                <a:effectLst/>
              </a:rPr>
              <a:t>: your dataset (list, NumPy array, etc.)</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Unicode MS" panose="020B0604020202020204" pitchFamily="34" charset="-128"/>
              </a:rPr>
              <a:t>bins</a:t>
            </a:r>
            <a:r>
              <a:rPr kumimoji="0" lang="en-US" altLang="en-US" sz="800" b="0" i="0" u="none" strike="noStrike" cap="none" normalizeH="0" baseline="0">
                <a:ln>
                  <a:noFill/>
                </a:ln>
                <a:solidFill>
                  <a:schemeClr val="tx1"/>
                </a:solidFill>
                <a:effectLst/>
              </a:rPr>
              <a:t>: number of intervals (e.g., 5 bins)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Unicode MS" panose="020B0604020202020204" pitchFamily="34" charset="-128"/>
              </a:rPr>
              <a:t>color</a:t>
            </a:r>
            <a:r>
              <a:rPr kumimoji="0" lang="en-US" altLang="en-US" sz="800" b="0" i="0" u="none" strike="noStrike" cap="none" normalizeH="0" baseline="0">
                <a:ln>
                  <a:noFill/>
                </a:ln>
                <a:solidFill>
                  <a:schemeClr val="tx1"/>
                </a:solidFill>
                <a:effectLst/>
              </a:rPr>
              <a:t> &amp; </a:t>
            </a:r>
            <a:r>
              <a:rPr kumimoji="0" lang="en-US" altLang="en-US" sz="1000" b="0" i="0" u="none" strike="noStrike" cap="none" normalizeH="0" baseline="0">
                <a:ln>
                  <a:noFill/>
                </a:ln>
                <a:solidFill>
                  <a:schemeClr val="tx1"/>
                </a:solidFill>
                <a:effectLst/>
                <a:latin typeface="Arial Unicode MS" panose="020B0604020202020204" pitchFamily="34" charset="-128"/>
              </a:rPr>
              <a:t>edgecolor</a:t>
            </a:r>
            <a:r>
              <a:rPr kumimoji="0" lang="en-US" altLang="en-US" sz="800" b="0" i="0" u="none" strike="noStrike" cap="none" normalizeH="0" baseline="0">
                <a:ln>
                  <a:noFill/>
                </a:ln>
                <a:solidFill>
                  <a:schemeClr val="tx1"/>
                </a:solidFill>
                <a:effectLst/>
              </a:rPr>
              <a:t>: styling options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BC94C09-1239-EC57-EB1A-CC172B691BC8}"/>
              </a:ext>
            </a:extLst>
          </p:cNvPr>
          <p:cNvPicPr>
            <a:picLocks noChangeAspect="1"/>
          </p:cNvPicPr>
          <p:nvPr/>
        </p:nvPicPr>
        <p:blipFill>
          <a:blip r:embed="rId2"/>
          <a:stretch>
            <a:fillRect/>
          </a:stretch>
        </p:blipFill>
        <p:spPr>
          <a:xfrm>
            <a:off x="8230692" y="2657475"/>
            <a:ext cx="2824162" cy="2808871"/>
          </a:xfrm>
          <a:prstGeom prst="rect">
            <a:avLst/>
          </a:prstGeom>
        </p:spPr>
      </p:pic>
    </p:spTree>
    <p:extLst>
      <p:ext uri="{BB962C8B-B14F-4D97-AF65-F5344CB8AC3E}">
        <p14:creationId xmlns:p14="http://schemas.microsoft.com/office/powerpoint/2010/main" val="2323089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9BCE37-EA8E-CCA0-5E81-CEA09B72E1DB}"/>
              </a:ext>
            </a:extLst>
          </p:cNvPr>
          <p:cNvSpPr>
            <a:spLocks noGrp="1"/>
          </p:cNvSpPr>
          <p:nvPr>
            <p:ph idx="1"/>
          </p:nvPr>
        </p:nvSpPr>
        <p:spPr>
          <a:xfrm>
            <a:off x="838200" y="102637"/>
            <a:ext cx="10515600" cy="6074326"/>
          </a:xfrm>
        </p:spPr>
        <p:txBody>
          <a:bodyPr/>
          <a:lstStyle/>
          <a:p>
            <a:r>
              <a:rPr lang="en-US" sz="2800" dirty="0"/>
              <a:t>Violin Plot: </a:t>
            </a:r>
          </a:p>
          <a:p>
            <a:r>
              <a:rPr lang="en-US" sz="2800" b="0" i="1" dirty="0">
                <a:effectLst/>
                <a:latin typeface="Nunito" pitchFamily="2" charset="0"/>
              </a:rPr>
              <a:t>Violin plots are a combination of box plot and histograms</a:t>
            </a:r>
            <a:r>
              <a:rPr lang="en-US" sz="2800" b="0" i="0" dirty="0">
                <a:effectLst/>
                <a:latin typeface="Nunito" pitchFamily="2" charset="0"/>
              </a:rPr>
              <a:t>. It portrays the distribution, median, interquartile range of data. So we see that </a:t>
            </a:r>
            <a:r>
              <a:rPr lang="en-US" sz="2800" dirty="0">
                <a:latin typeface="Nunito" pitchFamily="2" charset="0"/>
              </a:rPr>
              <a:t>IQR</a:t>
            </a:r>
            <a:r>
              <a:rPr lang="en-US" sz="2800" b="0" i="0" dirty="0">
                <a:effectLst/>
                <a:latin typeface="Nunito" pitchFamily="2" charset="0"/>
              </a:rPr>
              <a:t> and median are the statistical information provided by box plot whereas distribution is being provided by the histogram.</a:t>
            </a:r>
          </a:p>
          <a:p>
            <a:endParaRPr lang="en-IN" dirty="0"/>
          </a:p>
        </p:txBody>
      </p:sp>
      <p:pic>
        <p:nvPicPr>
          <p:cNvPr id="5" name="Picture 4">
            <a:extLst>
              <a:ext uri="{FF2B5EF4-FFF2-40B4-BE49-F238E27FC236}">
                <a16:creationId xmlns:a16="http://schemas.microsoft.com/office/drawing/2014/main" id="{6045DDF1-F2AA-96EB-47F5-AC6811F5B3D5}"/>
              </a:ext>
            </a:extLst>
          </p:cNvPr>
          <p:cNvPicPr>
            <a:picLocks noChangeAspect="1"/>
          </p:cNvPicPr>
          <p:nvPr/>
        </p:nvPicPr>
        <p:blipFill>
          <a:blip r:embed="rId2"/>
          <a:stretch>
            <a:fillRect/>
          </a:stretch>
        </p:blipFill>
        <p:spPr>
          <a:xfrm>
            <a:off x="4605337" y="3028950"/>
            <a:ext cx="5819775" cy="3033616"/>
          </a:xfrm>
          <a:prstGeom prst="rect">
            <a:avLst/>
          </a:prstGeom>
        </p:spPr>
      </p:pic>
    </p:spTree>
    <p:extLst>
      <p:ext uri="{BB962C8B-B14F-4D97-AF65-F5344CB8AC3E}">
        <p14:creationId xmlns:p14="http://schemas.microsoft.com/office/powerpoint/2010/main" val="3730073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94DEA0-8829-24F1-3CC9-C98012F75785}"/>
              </a:ext>
            </a:extLst>
          </p:cNvPr>
          <p:cNvSpPr>
            <a:spLocks noGrp="1"/>
          </p:cNvSpPr>
          <p:nvPr>
            <p:ph idx="1"/>
          </p:nvPr>
        </p:nvSpPr>
        <p:spPr>
          <a:xfrm>
            <a:off x="838200" y="261257"/>
            <a:ext cx="10515600" cy="5915706"/>
          </a:xfrm>
        </p:spPr>
        <p:txBody>
          <a:bodyPr/>
          <a:lstStyle/>
          <a:p>
            <a:pPr algn="l" fontAlgn="base">
              <a:buFont typeface="Arial" panose="020B0604020202020204" pitchFamily="34" charset="0"/>
              <a:buChar char="•"/>
            </a:pPr>
            <a:r>
              <a:rPr lang="en-US" b="0" i="0" dirty="0">
                <a:solidFill>
                  <a:srgbClr val="273239"/>
                </a:solidFill>
                <a:effectLst/>
                <a:latin typeface="Nunito" pitchFamily="2" charset="0"/>
              </a:rPr>
              <a:t>The white dot refers to the median.</a:t>
            </a:r>
          </a:p>
          <a:p>
            <a:pPr algn="l" fontAlgn="base">
              <a:buFont typeface="Arial" panose="020B0604020202020204" pitchFamily="34" charset="0"/>
              <a:buChar char="•"/>
            </a:pPr>
            <a:r>
              <a:rPr lang="en-US" b="0" i="0" dirty="0">
                <a:solidFill>
                  <a:srgbClr val="273239"/>
                </a:solidFill>
                <a:effectLst/>
                <a:latin typeface="Nunito" pitchFamily="2" charset="0"/>
              </a:rPr>
              <a:t>The end points of the bold line represent the iqr1 and iqr3.</a:t>
            </a:r>
          </a:p>
          <a:p>
            <a:pPr algn="l" fontAlgn="base">
              <a:buFont typeface="Arial" panose="020B0604020202020204" pitchFamily="34" charset="0"/>
              <a:buChar char="•"/>
            </a:pPr>
            <a:r>
              <a:rPr lang="en-US" b="0" i="0" dirty="0">
                <a:solidFill>
                  <a:srgbClr val="273239"/>
                </a:solidFill>
                <a:effectLst/>
                <a:latin typeface="Nunito" pitchFamily="2" charset="0"/>
              </a:rPr>
              <a:t>The end points of the thin line represent the min and max similar to the box plot.</a:t>
            </a:r>
          </a:p>
          <a:p>
            <a:pPr algn="l" fontAlgn="base">
              <a:buFont typeface="Arial" panose="020B0604020202020204" pitchFamily="34" charset="0"/>
              <a:buChar char="•"/>
            </a:pPr>
            <a:r>
              <a:rPr lang="en-US" b="0" i="0" dirty="0">
                <a:solidFill>
                  <a:srgbClr val="273239"/>
                </a:solidFill>
                <a:effectLst/>
                <a:latin typeface="Nunito" pitchFamily="2" charset="0"/>
              </a:rPr>
              <a:t>The distribution above 1.5x interquartile(min, max end points of the thin line) denotes the presence of outliers.</a:t>
            </a:r>
          </a:p>
          <a:p>
            <a:r>
              <a:rPr lang="en-IN" b="1" i="1" dirty="0">
                <a:solidFill>
                  <a:srgbClr val="273239"/>
                </a:solidFill>
                <a:effectLst/>
                <a:latin typeface="Nunito" pitchFamily="2" charset="0"/>
              </a:rPr>
              <a:t>Syntax:</a:t>
            </a:r>
            <a:r>
              <a:rPr lang="en-IN" b="0" i="1" dirty="0">
                <a:solidFill>
                  <a:srgbClr val="273239"/>
                </a:solidFill>
                <a:effectLst/>
                <a:latin typeface="Nunito" pitchFamily="2" charset="0"/>
              </a:rPr>
              <a:t> </a:t>
            </a:r>
            <a:r>
              <a:rPr lang="en-IN" b="0" i="1" dirty="0" err="1">
                <a:solidFill>
                  <a:srgbClr val="273239"/>
                </a:solidFill>
                <a:effectLst/>
                <a:latin typeface="Nunito" pitchFamily="2" charset="0"/>
              </a:rPr>
              <a:t>violinplot</a:t>
            </a:r>
            <a:r>
              <a:rPr lang="en-IN" b="0" i="1" dirty="0">
                <a:solidFill>
                  <a:srgbClr val="273239"/>
                </a:solidFill>
                <a:effectLst/>
                <a:latin typeface="Nunito" pitchFamily="2" charset="0"/>
              </a:rPr>
              <a:t>(dataset, positions=None, vert=True, widths=0.5, </a:t>
            </a:r>
            <a:r>
              <a:rPr lang="en-IN" b="0" i="1" dirty="0" err="1">
                <a:solidFill>
                  <a:srgbClr val="273239"/>
                </a:solidFill>
                <a:effectLst/>
                <a:latin typeface="Nunito" pitchFamily="2" charset="0"/>
              </a:rPr>
              <a:t>showmeans</a:t>
            </a:r>
            <a:r>
              <a:rPr lang="en-IN" b="0" i="1" dirty="0">
                <a:solidFill>
                  <a:srgbClr val="273239"/>
                </a:solidFill>
                <a:effectLst/>
                <a:latin typeface="Nunito" pitchFamily="2" charset="0"/>
              </a:rPr>
              <a:t>=False, </a:t>
            </a:r>
            <a:r>
              <a:rPr lang="en-IN" b="0" i="1" dirty="0" err="1">
                <a:solidFill>
                  <a:srgbClr val="273239"/>
                </a:solidFill>
                <a:effectLst/>
                <a:latin typeface="Nunito" pitchFamily="2" charset="0"/>
              </a:rPr>
              <a:t>showextrema</a:t>
            </a:r>
            <a:r>
              <a:rPr lang="en-IN" b="0" i="1" dirty="0">
                <a:solidFill>
                  <a:srgbClr val="273239"/>
                </a:solidFill>
                <a:effectLst/>
                <a:latin typeface="Nunito" pitchFamily="2" charset="0"/>
              </a:rPr>
              <a:t>=True, </a:t>
            </a:r>
            <a:r>
              <a:rPr lang="en-IN" b="0" i="1" dirty="0" err="1">
                <a:solidFill>
                  <a:srgbClr val="273239"/>
                </a:solidFill>
                <a:effectLst/>
                <a:latin typeface="Nunito" pitchFamily="2" charset="0"/>
              </a:rPr>
              <a:t>showmedians</a:t>
            </a:r>
            <a:r>
              <a:rPr lang="en-IN" b="0" i="1" dirty="0">
                <a:solidFill>
                  <a:srgbClr val="273239"/>
                </a:solidFill>
                <a:effectLst/>
                <a:latin typeface="Nunito" pitchFamily="2" charset="0"/>
              </a:rPr>
              <a:t>=False, quantiles=None, points=100,</a:t>
            </a:r>
            <a:br>
              <a:rPr lang="en-IN" dirty="0"/>
            </a:br>
            <a:r>
              <a:rPr lang="en-IN" b="0" i="1" dirty="0" err="1">
                <a:solidFill>
                  <a:srgbClr val="273239"/>
                </a:solidFill>
                <a:effectLst/>
                <a:latin typeface="Nunito" pitchFamily="2" charset="0"/>
              </a:rPr>
              <a:t>bw_method</a:t>
            </a:r>
            <a:r>
              <a:rPr lang="en-IN" b="0" i="1" dirty="0">
                <a:solidFill>
                  <a:srgbClr val="273239"/>
                </a:solidFill>
                <a:effectLst/>
                <a:latin typeface="Nunito" pitchFamily="2" charset="0"/>
              </a:rPr>
              <a:t>=None, *, data=None)</a:t>
            </a:r>
            <a:endParaRPr lang="en-IN" dirty="0"/>
          </a:p>
        </p:txBody>
      </p:sp>
    </p:spTree>
    <p:extLst>
      <p:ext uri="{BB962C8B-B14F-4D97-AF65-F5344CB8AC3E}">
        <p14:creationId xmlns:p14="http://schemas.microsoft.com/office/powerpoint/2010/main" val="2253539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Gill Sans MT"/>
                <a:ea typeface="+mn-ea"/>
                <a:cs typeface="+mn-cs"/>
              </a:rPr>
              <a:t>REFERENCES FOR FURTHER LEARNING OF THE SESSION</a:t>
            </a:r>
            <a:endParaRPr kumimoji="0" lang="en-US" sz="1800" b="0" i="0" u="none" strike="noStrike" kern="1200" cap="none" spc="0" normalizeH="0" baseline="0" noProof="0" dirty="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9" name="TextBox 8"/>
          <p:cNvSpPr txBox="1"/>
          <p:nvPr/>
        </p:nvSpPr>
        <p:spPr>
          <a:xfrm>
            <a:off x="900331" y="1167618"/>
            <a:ext cx="10409819" cy="406002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Text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Introduction to Data Science- A Structured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Methodology,Goran</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trajkovski</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from Scratch- Joel Grus - O’Reilly - 2015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Practical Statistics for Data Scientists - Peter Bruce, Andrew Bruce &amp; Peter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Gedeck</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 O’Reilly - 2020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and Machine Learning (Mathematical and Statistical Methods) - Dirk P. Kroese, Zdravko I. Botev, Thomas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Taimre</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Radislav Vaisman- Chapman and Hall/CRC - 2025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Foundations of Data Science -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Avrim</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Blum, John Hopcroft, and Ravindran Kannan - Cambridge University Press – 2020</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Reference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R1.Data Science and Its Applications by Aakanksha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Sharaff</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G. R. Sinha. </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R2. Introducing Data Science Big Data, Machine Learning, and more using Python tools. by Davy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cielen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Arno D.B.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Meysman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Mohamed Ali.</a:t>
            </a:r>
            <a:endParaRPr kumimoji="0" lang="en-US" alt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Tree>
    <p:extLst>
      <p:ext uri="{BB962C8B-B14F-4D97-AF65-F5344CB8AC3E}">
        <p14:creationId xmlns:p14="http://schemas.microsoft.com/office/powerpoint/2010/main" val="104527235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THANK YOU</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Team – DS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3.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4.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5.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6.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7.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8.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9.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0.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docProps/app.xml><?xml version="1.0" encoding="utf-8"?>
<Properties xmlns="http://schemas.openxmlformats.org/officeDocument/2006/extended-properties" xmlns:vt="http://schemas.openxmlformats.org/officeDocument/2006/docPropsVTypes">
  <Template/>
  <TotalTime>1487</TotalTime>
  <Words>1588</Words>
  <Application>Microsoft Office PowerPoint</Application>
  <PresentationFormat>Widescreen</PresentationFormat>
  <Paragraphs>165</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 Unicode MS</vt:lpstr>
      <vt:lpstr>Arial</vt:lpstr>
      <vt:lpstr>Calibri</vt:lpstr>
      <vt:lpstr>Gill Sans MT</vt:lpstr>
      <vt:lpstr>Nunito</vt:lpstr>
      <vt:lpstr>Poppins</vt:lpstr>
      <vt:lpstr>Times New Roman</vt:lpstr>
      <vt:lpstr>Wingdings</vt:lpstr>
      <vt:lpstr>Gallery</vt:lpstr>
      <vt:lpstr>PowerPoint Presentation</vt:lpstr>
      <vt:lpstr>PowerPoint Presentation</vt:lpstr>
      <vt:lpstr>      Key Concepts</vt:lpstr>
      <vt:lpstr>PowerPoint Presentation</vt:lpstr>
      <vt:lpstr>PowerPoint Presentation</vt:lpstr>
      <vt:lpstr>PowerPoint Presentation</vt:lpstr>
      <vt:lpstr>PowerPoint Presentation</vt:lpstr>
      <vt:lpstr>PowerPoint Presentation</vt:lpstr>
      <vt:lpstr>Corelation:</vt:lpstr>
      <vt:lpstr>PowerPoint Presentation</vt:lpstr>
      <vt:lpstr>PowerPoint Presentation</vt:lpstr>
      <vt:lpstr>Interpreting Correlation Values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Data Visualization?</dc:title>
  <dc:creator>N Sunanda</dc:creator>
  <cp:lastModifiedBy>sunanda nalajala</cp:lastModifiedBy>
  <cp:revision>32</cp:revision>
  <dcterms:created xsi:type="dcterms:W3CDTF">2023-11-08T08:15:22Z</dcterms:created>
  <dcterms:modified xsi:type="dcterms:W3CDTF">2026-08-31T09:54:17Z</dcterms:modified>
</cp:coreProperties>
</file>