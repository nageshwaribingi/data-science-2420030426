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Override1.xml" ContentType="application/vnd.openxmlformats-officedocument.themeOverride+xml"/>
  <Override PartName="/ppt/theme/themeOverride2.xml" ContentType="application/vnd.openxmlformats-officedocument.themeOverride+xml"/>
  <Override PartName="/ppt/theme/themeOverride3.xml" ContentType="application/vnd.openxmlformats-officedocument.themeOverride+xml"/>
  <Override PartName="/ppt/theme/themeOverride4.xml" ContentType="application/vnd.openxmlformats-officedocument.themeOverr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theme/themeOverride5.xml" ContentType="application/vnd.openxmlformats-officedocument.themeOverride+xml"/>
  <Override PartName="/ppt/theme/themeOverride6.xml" ContentType="application/vnd.openxmlformats-officedocument.themeOverride+xml"/>
  <Override PartName="/ppt/theme/themeOverride7.xml" ContentType="application/vnd.openxmlformats-officedocument.themeOverride+xml"/>
  <Override PartName="/ppt/theme/themeOverride8.xml" ContentType="application/vnd.openxmlformats-officedocument.themeOverride+xml"/>
  <Override PartName="/ppt/theme/themeOverride9.xml" ContentType="application/vnd.openxmlformats-officedocument.themeOverride+xml"/>
  <Override PartName="/ppt/theme/themeOverride10.xml" ContentType="application/vnd.openxmlformats-officedocument.themeOverride+xml"/>
  <Override PartName="/ppt/theme/themeOverride11.xml" ContentType="application/vnd.openxmlformats-officedocument.themeOverride+xml"/>
  <Override PartName="/ppt/theme/themeOverride12.xml" ContentType="application/vnd.openxmlformats-officedocument.themeOverride+xml"/>
  <Override PartName="/ppt/theme/themeOverride13.xml" ContentType="application/vnd.openxmlformats-officedocument.themeOverride+xml"/>
  <Override PartName="/ppt/theme/themeOverride14.xml" ContentType="application/vnd.openxmlformats-officedocument.themeOverride+xml"/>
  <Override PartName="/ppt/theme/themeOverride15.xml" ContentType="application/vnd.openxmlformats-officedocument.themeOverride+xml"/>
  <Override PartName="/ppt/theme/themeOverride16.xml" ContentType="application/vnd.openxmlformats-officedocument.themeOverride+xml"/>
  <Override PartName="/ppt/theme/themeOverride17.xml" ContentType="application/vnd.openxmlformats-officedocument.themeOverride+xml"/>
  <Override PartName="/ppt/theme/themeOverride18.xml" ContentType="application/vnd.openxmlformats-officedocument.themeOverride+xml"/>
  <Override PartName="/ppt/theme/themeOverride19.xml" ContentType="application/vnd.openxmlformats-officedocument.themeOverride+xml"/>
  <Override PartName="/ppt/theme/themeOverride20.xml" ContentType="application/vnd.openxmlformats-officedocument.themeOverride+xml"/>
  <Override PartName="/ppt/theme/themeOverride21.xml" ContentType="application/vnd.openxmlformats-officedocument.themeOverride+xml"/>
  <Override PartName="/ppt/theme/themeOverride22.xml" ContentType="application/vnd.openxmlformats-officedocument.themeOverride+xml"/>
  <Override PartName="/ppt/theme/themeOverride23.xml" ContentType="application/vnd.openxmlformats-officedocument.themeOverride+xml"/>
  <Override PartName="/ppt/theme/themeOverride24.xml" ContentType="application/vnd.openxmlformats-officedocument.themeOverride+xml"/>
  <Override PartName="/ppt/theme/themeOverride25.xml" ContentType="application/vnd.openxmlformats-officedocument.themeOverr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1" r:id="rId1"/>
  </p:sldMasterIdLst>
  <p:notesMasterIdLst>
    <p:notesMasterId r:id="rId32"/>
  </p:notesMasterIdLst>
  <p:sldIdLst>
    <p:sldId id="364" r:id="rId2"/>
    <p:sldId id="365" r:id="rId3"/>
    <p:sldId id="366" r:id="rId4"/>
    <p:sldId id="256" r:id="rId5"/>
    <p:sldId id="402" r:id="rId6"/>
    <p:sldId id="278" r:id="rId7"/>
    <p:sldId id="403" r:id="rId8"/>
    <p:sldId id="284" r:id="rId9"/>
    <p:sldId id="404" r:id="rId10"/>
    <p:sldId id="297" r:id="rId11"/>
    <p:sldId id="298" r:id="rId12"/>
    <p:sldId id="285" r:id="rId13"/>
    <p:sldId id="286" r:id="rId14"/>
    <p:sldId id="405" r:id="rId15"/>
    <p:sldId id="406" r:id="rId16"/>
    <p:sldId id="407" r:id="rId17"/>
    <p:sldId id="408" r:id="rId18"/>
    <p:sldId id="409" r:id="rId19"/>
    <p:sldId id="280" r:id="rId20"/>
    <p:sldId id="281" r:id="rId21"/>
    <p:sldId id="282" r:id="rId22"/>
    <p:sldId id="283" r:id="rId23"/>
    <p:sldId id="410" r:id="rId24"/>
    <p:sldId id="411" r:id="rId25"/>
    <p:sldId id="412" r:id="rId26"/>
    <p:sldId id="294" r:id="rId27"/>
    <p:sldId id="295" r:id="rId28"/>
    <p:sldId id="296" r:id="rId29"/>
    <p:sldId id="400" r:id="rId30"/>
    <p:sldId id="401" r:id="rId3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80" d="100"/>
          <a:sy n="80" d="100"/>
        </p:scale>
        <p:origin x="710"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 Id="rId8" Type="http://schemas.openxmlformats.org/officeDocument/2006/relationships/slide" Target="slides/slide7.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888E7499-A656-47EA-8CDE-411C0AE62A31}" type="doc">
      <dgm:prSet loTypeId="urn:microsoft.com/office/officeart/2005/8/layout/default" loCatId="list" qsTypeId="urn:microsoft.com/office/officeart/2005/8/quickstyle/simple1" qsCatId="simple" csTypeId="urn:microsoft.com/office/officeart/2005/8/colors/accent1_2" csCatId="accent1" phldr="1"/>
      <dgm:spPr/>
      <dgm:t>
        <a:bodyPr/>
        <a:lstStyle/>
        <a:p>
          <a:endParaRPr lang="en-US"/>
        </a:p>
      </dgm:t>
    </dgm:pt>
    <dgm:pt modelId="{2395084E-FBC9-4F37-AB65-39A782679640}">
      <dgm:prSet custT="1"/>
      <dgm:spPr>
        <a:solidFill>
          <a:schemeClr val="bg1"/>
        </a:solidFill>
      </dgm:spPr>
      <dgm:t>
        <a:bodyPr/>
        <a:lstStyle/>
        <a:p>
          <a:pPr algn="l"/>
          <a:r>
            <a:rPr lang="en-US" sz="1800" b="1" dirty="0">
              <a:solidFill>
                <a:schemeClr val="tx1"/>
              </a:solidFill>
              <a:latin typeface="Calibri" panose="020F0502020204030204" pitchFamily="34" charset="0"/>
              <a:ea typeface="Calibri" panose="020F0502020204030204" pitchFamily="34" charset="0"/>
              <a:cs typeface="Calibri" panose="020F0502020204030204" pitchFamily="34" charset="0"/>
            </a:rPr>
            <a:t>Seaborn Visualizing Distributions:</a:t>
          </a:r>
        </a:p>
        <a:p>
          <a:pPr algn="l"/>
          <a:r>
            <a:rPr lang="en-US" sz="1800" b="0" dirty="0">
              <a:solidFill>
                <a:schemeClr val="tx1"/>
              </a:solidFill>
              <a:latin typeface="Calibri" panose="020F0502020204030204" pitchFamily="34" charset="0"/>
              <a:ea typeface="Calibri" panose="020F0502020204030204" pitchFamily="34" charset="0"/>
              <a:cs typeface="Calibri" panose="020F0502020204030204" pitchFamily="34" charset="0"/>
            </a:rPr>
            <a:t>using Seaborn in conjunction with Matplotlib, you can create a wide range of customized distribution plots that are both visually appealing and informative.</a:t>
          </a:r>
        </a:p>
        <a:p>
          <a:pPr algn="l"/>
          <a:r>
            <a:rPr lang="en-US" sz="1800" b="0" dirty="0">
              <a:solidFill>
                <a:schemeClr val="tx1"/>
              </a:solidFill>
              <a:latin typeface="Calibri" panose="020F0502020204030204" pitchFamily="34" charset="0"/>
              <a:ea typeface="Calibri" panose="020F0502020204030204" pitchFamily="34" charset="0"/>
              <a:cs typeface="Calibri" panose="020F0502020204030204" pitchFamily="34" charset="0"/>
            </a:rPr>
            <a:t>Seaborn visualization functions :</a:t>
          </a:r>
        </a:p>
        <a:p>
          <a:r>
            <a:rPr lang="en-US" sz="1800" b="0" dirty="0">
              <a:solidFill>
                <a:schemeClr val="tx1"/>
              </a:solidFill>
              <a:latin typeface="Calibri" panose="020F0502020204030204" pitchFamily="34" charset="0"/>
              <a:ea typeface="Calibri" panose="020F0502020204030204" pitchFamily="34" charset="0"/>
              <a:cs typeface="Calibri" panose="020F0502020204030204" pitchFamily="34" charset="0"/>
            </a:rPr>
            <a:t>1- Axes-level functions include:</a:t>
          </a:r>
        </a:p>
        <a:p>
          <a:r>
            <a:rPr lang="en-US" sz="1800" b="0" dirty="0" err="1">
              <a:solidFill>
                <a:schemeClr val="tx1"/>
              </a:solidFill>
              <a:latin typeface="Calibri" panose="020F0502020204030204" pitchFamily="34" charset="0"/>
              <a:ea typeface="Calibri" panose="020F0502020204030204" pitchFamily="34" charset="0"/>
              <a:cs typeface="Calibri" panose="020F0502020204030204" pitchFamily="34" charset="0"/>
            </a:rPr>
            <a:t>histplot</a:t>
          </a:r>
          <a:r>
            <a:rPr lang="en-US" sz="1800" b="0" dirty="0">
              <a:solidFill>
                <a:schemeClr val="tx1"/>
              </a:solidFill>
              <a:latin typeface="Calibri" panose="020F0502020204030204" pitchFamily="34" charset="0"/>
              <a:ea typeface="Calibri" panose="020F0502020204030204" pitchFamily="34" charset="0"/>
              <a:cs typeface="Calibri" panose="020F0502020204030204" pitchFamily="34" charset="0"/>
            </a:rPr>
            <a:t>()</a:t>
          </a:r>
        </a:p>
        <a:p>
          <a:r>
            <a:rPr lang="en-US" sz="1800" b="0" dirty="0" err="1">
              <a:solidFill>
                <a:schemeClr val="tx1"/>
              </a:solidFill>
              <a:latin typeface="Calibri" panose="020F0502020204030204" pitchFamily="34" charset="0"/>
              <a:ea typeface="Calibri" panose="020F0502020204030204" pitchFamily="34" charset="0"/>
              <a:cs typeface="Calibri" panose="020F0502020204030204" pitchFamily="34" charset="0"/>
            </a:rPr>
            <a:t>kdeplot</a:t>
          </a:r>
          <a:r>
            <a:rPr lang="en-US" sz="1800" b="0" dirty="0">
              <a:solidFill>
                <a:schemeClr val="tx1"/>
              </a:solidFill>
              <a:latin typeface="Calibri" panose="020F0502020204030204" pitchFamily="34" charset="0"/>
              <a:ea typeface="Calibri" panose="020F0502020204030204" pitchFamily="34" charset="0"/>
              <a:cs typeface="Calibri" panose="020F0502020204030204" pitchFamily="34" charset="0"/>
            </a:rPr>
            <a:t>()</a:t>
          </a:r>
        </a:p>
        <a:p>
          <a:endParaRPr lang="en-US" sz="1800" b="0" dirty="0">
            <a:solidFill>
              <a:schemeClr val="tx1"/>
            </a:solidFill>
            <a:latin typeface="Calibri" panose="020F0502020204030204" pitchFamily="34" charset="0"/>
            <a:ea typeface="Calibri" panose="020F0502020204030204" pitchFamily="34" charset="0"/>
            <a:cs typeface="Calibri" panose="020F0502020204030204" pitchFamily="34" charset="0"/>
          </a:endParaRPr>
        </a:p>
        <a:p>
          <a:r>
            <a:rPr lang="en-US" sz="1800" b="0" dirty="0">
              <a:solidFill>
                <a:schemeClr val="tx1"/>
              </a:solidFill>
              <a:latin typeface="Calibri" panose="020F0502020204030204" pitchFamily="34" charset="0"/>
              <a:ea typeface="Calibri" panose="020F0502020204030204" pitchFamily="34" charset="0"/>
              <a:cs typeface="Calibri" panose="020F0502020204030204" pitchFamily="34" charset="0"/>
            </a:rPr>
            <a:t>2- figure-level </a:t>
          </a:r>
          <a:r>
            <a:rPr lang="en-US" sz="1800" b="0" dirty="0" err="1">
              <a:solidFill>
                <a:schemeClr val="tx1"/>
              </a:solidFill>
              <a:latin typeface="Calibri" panose="020F0502020204030204" pitchFamily="34" charset="0"/>
              <a:ea typeface="Calibri" panose="020F0502020204030204" pitchFamily="34" charset="0"/>
              <a:cs typeface="Calibri" panose="020F0502020204030204" pitchFamily="34" charset="0"/>
            </a:rPr>
            <a:t>funcations</a:t>
          </a:r>
          <a:r>
            <a:rPr lang="en-US" sz="1800" b="0" dirty="0">
              <a:solidFill>
                <a:schemeClr val="tx1"/>
              </a:solidFill>
              <a:latin typeface="Calibri" panose="020F0502020204030204" pitchFamily="34" charset="0"/>
              <a:ea typeface="Calibri" panose="020F0502020204030204" pitchFamily="34" charset="0"/>
              <a:cs typeface="Calibri" panose="020F0502020204030204" pitchFamily="34" charset="0"/>
            </a:rPr>
            <a:t>:</a:t>
          </a:r>
        </a:p>
        <a:p>
          <a:r>
            <a:rPr lang="en-US" sz="1800" b="0" dirty="0" err="1">
              <a:solidFill>
                <a:schemeClr val="tx1"/>
              </a:solidFill>
              <a:latin typeface="Calibri" panose="020F0502020204030204" pitchFamily="34" charset="0"/>
              <a:ea typeface="Calibri" panose="020F0502020204030204" pitchFamily="34" charset="0"/>
              <a:cs typeface="Calibri" panose="020F0502020204030204" pitchFamily="34" charset="0"/>
            </a:rPr>
            <a:t>displot</a:t>
          </a:r>
          <a:r>
            <a:rPr lang="en-US" sz="1800" b="0" dirty="0">
              <a:solidFill>
                <a:schemeClr val="tx1"/>
              </a:solidFill>
              <a:latin typeface="Calibri" panose="020F0502020204030204" pitchFamily="34" charset="0"/>
              <a:ea typeface="Calibri" panose="020F0502020204030204" pitchFamily="34" charset="0"/>
              <a:cs typeface="Calibri" panose="020F0502020204030204" pitchFamily="34" charset="0"/>
            </a:rPr>
            <a:t>()</a:t>
          </a:r>
        </a:p>
        <a:p>
          <a:r>
            <a:rPr lang="en-US" sz="1800" b="0" dirty="0" err="1">
              <a:solidFill>
                <a:schemeClr val="tx1"/>
              </a:solidFill>
              <a:latin typeface="Calibri" panose="020F0502020204030204" pitchFamily="34" charset="0"/>
              <a:ea typeface="Calibri" panose="020F0502020204030204" pitchFamily="34" charset="0"/>
              <a:cs typeface="Calibri" panose="020F0502020204030204" pitchFamily="34" charset="0"/>
            </a:rPr>
            <a:t>jointplot</a:t>
          </a:r>
          <a:r>
            <a:rPr lang="en-US" sz="1800" b="0" dirty="0">
              <a:solidFill>
                <a:schemeClr val="tx1"/>
              </a:solidFill>
              <a:latin typeface="Calibri" panose="020F0502020204030204" pitchFamily="34" charset="0"/>
              <a:ea typeface="Calibri" panose="020F0502020204030204" pitchFamily="34" charset="0"/>
              <a:cs typeface="Calibri" panose="020F0502020204030204" pitchFamily="34" charset="0"/>
            </a:rPr>
            <a:t>()</a:t>
          </a:r>
        </a:p>
        <a:p>
          <a:r>
            <a:rPr lang="en-US" sz="1800" b="0" dirty="0" err="1">
              <a:solidFill>
                <a:schemeClr val="tx1"/>
              </a:solidFill>
              <a:latin typeface="Calibri" panose="020F0502020204030204" pitchFamily="34" charset="0"/>
              <a:ea typeface="Calibri" panose="020F0502020204030204" pitchFamily="34" charset="0"/>
              <a:cs typeface="Calibri" panose="020F0502020204030204" pitchFamily="34" charset="0"/>
            </a:rPr>
            <a:t>pairplot</a:t>
          </a:r>
          <a:r>
            <a:rPr lang="en-US" sz="1800" b="0" dirty="0">
              <a:solidFill>
                <a:schemeClr val="tx1"/>
              </a:solidFill>
              <a:latin typeface="Calibri" panose="020F0502020204030204" pitchFamily="34" charset="0"/>
              <a:ea typeface="Calibri" panose="020F0502020204030204" pitchFamily="34" charset="0"/>
              <a:cs typeface="Calibri" panose="020F0502020204030204" pitchFamily="34" charset="0"/>
            </a:rPr>
            <a:t>()</a:t>
          </a:r>
        </a:p>
      </dgm:t>
    </dgm:pt>
    <dgm:pt modelId="{C5708459-BD7F-4184-AEBC-17A9E8320D66}" type="parTrans" cxnId="{F20FEBE5-16CB-4342-9E94-027C1236B726}">
      <dgm:prSet/>
      <dgm:spPr/>
      <dgm:t>
        <a:bodyPr/>
        <a:lstStyle/>
        <a:p>
          <a:endParaRPr lang="en-US" sz="1800">
            <a:latin typeface="Calibri" panose="020F0502020204030204" pitchFamily="34" charset="0"/>
            <a:ea typeface="Calibri" panose="020F0502020204030204" pitchFamily="34" charset="0"/>
            <a:cs typeface="Calibri" panose="020F0502020204030204" pitchFamily="34" charset="0"/>
          </a:endParaRPr>
        </a:p>
      </dgm:t>
    </dgm:pt>
    <dgm:pt modelId="{8A4683CC-FA25-4F3A-B877-809856DA0B6C}" type="sibTrans" cxnId="{F20FEBE5-16CB-4342-9E94-027C1236B726}">
      <dgm:prSet/>
      <dgm:spPr/>
      <dgm:t>
        <a:bodyPr/>
        <a:lstStyle/>
        <a:p>
          <a:endParaRPr lang="en-US" sz="1800">
            <a:latin typeface="Calibri" panose="020F0502020204030204" pitchFamily="34" charset="0"/>
            <a:ea typeface="Calibri" panose="020F0502020204030204" pitchFamily="34" charset="0"/>
            <a:cs typeface="Calibri" panose="020F0502020204030204" pitchFamily="34" charset="0"/>
          </a:endParaRPr>
        </a:p>
      </dgm:t>
    </dgm:pt>
    <dgm:pt modelId="{24138285-E509-4171-92AD-FDC885DCEA44}">
      <dgm:prSet custT="1"/>
      <dgm:spPr>
        <a:solidFill>
          <a:schemeClr val="bg1"/>
        </a:solidFill>
      </dgm:spPr>
      <dgm:t>
        <a:bodyPr/>
        <a:lstStyle/>
        <a:p>
          <a:pPr algn="l"/>
          <a:r>
            <a:rPr lang="en-US" sz="1800" b="1" dirty="0">
              <a:solidFill>
                <a:schemeClr val="tx1"/>
              </a:solidFill>
              <a:latin typeface="Calibri" panose="020F0502020204030204" pitchFamily="34" charset="0"/>
              <a:ea typeface="Calibri" panose="020F0502020204030204" pitchFamily="34" charset="0"/>
              <a:cs typeface="Calibri" panose="020F0502020204030204" pitchFamily="34" charset="0"/>
            </a:rPr>
            <a:t>Seaborn Regression Plots </a:t>
          </a:r>
        </a:p>
        <a:p>
          <a:pPr algn="l"/>
          <a:r>
            <a:rPr lang="en-US" sz="1800" b="0" dirty="0">
              <a:solidFill>
                <a:schemeClr val="tx1"/>
              </a:solidFill>
              <a:latin typeface="Calibri" panose="020F0502020204030204" pitchFamily="34" charset="0"/>
              <a:ea typeface="Calibri" panose="020F0502020204030204" pitchFamily="34" charset="0"/>
              <a:cs typeface="Calibri" panose="020F0502020204030204" pitchFamily="34" charset="0"/>
            </a:rPr>
            <a:t>the regression plots in seaborn primarily intended to add a visual guide that helps to emphasize patterns in a dataset during exploratory data analyses.</a:t>
          </a:r>
        </a:p>
        <a:p>
          <a:pPr algn="l"/>
          <a:r>
            <a:rPr lang="en-US" sz="1800" b="1" dirty="0">
              <a:solidFill>
                <a:schemeClr val="tx1"/>
              </a:solidFill>
              <a:latin typeface="Calibri" panose="020F0502020204030204" pitchFamily="34" charset="0"/>
              <a:ea typeface="Calibri" panose="020F0502020204030204" pitchFamily="34" charset="0"/>
              <a:cs typeface="Calibri" panose="020F0502020204030204" pitchFamily="34" charset="0"/>
            </a:rPr>
            <a:t>Functions for drawing linear regression models</a:t>
          </a:r>
        </a:p>
        <a:p>
          <a:pPr algn="l"/>
          <a:r>
            <a:rPr lang="en-US" sz="1800" b="1" dirty="0">
              <a:solidFill>
                <a:schemeClr val="tx1"/>
              </a:solidFill>
              <a:latin typeface="Calibri" panose="020F0502020204030204" pitchFamily="34" charset="0"/>
              <a:ea typeface="Calibri" panose="020F0502020204030204" pitchFamily="34" charset="0"/>
              <a:cs typeface="Calibri" panose="020F0502020204030204" pitchFamily="34" charset="0"/>
            </a:rPr>
            <a:t>1- </a:t>
          </a:r>
          <a:r>
            <a:rPr lang="en-US" sz="1800" b="1" dirty="0" err="1">
              <a:solidFill>
                <a:schemeClr val="tx1"/>
              </a:solidFill>
              <a:latin typeface="Calibri" panose="020F0502020204030204" pitchFamily="34" charset="0"/>
              <a:ea typeface="Calibri" panose="020F0502020204030204" pitchFamily="34" charset="0"/>
              <a:cs typeface="Calibri" panose="020F0502020204030204" pitchFamily="34" charset="0"/>
            </a:rPr>
            <a:t>regplot</a:t>
          </a:r>
          <a:r>
            <a:rPr lang="en-US" sz="1800" b="1" dirty="0">
              <a:solidFill>
                <a:schemeClr val="tx1"/>
              </a:solidFill>
              <a:latin typeface="Calibri" panose="020F0502020204030204" pitchFamily="34" charset="0"/>
              <a:ea typeface="Calibri" panose="020F0502020204030204" pitchFamily="34" charset="0"/>
              <a:cs typeface="Calibri" panose="020F0502020204030204" pitchFamily="34" charset="0"/>
            </a:rPr>
            <a:t> function: </a:t>
          </a:r>
          <a:r>
            <a:rPr lang="en-US" sz="1800" b="0" dirty="0">
              <a:solidFill>
                <a:schemeClr val="tx1"/>
              </a:solidFill>
              <a:latin typeface="Calibri" panose="020F0502020204030204" pitchFamily="34" charset="0"/>
              <a:ea typeface="Calibri" panose="020F0502020204030204" pitchFamily="34" charset="0"/>
              <a:cs typeface="Calibri" panose="020F0502020204030204" pitchFamily="34" charset="0"/>
            </a:rPr>
            <a:t>used for Plot data and a linear regression model fit.</a:t>
          </a:r>
        </a:p>
        <a:p>
          <a:r>
            <a:rPr lang="en-US" sz="1800" b="0" dirty="0">
              <a:solidFill>
                <a:schemeClr val="tx1"/>
              </a:solidFill>
              <a:latin typeface="Calibri" panose="020F0502020204030204" pitchFamily="34" charset="0"/>
              <a:ea typeface="Calibri" panose="020F0502020204030204" pitchFamily="34" charset="0"/>
              <a:cs typeface="Calibri" panose="020F0502020204030204" pitchFamily="34" charset="0"/>
            </a:rPr>
            <a:t>	Produces a scatter plot complemented by a regression line.</a:t>
          </a:r>
        </a:p>
        <a:p>
          <a:r>
            <a:rPr lang="en-US" sz="1800" b="0" dirty="0">
              <a:solidFill>
                <a:schemeClr val="tx1"/>
              </a:solidFill>
              <a:latin typeface="Calibri" panose="020F0502020204030204" pitchFamily="34" charset="0"/>
              <a:ea typeface="Calibri" panose="020F0502020204030204" pitchFamily="34" charset="0"/>
              <a:cs typeface="Calibri" panose="020F0502020204030204" pitchFamily="34" charset="0"/>
            </a:rPr>
            <a:t>2- </a:t>
          </a:r>
          <a:r>
            <a:rPr lang="en-US" sz="1800" b="1" dirty="0" err="1">
              <a:solidFill>
                <a:schemeClr val="tx1"/>
              </a:solidFill>
              <a:latin typeface="Calibri" panose="020F0502020204030204" pitchFamily="34" charset="0"/>
              <a:ea typeface="Calibri" panose="020F0502020204030204" pitchFamily="34" charset="0"/>
              <a:cs typeface="Calibri" panose="020F0502020204030204" pitchFamily="34" charset="0"/>
            </a:rPr>
            <a:t>lmplot</a:t>
          </a:r>
          <a:r>
            <a:rPr lang="en-US" sz="1800" b="1" dirty="0">
              <a:solidFill>
                <a:schemeClr val="tx1"/>
              </a:solidFill>
              <a:latin typeface="Calibri" panose="020F0502020204030204" pitchFamily="34" charset="0"/>
              <a:ea typeface="Calibri" panose="020F0502020204030204" pitchFamily="34" charset="0"/>
              <a:cs typeface="Calibri" panose="020F0502020204030204" pitchFamily="34" charset="0"/>
            </a:rPr>
            <a:t> function: used for </a:t>
          </a:r>
          <a:r>
            <a:rPr lang="en-US" sz="1800" b="0" dirty="0">
              <a:solidFill>
                <a:schemeClr val="tx1"/>
              </a:solidFill>
              <a:latin typeface="Calibri" panose="020F0502020204030204" pitchFamily="34" charset="0"/>
              <a:ea typeface="Calibri" panose="020F0502020204030204" pitchFamily="34" charset="0"/>
              <a:cs typeface="Calibri" panose="020F0502020204030204" pitchFamily="34" charset="0"/>
            </a:rPr>
            <a:t>Plot data and regression model fits across a </a:t>
          </a:r>
          <a:r>
            <a:rPr lang="en-US" sz="1800" b="0" dirty="0" err="1">
              <a:solidFill>
                <a:schemeClr val="tx1"/>
              </a:solidFill>
              <a:latin typeface="Calibri" panose="020F0502020204030204" pitchFamily="34" charset="0"/>
              <a:ea typeface="Calibri" panose="020F0502020204030204" pitchFamily="34" charset="0"/>
              <a:cs typeface="Calibri" panose="020F0502020204030204" pitchFamily="34" charset="0"/>
            </a:rPr>
            <a:t>FacetGrid</a:t>
          </a:r>
          <a:r>
            <a:rPr lang="en-US" sz="1800" b="0" dirty="0">
              <a:solidFill>
                <a:schemeClr val="tx1"/>
              </a:solidFill>
              <a:latin typeface="Calibri" panose="020F0502020204030204" pitchFamily="34" charset="0"/>
              <a:ea typeface="Calibri" panose="020F0502020204030204" pitchFamily="34" charset="0"/>
              <a:cs typeface="Calibri" panose="020F0502020204030204" pitchFamily="34" charset="0"/>
            </a:rPr>
            <a:t>.</a:t>
          </a:r>
        </a:p>
        <a:p>
          <a:r>
            <a:rPr lang="en-US" sz="1800" b="0" dirty="0">
              <a:solidFill>
                <a:schemeClr val="tx1"/>
              </a:solidFill>
              <a:latin typeface="Calibri" panose="020F0502020204030204" pitchFamily="34" charset="0"/>
              <a:ea typeface="Calibri" panose="020F0502020204030204" pitchFamily="34" charset="0"/>
              <a:cs typeface="Calibri" panose="020F0502020204030204" pitchFamily="34" charset="0"/>
            </a:rPr>
            <a:t>	Built upon </a:t>
          </a:r>
          <a:r>
            <a:rPr lang="en-US" sz="1800" b="0" dirty="0" err="1">
              <a:solidFill>
                <a:schemeClr val="tx1"/>
              </a:solidFill>
              <a:latin typeface="Calibri" panose="020F0502020204030204" pitchFamily="34" charset="0"/>
              <a:ea typeface="Calibri" panose="020F0502020204030204" pitchFamily="34" charset="0"/>
              <a:cs typeface="Calibri" panose="020F0502020204030204" pitchFamily="34" charset="0"/>
            </a:rPr>
            <a:t>regplot</a:t>
          </a:r>
          <a:r>
            <a:rPr lang="en-US" sz="1800" b="0" dirty="0">
              <a:solidFill>
                <a:schemeClr val="tx1"/>
              </a:solidFill>
              <a:latin typeface="Calibri" panose="020F0502020204030204" pitchFamily="34" charset="0"/>
              <a:ea typeface="Calibri" panose="020F0502020204030204" pitchFamily="34" charset="0"/>
              <a:cs typeface="Calibri" panose="020F0502020204030204" pitchFamily="34" charset="0"/>
            </a:rPr>
            <a:t> function, Advanced and comprehensive.</a:t>
          </a:r>
        </a:p>
        <a:p>
          <a:r>
            <a:rPr lang="en-US" sz="1800" b="0" dirty="0">
              <a:solidFill>
                <a:schemeClr val="tx1"/>
              </a:solidFill>
              <a:latin typeface="Calibri" panose="020F0502020204030204" pitchFamily="34" charset="0"/>
              <a:ea typeface="Calibri" panose="020F0502020204030204" pitchFamily="34" charset="0"/>
              <a:cs typeface="Calibri" panose="020F0502020204030204" pitchFamily="34" charset="0"/>
            </a:rPr>
            <a:t>	</a:t>
          </a:r>
        </a:p>
      </dgm:t>
    </dgm:pt>
    <dgm:pt modelId="{9E24E7B1-21E1-426C-B764-7BECB9BC7206}" type="parTrans" cxnId="{6BE3C8D7-6FD1-4E39-B68C-E12C51C503FF}">
      <dgm:prSet/>
      <dgm:spPr/>
      <dgm:t>
        <a:bodyPr/>
        <a:lstStyle/>
        <a:p>
          <a:endParaRPr lang="en-US" sz="1800">
            <a:latin typeface="Calibri" panose="020F0502020204030204" pitchFamily="34" charset="0"/>
            <a:ea typeface="Calibri" panose="020F0502020204030204" pitchFamily="34" charset="0"/>
            <a:cs typeface="Calibri" panose="020F0502020204030204" pitchFamily="34" charset="0"/>
          </a:endParaRPr>
        </a:p>
      </dgm:t>
    </dgm:pt>
    <dgm:pt modelId="{5A66E9B2-8DA7-47A1-B4E9-E365252AE7CD}" type="sibTrans" cxnId="{6BE3C8D7-6FD1-4E39-B68C-E12C51C503FF}">
      <dgm:prSet/>
      <dgm:spPr/>
      <dgm:t>
        <a:bodyPr/>
        <a:lstStyle/>
        <a:p>
          <a:endParaRPr lang="en-US" sz="1800">
            <a:latin typeface="Calibri" panose="020F0502020204030204" pitchFamily="34" charset="0"/>
            <a:ea typeface="Calibri" panose="020F0502020204030204" pitchFamily="34" charset="0"/>
            <a:cs typeface="Calibri" panose="020F0502020204030204" pitchFamily="34" charset="0"/>
          </a:endParaRPr>
        </a:p>
      </dgm:t>
    </dgm:pt>
    <dgm:pt modelId="{71C6CD1A-B0BF-4733-90C6-8002FD0B4B65}" type="pres">
      <dgm:prSet presAssocID="{888E7499-A656-47EA-8CDE-411C0AE62A31}" presName="diagram" presStyleCnt="0">
        <dgm:presLayoutVars>
          <dgm:dir/>
          <dgm:resizeHandles val="exact"/>
        </dgm:presLayoutVars>
      </dgm:prSet>
      <dgm:spPr/>
    </dgm:pt>
    <dgm:pt modelId="{CB04ECC8-F5C8-4804-98F6-B0D3CD9242D4}" type="pres">
      <dgm:prSet presAssocID="{2395084E-FBC9-4F37-AB65-39A782679640}" presName="node" presStyleLbl="node1" presStyleIdx="0" presStyleCnt="2" custScaleX="108086" custScaleY="151459" custLinFactNeighborX="6374" custLinFactNeighborY="1045">
        <dgm:presLayoutVars>
          <dgm:bulletEnabled val="1"/>
        </dgm:presLayoutVars>
      </dgm:prSet>
      <dgm:spPr/>
    </dgm:pt>
    <dgm:pt modelId="{D0CC7E52-188C-4B12-8932-F76E6B7EB959}" type="pres">
      <dgm:prSet presAssocID="{8A4683CC-FA25-4F3A-B877-809856DA0B6C}" presName="sibTrans" presStyleCnt="0"/>
      <dgm:spPr/>
    </dgm:pt>
    <dgm:pt modelId="{742E2440-5030-4ABD-BEEE-A12A8404B2E8}" type="pres">
      <dgm:prSet presAssocID="{24138285-E509-4171-92AD-FDC885DCEA44}" presName="node" presStyleLbl="node1" presStyleIdx="1" presStyleCnt="2" custScaleY="152657">
        <dgm:presLayoutVars>
          <dgm:bulletEnabled val="1"/>
        </dgm:presLayoutVars>
      </dgm:prSet>
      <dgm:spPr/>
    </dgm:pt>
  </dgm:ptLst>
  <dgm:cxnLst>
    <dgm:cxn modelId="{8FF32E59-43B8-4734-BF07-D516C2749DA2}" type="presOf" srcId="{888E7499-A656-47EA-8CDE-411C0AE62A31}" destId="{71C6CD1A-B0BF-4733-90C6-8002FD0B4B65}" srcOrd="0" destOrd="0" presId="urn:microsoft.com/office/officeart/2005/8/layout/default"/>
    <dgm:cxn modelId="{879B15C1-CE56-4CC7-89FF-4F3B94FC5CE8}" type="presOf" srcId="{24138285-E509-4171-92AD-FDC885DCEA44}" destId="{742E2440-5030-4ABD-BEEE-A12A8404B2E8}" srcOrd="0" destOrd="0" presId="urn:microsoft.com/office/officeart/2005/8/layout/default"/>
    <dgm:cxn modelId="{6BE3C8D7-6FD1-4E39-B68C-E12C51C503FF}" srcId="{888E7499-A656-47EA-8CDE-411C0AE62A31}" destId="{24138285-E509-4171-92AD-FDC885DCEA44}" srcOrd="1" destOrd="0" parTransId="{9E24E7B1-21E1-426C-B764-7BECB9BC7206}" sibTransId="{5A66E9B2-8DA7-47A1-B4E9-E365252AE7CD}"/>
    <dgm:cxn modelId="{96DC21E1-6007-4CC0-A035-DD1739E04BF9}" type="presOf" srcId="{2395084E-FBC9-4F37-AB65-39A782679640}" destId="{CB04ECC8-F5C8-4804-98F6-B0D3CD9242D4}" srcOrd="0" destOrd="0" presId="urn:microsoft.com/office/officeart/2005/8/layout/default"/>
    <dgm:cxn modelId="{F20FEBE5-16CB-4342-9E94-027C1236B726}" srcId="{888E7499-A656-47EA-8CDE-411C0AE62A31}" destId="{2395084E-FBC9-4F37-AB65-39A782679640}" srcOrd="0" destOrd="0" parTransId="{C5708459-BD7F-4184-AEBC-17A9E8320D66}" sibTransId="{8A4683CC-FA25-4F3A-B877-809856DA0B6C}"/>
    <dgm:cxn modelId="{67DB103E-D674-4F81-8A9B-D248BB9024D0}" type="presParOf" srcId="{71C6CD1A-B0BF-4733-90C6-8002FD0B4B65}" destId="{CB04ECC8-F5C8-4804-98F6-B0D3CD9242D4}" srcOrd="0" destOrd="0" presId="urn:microsoft.com/office/officeart/2005/8/layout/default"/>
    <dgm:cxn modelId="{79CF501C-04A3-484D-BA0D-8C3D45214A22}" type="presParOf" srcId="{71C6CD1A-B0BF-4733-90C6-8002FD0B4B65}" destId="{D0CC7E52-188C-4B12-8932-F76E6B7EB959}" srcOrd="1" destOrd="0" presId="urn:microsoft.com/office/officeart/2005/8/layout/default"/>
    <dgm:cxn modelId="{5391045D-DD9F-440F-9B21-E7E8DD8AE4DA}" type="presParOf" srcId="{71C6CD1A-B0BF-4733-90C6-8002FD0B4B65}" destId="{742E2440-5030-4ABD-BEEE-A12A8404B2E8}" srcOrd="2" destOrd="0" presId="urn:microsoft.com/office/officeart/2005/8/layout/defaul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B04ECC8-F5C8-4804-98F6-B0D3CD9242D4}">
      <dsp:nvSpPr>
        <dsp:cNvPr id="0" name=""/>
        <dsp:cNvSpPr/>
      </dsp:nvSpPr>
      <dsp:spPr>
        <a:xfrm>
          <a:off x="345389" y="68493"/>
          <a:ext cx="5848458" cy="4917204"/>
        </a:xfrm>
        <a:prstGeom prst="rect">
          <a:avLst/>
        </a:prstGeom>
        <a:solidFill>
          <a:schemeClr val="bg1"/>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b="1" kern="1200" dirty="0">
              <a:solidFill>
                <a:schemeClr val="tx1"/>
              </a:solidFill>
              <a:latin typeface="Calibri" panose="020F0502020204030204" pitchFamily="34" charset="0"/>
              <a:ea typeface="Calibri" panose="020F0502020204030204" pitchFamily="34" charset="0"/>
              <a:cs typeface="Calibri" panose="020F0502020204030204" pitchFamily="34" charset="0"/>
            </a:rPr>
            <a:t>Seaborn Visualizing Distributions:</a:t>
          </a:r>
        </a:p>
        <a:p>
          <a:pPr marL="0" lvl="0" indent="0" algn="l" defTabSz="800100">
            <a:lnSpc>
              <a:spcPct val="90000"/>
            </a:lnSpc>
            <a:spcBef>
              <a:spcPct val="0"/>
            </a:spcBef>
            <a:spcAft>
              <a:spcPct val="35000"/>
            </a:spcAft>
            <a:buNone/>
          </a:pPr>
          <a:r>
            <a:rPr lang="en-US" sz="1800" b="0" kern="1200" dirty="0">
              <a:solidFill>
                <a:schemeClr val="tx1"/>
              </a:solidFill>
              <a:latin typeface="Calibri" panose="020F0502020204030204" pitchFamily="34" charset="0"/>
              <a:ea typeface="Calibri" panose="020F0502020204030204" pitchFamily="34" charset="0"/>
              <a:cs typeface="Calibri" panose="020F0502020204030204" pitchFamily="34" charset="0"/>
            </a:rPr>
            <a:t>using Seaborn in conjunction with Matplotlib, you can create a wide range of customized distribution plots that are both visually appealing and informative.</a:t>
          </a:r>
        </a:p>
        <a:p>
          <a:pPr marL="0" lvl="0" indent="0" algn="l" defTabSz="800100">
            <a:lnSpc>
              <a:spcPct val="90000"/>
            </a:lnSpc>
            <a:spcBef>
              <a:spcPct val="0"/>
            </a:spcBef>
            <a:spcAft>
              <a:spcPct val="35000"/>
            </a:spcAft>
            <a:buNone/>
          </a:pPr>
          <a:r>
            <a:rPr lang="en-US" sz="1800" b="0" kern="1200" dirty="0">
              <a:solidFill>
                <a:schemeClr val="tx1"/>
              </a:solidFill>
              <a:latin typeface="Calibri" panose="020F0502020204030204" pitchFamily="34" charset="0"/>
              <a:ea typeface="Calibri" panose="020F0502020204030204" pitchFamily="34" charset="0"/>
              <a:cs typeface="Calibri" panose="020F0502020204030204" pitchFamily="34" charset="0"/>
            </a:rPr>
            <a:t>Seaborn visualization functions :</a:t>
          </a:r>
        </a:p>
        <a:p>
          <a:pPr marL="0" lvl="0" indent="0" defTabSz="800100">
            <a:lnSpc>
              <a:spcPct val="90000"/>
            </a:lnSpc>
            <a:spcBef>
              <a:spcPct val="0"/>
            </a:spcBef>
            <a:spcAft>
              <a:spcPct val="35000"/>
            </a:spcAft>
            <a:buNone/>
          </a:pPr>
          <a:r>
            <a:rPr lang="en-US" sz="1800" b="0" kern="1200" dirty="0">
              <a:solidFill>
                <a:schemeClr val="tx1"/>
              </a:solidFill>
              <a:latin typeface="Calibri" panose="020F0502020204030204" pitchFamily="34" charset="0"/>
              <a:ea typeface="Calibri" panose="020F0502020204030204" pitchFamily="34" charset="0"/>
              <a:cs typeface="Calibri" panose="020F0502020204030204" pitchFamily="34" charset="0"/>
            </a:rPr>
            <a:t>1- Axes-level functions include:</a:t>
          </a:r>
        </a:p>
        <a:p>
          <a:pPr marL="0" lvl="0" indent="0" defTabSz="800100">
            <a:lnSpc>
              <a:spcPct val="90000"/>
            </a:lnSpc>
            <a:spcBef>
              <a:spcPct val="0"/>
            </a:spcBef>
            <a:spcAft>
              <a:spcPct val="35000"/>
            </a:spcAft>
            <a:buNone/>
          </a:pPr>
          <a:r>
            <a:rPr lang="en-US" sz="1800" b="0" kern="1200" dirty="0" err="1">
              <a:solidFill>
                <a:schemeClr val="tx1"/>
              </a:solidFill>
              <a:latin typeface="Calibri" panose="020F0502020204030204" pitchFamily="34" charset="0"/>
              <a:ea typeface="Calibri" panose="020F0502020204030204" pitchFamily="34" charset="0"/>
              <a:cs typeface="Calibri" panose="020F0502020204030204" pitchFamily="34" charset="0"/>
            </a:rPr>
            <a:t>histplot</a:t>
          </a:r>
          <a:r>
            <a:rPr lang="en-US" sz="1800" b="0" kern="1200" dirty="0">
              <a:solidFill>
                <a:schemeClr val="tx1"/>
              </a:solidFill>
              <a:latin typeface="Calibri" panose="020F0502020204030204" pitchFamily="34" charset="0"/>
              <a:ea typeface="Calibri" panose="020F0502020204030204" pitchFamily="34" charset="0"/>
              <a:cs typeface="Calibri" panose="020F0502020204030204" pitchFamily="34" charset="0"/>
            </a:rPr>
            <a:t>()</a:t>
          </a:r>
        </a:p>
        <a:p>
          <a:pPr marL="0" lvl="0" indent="0" defTabSz="800100">
            <a:lnSpc>
              <a:spcPct val="90000"/>
            </a:lnSpc>
            <a:spcBef>
              <a:spcPct val="0"/>
            </a:spcBef>
            <a:spcAft>
              <a:spcPct val="35000"/>
            </a:spcAft>
            <a:buNone/>
          </a:pPr>
          <a:r>
            <a:rPr lang="en-US" sz="1800" b="0" kern="1200" dirty="0" err="1">
              <a:solidFill>
                <a:schemeClr val="tx1"/>
              </a:solidFill>
              <a:latin typeface="Calibri" panose="020F0502020204030204" pitchFamily="34" charset="0"/>
              <a:ea typeface="Calibri" panose="020F0502020204030204" pitchFamily="34" charset="0"/>
              <a:cs typeface="Calibri" panose="020F0502020204030204" pitchFamily="34" charset="0"/>
            </a:rPr>
            <a:t>kdeplot</a:t>
          </a:r>
          <a:r>
            <a:rPr lang="en-US" sz="1800" b="0" kern="1200" dirty="0">
              <a:solidFill>
                <a:schemeClr val="tx1"/>
              </a:solidFill>
              <a:latin typeface="Calibri" panose="020F0502020204030204" pitchFamily="34" charset="0"/>
              <a:ea typeface="Calibri" panose="020F0502020204030204" pitchFamily="34" charset="0"/>
              <a:cs typeface="Calibri" panose="020F0502020204030204" pitchFamily="34" charset="0"/>
            </a:rPr>
            <a:t>()</a:t>
          </a:r>
        </a:p>
        <a:p>
          <a:pPr marL="0" lvl="0" indent="0" defTabSz="800100">
            <a:lnSpc>
              <a:spcPct val="90000"/>
            </a:lnSpc>
            <a:spcBef>
              <a:spcPct val="0"/>
            </a:spcBef>
            <a:spcAft>
              <a:spcPct val="35000"/>
            </a:spcAft>
            <a:buNone/>
          </a:pPr>
          <a:endParaRPr lang="en-US" sz="1800" b="0" kern="1200" dirty="0">
            <a:solidFill>
              <a:schemeClr val="tx1"/>
            </a:solidFill>
            <a:latin typeface="Calibri" panose="020F0502020204030204" pitchFamily="34" charset="0"/>
            <a:ea typeface="Calibri" panose="020F0502020204030204" pitchFamily="34" charset="0"/>
            <a:cs typeface="Calibri" panose="020F0502020204030204" pitchFamily="34" charset="0"/>
          </a:endParaRPr>
        </a:p>
        <a:p>
          <a:pPr marL="0" lvl="0" indent="0" defTabSz="800100">
            <a:lnSpc>
              <a:spcPct val="90000"/>
            </a:lnSpc>
            <a:spcBef>
              <a:spcPct val="0"/>
            </a:spcBef>
            <a:spcAft>
              <a:spcPct val="35000"/>
            </a:spcAft>
            <a:buNone/>
          </a:pPr>
          <a:r>
            <a:rPr lang="en-US" sz="1800" b="0" kern="1200" dirty="0">
              <a:solidFill>
                <a:schemeClr val="tx1"/>
              </a:solidFill>
              <a:latin typeface="Calibri" panose="020F0502020204030204" pitchFamily="34" charset="0"/>
              <a:ea typeface="Calibri" panose="020F0502020204030204" pitchFamily="34" charset="0"/>
              <a:cs typeface="Calibri" panose="020F0502020204030204" pitchFamily="34" charset="0"/>
            </a:rPr>
            <a:t>2- figure-level </a:t>
          </a:r>
          <a:r>
            <a:rPr lang="en-US" sz="1800" b="0" kern="1200" dirty="0" err="1">
              <a:solidFill>
                <a:schemeClr val="tx1"/>
              </a:solidFill>
              <a:latin typeface="Calibri" panose="020F0502020204030204" pitchFamily="34" charset="0"/>
              <a:ea typeface="Calibri" panose="020F0502020204030204" pitchFamily="34" charset="0"/>
              <a:cs typeface="Calibri" panose="020F0502020204030204" pitchFamily="34" charset="0"/>
            </a:rPr>
            <a:t>funcations</a:t>
          </a:r>
          <a:r>
            <a:rPr lang="en-US" sz="1800" b="0" kern="1200" dirty="0">
              <a:solidFill>
                <a:schemeClr val="tx1"/>
              </a:solidFill>
              <a:latin typeface="Calibri" panose="020F0502020204030204" pitchFamily="34" charset="0"/>
              <a:ea typeface="Calibri" panose="020F0502020204030204" pitchFamily="34" charset="0"/>
              <a:cs typeface="Calibri" panose="020F0502020204030204" pitchFamily="34" charset="0"/>
            </a:rPr>
            <a:t>:</a:t>
          </a:r>
        </a:p>
        <a:p>
          <a:pPr marL="0" lvl="0" indent="0" defTabSz="800100">
            <a:lnSpc>
              <a:spcPct val="90000"/>
            </a:lnSpc>
            <a:spcBef>
              <a:spcPct val="0"/>
            </a:spcBef>
            <a:spcAft>
              <a:spcPct val="35000"/>
            </a:spcAft>
            <a:buNone/>
          </a:pPr>
          <a:r>
            <a:rPr lang="en-US" sz="1800" b="0" kern="1200" dirty="0" err="1">
              <a:solidFill>
                <a:schemeClr val="tx1"/>
              </a:solidFill>
              <a:latin typeface="Calibri" panose="020F0502020204030204" pitchFamily="34" charset="0"/>
              <a:ea typeface="Calibri" panose="020F0502020204030204" pitchFamily="34" charset="0"/>
              <a:cs typeface="Calibri" panose="020F0502020204030204" pitchFamily="34" charset="0"/>
            </a:rPr>
            <a:t>displot</a:t>
          </a:r>
          <a:r>
            <a:rPr lang="en-US" sz="1800" b="0" kern="1200" dirty="0">
              <a:solidFill>
                <a:schemeClr val="tx1"/>
              </a:solidFill>
              <a:latin typeface="Calibri" panose="020F0502020204030204" pitchFamily="34" charset="0"/>
              <a:ea typeface="Calibri" panose="020F0502020204030204" pitchFamily="34" charset="0"/>
              <a:cs typeface="Calibri" panose="020F0502020204030204" pitchFamily="34" charset="0"/>
            </a:rPr>
            <a:t>()</a:t>
          </a:r>
        </a:p>
        <a:p>
          <a:pPr marL="0" lvl="0" indent="0" defTabSz="800100">
            <a:lnSpc>
              <a:spcPct val="90000"/>
            </a:lnSpc>
            <a:spcBef>
              <a:spcPct val="0"/>
            </a:spcBef>
            <a:spcAft>
              <a:spcPct val="35000"/>
            </a:spcAft>
            <a:buNone/>
          </a:pPr>
          <a:r>
            <a:rPr lang="en-US" sz="1800" b="0" kern="1200" dirty="0" err="1">
              <a:solidFill>
                <a:schemeClr val="tx1"/>
              </a:solidFill>
              <a:latin typeface="Calibri" panose="020F0502020204030204" pitchFamily="34" charset="0"/>
              <a:ea typeface="Calibri" panose="020F0502020204030204" pitchFamily="34" charset="0"/>
              <a:cs typeface="Calibri" panose="020F0502020204030204" pitchFamily="34" charset="0"/>
            </a:rPr>
            <a:t>jointplot</a:t>
          </a:r>
          <a:r>
            <a:rPr lang="en-US" sz="1800" b="0" kern="1200" dirty="0">
              <a:solidFill>
                <a:schemeClr val="tx1"/>
              </a:solidFill>
              <a:latin typeface="Calibri" panose="020F0502020204030204" pitchFamily="34" charset="0"/>
              <a:ea typeface="Calibri" panose="020F0502020204030204" pitchFamily="34" charset="0"/>
              <a:cs typeface="Calibri" panose="020F0502020204030204" pitchFamily="34" charset="0"/>
            </a:rPr>
            <a:t>()</a:t>
          </a:r>
        </a:p>
        <a:p>
          <a:pPr marL="0" lvl="0" indent="0" defTabSz="800100">
            <a:lnSpc>
              <a:spcPct val="90000"/>
            </a:lnSpc>
            <a:spcBef>
              <a:spcPct val="0"/>
            </a:spcBef>
            <a:spcAft>
              <a:spcPct val="35000"/>
            </a:spcAft>
            <a:buNone/>
          </a:pPr>
          <a:r>
            <a:rPr lang="en-US" sz="1800" b="0" kern="1200" dirty="0" err="1">
              <a:solidFill>
                <a:schemeClr val="tx1"/>
              </a:solidFill>
              <a:latin typeface="Calibri" panose="020F0502020204030204" pitchFamily="34" charset="0"/>
              <a:ea typeface="Calibri" panose="020F0502020204030204" pitchFamily="34" charset="0"/>
              <a:cs typeface="Calibri" panose="020F0502020204030204" pitchFamily="34" charset="0"/>
            </a:rPr>
            <a:t>pairplot</a:t>
          </a:r>
          <a:r>
            <a:rPr lang="en-US" sz="1800" b="0" kern="1200" dirty="0">
              <a:solidFill>
                <a:schemeClr val="tx1"/>
              </a:solidFill>
              <a:latin typeface="Calibri" panose="020F0502020204030204" pitchFamily="34" charset="0"/>
              <a:ea typeface="Calibri" panose="020F0502020204030204" pitchFamily="34" charset="0"/>
              <a:cs typeface="Calibri" panose="020F0502020204030204" pitchFamily="34" charset="0"/>
            </a:rPr>
            <a:t>()</a:t>
          </a:r>
        </a:p>
      </dsp:txBody>
      <dsp:txXfrm>
        <a:off x="345389" y="68493"/>
        <a:ext cx="5848458" cy="4917204"/>
      </dsp:txXfrm>
    </dsp:sp>
    <dsp:sp modelId="{742E2440-5030-4ABD-BEEE-A12A8404B2E8}">
      <dsp:nvSpPr>
        <dsp:cNvPr id="0" name=""/>
        <dsp:cNvSpPr/>
      </dsp:nvSpPr>
      <dsp:spPr>
        <a:xfrm>
          <a:off x="6390047" y="15119"/>
          <a:ext cx="5410930" cy="4956098"/>
        </a:xfrm>
        <a:prstGeom prst="rect">
          <a:avLst/>
        </a:prstGeom>
        <a:solidFill>
          <a:schemeClr val="bg1"/>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b="1" kern="1200" dirty="0">
              <a:solidFill>
                <a:schemeClr val="tx1"/>
              </a:solidFill>
              <a:latin typeface="Calibri" panose="020F0502020204030204" pitchFamily="34" charset="0"/>
              <a:ea typeface="Calibri" panose="020F0502020204030204" pitchFamily="34" charset="0"/>
              <a:cs typeface="Calibri" panose="020F0502020204030204" pitchFamily="34" charset="0"/>
            </a:rPr>
            <a:t>Seaborn Regression Plots </a:t>
          </a:r>
        </a:p>
        <a:p>
          <a:pPr marL="0" lvl="0" indent="0" algn="l" defTabSz="800100">
            <a:lnSpc>
              <a:spcPct val="90000"/>
            </a:lnSpc>
            <a:spcBef>
              <a:spcPct val="0"/>
            </a:spcBef>
            <a:spcAft>
              <a:spcPct val="35000"/>
            </a:spcAft>
            <a:buNone/>
          </a:pPr>
          <a:r>
            <a:rPr lang="en-US" sz="1800" b="0" kern="1200" dirty="0">
              <a:solidFill>
                <a:schemeClr val="tx1"/>
              </a:solidFill>
              <a:latin typeface="Calibri" panose="020F0502020204030204" pitchFamily="34" charset="0"/>
              <a:ea typeface="Calibri" panose="020F0502020204030204" pitchFamily="34" charset="0"/>
              <a:cs typeface="Calibri" panose="020F0502020204030204" pitchFamily="34" charset="0"/>
            </a:rPr>
            <a:t>the regression plots in seaborn primarily intended to add a visual guide that helps to emphasize patterns in a dataset during exploratory data analyses.</a:t>
          </a:r>
        </a:p>
        <a:p>
          <a:pPr marL="0" lvl="0" indent="0" algn="l" defTabSz="800100">
            <a:lnSpc>
              <a:spcPct val="90000"/>
            </a:lnSpc>
            <a:spcBef>
              <a:spcPct val="0"/>
            </a:spcBef>
            <a:spcAft>
              <a:spcPct val="35000"/>
            </a:spcAft>
            <a:buNone/>
          </a:pPr>
          <a:r>
            <a:rPr lang="en-US" sz="1800" b="1" kern="1200" dirty="0">
              <a:solidFill>
                <a:schemeClr val="tx1"/>
              </a:solidFill>
              <a:latin typeface="Calibri" panose="020F0502020204030204" pitchFamily="34" charset="0"/>
              <a:ea typeface="Calibri" panose="020F0502020204030204" pitchFamily="34" charset="0"/>
              <a:cs typeface="Calibri" panose="020F0502020204030204" pitchFamily="34" charset="0"/>
            </a:rPr>
            <a:t>Functions for drawing linear regression models</a:t>
          </a:r>
        </a:p>
        <a:p>
          <a:pPr marL="0" lvl="0" indent="0" algn="l" defTabSz="800100">
            <a:lnSpc>
              <a:spcPct val="90000"/>
            </a:lnSpc>
            <a:spcBef>
              <a:spcPct val="0"/>
            </a:spcBef>
            <a:spcAft>
              <a:spcPct val="35000"/>
            </a:spcAft>
            <a:buNone/>
          </a:pPr>
          <a:r>
            <a:rPr lang="en-US" sz="1800" b="1" kern="1200" dirty="0">
              <a:solidFill>
                <a:schemeClr val="tx1"/>
              </a:solidFill>
              <a:latin typeface="Calibri" panose="020F0502020204030204" pitchFamily="34" charset="0"/>
              <a:ea typeface="Calibri" panose="020F0502020204030204" pitchFamily="34" charset="0"/>
              <a:cs typeface="Calibri" panose="020F0502020204030204" pitchFamily="34" charset="0"/>
            </a:rPr>
            <a:t>1- </a:t>
          </a:r>
          <a:r>
            <a:rPr lang="en-US" sz="1800" b="1" kern="1200" dirty="0" err="1">
              <a:solidFill>
                <a:schemeClr val="tx1"/>
              </a:solidFill>
              <a:latin typeface="Calibri" panose="020F0502020204030204" pitchFamily="34" charset="0"/>
              <a:ea typeface="Calibri" panose="020F0502020204030204" pitchFamily="34" charset="0"/>
              <a:cs typeface="Calibri" panose="020F0502020204030204" pitchFamily="34" charset="0"/>
            </a:rPr>
            <a:t>regplot</a:t>
          </a:r>
          <a:r>
            <a:rPr lang="en-US" sz="1800" b="1" kern="1200" dirty="0">
              <a:solidFill>
                <a:schemeClr val="tx1"/>
              </a:solidFill>
              <a:latin typeface="Calibri" panose="020F0502020204030204" pitchFamily="34" charset="0"/>
              <a:ea typeface="Calibri" panose="020F0502020204030204" pitchFamily="34" charset="0"/>
              <a:cs typeface="Calibri" panose="020F0502020204030204" pitchFamily="34" charset="0"/>
            </a:rPr>
            <a:t> function: </a:t>
          </a:r>
          <a:r>
            <a:rPr lang="en-US" sz="1800" b="0" kern="1200" dirty="0">
              <a:solidFill>
                <a:schemeClr val="tx1"/>
              </a:solidFill>
              <a:latin typeface="Calibri" panose="020F0502020204030204" pitchFamily="34" charset="0"/>
              <a:ea typeface="Calibri" panose="020F0502020204030204" pitchFamily="34" charset="0"/>
              <a:cs typeface="Calibri" panose="020F0502020204030204" pitchFamily="34" charset="0"/>
            </a:rPr>
            <a:t>used for Plot data and a linear regression model fit.</a:t>
          </a:r>
        </a:p>
        <a:p>
          <a:pPr marL="0" lvl="0" indent="0" defTabSz="800100">
            <a:lnSpc>
              <a:spcPct val="90000"/>
            </a:lnSpc>
            <a:spcBef>
              <a:spcPct val="0"/>
            </a:spcBef>
            <a:spcAft>
              <a:spcPct val="35000"/>
            </a:spcAft>
            <a:buNone/>
          </a:pPr>
          <a:r>
            <a:rPr lang="en-US" sz="1800" b="0" kern="1200" dirty="0">
              <a:solidFill>
                <a:schemeClr val="tx1"/>
              </a:solidFill>
              <a:latin typeface="Calibri" panose="020F0502020204030204" pitchFamily="34" charset="0"/>
              <a:ea typeface="Calibri" panose="020F0502020204030204" pitchFamily="34" charset="0"/>
              <a:cs typeface="Calibri" panose="020F0502020204030204" pitchFamily="34" charset="0"/>
            </a:rPr>
            <a:t>	Produces a scatter plot complemented by a regression line.</a:t>
          </a:r>
        </a:p>
        <a:p>
          <a:pPr marL="0" lvl="0" indent="0" defTabSz="800100">
            <a:lnSpc>
              <a:spcPct val="90000"/>
            </a:lnSpc>
            <a:spcBef>
              <a:spcPct val="0"/>
            </a:spcBef>
            <a:spcAft>
              <a:spcPct val="35000"/>
            </a:spcAft>
            <a:buNone/>
          </a:pPr>
          <a:r>
            <a:rPr lang="en-US" sz="1800" b="0" kern="1200" dirty="0">
              <a:solidFill>
                <a:schemeClr val="tx1"/>
              </a:solidFill>
              <a:latin typeface="Calibri" panose="020F0502020204030204" pitchFamily="34" charset="0"/>
              <a:ea typeface="Calibri" panose="020F0502020204030204" pitchFamily="34" charset="0"/>
              <a:cs typeface="Calibri" panose="020F0502020204030204" pitchFamily="34" charset="0"/>
            </a:rPr>
            <a:t>2- </a:t>
          </a:r>
          <a:r>
            <a:rPr lang="en-US" sz="1800" b="1" kern="1200" dirty="0" err="1">
              <a:solidFill>
                <a:schemeClr val="tx1"/>
              </a:solidFill>
              <a:latin typeface="Calibri" panose="020F0502020204030204" pitchFamily="34" charset="0"/>
              <a:ea typeface="Calibri" panose="020F0502020204030204" pitchFamily="34" charset="0"/>
              <a:cs typeface="Calibri" panose="020F0502020204030204" pitchFamily="34" charset="0"/>
            </a:rPr>
            <a:t>lmplot</a:t>
          </a:r>
          <a:r>
            <a:rPr lang="en-US" sz="1800" b="1" kern="1200" dirty="0">
              <a:solidFill>
                <a:schemeClr val="tx1"/>
              </a:solidFill>
              <a:latin typeface="Calibri" panose="020F0502020204030204" pitchFamily="34" charset="0"/>
              <a:ea typeface="Calibri" panose="020F0502020204030204" pitchFamily="34" charset="0"/>
              <a:cs typeface="Calibri" panose="020F0502020204030204" pitchFamily="34" charset="0"/>
            </a:rPr>
            <a:t> function: used for </a:t>
          </a:r>
          <a:r>
            <a:rPr lang="en-US" sz="1800" b="0" kern="1200" dirty="0">
              <a:solidFill>
                <a:schemeClr val="tx1"/>
              </a:solidFill>
              <a:latin typeface="Calibri" panose="020F0502020204030204" pitchFamily="34" charset="0"/>
              <a:ea typeface="Calibri" panose="020F0502020204030204" pitchFamily="34" charset="0"/>
              <a:cs typeface="Calibri" panose="020F0502020204030204" pitchFamily="34" charset="0"/>
            </a:rPr>
            <a:t>Plot data and regression model fits across a </a:t>
          </a:r>
          <a:r>
            <a:rPr lang="en-US" sz="1800" b="0" kern="1200" dirty="0" err="1">
              <a:solidFill>
                <a:schemeClr val="tx1"/>
              </a:solidFill>
              <a:latin typeface="Calibri" panose="020F0502020204030204" pitchFamily="34" charset="0"/>
              <a:ea typeface="Calibri" panose="020F0502020204030204" pitchFamily="34" charset="0"/>
              <a:cs typeface="Calibri" panose="020F0502020204030204" pitchFamily="34" charset="0"/>
            </a:rPr>
            <a:t>FacetGrid</a:t>
          </a:r>
          <a:r>
            <a:rPr lang="en-US" sz="1800" b="0" kern="1200" dirty="0">
              <a:solidFill>
                <a:schemeClr val="tx1"/>
              </a:solidFill>
              <a:latin typeface="Calibri" panose="020F0502020204030204" pitchFamily="34" charset="0"/>
              <a:ea typeface="Calibri" panose="020F0502020204030204" pitchFamily="34" charset="0"/>
              <a:cs typeface="Calibri" panose="020F0502020204030204" pitchFamily="34" charset="0"/>
            </a:rPr>
            <a:t>.</a:t>
          </a:r>
        </a:p>
        <a:p>
          <a:pPr marL="0" lvl="0" indent="0" defTabSz="800100">
            <a:lnSpc>
              <a:spcPct val="90000"/>
            </a:lnSpc>
            <a:spcBef>
              <a:spcPct val="0"/>
            </a:spcBef>
            <a:spcAft>
              <a:spcPct val="35000"/>
            </a:spcAft>
            <a:buNone/>
          </a:pPr>
          <a:r>
            <a:rPr lang="en-US" sz="1800" b="0" kern="1200" dirty="0">
              <a:solidFill>
                <a:schemeClr val="tx1"/>
              </a:solidFill>
              <a:latin typeface="Calibri" panose="020F0502020204030204" pitchFamily="34" charset="0"/>
              <a:ea typeface="Calibri" panose="020F0502020204030204" pitchFamily="34" charset="0"/>
              <a:cs typeface="Calibri" panose="020F0502020204030204" pitchFamily="34" charset="0"/>
            </a:rPr>
            <a:t>	Built upon </a:t>
          </a:r>
          <a:r>
            <a:rPr lang="en-US" sz="1800" b="0" kern="1200" dirty="0" err="1">
              <a:solidFill>
                <a:schemeClr val="tx1"/>
              </a:solidFill>
              <a:latin typeface="Calibri" panose="020F0502020204030204" pitchFamily="34" charset="0"/>
              <a:ea typeface="Calibri" panose="020F0502020204030204" pitchFamily="34" charset="0"/>
              <a:cs typeface="Calibri" panose="020F0502020204030204" pitchFamily="34" charset="0"/>
            </a:rPr>
            <a:t>regplot</a:t>
          </a:r>
          <a:r>
            <a:rPr lang="en-US" sz="1800" b="0" kern="1200" dirty="0">
              <a:solidFill>
                <a:schemeClr val="tx1"/>
              </a:solidFill>
              <a:latin typeface="Calibri" panose="020F0502020204030204" pitchFamily="34" charset="0"/>
              <a:ea typeface="Calibri" panose="020F0502020204030204" pitchFamily="34" charset="0"/>
              <a:cs typeface="Calibri" panose="020F0502020204030204" pitchFamily="34" charset="0"/>
            </a:rPr>
            <a:t> function, Advanced and comprehensive.</a:t>
          </a:r>
        </a:p>
        <a:p>
          <a:pPr marL="0" lvl="0" indent="0" defTabSz="800100">
            <a:lnSpc>
              <a:spcPct val="90000"/>
            </a:lnSpc>
            <a:spcBef>
              <a:spcPct val="0"/>
            </a:spcBef>
            <a:spcAft>
              <a:spcPct val="35000"/>
            </a:spcAft>
            <a:buNone/>
          </a:pPr>
          <a:r>
            <a:rPr lang="en-US" sz="1800" b="0" kern="1200" dirty="0">
              <a:solidFill>
                <a:schemeClr val="tx1"/>
              </a:solidFill>
              <a:latin typeface="Calibri" panose="020F0502020204030204" pitchFamily="34" charset="0"/>
              <a:ea typeface="Calibri" panose="020F0502020204030204" pitchFamily="34" charset="0"/>
              <a:cs typeface="Calibri" panose="020F0502020204030204" pitchFamily="34" charset="0"/>
            </a:rPr>
            <a:t>	</a:t>
          </a:r>
        </a:p>
      </dsp:txBody>
      <dsp:txXfrm>
        <a:off x="6390047" y="15119"/>
        <a:ext cx="5410930" cy="4956098"/>
      </dsp:txXfrm>
    </dsp:sp>
  </dsp:spTree>
</dsp:drawing>
</file>

<file path=ppt/diagrams/layout1.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A2385BB-1C1E-4CFB-8DA9-47E88EC3EE48}" type="datetimeFigureOut">
              <a:rPr lang="en-IN" smtClean="0"/>
              <a:t>31-08-2026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904E726-5613-41E6-8224-3BE6D87DFA57}" type="slidenum">
              <a:rPr lang="en-IN" smtClean="0"/>
              <a:t>‹#›</a:t>
            </a:fld>
            <a:endParaRPr lang="en-IN"/>
          </a:p>
        </p:txBody>
      </p:sp>
    </p:spTree>
    <p:extLst>
      <p:ext uri="{BB962C8B-B14F-4D97-AF65-F5344CB8AC3E}">
        <p14:creationId xmlns:p14="http://schemas.microsoft.com/office/powerpoint/2010/main" val="413003576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417779" y="802298"/>
            <a:ext cx="8637073" cy="2541431"/>
          </a:xfrm>
        </p:spPr>
        <p:txBody>
          <a:bodyPr bIns="0" anchor="b">
            <a:normAutofit/>
          </a:bodyPr>
          <a:lstStyle>
            <a:lvl1pPr algn="l">
              <a:defRPr sz="6600"/>
            </a:lvl1pPr>
          </a:lstStyle>
          <a:p>
            <a:r>
              <a:rPr lang="en-US"/>
              <a:t>Click to edit Master title style</a:t>
            </a:r>
            <a:endParaRPr lang="en-US" dirty="0"/>
          </a:p>
        </p:txBody>
      </p:sp>
      <p:sp>
        <p:nvSpPr>
          <p:cNvPr id="3" name="Subtitle 2"/>
          <p:cNvSpPr>
            <a:spLocks noGrp="1"/>
          </p:cNvSpPr>
          <p:nvPr>
            <p:ph type="subTitle" idx="1"/>
          </p:nvPr>
        </p:nvSpPr>
        <p:spPr>
          <a:xfrm>
            <a:off x="2417780" y="3531204"/>
            <a:ext cx="8637072" cy="977621"/>
          </a:xfrm>
        </p:spPr>
        <p:txBody>
          <a:bodyPr tIns="91440" bIns="91440">
            <a:normAutofit/>
          </a:bodyPr>
          <a:lstStyle>
            <a:lvl1pPr marL="0" indent="0" algn="l">
              <a:buNone/>
              <a:defRPr sz="1800" b="0" cap="all" baseline="0">
                <a:solidFill>
                  <a:schemeClr val="tx1"/>
                </a:solidFill>
              </a:defRPr>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pPr/>
              <a:t>8/31/2026</a:t>
            </a:fld>
            <a:endParaRPr lang="en-US"/>
          </a:p>
        </p:txBody>
      </p:sp>
      <p:sp>
        <p:nvSpPr>
          <p:cNvPr id="6" name="Slide Number Placeholder 5"/>
          <p:cNvSpPr>
            <a:spLocks noGrp="1"/>
          </p:cNvSpPr>
          <p:nvPr>
            <p:ph type="sldNum" sz="quarter" idx="12"/>
          </p:nvPr>
        </p:nvSpPr>
        <p:spPr>
          <a:xfrm>
            <a:off x="1437664" y="798973"/>
            <a:ext cx="811019" cy="503578"/>
          </a:xfrm>
        </p:spPr>
        <p:txBody>
          <a:bodyPr/>
          <a:lstStyle/>
          <a:p>
            <a:pPr marL="109855">
              <a:lnSpc>
                <a:spcPts val="1070"/>
              </a:lnSpc>
            </a:pPr>
            <a:fld id="{81D60167-4931-47E6-BA6A-407CBD079E47}" type="slidenum">
              <a:rPr lang="en-IN" smtClean="0"/>
              <a:pPr marL="109855">
                <a:lnSpc>
                  <a:spcPts val="1070"/>
                </a:lnSpc>
              </a:pPr>
              <a:t>‹#›</a:t>
            </a:fld>
            <a:endParaRPr lang="en-IN" dirty="0"/>
          </a:p>
        </p:txBody>
      </p:sp>
    </p:spTree>
    <p:extLst>
      <p:ext uri="{BB962C8B-B14F-4D97-AF65-F5344CB8AC3E}">
        <p14:creationId xmlns:p14="http://schemas.microsoft.com/office/powerpoint/2010/main" val="231138844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pPr/>
              <a:t>8/31/2026</a:t>
            </a:fld>
            <a:endParaRPr lang="en-US"/>
          </a:p>
        </p:txBody>
      </p:sp>
      <p:sp>
        <p:nvSpPr>
          <p:cNvPr id="6" name="Slide Number Placeholder 5"/>
          <p:cNvSpPr>
            <a:spLocks noGrp="1"/>
          </p:cNvSpPr>
          <p:nvPr>
            <p:ph type="sldNum" sz="quarter" idx="12"/>
          </p:nvPr>
        </p:nvSpPr>
        <p:spPr/>
        <p:txBody>
          <a:bodyPr/>
          <a:lstStyle/>
          <a:p>
            <a:pPr marL="109855">
              <a:lnSpc>
                <a:spcPts val="1070"/>
              </a:lnSpc>
            </a:pPr>
            <a:fld id="{81D60167-4931-47E6-BA6A-407CBD079E47}" type="slidenum">
              <a:rPr lang="en-IN" smtClean="0"/>
              <a:pPr marL="109855">
                <a:lnSpc>
                  <a:spcPts val="1070"/>
                </a:lnSpc>
              </a:pPr>
              <a:t>‹#›</a:t>
            </a:fld>
            <a:endParaRPr lang="en-IN" dirty="0"/>
          </a:p>
        </p:txBody>
      </p:sp>
    </p:spTree>
    <p:extLst>
      <p:ext uri="{BB962C8B-B14F-4D97-AF65-F5344CB8AC3E}">
        <p14:creationId xmlns:p14="http://schemas.microsoft.com/office/powerpoint/2010/main" val="216006486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454239" y="1756130"/>
            <a:ext cx="8643154" cy="1887950"/>
          </a:xfrm>
        </p:spPr>
        <p:txBody>
          <a:bodyPr anchor="b">
            <a:normAutofit/>
          </a:bodyPr>
          <a:lstStyle>
            <a:lvl1pPr algn="l">
              <a:defRPr sz="3600"/>
            </a:lvl1pPr>
          </a:lstStyle>
          <a:p>
            <a:r>
              <a:rPr lang="en-US"/>
              <a:t>Click to edit Master title style</a:t>
            </a:r>
            <a:endParaRPr lang="en-US" dirty="0"/>
          </a:p>
        </p:txBody>
      </p:sp>
      <p:sp>
        <p:nvSpPr>
          <p:cNvPr id="3" name="Text Placeholder 2"/>
          <p:cNvSpPr>
            <a:spLocks noGrp="1"/>
          </p:cNvSpPr>
          <p:nvPr>
            <p:ph type="body" idx="1"/>
          </p:nvPr>
        </p:nvSpPr>
        <p:spPr>
          <a:xfrm>
            <a:off x="1454239" y="3806195"/>
            <a:ext cx="8630446" cy="1012929"/>
          </a:xfrm>
        </p:spPr>
        <p:txBody>
          <a:bodyPr tIns="91440">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8/31/2026</a:t>
            </a:fld>
            <a:endParaRPr lang="en-US"/>
          </a:p>
        </p:txBody>
      </p:sp>
      <p:sp>
        <p:nvSpPr>
          <p:cNvPr id="6" name="Slide Number Placeholder 5"/>
          <p:cNvSpPr>
            <a:spLocks noGrp="1"/>
          </p:cNvSpPr>
          <p:nvPr>
            <p:ph type="sldNum" sz="quarter" idx="12"/>
          </p:nvPr>
        </p:nvSpPr>
        <p:spPr/>
        <p:txBody>
          <a:bodyPr/>
          <a:lstStyle/>
          <a:p>
            <a:pPr marL="109855">
              <a:lnSpc>
                <a:spcPts val="1070"/>
              </a:lnSpc>
            </a:pPr>
            <a:fld id="{81D60167-4931-47E6-BA6A-407CBD079E47}" type="slidenum">
              <a:rPr lang="en-IN" smtClean="0"/>
              <a:pPr marL="109855">
                <a:lnSpc>
                  <a:spcPts val="1070"/>
                </a:lnSpc>
              </a:pPr>
              <a:t>‹#›</a:t>
            </a:fld>
            <a:endParaRPr lang="en-IN" dirty="0"/>
          </a:p>
        </p:txBody>
      </p:sp>
    </p:spTree>
    <p:extLst>
      <p:ext uri="{BB962C8B-B14F-4D97-AF65-F5344CB8AC3E}">
        <p14:creationId xmlns:p14="http://schemas.microsoft.com/office/powerpoint/2010/main" val="259133559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49217" y="804889"/>
            <a:ext cx="9605635" cy="1059305"/>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447331" y="2010878"/>
            <a:ext cx="4645152" cy="344859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413771" y="2017343"/>
            <a:ext cx="4645152" cy="34415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1D8BD707-D9CF-40AE-B4C6-C98DA3205C09}" type="datetimeFigureOut">
              <a:rPr lang="en-US" smtClean="0"/>
              <a:pPr/>
              <a:t>8/31/2026</a:t>
            </a:fld>
            <a:endParaRPr lang="en-US"/>
          </a:p>
        </p:txBody>
      </p:sp>
      <p:sp>
        <p:nvSpPr>
          <p:cNvPr id="7" name="Slide Number Placeholder 6"/>
          <p:cNvSpPr>
            <a:spLocks noGrp="1"/>
          </p:cNvSpPr>
          <p:nvPr>
            <p:ph type="sldNum" sz="quarter" idx="12"/>
          </p:nvPr>
        </p:nvSpPr>
        <p:spPr/>
        <p:txBody>
          <a:bodyPr/>
          <a:lstStyle/>
          <a:p>
            <a:pPr marL="109855">
              <a:lnSpc>
                <a:spcPts val="1070"/>
              </a:lnSpc>
            </a:pPr>
            <a:fld id="{81D60167-4931-47E6-BA6A-407CBD079E47}" type="slidenum">
              <a:rPr lang="en-IN" smtClean="0"/>
              <a:pPr marL="109855">
                <a:lnSpc>
                  <a:spcPts val="1070"/>
                </a:lnSpc>
              </a:pPr>
              <a:t>‹#›</a:t>
            </a:fld>
            <a:endParaRPr lang="en-IN" dirty="0"/>
          </a:p>
        </p:txBody>
      </p:sp>
      <p:cxnSp>
        <p:nvCxnSpPr>
          <p:cNvPr id="35" name="Straight Connector 3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33058796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447191" y="804163"/>
            <a:ext cx="9607661" cy="1056319"/>
          </a:xfrm>
        </p:spPr>
        <p:txBody>
          <a:bodyPr/>
          <a:lstStyle/>
          <a:p>
            <a:r>
              <a:rPr lang="en-US"/>
              <a:t>Click to edit Master title style</a:t>
            </a:r>
            <a:endParaRPr lang="en-US" dirty="0"/>
          </a:p>
        </p:txBody>
      </p:sp>
      <p:sp>
        <p:nvSpPr>
          <p:cNvPr id="3" name="Text Placeholder 2"/>
          <p:cNvSpPr>
            <a:spLocks noGrp="1"/>
          </p:cNvSpPr>
          <p:nvPr>
            <p:ph type="body" idx="1"/>
          </p:nvPr>
        </p:nvSpPr>
        <p:spPr>
          <a:xfrm>
            <a:off x="1447191" y="2019549"/>
            <a:ext cx="4645152" cy="801943"/>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447191" y="2824269"/>
            <a:ext cx="4645152" cy="26444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12362" y="2023003"/>
            <a:ext cx="4645152" cy="802237"/>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412362" y="2821491"/>
            <a:ext cx="4645152" cy="263737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D8BD707-D9CF-40AE-B4C6-C98DA3205C09}" type="datetimeFigureOut">
              <a:rPr lang="en-US" smtClean="0"/>
              <a:pPr/>
              <a:t>8/31/2026</a:t>
            </a:fld>
            <a:endParaRPr lang="en-US"/>
          </a:p>
        </p:txBody>
      </p:sp>
      <p:sp>
        <p:nvSpPr>
          <p:cNvPr id="9" name="Slide Number Placeholder 8"/>
          <p:cNvSpPr>
            <a:spLocks noGrp="1"/>
          </p:cNvSpPr>
          <p:nvPr>
            <p:ph type="sldNum" sz="quarter" idx="12"/>
          </p:nvPr>
        </p:nvSpPr>
        <p:spPr/>
        <p:txBody>
          <a:bodyPr/>
          <a:lstStyle/>
          <a:p>
            <a:pPr marL="109855">
              <a:lnSpc>
                <a:spcPts val="1070"/>
              </a:lnSpc>
            </a:pPr>
            <a:fld id="{81D60167-4931-47E6-BA6A-407CBD079E47}" type="slidenum">
              <a:rPr lang="en-IN" smtClean="0"/>
              <a:pPr marL="109855">
                <a:lnSpc>
                  <a:spcPts val="1070"/>
                </a:lnSpc>
              </a:pPr>
              <a:t>‹#›</a:t>
            </a:fld>
            <a:endParaRPr lang="en-IN" dirty="0"/>
          </a:p>
        </p:txBody>
      </p:sp>
      <p:cxnSp>
        <p:nvCxnSpPr>
          <p:cNvPr id="29" name="Straight Connector 28"/>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04160533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1D8BD707-D9CF-40AE-B4C6-C98DA3205C09}" type="datetimeFigureOut">
              <a:rPr lang="en-US" smtClean="0"/>
              <a:pPr/>
              <a:t>8/31/2026</a:t>
            </a:fld>
            <a:endParaRPr lang="en-US"/>
          </a:p>
        </p:txBody>
      </p:sp>
      <p:sp>
        <p:nvSpPr>
          <p:cNvPr id="5" name="Slide Number Placeholder 4"/>
          <p:cNvSpPr>
            <a:spLocks noGrp="1"/>
          </p:cNvSpPr>
          <p:nvPr>
            <p:ph type="sldNum" sz="quarter" idx="12"/>
          </p:nvPr>
        </p:nvSpPr>
        <p:spPr/>
        <p:txBody>
          <a:bodyPr/>
          <a:lstStyle/>
          <a:p>
            <a:pPr marL="109855">
              <a:lnSpc>
                <a:spcPts val="1070"/>
              </a:lnSpc>
            </a:pPr>
            <a:fld id="{81D60167-4931-47E6-BA6A-407CBD079E47}" type="slidenum">
              <a:rPr lang="en-IN" smtClean="0"/>
              <a:pPr marL="109855">
                <a:lnSpc>
                  <a:spcPts val="1070"/>
                </a:lnSpc>
              </a:pPr>
              <a:t>‹#›</a:t>
            </a:fld>
            <a:endParaRPr lang="en-IN" dirty="0"/>
          </a:p>
        </p:txBody>
      </p:sp>
    </p:spTree>
    <p:extLst>
      <p:ext uri="{BB962C8B-B14F-4D97-AF65-F5344CB8AC3E}">
        <p14:creationId xmlns:p14="http://schemas.microsoft.com/office/powerpoint/2010/main" val="41230396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8/31/2026</a:t>
            </a:fld>
            <a:endParaRPr lang="en-US"/>
          </a:p>
        </p:txBody>
      </p:sp>
      <p:sp>
        <p:nvSpPr>
          <p:cNvPr id="4" name="Slide Number Placeholder 3"/>
          <p:cNvSpPr>
            <a:spLocks noGrp="1"/>
          </p:cNvSpPr>
          <p:nvPr>
            <p:ph type="sldNum" sz="quarter" idx="12"/>
          </p:nvPr>
        </p:nvSpPr>
        <p:spPr/>
        <p:txBody>
          <a:bodyPr/>
          <a:lstStyle/>
          <a:p>
            <a:pPr marL="109855">
              <a:lnSpc>
                <a:spcPts val="1070"/>
              </a:lnSpc>
            </a:pPr>
            <a:fld id="{81D60167-4931-47E6-BA6A-407CBD079E47}" type="slidenum">
              <a:rPr lang="en-IN" smtClean="0"/>
              <a:pPr marL="109855">
                <a:lnSpc>
                  <a:spcPts val="1070"/>
                </a:lnSpc>
              </a:pPr>
              <a:t>‹#›</a:t>
            </a:fld>
            <a:endParaRPr lang="en-IN" dirty="0"/>
          </a:p>
        </p:txBody>
      </p:sp>
    </p:spTree>
    <p:extLst>
      <p:ext uri="{BB962C8B-B14F-4D97-AF65-F5344CB8AC3E}">
        <p14:creationId xmlns:p14="http://schemas.microsoft.com/office/powerpoint/2010/main" val="417222022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4671" y="798973"/>
            <a:ext cx="3273099" cy="2247117"/>
          </a:xfrm>
        </p:spPr>
        <p:txBody>
          <a:bodyPr anchor="b">
            <a:normAutofit/>
          </a:bodyPr>
          <a:lstStyle>
            <a:lvl1pPr algn="l">
              <a:defRPr sz="2400"/>
            </a:lvl1pPr>
          </a:lstStyle>
          <a:p>
            <a:r>
              <a:rPr lang="en-US"/>
              <a:t>Click to edit Master title style</a:t>
            </a:r>
            <a:endParaRPr lang="en-US" dirty="0"/>
          </a:p>
        </p:txBody>
      </p:sp>
      <p:sp>
        <p:nvSpPr>
          <p:cNvPr id="3" name="Content Placeholder 2"/>
          <p:cNvSpPr>
            <a:spLocks noGrp="1"/>
          </p:cNvSpPr>
          <p:nvPr>
            <p:ph idx="1"/>
          </p:nvPr>
        </p:nvSpPr>
        <p:spPr>
          <a:xfrm>
            <a:off x="5043714" y="798974"/>
            <a:ext cx="6012470" cy="4658826"/>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444671" y="3205491"/>
            <a:ext cx="3275013" cy="2248181"/>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8/31/2026</a:t>
            </a:fld>
            <a:endParaRPr lang="en-US"/>
          </a:p>
        </p:txBody>
      </p:sp>
      <p:sp>
        <p:nvSpPr>
          <p:cNvPr id="7" name="Slide Number Placeholder 6"/>
          <p:cNvSpPr>
            <a:spLocks noGrp="1"/>
          </p:cNvSpPr>
          <p:nvPr>
            <p:ph type="sldNum" sz="quarter" idx="12"/>
          </p:nvPr>
        </p:nvSpPr>
        <p:spPr/>
        <p:txBody>
          <a:bodyPr/>
          <a:lstStyle/>
          <a:p>
            <a:pPr marL="109855">
              <a:lnSpc>
                <a:spcPts val="1070"/>
              </a:lnSpc>
            </a:pPr>
            <a:fld id="{81D60167-4931-47E6-BA6A-407CBD079E47}" type="slidenum">
              <a:rPr lang="en-IN" smtClean="0"/>
              <a:pPr marL="109855">
                <a:lnSpc>
                  <a:spcPts val="1070"/>
                </a:lnSpc>
              </a:pPr>
              <a:t>‹#›</a:t>
            </a:fld>
            <a:endParaRPr lang="en-IN" dirty="0"/>
          </a:p>
        </p:txBody>
      </p:sp>
      <p:cxnSp>
        <p:nvCxnSpPr>
          <p:cNvPr id="17" name="Straight Connector 16"/>
          <p:cNvCxnSpPr/>
          <p:nvPr/>
        </p:nvCxnSpPr>
        <p:spPr>
          <a:xfrm>
            <a:off x="1448280" y="3205491"/>
            <a:ext cx="3269490"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42117972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grpSp>
        <p:nvGrpSpPr>
          <p:cNvPr id="8" name="Group 7"/>
          <p:cNvGrpSpPr/>
          <p:nvPr/>
        </p:nvGrpSpPr>
        <p:grpSpPr>
          <a:xfrm>
            <a:off x="7477387" y="482170"/>
            <a:ext cx="4074533" cy="5149101"/>
            <a:chOff x="7477387" y="482170"/>
            <a:chExt cx="4074533" cy="5149101"/>
          </a:xfrm>
        </p:grpSpPr>
        <p:sp>
          <p:nvSpPr>
            <p:cNvPr id="18" name="Rectangle 17"/>
            <p:cNvSpPr/>
            <p:nvPr/>
          </p:nvSpPr>
          <p:spPr bwMode="black">
            <a:xfrm>
              <a:off x="7477387" y="482170"/>
              <a:ext cx="4074533" cy="5149101"/>
            </a:xfrm>
            <a:prstGeom prst="rect">
              <a:avLst/>
            </a:prstGeom>
            <a:gradFill>
              <a:gsLst>
                <a:gs pos="0">
                  <a:srgbClr val="000001"/>
                </a:gs>
                <a:gs pos="100000">
                  <a:srgbClr val="191919"/>
                </a:gs>
              </a:gsLst>
            </a:gradFill>
            <a:ln w="76200" cmpd="sng">
              <a:noFill/>
              <a:miter lim="800000"/>
            </a:ln>
            <a:effectLst>
              <a:outerShdw blurRad="127000" dist="228600" dir="4740000" sx="98000" sy="98000" algn="tl" rotWithShape="0">
                <a:srgbClr val="000000">
                  <a:alpha val="34000"/>
                </a:srgbClr>
              </a:outerShdw>
            </a:effectLst>
            <a:scene3d>
              <a:camera prst="orthographicFront"/>
              <a:lightRig rig="threePt" dir="t"/>
            </a:scene3d>
            <a:sp3d>
              <a:bevelT w="152400" h="50800" prst="softRound"/>
            </a:sp3d>
          </p:spPr>
          <p:style>
            <a:lnRef idx="1">
              <a:schemeClr val="accent1"/>
            </a:lnRef>
            <a:fillRef idx="3">
              <a:schemeClr val="accent1"/>
            </a:fillRef>
            <a:effectRef idx="2">
              <a:schemeClr val="accent1"/>
            </a:effectRef>
            <a:fontRef idx="minor">
              <a:schemeClr val="lt1"/>
            </a:fontRef>
          </p:style>
        </p:sp>
        <p:sp>
          <p:nvSpPr>
            <p:cNvPr id="19" name="Rectangle 18"/>
            <p:cNvSpPr/>
            <p:nvPr/>
          </p:nvSpPr>
          <p:spPr bwMode="blackWhite">
            <a:xfrm>
              <a:off x="7790446" y="812506"/>
              <a:ext cx="3450289" cy="4466452"/>
            </a:xfrm>
            <a:prstGeom prst="rect">
              <a:avLst/>
            </a:prstGeom>
            <a:gradFill>
              <a:gsLst>
                <a:gs pos="0">
                  <a:srgbClr val="DADADA"/>
                </a:gs>
                <a:gs pos="100000">
                  <a:srgbClr val="FFFFFE"/>
                </a:gs>
              </a:gsLst>
              <a:lin ang="16200000" scaled="0"/>
            </a:gradFill>
            <a:ln w="50800" cmpd="sng">
              <a:solidFill>
                <a:srgbClr val="191919"/>
              </a:solidFill>
              <a:miter lim="800000"/>
            </a:ln>
            <a:effectLst>
              <a:innerShdw blurRad="63500" dist="88900" dir="14100000">
                <a:srgbClr val="000000">
                  <a:alpha val="30000"/>
                </a:srgbClr>
              </a:innerShdw>
            </a:effectLst>
            <a:scene3d>
              <a:camera prst="orthographicFront"/>
              <a:lightRig rig="threePt" dir="t"/>
            </a:scene3d>
            <a:sp3d>
              <a:bevelT prst="relaxedInset"/>
            </a:sp3d>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title"/>
          </p:nvPr>
        </p:nvSpPr>
        <p:spPr>
          <a:xfrm>
            <a:off x="1451206" y="1129513"/>
            <a:ext cx="5532328" cy="1830584"/>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8124389" y="1122542"/>
            <a:ext cx="2791171" cy="3866327"/>
          </a:xfrm>
          <a:solidFill>
            <a:schemeClr val="bg1">
              <a:lumMod val="85000"/>
            </a:schemeClr>
          </a:solidFill>
          <a:ln w="9525" cap="sq">
            <a:noFill/>
            <a:miter lim="800000"/>
          </a:ln>
          <a:effectLst/>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450329" y="3145992"/>
            <a:ext cx="5524404" cy="2003742"/>
          </a:xfrm>
        </p:spPr>
        <p:txBody>
          <a:bodyPr>
            <a:normAutofit/>
          </a:bodyPr>
          <a:lstStyle>
            <a:lvl1pPr marL="0" indent="0" algn="l">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1447382" y="5469856"/>
            <a:ext cx="5527351" cy="320123"/>
          </a:xfrm>
        </p:spPr>
        <p:txBody>
          <a:bodyPr/>
          <a:lstStyle>
            <a:lvl1pPr algn="l">
              <a:defRPr/>
            </a:lvl1pPr>
          </a:lstStyle>
          <a:p>
            <a:fld id="{1D8BD707-D9CF-40AE-B4C6-C98DA3205C09}" type="datetimeFigureOut">
              <a:rPr lang="en-US" smtClean="0"/>
              <a:pPr/>
              <a:t>8/31/2026</a:t>
            </a:fld>
            <a:endParaRPr lang="en-US"/>
          </a:p>
        </p:txBody>
      </p:sp>
      <p:sp>
        <p:nvSpPr>
          <p:cNvPr id="7" name="Slide Number Placeholder 6"/>
          <p:cNvSpPr>
            <a:spLocks noGrp="1"/>
          </p:cNvSpPr>
          <p:nvPr>
            <p:ph type="sldNum" sz="quarter" idx="12"/>
          </p:nvPr>
        </p:nvSpPr>
        <p:spPr/>
        <p:txBody>
          <a:bodyPr/>
          <a:lstStyle/>
          <a:p>
            <a:pPr marL="109855">
              <a:lnSpc>
                <a:spcPts val="1070"/>
              </a:lnSpc>
            </a:pPr>
            <a:fld id="{81D60167-4931-47E6-BA6A-407CBD079E47}" type="slidenum">
              <a:rPr lang="en-IN" smtClean="0"/>
              <a:pPr marL="109855">
                <a:lnSpc>
                  <a:spcPts val="1070"/>
                </a:lnSpc>
              </a:pPr>
              <a:t>‹#›</a:t>
            </a:fld>
            <a:endParaRPr lang="en-IN" dirty="0"/>
          </a:p>
        </p:txBody>
      </p:sp>
      <p:cxnSp>
        <p:nvCxnSpPr>
          <p:cNvPr id="31" name="Straight Connector 30"/>
          <p:cNvCxnSpPr/>
          <p:nvPr/>
        </p:nvCxnSpPr>
        <p:spPr>
          <a:xfrm>
            <a:off x="1447382" y="3143605"/>
            <a:ext cx="5527351"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71232265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pPr/>
              <a:t>8/31/2026</a:t>
            </a:fld>
            <a:endParaRPr lang="en-US"/>
          </a:p>
        </p:txBody>
      </p:sp>
      <p:sp>
        <p:nvSpPr>
          <p:cNvPr id="6" name="Slide Number Placeholder 5"/>
          <p:cNvSpPr>
            <a:spLocks noGrp="1"/>
          </p:cNvSpPr>
          <p:nvPr>
            <p:ph type="sldNum" sz="quarter" idx="12"/>
          </p:nvPr>
        </p:nvSpPr>
        <p:spPr/>
        <p:txBody>
          <a:bodyPr/>
          <a:lstStyle/>
          <a:p>
            <a:pPr marL="109855">
              <a:lnSpc>
                <a:spcPts val="1070"/>
              </a:lnSpc>
            </a:pPr>
            <a:fld id="{81D60167-4931-47E6-BA6A-407CBD079E47}" type="slidenum">
              <a:rPr lang="en-IN" smtClean="0"/>
              <a:pPr marL="109855">
                <a:lnSpc>
                  <a:spcPts val="1070"/>
                </a:lnSpc>
              </a:pPr>
              <a:t>‹#›</a:t>
            </a:fld>
            <a:endParaRPr lang="en-IN" dirty="0"/>
          </a:p>
        </p:txBody>
      </p:sp>
    </p:spTree>
    <p:extLst>
      <p:ext uri="{BB962C8B-B14F-4D97-AF65-F5344CB8AC3E}">
        <p14:creationId xmlns:p14="http://schemas.microsoft.com/office/powerpoint/2010/main" val="229808983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439111" y="798973"/>
            <a:ext cx="1615742" cy="4659889"/>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1444672" y="798973"/>
            <a:ext cx="7828830" cy="465988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pPr/>
              <a:t>8/31/2026</a:t>
            </a:fld>
            <a:endParaRPr lang="en-US"/>
          </a:p>
        </p:txBody>
      </p:sp>
      <p:sp>
        <p:nvSpPr>
          <p:cNvPr id="6" name="Slide Number Placeholder 5"/>
          <p:cNvSpPr>
            <a:spLocks noGrp="1"/>
          </p:cNvSpPr>
          <p:nvPr>
            <p:ph type="sldNum" sz="quarter" idx="12"/>
          </p:nvPr>
        </p:nvSpPr>
        <p:spPr/>
        <p:txBody>
          <a:bodyPr/>
          <a:lstStyle/>
          <a:p>
            <a:pPr marL="109855">
              <a:lnSpc>
                <a:spcPts val="1070"/>
              </a:lnSpc>
            </a:pPr>
            <a:fld id="{81D60167-4931-47E6-BA6A-407CBD079E47}" type="slidenum">
              <a:rPr lang="en-IN" smtClean="0"/>
              <a:pPr marL="109855">
                <a:lnSpc>
                  <a:spcPts val="1070"/>
                </a:lnSpc>
              </a:pPr>
              <a:t>‹#›</a:t>
            </a:fld>
            <a:endParaRPr lang="en-IN" dirty="0"/>
          </a:p>
        </p:txBody>
      </p:sp>
      <p:cxnSp>
        <p:nvCxnSpPr>
          <p:cNvPr id="15" name="Straight Connector 14"/>
          <p:cNvCxnSpPr/>
          <p:nvPr/>
        </p:nvCxnSpPr>
        <p:spPr>
          <a:xfrm>
            <a:off x="9439111" y="798973"/>
            <a:ext cx="0" cy="4659889"/>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49164205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and Content">
  <p:cSld name="1_Title and Content">
    <p:spTree>
      <p:nvGrpSpPr>
        <p:cNvPr id="1" name="Shape 48"/>
        <p:cNvGrpSpPr/>
        <p:nvPr/>
      </p:nvGrpSpPr>
      <p:grpSpPr>
        <a:xfrm>
          <a:off x="0" y="0"/>
          <a:ext cx="0" cy="0"/>
          <a:chOff x="0" y="0"/>
          <a:chExt cx="0" cy="0"/>
        </a:xfrm>
      </p:grpSpPr>
      <p:sp>
        <p:nvSpPr>
          <p:cNvPr id="49" name="Google Shape;49;p47"/>
          <p:cNvSpPr>
            <a:spLocks noGrp="1"/>
          </p:cNvSpPr>
          <p:nvPr>
            <p:ph type="pic" idx="2"/>
          </p:nvPr>
        </p:nvSpPr>
        <p:spPr>
          <a:xfrm>
            <a:off x="0" y="0"/>
            <a:ext cx="5467350" cy="5987983"/>
          </a:xfrm>
          <a:prstGeom prst="rect">
            <a:avLst/>
          </a:prstGeom>
          <a:noFill/>
          <a:ln>
            <a:noFill/>
          </a:ln>
        </p:spPr>
        <p:txBody>
          <a:bodyPr spcFirstLastPara="1" wrap="square" lIns="91425" tIns="45700" rIns="91425" bIns="45700" anchor="t" anchorCtr="0">
            <a:noAutofit/>
          </a:bodyPr>
          <a:lstStyle>
            <a:lvl1pPr marR="0" lvl="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R="0" lvl="1"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R="0" lvl="2"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R="0" lvl="3"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R="0" lvl="4"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R="0" lvl="5"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R="0" lvl="6"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R="0" lvl="7"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R="0" lvl="8"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r>
              <a:rPr lang="en-US"/>
              <a:t>Click icon to add picture</a:t>
            </a:r>
            <a:endParaRPr/>
          </a:p>
        </p:txBody>
      </p:sp>
    </p:spTree>
    <p:extLst>
      <p:ext uri="{BB962C8B-B14F-4D97-AF65-F5344CB8AC3E}">
        <p14:creationId xmlns:p14="http://schemas.microsoft.com/office/powerpoint/2010/main" val="236268780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2.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8" name="Rectangle 7"/>
          <p:cNvSpPr/>
          <p:nvPr/>
        </p:nvSpPr>
        <p:spPr>
          <a:xfrm>
            <a:off x="0" y="2019476"/>
            <a:ext cx="12192000" cy="4105941"/>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451579" y="804519"/>
            <a:ext cx="9603275" cy="1049235"/>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1451579" y="2015732"/>
            <a:ext cx="9603275" cy="345061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554139" y="379083"/>
            <a:ext cx="3500715" cy="309201"/>
          </a:xfrm>
          <a:prstGeom prst="rect">
            <a:avLst/>
          </a:prstGeom>
        </p:spPr>
        <p:txBody>
          <a:bodyPr vert="horz" lIns="91440" tIns="45720" rIns="91440" bIns="45720" rtlCol="0" anchor="ctr"/>
          <a:lstStyle>
            <a:lvl1pPr algn="r">
              <a:defRPr sz="1000">
                <a:solidFill>
                  <a:schemeClr val="tx1">
                    <a:tint val="75000"/>
                  </a:schemeClr>
                </a:solidFill>
              </a:defRPr>
            </a:lvl1pPr>
          </a:lstStyle>
          <a:p>
            <a:fld id="{1D8BD707-D9CF-40AE-B4C6-C98DA3205C09}" type="datetimeFigureOut">
              <a:rPr lang="en-US" smtClean="0"/>
              <a:pPr/>
              <a:t>8/31/2026</a:t>
            </a:fld>
            <a:endParaRPr lang="en-US"/>
          </a:p>
        </p:txBody>
      </p:sp>
      <p:sp>
        <p:nvSpPr>
          <p:cNvPr id="6" name="Slide Number Placeholder 5"/>
          <p:cNvSpPr>
            <a:spLocks noGrp="1"/>
          </p:cNvSpPr>
          <p:nvPr>
            <p:ph type="sldNum" sz="quarter" idx="4"/>
          </p:nvPr>
        </p:nvSpPr>
        <p:spPr>
          <a:xfrm>
            <a:off x="5690490" y="6291139"/>
            <a:ext cx="811019" cy="503578"/>
          </a:xfrm>
          <a:prstGeom prst="rect">
            <a:avLst/>
          </a:prstGeom>
        </p:spPr>
        <p:txBody>
          <a:bodyPr vert="horz" lIns="91440" tIns="45720" rIns="91440" bIns="45720" rtlCol="0" anchor="t"/>
          <a:lstStyle>
            <a:lvl1pPr algn="ctr">
              <a:defRPr sz="2200">
                <a:solidFill>
                  <a:schemeClr val="accent1"/>
                </a:solidFill>
              </a:defRPr>
            </a:lvl1pPr>
          </a:lstStyle>
          <a:p>
            <a:pPr marL="109855">
              <a:lnSpc>
                <a:spcPts val="1070"/>
              </a:lnSpc>
            </a:pPr>
            <a:fld id="{81D60167-4931-47E6-BA6A-407CBD079E47}" type="slidenum">
              <a:rPr lang="en-IN" smtClean="0"/>
              <a:pPr marL="109855">
                <a:lnSpc>
                  <a:spcPts val="1070"/>
                </a:lnSpc>
              </a:pPr>
              <a:t>‹#›</a:t>
            </a:fld>
            <a:endParaRPr lang="en-IN" dirty="0"/>
          </a:p>
        </p:txBody>
      </p:sp>
      <p:cxnSp>
        <p:nvCxnSpPr>
          <p:cNvPr id="10" name="Straight Connector 9"/>
          <p:cNvCxnSpPr/>
          <p:nvPr/>
        </p:nvCxnSpPr>
        <p:spPr>
          <a:xfrm>
            <a:off x="0" y="6128413"/>
            <a:ext cx="12192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pic>
        <p:nvPicPr>
          <p:cNvPr id="9" name="Picture 8" descr="Icon&#10;&#10;Description automatically generated with medium confidence">
            <a:extLst>
              <a:ext uri="{FF2B5EF4-FFF2-40B4-BE49-F238E27FC236}">
                <a16:creationId xmlns:a16="http://schemas.microsoft.com/office/drawing/2014/main" id="{D33DD7EC-6054-A5D7-0F93-3916702EC90E}"/>
              </a:ext>
            </a:extLst>
          </p:cNvPr>
          <p:cNvPicPr>
            <a:picLocks noChangeAspect="1"/>
          </p:cNvPicPr>
          <p:nvPr/>
        </p:nvPicPr>
        <p:blipFill>
          <a:blip r:embed="rId14" cstate="print">
            <a:extLst>
              <a:ext uri="{28A0092B-C50C-407E-A947-70E740481C1C}">
                <a14:useLocalDpi xmlns:a14="http://schemas.microsoft.com/office/drawing/2010/main" val="0"/>
              </a:ext>
            </a:extLst>
          </a:blip>
          <a:stretch>
            <a:fillRect/>
          </a:stretch>
        </p:blipFill>
        <p:spPr>
          <a:xfrm>
            <a:off x="77444" y="32699"/>
            <a:ext cx="1218935" cy="500985"/>
          </a:xfrm>
          <a:prstGeom prst="rect">
            <a:avLst/>
          </a:prstGeom>
        </p:spPr>
      </p:pic>
      <p:pic>
        <p:nvPicPr>
          <p:cNvPr id="12" name="Picture 11">
            <a:extLst>
              <a:ext uri="{FF2B5EF4-FFF2-40B4-BE49-F238E27FC236}">
                <a16:creationId xmlns:a16="http://schemas.microsoft.com/office/drawing/2014/main" id="{DB6D7A70-9470-38A5-6785-933F5C089234}"/>
              </a:ext>
            </a:extLst>
          </p:cNvPr>
          <p:cNvPicPr>
            <a:picLocks noChangeAspect="1"/>
          </p:cNvPicPr>
          <p:nvPr/>
        </p:nvPicPr>
        <p:blipFill rotWithShape="1">
          <a:blip r:embed="rId15" cstate="print">
            <a:extLst>
              <a:ext uri="{28A0092B-C50C-407E-A947-70E740481C1C}">
                <a14:useLocalDpi xmlns:a14="http://schemas.microsoft.com/office/drawing/2010/main" val="0"/>
              </a:ext>
            </a:extLst>
          </a:blip>
          <a:srcRect l="4360" t="18054" b="50110"/>
          <a:stretch/>
        </p:blipFill>
        <p:spPr>
          <a:xfrm>
            <a:off x="1451579" y="6373097"/>
            <a:ext cx="2912198" cy="351077"/>
          </a:xfrm>
          <a:prstGeom prst="rect">
            <a:avLst/>
          </a:prstGeom>
        </p:spPr>
      </p:pic>
      <p:pic>
        <p:nvPicPr>
          <p:cNvPr id="14" name="Picture 13" descr="Text&#10;&#10;Description automatically generated with medium confidence">
            <a:extLst>
              <a:ext uri="{FF2B5EF4-FFF2-40B4-BE49-F238E27FC236}">
                <a16:creationId xmlns:a16="http://schemas.microsoft.com/office/drawing/2014/main" id="{A51BE3ED-273E-B0A1-FC3A-EE01E1A92D27}"/>
              </a:ext>
            </a:extLst>
          </p:cNvPr>
          <p:cNvPicPr>
            <a:picLocks noChangeAspect="1"/>
          </p:cNvPicPr>
          <p:nvPr/>
        </p:nvPicPr>
        <p:blipFill rotWithShape="1">
          <a:blip r:embed="rId16" cstate="print">
            <a:extLst>
              <a:ext uri="{28A0092B-C50C-407E-A947-70E740481C1C}">
                <a14:useLocalDpi xmlns:a14="http://schemas.microsoft.com/office/drawing/2010/main" val="0"/>
              </a:ext>
            </a:extLst>
          </a:blip>
          <a:srcRect t="53957" r="20929" b="13232"/>
          <a:stretch/>
        </p:blipFill>
        <p:spPr>
          <a:xfrm>
            <a:off x="8825503" y="6373097"/>
            <a:ext cx="2229351" cy="335027"/>
          </a:xfrm>
          <a:prstGeom prst="rect">
            <a:avLst/>
          </a:prstGeom>
        </p:spPr>
      </p:pic>
    </p:spTree>
    <p:extLst>
      <p:ext uri="{BB962C8B-B14F-4D97-AF65-F5344CB8AC3E}">
        <p14:creationId xmlns:p14="http://schemas.microsoft.com/office/powerpoint/2010/main" val="2011693843"/>
      </p:ext>
    </p:extLst>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 id="2147483673" r:id="rId12"/>
  </p:sldLayoutIdLst>
  <p:txStyles>
    <p:titleStyle>
      <a:lvl1pPr algn="l" defTabSz="914400" rtl="0" eaLnBrk="1" latinLnBrk="0" hangingPunct="1">
        <a:lnSpc>
          <a:spcPct val="90000"/>
        </a:lnSpc>
        <a:spcBef>
          <a:spcPct val="0"/>
        </a:spcBef>
        <a:buNone/>
        <a:defRPr sz="3200" b="0" i="0" kern="1200" cap="all">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accent1"/>
        </a:buClr>
        <a:buSzPct val="100000"/>
        <a:buFont typeface="Arial" panose="020B0604020202020204" pitchFamily="34" charset="0"/>
        <a:buChar char="•"/>
        <a:defRPr sz="2000" kern="120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800" kern="1200" cap="none"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6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400" kern="1200" cap="none"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svg"/><Relationship Id="rId1" Type="http://schemas.openxmlformats.org/officeDocument/2006/relationships/slideLayout" Target="../slideLayouts/slideLayout12.xml"/><Relationship Id="rId4" Type="http://schemas.openxmlformats.org/officeDocument/2006/relationships/image" Target="../media/image6.sv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hemeOverride" Target="../theme/themeOverride1.xml"/></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hemeOverride" Target="../theme/themeOverride2.xml"/></Relationships>
</file>

<file path=ppt/slides/_rels/slide6.xml.rels><?xml version="1.0" encoding="UTF-8" standalone="yes"?>
<Relationships xmlns="http://schemas.openxmlformats.org/package/2006/relationships"><Relationship Id="rId3" Type="http://schemas.openxmlformats.org/officeDocument/2006/relationships/hyperlink" Target="https://www.geeksforgeeks.org/seaborn-categorical-plots/" TargetMode="External"/><Relationship Id="rId7" Type="http://schemas.openxmlformats.org/officeDocument/2006/relationships/image" Target="../media/image7.png"/><Relationship Id="rId2" Type="http://schemas.openxmlformats.org/officeDocument/2006/relationships/slideLayout" Target="../slideLayouts/slideLayout2.xml"/><Relationship Id="rId1" Type="http://schemas.openxmlformats.org/officeDocument/2006/relationships/themeOverride" Target="../theme/themeOverride3.xml"/><Relationship Id="rId6" Type="http://schemas.openxmlformats.org/officeDocument/2006/relationships/hyperlink" Target="https://www.geeksforgeeks.org/ml-matrix-plots-in-seaborn/" TargetMode="External"/><Relationship Id="rId5" Type="http://schemas.openxmlformats.org/officeDocument/2006/relationships/hyperlink" Target="https://www.geeksforgeeks.org/seaborn-regression-plots/" TargetMode="External"/><Relationship Id="rId4" Type="http://schemas.openxmlformats.org/officeDocument/2006/relationships/hyperlink" Target="https://www.geeksforgeeks.org/seaborn-distribution-plots/" TargetMode="External"/></Relationships>
</file>

<file path=ppt/slides/_rels/slide7.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slideLayout" Target="../slideLayouts/slideLayout2.xml"/><Relationship Id="rId1" Type="http://schemas.openxmlformats.org/officeDocument/2006/relationships/themeOverride" Target="../theme/themeOverride4.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hemeOverride" Target="../theme/themeOverride5.xml"/></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hemeOverride" Target="../theme/themeOverride6.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slideLayout" Target="../slideLayouts/slideLayout2.xml"/><Relationship Id="rId1" Type="http://schemas.openxmlformats.org/officeDocument/2006/relationships/themeOverride" Target="../theme/themeOverride7.xml"/></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slideLayout" Target="../slideLayouts/slideLayout2.xml"/><Relationship Id="rId1" Type="http://schemas.openxmlformats.org/officeDocument/2006/relationships/themeOverride" Target="../theme/themeOverride8.xml"/></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slideLayout" Target="../slideLayouts/slideLayout2.xml"/><Relationship Id="rId1" Type="http://schemas.openxmlformats.org/officeDocument/2006/relationships/themeOverride" Target="../theme/themeOverride9.xml"/></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slideLayout" Target="../slideLayouts/slideLayout2.xml"/><Relationship Id="rId1" Type="http://schemas.openxmlformats.org/officeDocument/2006/relationships/themeOverride" Target="../theme/themeOverride10.xml"/></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hemeOverride" Target="../theme/themeOverride11.xml"/></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hemeOverride" Target="../theme/themeOverride12.xml"/></Relationships>
</file>

<file path=ppt/slides/_rels/slide1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slideLayout" Target="../slideLayouts/slideLayout2.xml"/><Relationship Id="rId1" Type="http://schemas.openxmlformats.org/officeDocument/2006/relationships/themeOverride" Target="../theme/themeOverride13.xml"/></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hemeOverride" Target="../theme/themeOverride14.xml"/></Relationships>
</file>

<file path=ppt/slides/_rels/slide1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slideLayout" Target="../slideLayouts/slideLayout2.xml"/><Relationship Id="rId1" Type="http://schemas.openxmlformats.org/officeDocument/2006/relationships/themeOverride" Target="../theme/themeOverride15.xml"/></Relationships>
</file>

<file path=ppt/slides/_rels/slide1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hemeOverride" Target="../theme/themeOverride16.xml"/></Relationships>
</file>

<file path=ppt/slides/_rels/slide2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slideLayout" Target="../slideLayouts/slideLayout2.xml"/><Relationship Id="rId1" Type="http://schemas.openxmlformats.org/officeDocument/2006/relationships/themeOverride" Target="../theme/themeOverride17.xml"/><Relationship Id="rId4" Type="http://schemas.openxmlformats.org/officeDocument/2006/relationships/image" Target="../media/image15.png"/></Relationships>
</file>

<file path=ppt/slides/_rels/slide2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slideLayout" Target="../slideLayouts/slideLayout2.xml"/><Relationship Id="rId1" Type="http://schemas.openxmlformats.org/officeDocument/2006/relationships/themeOverride" Target="../theme/themeOverride18.xml"/><Relationship Id="rId4" Type="http://schemas.openxmlformats.org/officeDocument/2006/relationships/image" Target="../media/image17.png"/></Relationships>
</file>

<file path=ppt/slides/_rels/slide2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slideLayout" Target="../slideLayouts/slideLayout2.xml"/><Relationship Id="rId1" Type="http://schemas.openxmlformats.org/officeDocument/2006/relationships/themeOverride" Target="../theme/themeOverride19.xml"/></Relationships>
</file>

<file path=ppt/slides/_rels/slide2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hemeOverride" Target="../theme/themeOverride20.xml"/></Relationships>
</file>

<file path=ppt/slides/_rels/slide2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slideLayout" Target="../slideLayouts/slideLayout2.xml"/><Relationship Id="rId1" Type="http://schemas.openxmlformats.org/officeDocument/2006/relationships/themeOverride" Target="../theme/themeOverride21.xml"/></Relationships>
</file>

<file path=ppt/slides/_rels/slide2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slideLayout" Target="../slideLayouts/slideLayout2.xml"/><Relationship Id="rId1" Type="http://schemas.openxmlformats.org/officeDocument/2006/relationships/themeOverride" Target="../theme/themeOverride22.xml"/></Relationships>
</file>

<file path=ppt/slides/_rels/slide26.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slideLayout" Target="../slideLayouts/slideLayout2.xml"/><Relationship Id="rId1" Type="http://schemas.openxmlformats.org/officeDocument/2006/relationships/themeOverride" Target="../theme/themeOverride23.xml"/></Relationships>
</file>

<file path=ppt/slides/_rels/slide27.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slideLayout" Target="../slideLayouts/slideLayout2.xml"/><Relationship Id="rId1" Type="http://schemas.openxmlformats.org/officeDocument/2006/relationships/themeOverride" Target="../theme/themeOverride24.xml"/></Relationships>
</file>

<file path=ppt/slides/_rels/slide28.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slideLayout" Target="../slideLayouts/slideLayout2.xml"/><Relationship Id="rId1" Type="http://schemas.openxmlformats.org/officeDocument/2006/relationships/themeOverride" Target="../theme/themeOverride25.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Google Shape;475;p16">
            <a:extLst>
              <a:ext uri="{FF2B5EF4-FFF2-40B4-BE49-F238E27FC236}">
                <a16:creationId xmlns:a16="http://schemas.microsoft.com/office/drawing/2014/main" id="{CB69EC99-FFAF-B3A6-842B-B510C0EAB741}"/>
              </a:ext>
            </a:extLst>
          </p:cNvPr>
          <p:cNvSpPr txBox="1"/>
          <p:nvPr/>
        </p:nvSpPr>
        <p:spPr>
          <a:xfrm>
            <a:off x="2971800" y="762000"/>
            <a:ext cx="5650523" cy="707846"/>
          </a:xfrm>
          <a:prstGeom prst="rect">
            <a:avLst/>
          </a:prstGeom>
          <a:noFill/>
          <a:ln>
            <a:noFill/>
          </a:ln>
          <a:effectLst/>
        </p:spPr>
        <p:txBody>
          <a:bodyPr spcFirstLastPara="1" wrap="square" lIns="91425" tIns="45700" rIns="91425" bIns="45700" anchor="t" anchorCtr="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4000" b="0" i="0" u="none" strike="noStrike" kern="1200" cap="none" spc="0" normalizeH="0" baseline="0" noProof="0" dirty="0">
                <a:ln>
                  <a:noFill/>
                </a:ln>
                <a:solidFill>
                  <a:srgbClr val="00B0F0"/>
                </a:solidFill>
                <a:effectLst/>
                <a:uLnTx/>
                <a:uFillTx/>
                <a:latin typeface="Gill Sans MT"/>
                <a:ea typeface="+mn-ea"/>
                <a:cs typeface="Poppins" pitchFamily="2" charset="77"/>
              </a:rPr>
              <a:t>Department of </a:t>
            </a:r>
            <a:r>
              <a:rPr lang="en-US" sz="4000" dirty="0">
                <a:solidFill>
                  <a:srgbClr val="00B0F0"/>
                </a:solidFill>
                <a:latin typeface="Gill Sans MT"/>
                <a:cs typeface="Poppins" pitchFamily="2" charset="77"/>
              </a:rPr>
              <a:t>CSE</a:t>
            </a:r>
            <a:endParaRPr kumimoji="0" lang="en-US" sz="4000" b="0" i="0" u="none" strike="noStrike" kern="1200" cap="none" spc="0" normalizeH="0" baseline="0" noProof="0" dirty="0">
              <a:ln>
                <a:noFill/>
              </a:ln>
              <a:solidFill>
                <a:srgbClr val="00B0F0"/>
              </a:solidFill>
              <a:effectLst/>
              <a:uLnTx/>
              <a:uFillTx/>
              <a:latin typeface="Gill Sans MT"/>
              <a:ea typeface="+mn-ea"/>
              <a:cs typeface="Poppins" pitchFamily="2" charset="77"/>
            </a:endParaRPr>
          </a:p>
        </p:txBody>
      </p:sp>
      <p:sp>
        <p:nvSpPr>
          <p:cNvPr id="6" name="Google Shape;476;p16">
            <a:extLst>
              <a:ext uri="{FF2B5EF4-FFF2-40B4-BE49-F238E27FC236}">
                <a16:creationId xmlns:a16="http://schemas.microsoft.com/office/drawing/2014/main" id="{84A891A9-D46F-5E9B-65D6-C64F832A0362}"/>
              </a:ext>
            </a:extLst>
          </p:cNvPr>
          <p:cNvSpPr txBox="1"/>
          <p:nvPr/>
        </p:nvSpPr>
        <p:spPr>
          <a:xfrm>
            <a:off x="1447800" y="2090192"/>
            <a:ext cx="8218565" cy="2677616"/>
          </a:xfrm>
          <a:prstGeom prst="rect">
            <a:avLst/>
          </a:prstGeom>
          <a:noFill/>
          <a:ln>
            <a:noFill/>
          </a:ln>
        </p:spPr>
        <p:txBody>
          <a:bodyPr spcFirstLastPara="1" wrap="square" lIns="91425" tIns="45700" rIns="91425" bIns="45700" anchor="t" anchorCtr="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3200" b="1" i="0" u="none" strike="noStrike" kern="1200" cap="all" spc="0" normalizeH="0" baseline="0" noProof="0" dirty="0">
                <a:ln/>
                <a:solidFill>
                  <a:srgbClr val="C00000"/>
                </a:solidFill>
                <a:effectLst/>
                <a:uLnTx/>
                <a:uFillTx/>
                <a:latin typeface="Gill Sans MT"/>
                <a:ea typeface="+mn-ea"/>
                <a:cs typeface="Poppins" panose="00000500000000000000" pitchFamily="2" charset="0"/>
                <a:sym typeface="BioRhyme ExtraBold"/>
              </a:rPr>
              <a:t>COURSE NAME: Data science</a:t>
            </a:r>
          </a:p>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3200" b="1" i="0" u="none" strike="noStrike" kern="1200" cap="all" spc="0" normalizeH="0" baseline="0" noProof="0" dirty="0">
              <a:ln/>
              <a:solidFill>
                <a:srgbClr val="C00000"/>
              </a:solidFill>
              <a:effectLst/>
              <a:uLnTx/>
              <a:uFillTx/>
              <a:latin typeface="Gill Sans MT"/>
              <a:ea typeface="+mn-ea"/>
              <a:cs typeface="Poppins" panose="00000500000000000000" pitchFamily="2" charset="0"/>
              <a:sym typeface="BioRhyme ExtraBold"/>
            </a:endParaRPr>
          </a:p>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3200" b="1" i="0" u="none" strike="noStrike" kern="1200" cap="all" spc="0" normalizeH="0" baseline="0" noProof="0" dirty="0">
                <a:ln/>
                <a:solidFill>
                  <a:srgbClr val="00B0F0"/>
                </a:solidFill>
                <a:effectLst/>
                <a:uLnTx/>
                <a:uFillTx/>
                <a:latin typeface="Gill Sans MT"/>
                <a:ea typeface="+mn-ea"/>
                <a:cs typeface="Poppins" panose="00000500000000000000" pitchFamily="2" charset="0"/>
                <a:sym typeface="BioRhyme ExtraBold"/>
              </a:rPr>
              <a:t>COURSE CODE: 24AD3107</a:t>
            </a:r>
            <a:r>
              <a:rPr kumimoji="0" lang="en-US" sz="3200" b="1" i="0" u="none" strike="noStrike" kern="1200" cap="all" spc="0" normalizeH="0" baseline="0" noProof="0" dirty="0">
                <a:ln/>
                <a:solidFill>
                  <a:srgbClr val="C00000"/>
                </a:solidFill>
                <a:effectLst/>
                <a:uLnTx/>
                <a:uFillTx/>
                <a:latin typeface="Gill Sans MT"/>
                <a:ea typeface="+mn-ea"/>
                <a:cs typeface="Poppins" panose="00000500000000000000" pitchFamily="2" charset="0"/>
                <a:sym typeface="BioRhyme ExtraBold"/>
              </a:rPr>
              <a:t>	</a:t>
            </a:r>
            <a:endParaRPr kumimoji="0" lang="en-US" sz="2000" b="1" i="0" u="none" strike="noStrike" kern="1200" cap="none" spc="0" normalizeH="0" baseline="0" noProof="0" dirty="0">
              <a:ln>
                <a:noFill/>
              </a:ln>
              <a:solidFill>
                <a:prstClr val="white">
                  <a:lumMod val="50000"/>
                </a:prstClr>
              </a:solidFill>
              <a:effectLst/>
              <a:uLnTx/>
              <a:uFillTx/>
              <a:latin typeface="Gill Sans MT"/>
              <a:ea typeface="BioRhyme ExtraBold"/>
              <a:cs typeface="Poppins" panose="00000500000000000000" pitchFamily="2" charset="0"/>
              <a:sym typeface="BioRhyme ExtraBold"/>
            </a:endParaRPr>
          </a:p>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2000" b="1" i="0" u="none" strike="noStrike" kern="1200" cap="none" spc="0" normalizeH="0" baseline="0" noProof="0" dirty="0">
              <a:ln>
                <a:noFill/>
              </a:ln>
              <a:solidFill>
                <a:prstClr val="white">
                  <a:lumMod val="50000"/>
                </a:prstClr>
              </a:solidFill>
              <a:effectLst/>
              <a:uLnTx/>
              <a:uFillTx/>
              <a:latin typeface="Gill Sans MT"/>
              <a:ea typeface="BioRhyme ExtraBold"/>
              <a:cs typeface="Poppins" panose="00000500000000000000" pitchFamily="2" charset="0"/>
              <a:sym typeface="BioRhyme ExtraBold"/>
            </a:endParaRPr>
          </a:p>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prstClr val="white">
                    <a:lumMod val="50000"/>
                  </a:prstClr>
                </a:solidFill>
                <a:effectLst/>
                <a:uLnTx/>
                <a:uFillTx/>
                <a:latin typeface="Gill Sans MT"/>
                <a:ea typeface="BioRhyme ExtraBold"/>
                <a:cs typeface="Poppins" panose="00000500000000000000" pitchFamily="2" charset="0"/>
                <a:sym typeface="BioRhyme ExtraBold"/>
              </a:rPr>
              <a:t>Topic: </a:t>
            </a:r>
          </a:p>
          <a:p>
            <a:pPr lvl="0" algn="ctr" defTabSz="457200"/>
            <a:r>
              <a:rPr kumimoji="0" lang="en-US" sz="3200" b="0" i="0" u="none" strike="noStrike" kern="1200" cap="none" spc="0" normalizeH="0" baseline="0" noProof="0" dirty="0">
                <a:ln>
                  <a:noFill/>
                </a:ln>
                <a:solidFill>
                  <a:prstClr val="black"/>
                </a:solidFill>
                <a:effectLst/>
                <a:uLnTx/>
                <a:uFillTx/>
                <a:latin typeface="Gill Sans MT"/>
                <a:ea typeface="+mn-ea"/>
                <a:cs typeface="+mn-cs"/>
              </a:rPr>
              <a:t>Seaborn Basics and Styling Concepts</a:t>
            </a:r>
            <a:endParaRPr kumimoji="0" lang="en-US" sz="3200" b="1" i="0" u="none" strike="noStrike" kern="1200" cap="all" spc="0" normalizeH="0" baseline="0" noProof="0" dirty="0">
              <a:ln/>
              <a:solidFill>
                <a:srgbClr val="C00000"/>
              </a:solidFill>
              <a:effectLst/>
              <a:uLnTx/>
              <a:uFillTx/>
              <a:latin typeface="Gill Sans MT"/>
              <a:ea typeface="+mn-ea"/>
              <a:cs typeface="Poppins" panose="00000500000000000000" pitchFamily="2" charset="0"/>
              <a:sym typeface="BioRhyme ExtraBold"/>
            </a:endParaRPr>
          </a:p>
        </p:txBody>
      </p:sp>
      <p:sp>
        <p:nvSpPr>
          <p:cNvPr id="7" name="Google Shape;502;p17">
            <a:extLst>
              <a:ext uri="{FF2B5EF4-FFF2-40B4-BE49-F238E27FC236}">
                <a16:creationId xmlns:a16="http://schemas.microsoft.com/office/drawing/2014/main" id="{A5120A7A-ED85-153C-EE7C-2FEB2D482089}"/>
              </a:ext>
            </a:extLst>
          </p:cNvPr>
          <p:cNvSpPr/>
          <p:nvPr/>
        </p:nvSpPr>
        <p:spPr>
          <a:xfrm>
            <a:off x="4876800" y="5410200"/>
            <a:ext cx="2895600" cy="423041"/>
          </a:xfrm>
          <a:prstGeom prst="roundRect">
            <a:avLst>
              <a:gd name="adj" fmla="val 35613"/>
            </a:avLst>
          </a:prstGeom>
          <a:solidFill>
            <a:srgbClr val="C00000"/>
          </a:solidFill>
          <a:ln>
            <a:noFill/>
          </a:ln>
          <a:effectLst>
            <a:outerShdw blurRad="190500" sx="102000" sy="102000" algn="ctr" rotWithShape="0">
              <a:srgbClr val="000000">
                <a:alpha val="24705"/>
              </a:srgbClr>
            </a:outerShdw>
          </a:effectLst>
        </p:spPr>
        <p:txBody>
          <a:bodyPr spcFirstLastPara="1" wrap="square" lIns="91425" tIns="45700" rIns="91425" bIns="45700" anchor="ctr" anchorCtr="0">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dirty="0">
                <a:ln>
                  <a:noFill/>
                </a:ln>
                <a:solidFill>
                  <a:prstClr val="white"/>
                </a:solidFill>
                <a:effectLst/>
                <a:uLnTx/>
                <a:uFillTx/>
                <a:latin typeface="Gill Sans MT"/>
                <a:ea typeface="Calibri"/>
                <a:cs typeface="Poppins" panose="00000500000000000000" pitchFamily="2" charset="0"/>
                <a:sym typeface="Calibri"/>
              </a:rPr>
              <a:t>Session – </a:t>
            </a:r>
            <a:r>
              <a:rPr lang="en-US" sz="2800" b="1" dirty="0">
                <a:solidFill>
                  <a:prstClr val="white"/>
                </a:solidFill>
                <a:latin typeface="Gill Sans MT"/>
                <a:ea typeface="Calibri"/>
                <a:cs typeface="Poppins" panose="00000500000000000000" pitchFamily="2" charset="0"/>
                <a:sym typeface="Calibri"/>
              </a:rPr>
              <a:t>5&amp;6</a:t>
            </a:r>
            <a:endParaRPr kumimoji="0" sz="2800" b="1" i="0" u="none" strike="noStrike" kern="1200" cap="none" spc="0" normalizeH="0" baseline="0" noProof="0" dirty="0">
              <a:ln>
                <a:noFill/>
              </a:ln>
              <a:solidFill>
                <a:prstClr val="white"/>
              </a:solidFill>
              <a:effectLst/>
              <a:uLnTx/>
              <a:uFillTx/>
              <a:latin typeface="Gill Sans MT"/>
              <a:ea typeface="Calibri"/>
              <a:cs typeface="Poppins" panose="00000500000000000000" pitchFamily="2" charset="0"/>
              <a:sym typeface="Calibri"/>
            </a:endParaRPr>
          </a:p>
        </p:txBody>
      </p:sp>
    </p:spTree>
    <p:extLst>
      <p:ext uri="{BB962C8B-B14F-4D97-AF65-F5344CB8AC3E}">
        <p14:creationId xmlns:p14="http://schemas.microsoft.com/office/powerpoint/2010/main" val="46921668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a:extLst>
              <a:ext uri="{FF2B5EF4-FFF2-40B4-BE49-F238E27FC236}">
                <a16:creationId xmlns:a16="http://schemas.microsoft.com/office/drawing/2014/main" id="{D530E72E-233E-E443-1A84-D3CD02ECB889}"/>
              </a:ext>
            </a:extLst>
          </p:cNvPr>
          <p:cNvSpPr/>
          <p:nvPr/>
        </p:nvSpPr>
        <p:spPr>
          <a:xfrm>
            <a:off x="4471372" y="84408"/>
            <a:ext cx="3376488" cy="390698"/>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white"/>
                </a:solidFill>
                <a:effectLst/>
                <a:uLnTx/>
                <a:uFillTx/>
                <a:latin typeface="Gill Sans MT"/>
                <a:ea typeface="+mn-ea"/>
                <a:cs typeface="+mn-cs"/>
              </a:rPr>
              <a:t>AIM OF THE SESSION</a:t>
            </a:r>
          </a:p>
        </p:txBody>
      </p:sp>
      <p:sp>
        <p:nvSpPr>
          <p:cNvPr id="5" name="TextBox 4">
            <a:extLst>
              <a:ext uri="{FF2B5EF4-FFF2-40B4-BE49-F238E27FC236}">
                <a16:creationId xmlns:a16="http://schemas.microsoft.com/office/drawing/2014/main" id="{D7C61438-200D-827A-D4DD-5B5127AFA187}"/>
              </a:ext>
            </a:extLst>
          </p:cNvPr>
          <p:cNvSpPr txBox="1"/>
          <p:nvPr/>
        </p:nvSpPr>
        <p:spPr>
          <a:xfrm>
            <a:off x="1110343" y="689854"/>
            <a:ext cx="10731286" cy="426784"/>
          </a:xfrm>
          <a:prstGeom prst="rect">
            <a:avLst/>
          </a:prstGeom>
          <a:gradFill flip="none" rotWithShape="1">
            <a:gsLst>
              <a:gs pos="0">
                <a:schemeClr val="accent1">
                  <a:lumMod val="5000"/>
                  <a:lumOff val="95000"/>
                  <a:alpha val="0"/>
                </a:schemeClr>
              </a:gs>
              <a:gs pos="100000">
                <a:schemeClr val="accent1">
                  <a:lumMod val="30000"/>
                  <a:lumOff val="70000"/>
                </a:schemeClr>
              </a:gs>
            </a:gsLst>
            <a:path path="circle">
              <a:fillToRect l="50000" t="50000" r="50000" b="50000"/>
            </a:path>
            <a:tileRect/>
          </a:gradFill>
          <a:ln cap="rnd">
            <a:solidFill>
              <a:schemeClr val="accent1">
                <a:lumMod val="20000"/>
                <a:lumOff val="80000"/>
              </a:schemeClr>
            </a:solidFill>
            <a:round/>
          </a:ln>
          <a:effectLst>
            <a:outerShdw blurRad="50800" dist="38100" algn="l" rotWithShape="0">
              <a:schemeClr val="accent1">
                <a:lumMod val="40000"/>
                <a:lumOff val="60000"/>
                <a:alpha val="0"/>
              </a:schemeClr>
            </a:outerShdw>
          </a:effectLst>
        </p:spPr>
        <p:txBody>
          <a:bodyPr wrap="square" lIns="91440" tIns="45720" rIns="91440" bIns="45720" rtlCol="0" anchor="t">
            <a:spAutoFit/>
          </a:bodyPr>
          <a:lstStyle/>
          <a:p>
            <a:pPr marL="0" marR="0" lvl="0" indent="0" algn="l" defTabSz="457200" rtl="0" eaLnBrk="1" fontAlgn="auto" latinLnBrk="0" hangingPunct="1">
              <a:lnSpc>
                <a:spcPct val="15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Poppins"/>
                <a:ea typeface="+mn-ea"/>
                <a:cs typeface="Poppins"/>
              </a:rPr>
              <a:t>To familiarize students with the basic concept of  Seaborn Library and its Styling Components in Python.</a:t>
            </a:r>
          </a:p>
        </p:txBody>
      </p:sp>
      <p:sp>
        <p:nvSpPr>
          <p:cNvPr id="7" name="Rounded Rectangle 17">
            <a:extLst>
              <a:ext uri="{FF2B5EF4-FFF2-40B4-BE49-F238E27FC236}">
                <a16:creationId xmlns:a16="http://schemas.microsoft.com/office/drawing/2014/main" id="{7F3AABB0-F8BA-C900-B6BF-45F4B58E9490}"/>
              </a:ext>
            </a:extLst>
          </p:cNvPr>
          <p:cNvSpPr/>
          <p:nvPr/>
        </p:nvSpPr>
        <p:spPr>
          <a:xfrm>
            <a:off x="4160582" y="1807062"/>
            <a:ext cx="4495146" cy="390698"/>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white"/>
                </a:solidFill>
                <a:effectLst/>
                <a:uLnTx/>
                <a:uFillTx/>
                <a:latin typeface="Gill Sans MT"/>
                <a:ea typeface="+mn-ea"/>
                <a:cs typeface="+mn-cs"/>
              </a:rPr>
              <a:t>INSTRUCTIONAL OBJECTIVES</a:t>
            </a:r>
          </a:p>
        </p:txBody>
      </p:sp>
      <p:sp>
        <p:nvSpPr>
          <p:cNvPr id="9" name="TextBox 8">
            <a:extLst>
              <a:ext uri="{FF2B5EF4-FFF2-40B4-BE49-F238E27FC236}">
                <a16:creationId xmlns:a16="http://schemas.microsoft.com/office/drawing/2014/main" id="{2B5EAD4E-C007-9DE7-A40A-12802D3C9611}"/>
              </a:ext>
            </a:extLst>
          </p:cNvPr>
          <p:cNvSpPr txBox="1"/>
          <p:nvPr/>
        </p:nvSpPr>
        <p:spPr>
          <a:xfrm>
            <a:off x="1752600" y="2438605"/>
            <a:ext cx="9982200" cy="519116"/>
          </a:xfrm>
          <a:prstGeom prst="rect">
            <a:avLst/>
          </a:prstGeom>
          <a:gradFill flip="none" rotWithShape="1">
            <a:gsLst>
              <a:gs pos="0">
                <a:schemeClr val="accent1">
                  <a:lumMod val="5000"/>
                  <a:lumOff val="95000"/>
                </a:schemeClr>
              </a:gs>
              <a:gs pos="100000">
                <a:schemeClr val="accent1">
                  <a:lumMod val="30000"/>
                  <a:lumOff val="70000"/>
                </a:schemeClr>
              </a:gs>
            </a:gsLst>
            <a:path path="circle">
              <a:fillToRect l="50000" t="50000" r="50000" b="50000"/>
            </a:path>
            <a:tileRect/>
          </a:gradFill>
          <a:ln>
            <a:solidFill>
              <a:schemeClr val="accent1">
                <a:lumMod val="20000"/>
                <a:lumOff val="80000"/>
              </a:schemeClr>
            </a:solidFill>
          </a:ln>
          <a:effectLst>
            <a:outerShdw blurRad="50800" dist="38100" algn="l" rotWithShape="0">
              <a:schemeClr val="accent1">
                <a:lumMod val="40000"/>
                <a:lumOff val="60000"/>
                <a:alpha val="40000"/>
              </a:schemeClr>
            </a:outerShdw>
          </a:effectLst>
        </p:spPr>
        <p:txBody>
          <a:bodyPr wrap="square" lIns="91440" tIns="45720" rIns="91440" bIns="45720" rtlCol="0" anchor="t">
            <a:spAutoFit/>
          </a:bodyPr>
          <a:lstStyle/>
          <a:p>
            <a:pPr lvl="0" defTabSz="457200">
              <a:lnSpc>
                <a:spcPct val="200000"/>
              </a:lnSpc>
            </a:pPr>
            <a:r>
              <a:rPr kumimoji="0" lang="en-US" sz="1600" b="0" i="0" u="none" strike="noStrike" kern="1200" cap="none" spc="0" normalizeH="0" baseline="0" noProof="0" dirty="0">
                <a:ln>
                  <a:noFill/>
                </a:ln>
                <a:solidFill>
                  <a:prstClr val="black"/>
                </a:solidFill>
                <a:effectLst/>
                <a:uLnTx/>
                <a:uFillTx/>
                <a:latin typeface="Poppins"/>
                <a:ea typeface="+mn-ea"/>
                <a:cs typeface="Poppins"/>
              </a:rPr>
              <a:t>This Session is designed to: </a:t>
            </a:r>
            <a:r>
              <a:rPr lang="en-US" sz="1600" dirty="0">
                <a:solidFill>
                  <a:prstClr val="black"/>
                </a:solidFill>
                <a:latin typeface="Poppins"/>
                <a:cs typeface="Poppins"/>
              </a:rPr>
              <a:t>Introduction to Basics of Seaborn and its styling components.</a:t>
            </a:r>
            <a:endParaRPr kumimoji="0" lang="en-US" sz="1600" b="0" i="0" u="none" strike="noStrike" kern="1200" cap="none" spc="0" normalizeH="0" baseline="0" noProof="0" dirty="0">
              <a:ln>
                <a:noFill/>
              </a:ln>
              <a:solidFill>
                <a:prstClr val="black"/>
              </a:solidFill>
              <a:effectLst/>
              <a:uLnTx/>
              <a:uFillTx/>
              <a:latin typeface="Poppins"/>
              <a:ea typeface="+mn-ea"/>
              <a:cs typeface="Poppins"/>
            </a:endParaRPr>
          </a:p>
        </p:txBody>
      </p:sp>
      <p:pic>
        <p:nvPicPr>
          <p:cNvPr id="11" name="Graphic 10" descr="Bullseye outline">
            <a:extLst>
              <a:ext uri="{FF2B5EF4-FFF2-40B4-BE49-F238E27FC236}">
                <a16:creationId xmlns:a16="http://schemas.microsoft.com/office/drawing/2014/main" id="{AB75B03E-9C0C-0AF7-2A76-D8618F8F999A}"/>
              </a:ext>
            </a:extLst>
          </p:cNvPr>
          <p:cNvPicPr>
            <a:picLocks noChangeAspect="1"/>
          </p:cNvPicPr>
          <p:nvPr/>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0" y="625326"/>
            <a:ext cx="914400" cy="914400"/>
          </a:xfrm>
          <a:prstGeom prst="rect">
            <a:avLst/>
          </a:prstGeom>
        </p:spPr>
      </p:pic>
      <p:pic>
        <p:nvPicPr>
          <p:cNvPr id="27" name="Graphic 26" descr="Presentation with checklist outline">
            <a:extLst>
              <a:ext uri="{FF2B5EF4-FFF2-40B4-BE49-F238E27FC236}">
                <a16:creationId xmlns:a16="http://schemas.microsoft.com/office/drawing/2014/main" id="{1E9F25CA-EF99-00B6-5FFA-810D1F1806C7}"/>
              </a:ext>
            </a:extLst>
          </p:cNvPr>
          <p:cNvPicPr>
            <a:picLocks noChangeAspect="1"/>
          </p:cNvPicPr>
          <p:nvPr/>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38200" y="2438605"/>
            <a:ext cx="914400" cy="914400"/>
          </a:xfrm>
          <a:prstGeom prst="rect">
            <a:avLst/>
          </a:prstGeom>
        </p:spPr>
      </p:pic>
      <p:sp>
        <p:nvSpPr>
          <p:cNvPr id="29" name="Rounded Rectangle 17">
            <a:extLst>
              <a:ext uri="{FF2B5EF4-FFF2-40B4-BE49-F238E27FC236}">
                <a16:creationId xmlns:a16="http://schemas.microsoft.com/office/drawing/2014/main" id="{6652A33D-9A9E-3EAC-0CAE-113901ECA179}"/>
              </a:ext>
            </a:extLst>
          </p:cNvPr>
          <p:cNvSpPr/>
          <p:nvPr/>
        </p:nvSpPr>
        <p:spPr>
          <a:xfrm>
            <a:off x="4212971" y="4249110"/>
            <a:ext cx="3870831" cy="390698"/>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white"/>
                </a:solidFill>
                <a:effectLst/>
                <a:uLnTx/>
                <a:uFillTx/>
                <a:latin typeface="Gill Sans MT"/>
                <a:ea typeface="+mn-ea"/>
                <a:cs typeface="+mn-cs"/>
              </a:rPr>
              <a:t>LEARNING OUTCOMES</a:t>
            </a:r>
          </a:p>
        </p:txBody>
      </p:sp>
      <p:pic>
        <p:nvPicPr>
          <p:cNvPr id="31" name="Graphic 30" descr="Idea outline">
            <a:extLst>
              <a:ext uri="{FF2B5EF4-FFF2-40B4-BE49-F238E27FC236}">
                <a16:creationId xmlns:a16="http://schemas.microsoft.com/office/drawing/2014/main" id="{5F765FC3-60CF-297F-C1BD-F5A7B8B943AF}"/>
              </a:ext>
            </a:extLst>
          </p:cNvPr>
          <p:cNvPicPr>
            <a:picLocks noChangeAspect="1"/>
          </p:cNvPicPr>
          <p:nvPr/>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914400" y="4765771"/>
            <a:ext cx="914400" cy="914400"/>
          </a:xfrm>
          <a:prstGeom prst="rect">
            <a:avLst/>
          </a:prstGeom>
        </p:spPr>
      </p:pic>
      <p:sp>
        <p:nvSpPr>
          <p:cNvPr id="37" name="TextBox 36">
            <a:extLst>
              <a:ext uri="{FF2B5EF4-FFF2-40B4-BE49-F238E27FC236}">
                <a16:creationId xmlns:a16="http://schemas.microsoft.com/office/drawing/2014/main" id="{B0BB8E68-8B73-12DE-615E-1091F19A9A9A}"/>
              </a:ext>
            </a:extLst>
          </p:cNvPr>
          <p:cNvSpPr txBox="1"/>
          <p:nvPr/>
        </p:nvSpPr>
        <p:spPr>
          <a:xfrm>
            <a:off x="1747684" y="4863626"/>
            <a:ext cx="9906000" cy="1000787"/>
          </a:xfrm>
          <a:prstGeom prst="rect">
            <a:avLst/>
          </a:prstGeom>
          <a:gradFill flip="none" rotWithShape="1">
            <a:gsLst>
              <a:gs pos="0">
                <a:schemeClr val="accent1">
                  <a:lumMod val="5000"/>
                  <a:lumOff val="95000"/>
                </a:schemeClr>
              </a:gs>
              <a:gs pos="100000">
                <a:schemeClr val="accent1">
                  <a:lumMod val="30000"/>
                  <a:lumOff val="70000"/>
                </a:schemeClr>
              </a:gs>
            </a:gsLst>
            <a:path path="circle">
              <a:fillToRect l="50000" t="50000" r="50000" b="50000"/>
            </a:path>
            <a:tileRect/>
          </a:gradFill>
          <a:ln>
            <a:solidFill>
              <a:schemeClr val="accent1">
                <a:lumMod val="20000"/>
                <a:lumOff val="80000"/>
              </a:schemeClr>
            </a:solidFill>
          </a:ln>
          <a:effectLst>
            <a:outerShdw blurRad="50800" dist="38100" algn="l" rotWithShape="0">
              <a:schemeClr val="accent1">
                <a:lumMod val="40000"/>
                <a:lumOff val="60000"/>
                <a:alpha val="40000"/>
              </a:schemeClr>
            </a:outerShdw>
          </a:effectLst>
        </p:spPr>
        <p:txBody>
          <a:bodyPr wrap="square" lIns="91440" tIns="45720" rIns="91440" bIns="45720" rtlCol="0" anchor="t">
            <a:spAutoFit/>
          </a:bodyPr>
          <a:lstStyle/>
          <a:p>
            <a:pPr marL="0" marR="0" lvl="0" indent="0" algn="l" defTabSz="457200" rtl="0" eaLnBrk="1" fontAlgn="auto" latinLnBrk="0" hangingPunct="1">
              <a:lnSpc>
                <a:spcPct val="2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Arial"/>
                <a:ea typeface="+mn-ea"/>
                <a:cs typeface="Arial"/>
              </a:rPr>
              <a:t>At the end of this session, you should be able to: have knowledge on seaborn library and styling concepts and plotting using seaborn</a:t>
            </a:r>
          </a:p>
        </p:txBody>
      </p:sp>
    </p:spTree>
    <p:extLst>
      <p:ext uri="{BB962C8B-B14F-4D97-AF65-F5344CB8AC3E}">
        <p14:creationId xmlns:p14="http://schemas.microsoft.com/office/powerpoint/2010/main" val="1345854699"/>
      </p:ext>
    </p:extLst>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fade">
                                      <p:cBhvr>
                                        <p:cTn id="12" dur="500"/>
                                        <p:tgtEl>
                                          <p:spTgt spid="11"/>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5"/>
                                        </p:tgtEl>
                                        <p:attrNameLst>
                                          <p:attrName>style.visibility</p:attrName>
                                        </p:attrNameLst>
                                      </p:cBhvr>
                                      <p:to>
                                        <p:strVal val="visible"/>
                                      </p:to>
                                    </p:set>
                                    <p:animEffect transition="in" filter="fade">
                                      <p:cBhvr>
                                        <p:cTn id="15" dur="500"/>
                                        <p:tgtEl>
                                          <p:spTgt spid="5"/>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7"/>
                                        </p:tgtEl>
                                        <p:attrNameLst>
                                          <p:attrName>style.visibility</p:attrName>
                                        </p:attrNameLst>
                                      </p:cBhvr>
                                      <p:to>
                                        <p:strVal val="visible"/>
                                      </p:to>
                                    </p:set>
                                    <p:animEffect transition="in" filter="fade">
                                      <p:cBhvr>
                                        <p:cTn id="20" dur="500"/>
                                        <p:tgtEl>
                                          <p:spTgt spid="7"/>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9"/>
                                        </p:tgtEl>
                                        <p:attrNameLst>
                                          <p:attrName>style.visibility</p:attrName>
                                        </p:attrNameLst>
                                      </p:cBhvr>
                                      <p:to>
                                        <p:strVal val="visible"/>
                                      </p:to>
                                    </p:set>
                                    <p:animEffect transition="in" filter="fade">
                                      <p:cBhvr>
                                        <p:cTn id="25" dur="500"/>
                                        <p:tgtEl>
                                          <p:spTgt spid="9"/>
                                        </p:tgtEl>
                                      </p:cBhvr>
                                    </p:animEffect>
                                  </p:childTnLst>
                                </p:cTn>
                              </p:par>
                              <p:par>
                                <p:cTn id="26" presetID="10" presetClass="entr" presetSubtype="0" fill="hold" nodeType="withEffect">
                                  <p:stCondLst>
                                    <p:cond delay="0"/>
                                  </p:stCondLst>
                                  <p:childTnLst>
                                    <p:set>
                                      <p:cBhvr>
                                        <p:cTn id="27" dur="1" fill="hold">
                                          <p:stCondLst>
                                            <p:cond delay="0"/>
                                          </p:stCondLst>
                                        </p:cTn>
                                        <p:tgtEl>
                                          <p:spTgt spid="27"/>
                                        </p:tgtEl>
                                        <p:attrNameLst>
                                          <p:attrName>style.visibility</p:attrName>
                                        </p:attrNameLst>
                                      </p:cBhvr>
                                      <p:to>
                                        <p:strVal val="visible"/>
                                      </p:to>
                                    </p:set>
                                    <p:animEffect transition="in" filter="fade">
                                      <p:cBhvr>
                                        <p:cTn id="28" dur="500"/>
                                        <p:tgtEl>
                                          <p:spTgt spid="27"/>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grpId="0" nodeType="clickEffect">
                                  <p:stCondLst>
                                    <p:cond delay="0"/>
                                  </p:stCondLst>
                                  <p:childTnLst>
                                    <p:set>
                                      <p:cBhvr>
                                        <p:cTn id="32" dur="1" fill="hold">
                                          <p:stCondLst>
                                            <p:cond delay="0"/>
                                          </p:stCondLst>
                                        </p:cTn>
                                        <p:tgtEl>
                                          <p:spTgt spid="29"/>
                                        </p:tgtEl>
                                        <p:attrNameLst>
                                          <p:attrName>style.visibility</p:attrName>
                                        </p:attrNameLst>
                                      </p:cBhvr>
                                      <p:to>
                                        <p:strVal val="visible"/>
                                      </p:to>
                                    </p:set>
                                    <p:animEffect transition="in" filter="fade">
                                      <p:cBhvr>
                                        <p:cTn id="33" dur="500"/>
                                        <p:tgtEl>
                                          <p:spTgt spid="29"/>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grpId="0" nodeType="clickEffect">
                                  <p:stCondLst>
                                    <p:cond delay="0"/>
                                  </p:stCondLst>
                                  <p:childTnLst>
                                    <p:set>
                                      <p:cBhvr>
                                        <p:cTn id="37" dur="1" fill="hold">
                                          <p:stCondLst>
                                            <p:cond delay="0"/>
                                          </p:stCondLst>
                                        </p:cTn>
                                        <p:tgtEl>
                                          <p:spTgt spid="37"/>
                                        </p:tgtEl>
                                        <p:attrNameLst>
                                          <p:attrName>style.visibility</p:attrName>
                                        </p:attrNameLst>
                                      </p:cBhvr>
                                      <p:to>
                                        <p:strVal val="visible"/>
                                      </p:to>
                                    </p:set>
                                    <p:animEffect transition="in" filter="fade">
                                      <p:cBhvr>
                                        <p:cTn id="38" dur="500"/>
                                        <p:tgtEl>
                                          <p:spTgt spid="37"/>
                                        </p:tgtEl>
                                      </p:cBhvr>
                                    </p:animEffect>
                                  </p:childTnLst>
                                </p:cTn>
                              </p:par>
                              <p:par>
                                <p:cTn id="39" presetID="10" presetClass="entr" presetSubtype="0" fill="hold" nodeType="withEffect">
                                  <p:stCondLst>
                                    <p:cond delay="0"/>
                                  </p:stCondLst>
                                  <p:childTnLst>
                                    <p:set>
                                      <p:cBhvr>
                                        <p:cTn id="40" dur="1" fill="hold">
                                          <p:stCondLst>
                                            <p:cond delay="0"/>
                                          </p:stCondLst>
                                        </p:cTn>
                                        <p:tgtEl>
                                          <p:spTgt spid="31"/>
                                        </p:tgtEl>
                                        <p:attrNameLst>
                                          <p:attrName>style.visibility</p:attrName>
                                        </p:attrNameLst>
                                      </p:cBhvr>
                                      <p:to>
                                        <p:strVal val="visible"/>
                                      </p:to>
                                    </p:set>
                                    <p:animEffect transition="in" filter="fade">
                                      <p:cBhvr>
                                        <p:cTn id="41" dur="5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7" grpId="0" animBg="1"/>
      <p:bldP spid="9" grpId="0" animBg="1"/>
      <p:bldP spid="29" grpId="0" animBg="1"/>
      <p:bldP spid="37"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itle 1">
            <a:extLst>
              <a:ext uri="{FF2B5EF4-FFF2-40B4-BE49-F238E27FC236}">
                <a16:creationId xmlns:a16="http://schemas.microsoft.com/office/drawing/2014/main" id="{1FB182DA-8516-88B8-108C-8195B819749E}"/>
              </a:ext>
            </a:extLst>
          </p:cNvPr>
          <p:cNvSpPr>
            <a:spLocks noGrp="1"/>
          </p:cNvSpPr>
          <p:nvPr>
            <p:ph type="title" idx="4294967295"/>
          </p:nvPr>
        </p:nvSpPr>
        <p:spPr>
          <a:xfrm>
            <a:off x="0" y="652463"/>
            <a:ext cx="10515600" cy="1325562"/>
          </a:xfrm>
        </p:spPr>
        <p:txBody>
          <a:bodyPr/>
          <a:lstStyle/>
          <a:p>
            <a:r>
              <a:rPr lang="en-US" altLang="en-US" dirty="0"/>
              <a:t>      Key Concepts</a:t>
            </a:r>
          </a:p>
        </p:txBody>
      </p:sp>
      <p:sp>
        <p:nvSpPr>
          <p:cNvPr id="18435" name="Content Placeholder 2">
            <a:extLst>
              <a:ext uri="{FF2B5EF4-FFF2-40B4-BE49-F238E27FC236}">
                <a16:creationId xmlns:a16="http://schemas.microsoft.com/office/drawing/2014/main" id="{56F88FC0-F086-2D56-9F7F-55E81DA658CB}"/>
              </a:ext>
            </a:extLst>
          </p:cNvPr>
          <p:cNvSpPr>
            <a:spLocks noGrp="1"/>
          </p:cNvSpPr>
          <p:nvPr>
            <p:ph idx="4294967295"/>
          </p:nvPr>
        </p:nvSpPr>
        <p:spPr>
          <a:xfrm>
            <a:off x="589281" y="1316038"/>
            <a:ext cx="11602720" cy="4595812"/>
          </a:xfrm>
        </p:spPr>
        <p:txBody>
          <a:bodyPr>
            <a:normAutofit/>
          </a:bodyPr>
          <a:lstStyle/>
          <a:p>
            <a:pPr>
              <a:buFont typeface="Wingdings" pitchFamily="2" charset="2"/>
              <a:buChar char="v"/>
              <a:defRPr/>
            </a:pPr>
            <a:r>
              <a:rPr lang="en-US" sz="2800" dirty="0"/>
              <a:t>Introduction to Seaborn</a:t>
            </a:r>
          </a:p>
          <a:p>
            <a:pPr>
              <a:buFont typeface="Wingdings" pitchFamily="2" charset="2"/>
              <a:buChar char="v"/>
              <a:defRPr/>
            </a:pPr>
            <a:r>
              <a:rPr lang="en-US" sz="2800" dirty="0"/>
              <a:t>Styling Concepts of Seaborn</a:t>
            </a:r>
          </a:p>
          <a:p>
            <a:pPr>
              <a:buFont typeface="Wingdings" pitchFamily="2" charset="2"/>
              <a:buChar char="v"/>
              <a:defRPr/>
            </a:pPr>
            <a:r>
              <a:rPr lang="en-US" sz="2800" dirty="0"/>
              <a:t> Plotting using Seaborn.</a:t>
            </a:r>
          </a:p>
          <a:p>
            <a:pPr>
              <a:buFont typeface="Wingdings" pitchFamily="2" charset="2"/>
              <a:buChar char="v"/>
              <a:defRPr/>
            </a:pPr>
            <a:endParaRPr lang="en-US" sz="2800" dirty="0"/>
          </a:p>
          <a:p>
            <a:pPr>
              <a:buFont typeface="Wingdings" pitchFamily="2" charset="2"/>
              <a:buChar char="v"/>
              <a:defRPr/>
            </a:pPr>
            <a:endParaRPr lang="en-US" altLang="en-US" sz="2800" dirty="0"/>
          </a:p>
          <a:p>
            <a:pPr>
              <a:buFont typeface="Wingdings" pitchFamily="2" charset="2"/>
              <a:buChar char="v"/>
              <a:defRPr/>
            </a:pPr>
            <a:endParaRPr lang="en-US" altLang="en-US" sz="2800" dirty="0"/>
          </a:p>
          <a:p>
            <a:pPr marL="0" indent="0">
              <a:buNone/>
              <a:defRPr/>
            </a:pPr>
            <a:endParaRPr lang="en-US" altLang="en-US" sz="4200" dirty="0">
              <a:latin typeface="Times New Roman" pitchFamily="16" charset="0"/>
              <a:cs typeface="Times New Roman" pitchFamily="16" charset="0"/>
            </a:endParaRPr>
          </a:p>
          <a:p>
            <a:pPr marL="457200" indent="-457200">
              <a:buFont typeface="Wingdings" pitchFamily="2" charset="2"/>
              <a:buChar char="v"/>
              <a:defRPr/>
            </a:pPr>
            <a:endParaRPr lang="en-US" altLang="en-US" dirty="0">
              <a:latin typeface="Times New Roman" pitchFamily="16" charset="0"/>
              <a:cs typeface="Times New Roman" pitchFamily="16" charset="0"/>
            </a:endParaRPr>
          </a:p>
          <a:p>
            <a:pPr marL="457200" indent="-457200">
              <a:buNone/>
              <a:defRPr/>
            </a:pPr>
            <a:endParaRPr lang="en-US" altLang="en-US" dirty="0">
              <a:latin typeface="Times New Roman" pitchFamily="16" charset="0"/>
              <a:cs typeface="Times New Roman" pitchFamily="16" charset="0"/>
            </a:endParaRPr>
          </a:p>
          <a:p>
            <a:pPr marL="457200" indent="-457200">
              <a:buNone/>
              <a:defRPr/>
            </a:pPr>
            <a:endParaRPr lang="en-US" altLang="en-US" dirty="0">
              <a:latin typeface="Times New Roman" pitchFamily="16" charset="0"/>
              <a:cs typeface="Times New Roman" pitchFamily="16" charset="0"/>
            </a:endParaRPr>
          </a:p>
        </p:txBody>
      </p:sp>
      <p:sp>
        <p:nvSpPr>
          <p:cNvPr id="2" name="Rounded Rectangle 17">
            <a:extLst>
              <a:ext uri="{FF2B5EF4-FFF2-40B4-BE49-F238E27FC236}">
                <a16:creationId xmlns:a16="http://schemas.microsoft.com/office/drawing/2014/main" id="{978A528D-FBDF-73B4-7991-604D89DCAB64}"/>
              </a:ext>
            </a:extLst>
          </p:cNvPr>
          <p:cNvSpPr/>
          <p:nvPr/>
        </p:nvSpPr>
        <p:spPr>
          <a:xfrm>
            <a:off x="3263704" y="84673"/>
            <a:ext cx="6639951" cy="478035"/>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white"/>
                </a:solidFill>
                <a:effectLst/>
                <a:uLnTx/>
                <a:uFillTx/>
                <a:latin typeface="Gill Sans MT"/>
                <a:ea typeface="+mn-ea"/>
                <a:cs typeface="+mn-cs"/>
              </a:rPr>
              <a:t>SESSION INTRODUCTION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18435">
                                            <p:txEl>
                                              <p:pRg st="0" end="0"/>
                                            </p:txEl>
                                          </p:spTgt>
                                        </p:tgtEl>
                                        <p:attrNameLst>
                                          <p:attrName>style.visibility</p:attrName>
                                        </p:attrNameLst>
                                      </p:cBhvr>
                                      <p:to>
                                        <p:strVal val="visible"/>
                                      </p:to>
                                    </p:set>
                                    <p:animEffect transition="in" filter="wipe(left)">
                                      <p:cBhvr>
                                        <p:cTn id="7" dur="500"/>
                                        <p:tgtEl>
                                          <p:spTgt spid="1843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8435">
                                            <p:txEl>
                                              <p:pRg st="1" end="1"/>
                                            </p:txEl>
                                          </p:spTgt>
                                        </p:tgtEl>
                                        <p:attrNameLst>
                                          <p:attrName>style.visibility</p:attrName>
                                        </p:attrNameLst>
                                      </p:cBhvr>
                                      <p:to>
                                        <p:strVal val="visible"/>
                                      </p:to>
                                    </p:set>
                                    <p:animEffect transition="in" filter="wipe(left)">
                                      <p:cBhvr>
                                        <p:cTn id="12" dur="500"/>
                                        <p:tgtEl>
                                          <p:spTgt spid="18435">
                                            <p:txEl>
                                              <p:pRg st="1" end="1"/>
                                            </p:txEl>
                                          </p:spTgt>
                                        </p:tgtEl>
                                      </p:cBhvr>
                                    </p:animEffect>
                                  </p:childTnLst>
                                </p:cTn>
                              </p:par>
                            </p:childTnLst>
                          </p:cTn>
                        </p:par>
                        <p:par>
                          <p:cTn id="13" fill="hold">
                            <p:stCondLst>
                              <p:cond delay="500"/>
                            </p:stCondLst>
                            <p:childTnLst>
                              <p:par>
                                <p:cTn id="14" presetID="22" presetClass="entr" presetSubtype="8" fill="hold" grpId="0" nodeType="afterEffect">
                                  <p:stCondLst>
                                    <p:cond delay="0"/>
                                  </p:stCondLst>
                                  <p:childTnLst>
                                    <p:set>
                                      <p:cBhvr>
                                        <p:cTn id="15" dur="1" fill="hold">
                                          <p:stCondLst>
                                            <p:cond delay="0"/>
                                          </p:stCondLst>
                                        </p:cTn>
                                        <p:tgtEl>
                                          <p:spTgt spid="18435">
                                            <p:txEl>
                                              <p:pRg st="2" end="2"/>
                                            </p:txEl>
                                          </p:spTgt>
                                        </p:tgtEl>
                                        <p:attrNameLst>
                                          <p:attrName>style.visibility</p:attrName>
                                        </p:attrNameLst>
                                      </p:cBhvr>
                                      <p:to>
                                        <p:strVal val="visible"/>
                                      </p:to>
                                    </p:set>
                                    <p:animEffect transition="in" filter="wipe(left)">
                                      <p:cBhvr>
                                        <p:cTn id="16" dur="500"/>
                                        <p:tgtEl>
                                          <p:spTgt spid="18435">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435"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51A802-4E04-DEDA-F4A8-8111DBD2A9A0}"/>
              </a:ext>
            </a:extLst>
          </p:cNvPr>
          <p:cNvSpPr>
            <a:spLocks noGrp="1"/>
          </p:cNvSpPr>
          <p:nvPr>
            <p:ph type="title"/>
          </p:nvPr>
        </p:nvSpPr>
        <p:spPr>
          <a:xfrm>
            <a:off x="838200" y="365125"/>
            <a:ext cx="10515600" cy="663575"/>
          </a:xfrm>
        </p:spPr>
        <p:txBody>
          <a:bodyPr>
            <a:noAutofit/>
          </a:bodyPr>
          <a:lstStyle/>
          <a:p>
            <a:r>
              <a:rPr lang="en-US" b="1" dirty="0">
                <a:solidFill>
                  <a:srgbClr val="222222"/>
                </a:solidFill>
                <a:latin typeface="Lato" panose="020F0502020204030203" pitchFamily="34" charset="0"/>
              </a:rPr>
              <a:t>What is Data Visualization?</a:t>
            </a:r>
            <a:br>
              <a:rPr lang="en-US" sz="3200" b="0" i="0" dirty="0">
                <a:solidFill>
                  <a:srgbClr val="222222"/>
                </a:solidFill>
                <a:effectLst/>
                <a:latin typeface="Lato" panose="020F0502020204030203" pitchFamily="34" charset="0"/>
              </a:rPr>
            </a:br>
            <a:br>
              <a:rPr lang="en-US" sz="3200" b="0" i="0" dirty="0">
                <a:solidFill>
                  <a:srgbClr val="222222"/>
                </a:solidFill>
                <a:effectLst/>
                <a:latin typeface="Lato" panose="020F0502020204030203" pitchFamily="34" charset="0"/>
              </a:rPr>
            </a:br>
            <a:br>
              <a:rPr lang="en-US" sz="3200" b="0" i="0" dirty="0">
                <a:solidFill>
                  <a:srgbClr val="222222"/>
                </a:solidFill>
                <a:effectLst/>
                <a:latin typeface="Lato" panose="020F0502020204030203" pitchFamily="34" charset="0"/>
              </a:rPr>
            </a:br>
            <a:br>
              <a:rPr lang="en-US" sz="3200" b="0" i="0" dirty="0">
                <a:solidFill>
                  <a:srgbClr val="222222"/>
                </a:solidFill>
                <a:effectLst/>
                <a:latin typeface="Lato" panose="020F0502020204030203" pitchFamily="34" charset="0"/>
              </a:rPr>
            </a:br>
            <a:br>
              <a:rPr lang="en-US" sz="3200" b="0" i="0" dirty="0">
                <a:solidFill>
                  <a:srgbClr val="222222"/>
                </a:solidFill>
                <a:effectLst/>
                <a:latin typeface="Lato" panose="020F0502020204030203" pitchFamily="34" charset="0"/>
              </a:rPr>
            </a:br>
            <a:br>
              <a:rPr lang="en-US" sz="3200" b="0" i="0" dirty="0">
                <a:solidFill>
                  <a:srgbClr val="222222"/>
                </a:solidFill>
                <a:effectLst/>
                <a:latin typeface="Lato" panose="020F0502020204030203" pitchFamily="34" charset="0"/>
              </a:rPr>
            </a:br>
            <a:br>
              <a:rPr lang="en-US" sz="3200" b="1" i="0" dirty="0">
                <a:solidFill>
                  <a:srgbClr val="222222"/>
                </a:solidFill>
                <a:effectLst/>
                <a:latin typeface="Lato" panose="020F0502020204030203" pitchFamily="34" charset="0"/>
              </a:rPr>
            </a:br>
            <a:br>
              <a:rPr lang="en-US" sz="3200" b="0" i="0" dirty="0">
                <a:solidFill>
                  <a:srgbClr val="222222"/>
                </a:solidFill>
                <a:effectLst/>
                <a:latin typeface="Lato" panose="020F0502020204030203" pitchFamily="34" charset="0"/>
              </a:rPr>
            </a:br>
            <a:br>
              <a:rPr lang="en-US" sz="3200" b="0" i="0" dirty="0">
                <a:solidFill>
                  <a:srgbClr val="222222"/>
                </a:solidFill>
                <a:effectLst/>
                <a:latin typeface="Lato" panose="020F0502020204030203" pitchFamily="34" charset="0"/>
              </a:rPr>
            </a:br>
            <a:br>
              <a:rPr lang="en-US" sz="3200" b="1" i="0" dirty="0">
                <a:solidFill>
                  <a:srgbClr val="222222"/>
                </a:solidFill>
                <a:effectLst/>
                <a:latin typeface="Lato" panose="020F0502020204030203" pitchFamily="34" charset="0"/>
              </a:rPr>
            </a:br>
            <a:br>
              <a:rPr lang="en-US" sz="3200" b="0" i="0" dirty="0">
                <a:solidFill>
                  <a:srgbClr val="222222"/>
                </a:solidFill>
                <a:effectLst/>
                <a:latin typeface="Lato" panose="020F0502020204030203" pitchFamily="34" charset="0"/>
              </a:rPr>
            </a:br>
            <a:endParaRPr lang="en-IN" sz="3200" dirty="0"/>
          </a:p>
        </p:txBody>
      </p:sp>
      <p:sp>
        <p:nvSpPr>
          <p:cNvPr id="4" name="Content Placeholder 3">
            <a:extLst>
              <a:ext uri="{FF2B5EF4-FFF2-40B4-BE49-F238E27FC236}">
                <a16:creationId xmlns:a16="http://schemas.microsoft.com/office/drawing/2014/main" id="{9418220D-AC47-0665-7857-9FD4C787B706}"/>
              </a:ext>
            </a:extLst>
          </p:cNvPr>
          <p:cNvSpPr>
            <a:spLocks noGrp="1"/>
          </p:cNvSpPr>
          <p:nvPr>
            <p:ph idx="1"/>
          </p:nvPr>
        </p:nvSpPr>
        <p:spPr>
          <a:xfrm>
            <a:off x="752475" y="1181100"/>
            <a:ext cx="10515600" cy="4833744"/>
          </a:xfrm>
        </p:spPr>
        <p:txBody>
          <a:bodyPr>
            <a:normAutofit/>
          </a:bodyPr>
          <a:lstStyle/>
          <a:p>
            <a:pPr algn="just"/>
            <a:r>
              <a:rPr lang="en-US" b="0" i="0" dirty="0">
                <a:solidFill>
                  <a:srgbClr val="222222"/>
                </a:solidFill>
                <a:effectLst/>
                <a:latin typeface="Lato" panose="020F0502020204030203" pitchFamily="34" charset="0"/>
              </a:rPr>
              <a:t>Data visualization is the practice of translating data into visual contexts, such as a map or graph, to make data easier for the human brain to understand and to draw comprehension from. The main goal of data viewing is to make it easier to identify patterns, styles, and vendors in large data sets. </a:t>
            </a:r>
          </a:p>
          <a:p>
            <a:r>
              <a:rPr lang="en-US" dirty="0"/>
              <a:t>Data visualization </a:t>
            </a:r>
            <a:r>
              <a:rPr lang="en-US" dirty="0">
                <a:solidFill>
                  <a:srgbClr val="FF0000"/>
                </a:solidFill>
              </a:rPr>
              <a:t>tools</a:t>
            </a:r>
            <a:r>
              <a:rPr lang="en-US" dirty="0"/>
              <a:t> provide a way to present these figures and graphs.</a:t>
            </a:r>
          </a:p>
          <a:p>
            <a:r>
              <a:rPr lang="en-US" dirty="0"/>
              <a:t>Often, it is essential to </a:t>
            </a:r>
            <a:r>
              <a:rPr lang="en-US" dirty="0">
                <a:solidFill>
                  <a:srgbClr val="FF0000"/>
                </a:solidFill>
              </a:rPr>
              <a:t>analyze massive amounts </a:t>
            </a:r>
            <a:r>
              <a:rPr lang="en-US" dirty="0"/>
              <a:t>of information and make </a:t>
            </a:r>
            <a:r>
              <a:rPr lang="en-US" dirty="0">
                <a:solidFill>
                  <a:srgbClr val="FF0000"/>
                </a:solidFill>
              </a:rPr>
              <a:t>data-driven decisions</a:t>
            </a:r>
            <a:r>
              <a:rPr lang="en-US" dirty="0"/>
              <a:t>.</a:t>
            </a:r>
          </a:p>
          <a:p>
            <a:pPr lvl="1"/>
            <a:r>
              <a:rPr lang="en-US" sz="2800" dirty="0"/>
              <a:t>converting complex data into an easy to understand representation</a:t>
            </a:r>
            <a:endParaRPr lang="en-US" sz="2800" b="1" i="0" dirty="0">
              <a:solidFill>
                <a:srgbClr val="222222"/>
              </a:solidFill>
              <a:effectLst/>
              <a:latin typeface="Lato" panose="020F0502020204030203" pitchFamily="34" charset="0"/>
            </a:endParaRPr>
          </a:p>
        </p:txBody>
      </p:sp>
    </p:spTree>
    <p:extLst>
      <p:ext uri="{BB962C8B-B14F-4D97-AF65-F5344CB8AC3E}">
        <p14:creationId xmlns:p14="http://schemas.microsoft.com/office/powerpoint/2010/main" val="1368242528"/>
      </p:ext>
    </p:extLst>
  </p:cSld>
  <p:clrMapOvr>
    <a:overrideClrMapping bg1="lt1" tx1="dk1" bg2="lt2" tx2="dk2" accent1="accent1" accent2="accent2" accent3="accent3" accent4="accent4" accent5="accent5" accent6="accent6" hlink="hlink" folHlink="folHlink"/>
  </p:clrMapOvr>
</p:sld>
</file>

<file path=ppt/slides/slide5.xml><?xml version="1.0" encoding="utf-8"?>
<p:sld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7D6F58-A19B-C0FD-9306-05B1BADF5903}"/>
              </a:ext>
            </a:extLst>
          </p:cNvPr>
          <p:cNvSpPr>
            <a:spLocks noGrp="1"/>
          </p:cNvSpPr>
          <p:nvPr>
            <p:ph type="title"/>
          </p:nvPr>
        </p:nvSpPr>
        <p:spPr>
          <a:xfrm>
            <a:off x="1371600" y="180975"/>
            <a:ext cx="10515600" cy="514350"/>
          </a:xfrm>
        </p:spPr>
        <p:txBody>
          <a:bodyPr>
            <a:normAutofit fontScale="90000"/>
          </a:bodyPr>
          <a:lstStyle/>
          <a:p>
            <a:r>
              <a:rPr lang="en-US" b="1" dirty="0"/>
              <a:t>Introduction to seaborn</a:t>
            </a:r>
            <a:br>
              <a:rPr lang="en-US" dirty="0"/>
            </a:br>
            <a:endParaRPr lang="en-IN" dirty="0"/>
          </a:p>
        </p:txBody>
      </p:sp>
      <p:sp>
        <p:nvSpPr>
          <p:cNvPr id="3" name="Content Placeholder 2">
            <a:extLst>
              <a:ext uri="{FF2B5EF4-FFF2-40B4-BE49-F238E27FC236}">
                <a16:creationId xmlns:a16="http://schemas.microsoft.com/office/drawing/2014/main" id="{B3E1A6F3-4913-B2FE-C188-76158E08B0B9}"/>
              </a:ext>
            </a:extLst>
          </p:cNvPr>
          <p:cNvSpPr>
            <a:spLocks noGrp="1"/>
          </p:cNvSpPr>
          <p:nvPr>
            <p:ph idx="1"/>
          </p:nvPr>
        </p:nvSpPr>
        <p:spPr>
          <a:xfrm>
            <a:off x="838200" y="1014412"/>
            <a:ext cx="10515600" cy="5195888"/>
          </a:xfrm>
        </p:spPr>
        <p:txBody>
          <a:bodyPr>
            <a:normAutofit/>
          </a:bodyPr>
          <a:lstStyle/>
          <a:p>
            <a:pPr>
              <a:lnSpc>
                <a:spcPct val="110000"/>
              </a:lnSpc>
            </a:pPr>
            <a:r>
              <a:rPr lang="en-US" sz="1600" b="1" dirty="0"/>
              <a:t>Seaborn</a:t>
            </a:r>
            <a:r>
              <a:rPr lang="en-US" sz="1600" dirty="0"/>
              <a:t> is a Python library for making statistical graphics in Python. It builds on top of matplotlib and integrates closely with pandas data structures.</a:t>
            </a:r>
          </a:p>
          <a:p>
            <a:pPr>
              <a:lnSpc>
                <a:spcPct val="110000"/>
              </a:lnSpc>
            </a:pPr>
            <a:r>
              <a:rPr lang="en-US" sz="1600" dirty="0"/>
              <a:t>Seaborn helps you explore and understand your data, It has plotting functions operate on data frames and arrays containing whole datasets and internally perform the necessary semantic mapping and statistical aggregation to produce informative plots,</a:t>
            </a:r>
          </a:p>
          <a:p>
            <a:pPr>
              <a:lnSpc>
                <a:spcPct val="110000"/>
              </a:lnSpc>
            </a:pPr>
            <a:r>
              <a:rPr lang="en-US" sz="1600" b="1" dirty="0"/>
              <a:t>Seaborn</a:t>
            </a:r>
            <a:r>
              <a:rPr lang="en-US" sz="1600" dirty="0"/>
              <a:t> </a:t>
            </a:r>
            <a:r>
              <a:rPr lang="en-US" sz="1600" b="1" dirty="0"/>
              <a:t>Setup</a:t>
            </a:r>
          </a:p>
          <a:p>
            <a:pPr lvl="1">
              <a:lnSpc>
                <a:spcPct val="110000"/>
              </a:lnSpc>
            </a:pPr>
            <a:r>
              <a:rPr lang="en-US" sz="1600" dirty="0"/>
              <a:t>Installation: Supported Python versions: Python 3.7+</a:t>
            </a:r>
          </a:p>
          <a:p>
            <a:pPr lvl="1">
              <a:lnSpc>
                <a:spcPct val="110000"/>
              </a:lnSpc>
            </a:pPr>
            <a:r>
              <a:rPr lang="en-US" sz="1600" dirty="0"/>
              <a:t>Mandatory dependencies Python Libraries: </a:t>
            </a:r>
            <a:r>
              <a:rPr lang="en-US" sz="1600" dirty="0" err="1"/>
              <a:t>numpy</a:t>
            </a:r>
            <a:r>
              <a:rPr lang="en-US" sz="1600" dirty="0"/>
              <a:t>, pandas, </a:t>
            </a:r>
            <a:r>
              <a:rPr lang="en-US" sz="1600" dirty="0" err="1"/>
              <a:t>matplotlip</a:t>
            </a:r>
            <a:endParaRPr lang="en-US" sz="1600" dirty="0"/>
          </a:p>
          <a:p>
            <a:pPr lvl="1">
              <a:lnSpc>
                <a:spcPct val="110000"/>
              </a:lnSpc>
            </a:pPr>
            <a:r>
              <a:rPr lang="en-US" sz="1600" dirty="0"/>
              <a:t>Optional Dependencies Python Libraries: stats models, </a:t>
            </a:r>
            <a:r>
              <a:rPr lang="en-US" sz="1600" dirty="0" err="1"/>
              <a:t>scipy</a:t>
            </a:r>
            <a:r>
              <a:rPr lang="en-US" sz="1600" dirty="0"/>
              <a:t> and fast cluster</a:t>
            </a:r>
          </a:p>
          <a:p>
            <a:pPr lvl="1">
              <a:lnSpc>
                <a:spcPct val="110000"/>
              </a:lnSpc>
            </a:pPr>
            <a:r>
              <a:rPr lang="en-US" sz="1600" b="1" dirty="0"/>
              <a:t>Installation: # </a:t>
            </a:r>
            <a:r>
              <a:rPr lang="en-US" sz="1600" dirty="0"/>
              <a:t>pip install seaborn</a:t>
            </a:r>
          </a:p>
          <a:p>
            <a:pPr lvl="1">
              <a:lnSpc>
                <a:spcPct val="110000"/>
              </a:lnSpc>
            </a:pPr>
            <a:r>
              <a:rPr lang="en-US" sz="1600" b="1" dirty="0"/>
              <a:t>Import</a:t>
            </a:r>
            <a:r>
              <a:rPr lang="en-US" sz="1600" dirty="0"/>
              <a:t>:  import seaborn as </a:t>
            </a:r>
            <a:r>
              <a:rPr lang="en-US" sz="1600" dirty="0" err="1"/>
              <a:t>sns</a:t>
            </a:r>
            <a:endParaRPr lang="en-US" sz="1600" dirty="0"/>
          </a:p>
          <a:p>
            <a:pPr>
              <a:lnSpc>
                <a:spcPct val="110000"/>
              </a:lnSpc>
            </a:pPr>
            <a:r>
              <a:rPr lang="en-US" sz="1600" b="1" noProof="1"/>
              <a:t>Creator</a:t>
            </a:r>
            <a:r>
              <a:rPr lang="en-US" sz="1600" noProof="1"/>
              <a:t> is Michael Waskom</a:t>
            </a:r>
          </a:p>
          <a:p>
            <a:pPr>
              <a:lnSpc>
                <a:spcPct val="110000"/>
              </a:lnSpc>
            </a:pPr>
            <a:r>
              <a:rPr lang="en-US" sz="1600" noProof="1"/>
              <a:t>First version v0.12.0  released in September 2022</a:t>
            </a:r>
            <a:endParaRPr lang="en-IN" sz="1600" dirty="0"/>
          </a:p>
        </p:txBody>
      </p:sp>
    </p:spTree>
    <p:extLst>
      <p:ext uri="{BB962C8B-B14F-4D97-AF65-F5344CB8AC3E}">
        <p14:creationId xmlns:p14="http://schemas.microsoft.com/office/powerpoint/2010/main" val="1528430972"/>
      </p:ext>
    </p:extLst>
  </p:cSld>
  <p:clrMapOvr>
    <a:overrideClrMapping bg1="lt1" tx1="dk1" bg2="lt2" tx2="dk2" accent1="accent1" accent2="accent2" accent3="accent3" accent4="accent4" accent5="accent5" accent6="accent6" hlink="hlink" folHlink="folHlink"/>
  </p:clrMapOvr>
</p:sld>
</file>

<file path=ppt/slides/slide6.xml><?xml version="1.0" encoding="utf-8"?>
<p:sld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7A4193F-629A-A1A3-97ED-165D444ABD94}"/>
              </a:ext>
            </a:extLst>
          </p:cNvPr>
          <p:cNvSpPr>
            <a:spLocks noGrp="1"/>
          </p:cNvSpPr>
          <p:nvPr>
            <p:ph idx="1"/>
          </p:nvPr>
        </p:nvSpPr>
        <p:spPr>
          <a:xfrm>
            <a:off x="838200" y="416952"/>
            <a:ext cx="10515600" cy="4351338"/>
          </a:xfrm>
        </p:spPr>
        <p:txBody>
          <a:bodyPr>
            <a:normAutofit fontScale="85000" lnSpcReduction="20000"/>
          </a:bodyPr>
          <a:lstStyle/>
          <a:p>
            <a:r>
              <a:rPr lang="en-US" sz="4000" b="1" dirty="0"/>
              <a:t>Seaborn:</a:t>
            </a:r>
          </a:p>
          <a:p>
            <a:r>
              <a:rPr lang="en-US" b="1" i="0" dirty="0">
                <a:solidFill>
                  <a:srgbClr val="273239"/>
                </a:solidFill>
                <a:effectLst/>
                <a:latin typeface="Nunito" pitchFamily="2" charset="0"/>
              </a:rPr>
              <a:t>Seaborn</a:t>
            </a:r>
            <a:r>
              <a:rPr lang="en-US" b="0" i="0" dirty="0">
                <a:solidFill>
                  <a:srgbClr val="273239"/>
                </a:solidFill>
                <a:effectLst/>
                <a:latin typeface="Nunito" pitchFamily="2" charset="0"/>
              </a:rPr>
              <a:t> is a library mostly used for statistical plotting in Python. It is built on top of Matplotlib and provides beautiful default styles and color palettes to make statistical plots more attractive. It divides the plots into the following categories.</a:t>
            </a:r>
          </a:p>
          <a:p>
            <a:pPr algn="l" fontAlgn="base">
              <a:buFont typeface="Arial" panose="020B0604020202020204" pitchFamily="34" charset="0"/>
              <a:buChar char="•"/>
            </a:pPr>
            <a:r>
              <a:rPr lang="en-US" b="1" i="0" dirty="0">
                <a:solidFill>
                  <a:srgbClr val="273239"/>
                </a:solidFill>
                <a:effectLst/>
                <a:latin typeface="Nunito" pitchFamily="2" charset="0"/>
              </a:rPr>
              <a:t>Relational plots:</a:t>
            </a:r>
            <a:r>
              <a:rPr lang="en-US" b="0" i="0" dirty="0">
                <a:solidFill>
                  <a:srgbClr val="273239"/>
                </a:solidFill>
                <a:effectLst/>
                <a:latin typeface="Nunito" pitchFamily="2" charset="0"/>
              </a:rPr>
              <a:t> This plot is used to understand the relation between two variables.</a:t>
            </a:r>
          </a:p>
          <a:p>
            <a:pPr algn="l" fontAlgn="base">
              <a:buFont typeface="Arial" panose="020B0604020202020204" pitchFamily="34" charset="0"/>
              <a:buChar char="•"/>
            </a:pPr>
            <a:r>
              <a:rPr lang="en-US" b="1" i="0" u="sng" dirty="0">
                <a:solidFill>
                  <a:srgbClr val="273239"/>
                </a:solidFill>
                <a:effectLst/>
                <a:latin typeface="Nunito" pitchFamily="2" charset="0"/>
                <a:hlinkClick r:id="rId3"/>
              </a:rPr>
              <a:t>Categorical plots: </a:t>
            </a:r>
            <a:r>
              <a:rPr lang="en-US" b="0" i="0" dirty="0">
                <a:solidFill>
                  <a:srgbClr val="273239"/>
                </a:solidFill>
                <a:effectLst/>
                <a:latin typeface="Nunito" pitchFamily="2" charset="0"/>
              </a:rPr>
              <a:t>This plot deals with categorical variables and how they can be visualized.</a:t>
            </a:r>
          </a:p>
          <a:p>
            <a:pPr algn="l" fontAlgn="base">
              <a:buFont typeface="Arial" panose="020B0604020202020204" pitchFamily="34" charset="0"/>
              <a:buChar char="•"/>
            </a:pPr>
            <a:r>
              <a:rPr lang="en-US" b="1" i="0" u="sng" dirty="0">
                <a:solidFill>
                  <a:srgbClr val="273239"/>
                </a:solidFill>
                <a:effectLst/>
                <a:latin typeface="Nunito" pitchFamily="2" charset="0"/>
                <a:hlinkClick r:id="rId4"/>
              </a:rPr>
              <a:t>Distribution plots: </a:t>
            </a:r>
            <a:r>
              <a:rPr lang="en-US" b="0" i="0" dirty="0">
                <a:solidFill>
                  <a:srgbClr val="273239"/>
                </a:solidFill>
                <a:effectLst/>
                <a:latin typeface="Nunito" pitchFamily="2" charset="0"/>
              </a:rPr>
              <a:t>This plot is used for examining univariate and bivariate distributions</a:t>
            </a:r>
          </a:p>
          <a:p>
            <a:pPr algn="l" fontAlgn="base">
              <a:buFont typeface="Arial" panose="020B0604020202020204" pitchFamily="34" charset="0"/>
              <a:buChar char="•"/>
            </a:pPr>
            <a:r>
              <a:rPr lang="en-US" b="1" i="0" u="sng" dirty="0">
                <a:solidFill>
                  <a:srgbClr val="273239"/>
                </a:solidFill>
                <a:effectLst/>
                <a:latin typeface="Nunito" pitchFamily="2" charset="0"/>
                <a:hlinkClick r:id="rId5"/>
              </a:rPr>
              <a:t>Regression plots: </a:t>
            </a:r>
            <a:r>
              <a:rPr lang="en-US" b="0" i="0" dirty="0">
                <a:solidFill>
                  <a:srgbClr val="273239"/>
                </a:solidFill>
                <a:effectLst/>
                <a:latin typeface="Nunito" pitchFamily="2" charset="0"/>
              </a:rPr>
              <a:t>The regression plots in Seaborn are primarily intended to add a visual guide that helps to emphasize patterns in a dataset during exploratory data analyses.</a:t>
            </a:r>
          </a:p>
          <a:p>
            <a:pPr algn="l" fontAlgn="base">
              <a:buFont typeface="Arial" panose="020B0604020202020204" pitchFamily="34" charset="0"/>
              <a:buChar char="•"/>
            </a:pPr>
            <a:r>
              <a:rPr lang="en-US" b="1" i="0" u="sng" dirty="0">
                <a:solidFill>
                  <a:srgbClr val="273239"/>
                </a:solidFill>
                <a:effectLst/>
                <a:latin typeface="Nunito" pitchFamily="2" charset="0"/>
                <a:hlinkClick r:id="rId6"/>
              </a:rPr>
              <a:t>Matrix plots:</a:t>
            </a:r>
            <a:r>
              <a:rPr lang="en-US" b="0" i="0" dirty="0">
                <a:solidFill>
                  <a:srgbClr val="273239"/>
                </a:solidFill>
                <a:effectLst/>
                <a:latin typeface="Nunito" pitchFamily="2" charset="0"/>
              </a:rPr>
              <a:t> </a:t>
            </a:r>
            <a:r>
              <a:rPr lang="en-US" b="0" i="0" dirty="0">
                <a:solidFill>
                  <a:srgbClr val="222222"/>
                </a:solidFill>
                <a:effectLst/>
                <a:latin typeface="Nunito" pitchFamily="2" charset="0"/>
              </a:rPr>
              <a:t>A </a:t>
            </a:r>
            <a:r>
              <a:rPr lang="en-US" b="0" i="0" dirty="0">
                <a:solidFill>
                  <a:srgbClr val="273239"/>
                </a:solidFill>
                <a:effectLst/>
                <a:latin typeface="Nunito" pitchFamily="2" charset="0"/>
              </a:rPr>
              <a:t>matrix plot</a:t>
            </a:r>
            <a:r>
              <a:rPr lang="en-US" b="0" i="0" dirty="0">
                <a:solidFill>
                  <a:srgbClr val="222222"/>
                </a:solidFill>
                <a:effectLst/>
                <a:latin typeface="Nunito" pitchFamily="2" charset="0"/>
              </a:rPr>
              <a:t> is an array of scatterplots.</a:t>
            </a:r>
            <a:endParaRPr lang="en-US" b="0" i="0" dirty="0">
              <a:solidFill>
                <a:srgbClr val="273239"/>
              </a:solidFill>
              <a:effectLst/>
              <a:latin typeface="Nunito" pitchFamily="2" charset="0"/>
            </a:endParaRPr>
          </a:p>
          <a:p>
            <a:pPr algn="l" fontAlgn="base">
              <a:buFont typeface="Arial" panose="020B0604020202020204" pitchFamily="34" charset="0"/>
              <a:buChar char="•"/>
            </a:pPr>
            <a:r>
              <a:rPr lang="en-US" b="1" i="0" dirty="0">
                <a:solidFill>
                  <a:srgbClr val="273239"/>
                </a:solidFill>
                <a:effectLst/>
                <a:latin typeface="Nunito" pitchFamily="2" charset="0"/>
              </a:rPr>
              <a:t>Multi-plot grids: </a:t>
            </a:r>
            <a:r>
              <a:rPr lang="en-US" b="0" i="0" dirty="0">
                <a:solidFill>
                  <a:srgbClr val="273239"/>
                </a:solidFill>
                <a:effectLst/>
                <a:latin typeface="Nunito" pitchFamily="2" charset="0"/>
              </a:rPr>
              <a:t>It is a </a:t>
            </a:r>
            <a:r>
              <a:rPr lang="en-US" b="0" i="0" dirty="0">
                <a:solidFill>
                  <a:srgbClr val="222222"/>
                </a:solidFill>
                <a:effectLst/>
                <a:latin typeface="Nunito" pitchFamily="2" charset="0"/>
              </a:rPr>
              <a:t>useful approach to draw </a:t>
            </a:r>
            <a:r>
              <a:rPr lang="en-US" b="0" i="0" dirty="0">
                <a:solidFill>
                  <a:srgbClr val="273239"/>
                </a:solidFill>
                <a:effectLst/>
                <a:latin typeface="Nunito" pitchFamily="2" charset="0"/>
              </a:rPr>
              <a:t>multiple</a:t>
            </a:r>
            <a:r>
              <a:rPr lang="en-US" b="0" i="0" dirty="0">
                <a:solidFill>
                  <a:srgbClr val="222222"/>
                </a:solidFill>
                <a:effectLst/>
                <a:latin typeface="Nunito" pitchFamily="2" charset="0"/>
              </a:rPr>
              <a:t> instances of the same </a:t>
            </a:r>
            <a:r>
              <a:rPr lang="en-US" b="0" i="0" dirty="0">
                <a:solidFill>
                  <a:srgbClr val="273239"/>
                </a:solidFill>
                <a:effectLst/>
                <a:latin typeface="Nunito" pitchFamily="2" charset="0"/>
              </a:rPr>
              <a:t>plot</a:t>
            </a:r>
            <a:r>
              <a:rPr lang="en-US" b="0" i="0" dirty="0">
                <a:solidFill>
                  <a:srgbClr val="222222"/>
                </a:solidFill>
                <a:effectLst/>
                <a:latin typeface="Nunito" pitchFamily="2" charset="0"/>
              </a:rPr>
              <a:t> on different subsets of the dataset.</a:t>
            </a:r>
            <a:endParaRPr lang="en-US" b="0" i="0" dirty="0">
              <a:solidFill>
                <a:srgbClr val="273239"/>
              </a:solidFill>
              <a:effectLst/>
              <a:latin typeface="Nunito" pitchFamily="2" charset="0"/>
            </a:endParaRPr>
          </a:p>
          <a:p>
            <a:endParaRPr lang="en-US" b="0" i="0" dirty="0">
              <a:solidFill>
                <a:srgbClr val="273239"/>
              </a:solidFill>
              <a:effectLst/>
              <a:latin typeface="Nunito" pitchFamily="2" charset="0"/>
            </a:endParaRPr>
          </a:p>
          <a:p>
            <a:endParaRPr lang="en-IN" dirty="0"/>
          </a:p>
        </p:txBody>
      </p:sp>
      <p:sp>
        <p:nvSpPr>
          <p:cNvPr id="5" name="Rectangle 3">
            <a:extLst>
              <a:ext uri="{FF2B5EF4-FFF2-40B4-BE49-F238E27FC236}">
                <a16:creationId xmlns:a16="http://schemas.microsoft.com/office/drawing/2014/main" id="{7461A7E5-3EC7-BFBA-DD00-243E85D97DBE}"/>
              </a:ext>
            </a:extLst>
          </p:cNvPr>
          <p:cNvSpPr>
            <a:spLocks noChangeArrowheads="1"/>
          </p:cNvSpPr>
          <p:nvPr/>
        </p:nvSpPr>
        <p:spPr bwMode="auto">
          <a:xfrm>
            <a:off x="5346642" y="4502056"/>
            <a:ext cx="7217229" cy="21544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800" b="1" i="0" u="none" strike="noStrike" cap="none" normalizeH="0" baseline="0" dirty="0">
                <a:ln>
                  <a:noFill/>
                </a:ln>
                <a:solidFill>
                  <a:srgbClr val="006699"/>
                </a:solidFill>
                <a:effectLst/>
                <a:latin typeface="Consolas" panose="020B0609020204030204" pitchFamily="49" charset="0"/>
              </a:rPr>
              <a:t>import</a:t>
            </a:r>
            <a:r>
              <a:rPr kumimoji="0" lang="en-US" altLang="en-US" sz="2800" b="0" i="0" u="none" strike="noStrike" cap="none" normalizeH="0" baseline="0" dirty="0">
                <a:ln>
                  <a:noFill/>
                </a:ln>
                <a:solidFill>
                  <a:srgbClr val="273239"/>
                </a:solidFill>
                <a:effectLst/>
                <a:latin typeface="Consolas" panose="020B0609020204030204" pitchFamily="49" charset="0"/>
              </a:rPr>
              <a:t> </a:t>
            </a:r>
            <a:r>
              <a:rPr kumimoji="0" lang="en-US" altLang="en-US" sz="2800" b="0" i="0" u="none" strike="noStrike" cap="none" normalizeH="0" baseline="0" dirty="0">
                <a:ln>
                  <a:noFill/>
                </a:ln>
                <a:solidFill>
                  <a:srgbClr val="000000"/>
                </a:solidFill>
                <a:effectLst/>
                <a:latin typeface="Consolas" panose="020B0609020204030204" pitchFamily="49" charset="0"/>
              </a:rPr>
              <a:t>seaborn as </a:t>
            </a:r>
            <a:r>
              <a:rPr kumimoji="0" lang="en-US" altLang="en-US" sz="2800" b="0" i="0" u="none" strike="noStrike" cap="none" normalizeH="0" baseline="0" dirty="0" err="1">
                <a:ln>
                  <a:noFill/>
                </a:ln>
                <a:solidFill>
                  <a:srgbClr val="000000"/>
                </a:solidFill>
                <a:effectLst/>
                <a:latin typeface="Consolas" panose="020B0609020204030204" pitchFamily="49" charset="0"/>
              </a:rPr>
              <a:t>sns</a:t>
            </a:r>
            <a:r>
              <a:rPr kumimoji="0" lang="en-US" altLang="en-US" sz="2800" b="0" i="0" u="none" strike="noStrike" cap="none" normalizeH="0" baseline="0" dirty="0">
                <a:ln>
                  <a:noFill/>
                </a:ln>
                <a:solidFill>
                  <a:srgbClr val="000000"/>
                </a:solidFill>
                <a:effectLst/>
                <a:latin typeface="Consolas" panose="020B0609020204030204" pitchFamily="49" charset="0"/>
              </a:rPr>
              <a:t>  </a:t>
            </a:r>
            <a:r>
              <a:rPr kumimoji="0" lang="en-US" altLang="en-US" sz="2800" b="0" i="0" u="none" strike="noStrike" cap="none" normalizeH="0" baseline="0" dirty="0">
                <a:ln>
                  <a:noFill/>
                </a:ln>
                <a:solidFill>
                  <a:srgbClr val="273239"/>
                </a:solidFill>
                <a:effectLst/>
                <a:latin typeface="Consolas" panose="020B0609020204030204" pitchFamily="49" charset="0"/>
              </a:rPr>
              <a:t> </a:t>
            </a:r>
            <a:endParaRPr kumimoji="0" lang="en-US" altLang="en-US" sz="28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800" b="0" i="0" u="none" strike="noStrike" cap="none" normalizeH="0" baseline="0" dirty="0">
                <a:ln>
                  <a:noFill/>
                </a:ln>
                <a:solidFill>
                  <a:srgbClr val="000000"/>
                </a:solidFill>
                <a:effectLst/>
                <a:latin typeface="Consolas" panose="020B0609020204030204" pitchFamily="49" charset="0"/>
              </a:rPr>
              <a:t>data </a:t>
            </a:r>
            <a:r>
              <a:rPr kumimoji="0" lang="en-US" altLang="en-US" sz="2800" b="1" i="0" u="none" strike="noStrike" cap="none" normalizeH="0" baseline="0" dirty="0">
                <a:ln>
                  <a:noFill/>
                </a:ln>
                <a:solidFill>
                  <a:srgbClr val="006699"/>
                </a:solidFill>
                <a:effectLst/>
                <a:latin typeface="Consolas" panose="020B0609020204030204" pitchFamily="49" charset="0"/>
              </a:rPr>
              <a:t>=</a:t>
            </a:r>
            <a:r>
              <a:rPr lang="en-US" altLang="en-US" sz="2800" dirty="0">
                <a:solidFill>
                  <a:srgbClr val="273239"/>
                </a:solidFill>
                <a:latin typeface="Consolas" panose="020B0609020204030204" pitchFamily="49" charset="0"/>
              </a:rPr>
              <a:t> </a:t>
            </a:r>
            <a:r>
              <a:rPr kumimoji="0" lang="en-US" altLang="en-US" sz="2800" b="0" i="0" u="none" strike="noStrike" cap="none" normalizeH="0" baseline="0" dirty="0" err="1">
                <a:ln>
                  <a:noFill/>
                </a:ln>
                <a:solidFill>
                  <a:srgbClr val="000000"/>
                </a:solidFill>
                <a:effectLst/>
                <a:latin typeface="Consolas" panose="020B0609020204030204" pitchFamily="49" charset="0"/>
              </a:rPr>
              <a:t>sns.load_dataset</a:t>
            </a:r>
            <a:r>
              <a:rPr kumimoji="0" lang="en-US" altLang="en-US" sz="2800" b="0" i="0" u="none" strike="noStrike" cap="none" normalizeH="0" baseline="0" dirty="0">
                <a:ln>
                  <a:noFill/>
                </a:ln>
                <a:solidFill>
                  <a:srgbClr val="000000"/>
                </a:solidFill>
                <a:effectLst/>
                <a:latin typeface="Consolas" panose="020B0609020204030204" pitchFamily="49" charset="0"/>
              </a:rPr>
              <a:t>(</a:t>
            </a:r>
            <a:r>
              <a:rPr kumimoji="0" lang="en-US" altLang="en-US" sz="2800" b="0" i="0" u="none" strike="noStrike" cap="none" normalizeH="0" baseline="0" dirty="0">
                <a:ln>
                  <a:noFill/>
                </a:ln>
                <a:solidFill>
                  <a:srgbClr val="0000FF"/>
                </a:solidFill>
                <a:effectLst/>
                <a:latin typeface="Consolas" panose="020B0609020204030204" pitchFamily="49" charset="0"/>
              </a:rPr>
              <a:t>"iris"</a:t>
            </a:r>
            <a:r>
              <a:rPr kumimoji="0" lang="en-US" altLang="en-US" sz="2800" b="0" i="0" u="none" strike="noStrike" cap="none" normalizeH="0" baseline="0" dirty="0">
                <a:ln>
                  <a:noFill/>
                </a:ln>
                <a:solidFill>
                  <a:srgbClr val="000000"/>
                </a:solidFill>
                <a:effectLst/>
                <a:latin typeface="Consolas" panose="020B0609020204030204" pitchFamily="49" charset="0"/>
              </a:rPr>
              <a:t>)  </a:t>
            </a:r>
            <a:r>
              <a:rPr kumimoji="0" lang="en-US" altLang="en-US" sz="2800" b="0" i="0" u="none" strike="noStrike" cap="none" normalizeH="0" baseline="0" dirty="0">
                <a:ln>
                  <a:noFill/>
                </a:ln>
                <a:solidFill>
                  <a:srgbClr val="273239"/>
                </a:solidFill>
                <a:effectLst/>
                <a:latin typeface="Consolas" panose="020B0609020204030204" pitchFamily="49" charset="0"/>
              </a:rPr>
              <a:t> </a:t>
            </a:r>
            <a:endParaRPr kumimoji="0" lang="en-US" altLang="en-US" sz="28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800" b="0" i="0" u="none" strike="noStrike" cap="none" normalizeH="0" baseline="0" dirty="0" err="1">
                <a:ln>
                  <a:noFill/>
                </a:ln>
                <a:solidFill>
                  <a:srgbClr val="000000"/>
                </a:solidFill>
                <a:effectLst/>
                <a:latin typeface="Consolas" panose="020B0609020204030204" pitchFamily="49" charset="0"/>
              </a:rPr>
              <a:t>sns.lineplot</a:t>
            </a:r>
            <a:r>
              <a:rPr kumimoji="0" lang="en-US" altLang="en-US" sz="2800" b="0" i="0" u="none" strike="noStrike" cap="none" normalizeH="0" baseline="0" dirty="0">
                <a:ln>
                  <a:noFill/>
                </a:ln>
                <a:solidFill>
                  <a:srgbClr val="000000"/>
                </a:solidFill>
                <a:effectLst/>
                <a:latin typeface="Consolas" panose="020B0609020204030204" pitchFamily="49" charset="0"/>
              </a:rPr>
              <a:t>(x</a:t>
            </a:r>
            <a:r>
              <a:rPr kumimoji="0" lang="en-US" altLang="en-US" sz="2800" b="1" i="0" u="none" strike="noStrike" cap="none" normalizeH="0" baseline="0" dirty="0">
                <a:ln>
                  <a:noFill/>
                </a:ln>
                <a:solidFill>
                  <a:srgbClr val="006699"/>
                </a:solidFill>
                <a:effectLst/>
                <a:latin typeface="Consolas" panose="020B0609020204030204" pitchFamily="49" charset="0"/>
              </a:rPr>
              <a:t>=</a:t>
            </a:r>
            <a:r>
              <a:rPr kumimoji="0" lang="en-US" altLang="en-US" sz="2800" b="0" i="0" u="none" strike="noStrike" cap="none" normalizeH="0" baseline="0" dirty="0">
                <a:ln>
                  <a:noFill/>
                </a:ln>
                <a:solidFill>
                  <a:srgbClr val="0000FF"/>
                </a:solidFill>
                <a:effectLst/>
                <a:latin typeface="Consolas" panose="020B0609020204030204" pitchFamily="49" charset="0"/>
              </a:rPr>
              <a:t>"</a:t>
            </a:r>
            <a:r>
              <a:rPr kumimoji="0" lang="en-US" altLang="en-US" sz="2800" b="0" i="0" u="none" strike="noStrike" cap="none" normalizeH="0" baseline="0" dirty="0" err="1">
                <a:ln>
                  <a:noFill/>
                </a:ln>
                <a:solidFill>
                  <a:srgbClr val="0000FF"/>
                </a:solidFill>
                <a:effectLst/>
                <a:latin typeface="Consolas" panose="020B0609020204030204" pitchFamily="49" charset="0"/>
              </a:rPr>
              <a:t>sepal_length</a:t>
            </a:r>
            <a:r>
              <a:rPr kumimoji="0" lang="en-US" altLang="en-US" sz="2800" b="0" i="0" u="none" strike="noStrike" cap="none" normalizeH="0" baseline="0" dirty="0">
                <a:ln>
                  <a:noFill/>
                </a:ln>
                <a:solidFill>
                  <a:srgbClr val="0000FF"/>
                </a:solidFill>
                <a:effectLst/>
                <a:latin typeface="Consolas" panose="020B0609020204030204" pitchFamily="49" charset="0"/>
              </a:rPr>
              <a:t>"</a:t>
            </a:r>
            <a:r>
              <a:rPr kumimoji="0" lang="en-US" altLang="en-US" sz="2800" b="0" i="0" u="none" strike="noStrike" cap="none" normalizeH="0" baseline="0" dirty="0">
                <a:ln>
                  <a:noFill/>
                </a:ln>
                <a:solidFill>
                  <a:srgbClr val="000000"/>
                </a:solidFill>
                <a:effectLst/>
                <a:latin typeface="Consolas" panose="020B0609020204030204" pitchFamily="49" charset="0"/>
              </a:rPr>
              <a:t>, y</a:t>
            </a:r>
            <a:r>
              <a:rPr kumimoji="0" lang="en-US" altLang="en-US" sz="2800" b="1" i="0" u="none" strike="noStrike" cap="none" normalizeH="0" baseline="0" dirty="0">
                <a:ln>
                  <a:noFill/>
                </a:ln>
                <a:solidFill>
                  <a:srgbClr val="006699"/>
                </a:solidFill>
                <a:effectLst/>
                <a:latin typeface="Consolas" panose="020B0609020204030204" pitchFamily="49" charset="0"/>
              </a:rPr>
              <a:t>=</a:t>
            </a:r>
            <a:r>
              <a:rPr kumimoji="0" lang="en-US" altLang="en-US" sz="2800" b="0" i="0" u="none" strike="noStrike" cap="none" normalizeH="0" baseline="0" dirty="0">
                <a:ln>
                  <a:noFill/>
                </a:ln>
                <a:solidFill>
                  <a:srgbClr val="0000FF"/>
                </a:solidFill>
                <a:effectLst/>
                <a:latin typeface="Consolas" panose="020B0609020204030204" pitchFamily="49" charset="0"/>
              </a:rPr>
              <a:t>"</a:t>
            </a:r>
            <a:r>
              <a:rPr kumimoji="0" lang="en-US" altLang="en-US" sz="2800" b="0" i="0" u="none" strike="noStrike" cap="none" normalizeH="0" baseline="0" dirty="0" err="1">
                <a:ln>
                  <a:noFill/>
                </a:ln>
                <a:solidFill>
                  <a:srgbClr val="0000FF"/>
                </a:solidFill>
                <a:effectLst/>
                <a:latin typeface="Consolas" panose="020B0609020204030204" pitchFamily="49" charset="0"/>
              </a:rPr>
              <a:t>sepal_width</a:t>
            </a:r>
            <a:r>
              <a:rPr kumimoji="0" lang="en-US" altLang="en-US" sz="2800" b="0" i="0" u="none" strike="noStrike" cap="none" normalizeH="0" baseline="0" dirty="0">
                <a:ln>
                  <a:noFill/>
                </a:ln>
                <a:solidFill>
                  <a:srgbClr val="0000FF"/>
                </a:solidFill>
                <a:effectLst/>
                <a:latin typeface="Consolas" panose="020B0609020204030204" pitchFamily="49" charset="0"/>
              </a:rPr>
              <a:t>"</a:t>
            </a:r>
            <a:r>
              <a:rPr kumimoji="0" lang="en-US" altLang="en-US" sz="2800" b="0" i="0" u="none" strike="noStrike" cap="none" normalizeH="0" baseline="0" dirty="0">
                <a:ln>
                  <a:noFill/>
                </a:ln>
                <a:solidFill>
                  <a:srgbClr val="000000"/>
                </a:solidFill>
                <a:effectLst/>
                <a:latin typeface="Consolas" panose="020B0609020204030204" pitchFamily="49" charset="0"/>
              </a:rPr>
              <a:t>, data</a:t>
            </a:r>
            <a:r>
              <a:rPr kumimoji="0" lang="en-US" altLang="en-US" sz="2800" b="1" i="0" u="none" strike="noStrike" cap="none" normalizeH="0" baseline="0" dirty="0">
                <a:ln>
                  <a:noFill/>
                </a:ln>
                <a:solidFill>
                  <a:srgbClr val="006699"/>
                </a:solidFill>
                <a:effectLst/>
                <a:latin typeface="Consolas" panose="020B0609020204030204" pitchFamily="49" charset="0"/>
              </a:rPr>
              <a:t>=</a:t>
            </a:r>
            <a:r>
              <a:rPr kumimoji="0" lang="en-US" altLang="en-US" sz="2800" b="0" i="0" u="none" strike="noStrike" cap="none" normalizeH="0" baseline="0" dirty="0">
                <a:ln>
                  <a:noFill/>
                </a:ln>
                <a:solidFill>
                  <a:srgbClr val="000000"/>
                </a:solidFill>
                <a:effectLst/>
                <a:latin typeface="Consolas" panose="020B0609020204030204" pitchFamily="49" charset="0"/>
              </a:rPr>
              <a:t>data)</a:t>
            </a:r>
          </a:p>
          <a:p>
            <a:pPr marL="0" marR="0" lvl="0" indent="0" algn="l" defTabSz="914400" rtl="0" eaLnBrk="0" fontAlgn="base" latinLnBrk="0" hangingPunct="0">
              <a:lnSpc>
                <a:spcPct val="100000"/>
              </a:lnSpc>
              <a:spcBef>
                <a:spcPct val="0"/>
              </a:spcBef>
              <a:spcAft>
                <a:spcPct val="0"/>
              </a:spcAft>
              <a:buClrTx/>
              <a:buSzTx/>
              <a:buFontTx/>
              <a:buNone/>
              <a:tabLst/>
            </a:pPr>
            <a:r>
              <a:rPr lang="en-US" altLang="en-US" sz="2800" dirty="0" err="1">
                <a:solidFill>
                  <a:srgbClr val="000000"/>
                </a:solidFill>
                <a:latin typeface="Consolas" panose="020B0609020204030204" pitchFamily="49" charset="0"/>
              </a:rPr>
              <a:t>Sns.set_style</a:t>
            </a:r>
            <a:r>
              <a:rPr lang="en-US" altLang="en-US" sz="2800" dirty="0">
                <a:solidFill>
                  <a:srgbClr val="000000"/>
                </a:solidFill>
                <a:latin typeface="Consolas" panose="020B0609020204030204" pitchFamily="49" charset="0"/>
              </a:rPr>
              <a:t>(style=</a:t>
            </a:r>
            <a:r>
              <a:rPr lang="en-US" altLang="en-US" sz="2800" dirty="0" err="1">
                <a:solidFill>
                  <a:srgbClr val="000000"/>
                </a:solidFill>
                <a:latin typeface="Consolas" panose="020B0609020204030204" pitchFamily="49" charset="0"/>
              </a:rPr>
              <a:t>darkgrid</a:t>
            </a:r>
            <a:r>
              <a:rPr lang="en-US" altLang="en-US" sz="2800" dirty="0">
                <a:solidFill>
                  <a:srgbClr val="000000"/>
                </a:solidFill>
                <a:latin typeface="Consolas" panose="020B0609020204030204" pitchFamily="49" charset="0"/>
              </a:rPr>
              <a:t>)</a:t>
            </a:r>
            <a:endParaRPr kumimoji="0" lang="en-US" altLang="en-US" sz="2800" b="0" i="0" u="none" strike="noStrike" cap="none" normalizeH="0" baseline="0" dirty="0">
              <a:ln>
                <a:noFill/>
              </a:ln>
              <a:solidFill>
                <a:schemeClr val="tx1"/>
              </a:solidFill>
              <a:effectLst/>
            </a:endParaRPr>
          </a:p>
        </p:txBody>
      </p:sp>
      <p:pic>
        <p:nvPicPr>
          <p:cNvPr id="7" name="Picture 6">
            <a:extLst>
              <a:ext uri="{FF2B5EF4-FFF2-40B4-BE49-F238E27FC236}">
                <a16:creationId xmlns:a16="http://schemas.microsoft.com/office/drawing/2014/main" id="{50F8772B-D001-8BBD-2F3C-FA85C32BFEB0}"/>
              </a:ext>
            </a:extLst>
          </p:cNvPr>
          <p:cNvPicPr>
            <a:picLocks noChangeAspect="1"/>
          </p:cNvPicPr>
          <p:nvPr/>
        </p:nvPicPr>
        <p:blipFill>
          <a:blip r:embed="rId7"/>
          <a:stretch>
            <a:fillRect/>
          </a:stretch>
        </p:blipFill>
        <p:spPr>
          <a:xfrm>
            <a:off x="657128" y="4674636"/>
            <a:ext cx="4508442" cy="2530054"/>
          </a:xfrm>
          <a:prstGeom prst="rect">
            <a:avLst/>
          </a:prstGeom>
        </p:spPr>
      </p:pic>
    </p:spTree>
    <p:extLst>
      <p:ext uri="{BB962C8B-B14F-4D97-AF65-F5344CB8AC3E}">
        <p14:creationId xmlns:p14="http://schemas.microsoft.com/office/powerpoint/2010/main" val="3886098147"/>
      </p:ext>
    </p:extLst>
  </p:cSld>
  <p:clrMapOvr>
    <a:overrideClrMapping bg1="lt1" tx1="dk1" bg2="lt2" tx2="dk2" accent1="accent1" accent2="accent2" accent3="accent3" accent4="accent4" accent5="accent5" accent6="accent6" hlink="hlink" folHlink="folHlink"/>
  </p:clrMapOvr>
</p:sld>
</file>

<file path=ppt/slides/slide7.xml><?xml version="1.0" encoding="utf-8"?>
<p:sld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36D683-E5ED-5080-0209-43D8060AFFF1}"/>
              </a:ext>
            </a:extLst>
          </p:cNvPr>
          <p:cNvSpPr>
            <a:spLocks noGrp="1"/>
          </p:cNvSpPr>
          <p:nvPr>
            <p:ph type="title"/>
          </p:nvPr>
        </p:nvSpPr>
        <p:spPr>
          <a:xfrm>
            <a:off x="838200" y="365125"/>
            <a:ext cx="10515600" cy="663575"/>
          </a:xfrm>
        </p:spPr>
        <p:txBody>
          <a:bodyPr>
            <a:normAutofit/>
          </a:bodyPr>
          <a:lstStyle/>
          <a:p>
            <a:r>
              <a:rPr lang="en-US" dirty="0"/>
              <a:t>Seaborn Distribution Plots:</a:t>
            </a:r>
            <a:endParaRPr lang="en-IN" dirty="0"/>
          </a:p>
        </p:txBody>
      </p:sp>
      <p:graphicFrame>
        <p:nvGraphicFramePr>
          <p:cNvPr id="4" name="Content Placeholder 5">
            <a:extLst>
              <a:ext uri="{FF2B5EF4-FFF2-40B4-BE49-F238E27FC236}">
                <a16:creationId xmlns:a16="http://schemas.microsoft.com/office/drawing/2014/main" id="{9A60A842-5C88-6EF2-E79F-4D9B5F420BB8}"/>
              </a:ext>
            </a:extLst>
          </p:cNvPr>
          <p:cNvGraphicFramePr>
            <a:graphicFrameLocks noGrp="1"/>
          </p:cNvGraphicFramePr>
          <p:nvPr>
            <p:ph idx="1"/>
            <p:extLst>
              <p:ext uri="{D42A27DB-BD31-4B8C-83A1-F6EECF244321}">
                <p14:modId xmlns:p14="http://schemas.microsoft.com/office/powerpoint/2010/main" val="747447139"/>
              </p:ext>
            </p:extLst>
          </p:nvPr>
        </p:nvGraphicFramePr>
        <p:xfrm>
          <a:off x="0" y="1028700"/>
          <a:ext cx="11801475" cy="4986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891214689"/>
      </p:ext>
    </p:extLst>
  </p:cSld>
  <p:clrMapOvr>
    <a:overrideClrMapping bg1="lt1" tx1="dk1" bg2="lt2" tx2="dk2" accent1="accent1" accent2="accent2" accent3="accent3" accent4="accent4" accent5="accent5" accent6="accent6" hlink="hlink" folHlink="folHlink"/>
  </p:clrMapOvr>
</p:sld>
</file>

<file path=ppt/slides/slide8.xml><?xml version="1.0" encoding="utf-8"?>
<p:sld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C33B64A-87CA-A968-AAC9-15AC083A05C9}"/>
              </a:ext>
            </a:extLst>
          </p:cNvPr>
          <p:cNvSpPr>
            <a:spLocks noGrp="1"/>
          </p:cNvSpPr>
          <p:nvPr>
            <p:ph idx="1"/>
          </p:nvPr>
        </p:nvSpPr>
        <p:spPr>
          <a:xfrm>
            <a:off x="1447800" y="0"/>
            <a:ext cx="10515600" cy="6162675"/>
          </a:xfrm>
        </p:spPr>
        <p:txBody>
          <a:bodyPr>
            <a:noAutofit/>
          </a:bodyPr>
          <a:lstStyle/>
          <a:p>
            <a:pPr marL="0" indent="0" fontAlgn="base">
              <a:buNone/>
            </a:pPr>
            <a:r>
              <a:rPr lang="en-US" sz="1600" b="1" dirty="0">
                <a:solidFill>
                  <a:srgbClr val="273239"/>
                </a:solidFill>
                <a:latin typeface="Nunito" pitchFamily="2" charset="0"/>
              </a:rPr>
              <a:t>Using Seaborn Styles:</a:t>
            </a:r>
            <a:endParaRPr lang="en-US" sz="1600" b="1" i="0" dirty="0">
              <a:solidFill>
                <a:srgbClr val="273239"/>
              </a:solidFill>
              <a:effectLst/>
              <a:latin typeface="Nunito" pitchFamily="2" charset="0"/>
            </a:endParaRPr>
          </a:p>
          <a:p>
            <a:pPr algn="just" fontAlgn="base"/>
            <a:r>
              <a:rPr lang="en-US" sz="1600" b="0" i="0" dirty="0">
                <a:solidFill>
                  <a:srgbClr val="273239"/>
                </a:solidFill>
                <a:effectLst/>
                <a:latin typeface="Nunito" pitchFamily="2" charset="0"/>
              </a:rPr>
              <a:t>Seaborn comes with some customized themes and a high-level interface for customizing the looks of the graphs.</a:t>
            </a:r>
          </a:p>
          <a:p>
            <a:pPr lvl="0"/>
            <a:r>
              <a:rPr lang="en-US" sz="1600" b="1" dirty="0">
                <a:latin typeface="Calibri" panose="020F0502020204030204" pitchFamily="34" charset="0"/>
                <a:ea typeface="Calibri" panose="020F0502020204030204" pitchFamily="34" charset="0"/>
                <a:cs typeface="Calibri" panose="020F0502020204030204" pitchFamily="34" charset="0"/>
              </a:rPr>
              <a:t>Style Configurations in Seaborn:</a:t>
            </a:r>
          </a:p>
          <a:p>
            <a:pPr lvl="0"/>
            <a:r>
              <a:rPr lang="en-US" sz="1600" dirty="0"/>
              <a:t>- Use </a:t>
            </a:r>
            <a:r>
              <a:rPr lang="en-US" sz="1600" dirty="0" err="1"/>
              <a:t>sns.set</a:t>
            </a:r>
            <a:r>
              <a:rPr lang="en-US" sz="1600" dirty="0"/>
              <a:t>() to activate Seaborn's built-in style configurations</a:t>
            </a:r>
          </a:p>
          <a:p>
            <a:pPr lvl="0"/>
            <a:r>
              <a:rPr lang="en-US" sz="1600" dirty="0"/>
              <a:t>- Set a specific theme using </a:t>
            </a:r>
            <a:r>
              <a:rPr lang="en-US" sz="1600" dirty="0" err="1"/>
              <a:t>sns.set_style</a:t>
            </a:r>
            <a:r>
              <a:rPr lang="en-US" sz="1600" dirty="0"/>
              <a:t>().</a:t>
            </a:r>
          </a:p>
          <a:p>
            <a:pPr lvl="0"/>
            <a:r>
              <a:rPr lang="en-US" sz="1600" dirty="0"/>
              <a:t>- Sometimes plots are improved by removing elements</a:t>
            </a:r>
            <a:endParaRPr lang="en-US" sz="1600" b="0" i="0" dirty="0">
              <a:solidFill>
                <a:srgbClr val="273239"/>
              </a:solidFill>
              <a:effectLst/>
              <a:latin typeface="Nunito" pitchFamily="2" charset="0"/>
            </a:endParaRPr>
          </a:p>
          <a:p>
            <a:pPr algn="l" fontAlgn="base"/>
            <a:r>
              <a:rPr lang="en-US" sz="1600" b="1" i="0" dirty="0">
                <a:solidFill>
                  <a:srgbClr val="273239"/>
                </a:solidFill>
                <a:effectLst/>
                <a:latin typeface="Nunito" pitchFamily="2" charset="0"/>
              </a:rPr>
              <a:t>Changing Figure Aesthetic</a:t>
            </a:r>
          </a:p>
          <a:p>
            <a:pPr algn="just" fontAlgn="base"/>
            <a:r>
              <a:rPr lang="en-US" sz="1600" b="1" i="0" dirty="0" err="1">
                <a:solidFill>
                  <a:srgbClr val="273239"/>
                </a:solidFill>
                <a:effectLst/>
                <a:latin typeface="Nunito" pitchFamily="2" charset="0"/>
              </a:rPr>
              <a:t>set_style</a:t>
            </a:r>
            <a:r>
              <a:rPr lang="en-US" sz="1600" b="1" i="0" dirty="0">
                <a:solidFill>
                  <a:srgbClr val="273239"/>
                </a:solidFill>
                <a:effectLst/>
                <a:latin typeface="Nunito" pitchFamily="2" charset="0"/>
              </a:rPr>
              <a:t>() </a:t>
            </a:r>
            <a:r>
              <a:rPr lang="en-US" sz="1600" b="0" i="0" dirty="0">
                <a:solidFill>
                  <a:srgbClr val="273239"/>
                </a:solidFill>
                <a:effectLst/>
                <a:latin typeface="Nunito" pitchFamily="2" charset="0"/>
              </a:rPr>
              <a:t>method is used to set the aesthetic of the plot. It means it affects things like the color of the axes, whether the grid is active or not, or other aesthetic elements. There are five themes available in Seaborn.</a:t>
            </a:r>
          </a:p>
          <a:p>
            <a:pPr algn="just" fontAlgn="base">
              <a:buFont typeface="Arial" panose="020B0604020202020204" pitchFamily="34" charset="0"/>
              <a:buChar char="•"/>
            </a:pPr>
            <a:r>
              <a:rPr lang="en-US" sz="1600" b="0" i="0" dirty="0" err="1">
                <a:solidFill>
                  <a:srgbClr val="273239"/>
                </a:solidFill>
                <a:effectLst/>
                <a:latin typeface="Nunito" pitchFamily="2" charset="0"/>
              </a:rPr>
              <a:t>darkgrid</a:t>
            </a:r>
            <a:endParaRPr lang="en-US" sz="1600" b="0" i="0" dirty="0">
              <a:solidFill>
                <a:srgbClr val="273239"/>
              </a:solidFill>
              <a:effectLst/>
              <a:latin typeface="Nunito" pitchFamily="2" charset="0"/>
            </a:endParaRPr>
          </a:p>
          <a:p>
            <a:pPr algn="just" fontAlgn="base">
              <a:buFont typeface="Arial" panose="020B0604020202020204" pitchFamily="34" charset="0"/>
              <a:buChar char="•"/>
            </a:pPr>
            <a:r>
              <a:rPr lang="en-US" sz="1600" b="0" i="0" dirty="0" err="1">
                <a:solidFill>
                  <a:srgbClr val="273239"/>
                </a:solidFill>
                <a:effectLst/>
                <a:latin typeface="Nunito" pitchFamily="2" charset="0"/>
              </a:rPr>
              <a:t>whitegrid</a:t>
            </a:r>
            <a:endParaRPr lang="en-US" sz="1600" b="0" i="0" dirty="0">
              <a:solidFill>
                <a:srgbClr val="273239"/>
              </a:solidFill>
              <a:effectLst/>
              <a:latin typeface="Nunito" pitchFamily="2" charset="0"/>
            </a:endParaRPr>
          </a:p>
          <a:p>
            <a:pPr algn="just" fontAlgn="base">
              <a:buFont typeface="Arial" panose="020B0604020202020204" pitchFamily="34" charset="0"/>
              <a:buChar char="•"/>
            </a:pPr>
            <a:r>
              <a:rPr lang="en-US" sz="1600" b="0" i="0" dirty="0">
                <a:solidFill>
                  <a:srgbClr val="273239"/>
                </a:solidFill>
                <a:effectLst/>
                <a:latin typeface="Nunito" pitchFamily="2" charset="0"/>
              </a:rPr>
              <a:t>dark</a:t>
            </a:r>
          </a:p>
          <a:p>
            <a:pPr algn="just" fontAlgn="base">
              <a:buFont typeface="Arial" panose="020B0604020202020204" pitchFamily="34" charset="0"/>
              <a:buChar char="•"/>
            </a:pPr>
            <a:r>
              <a:rPr lang="en-US" sz="1600" b="0" i="0" dirty="0">
                <a:solidFill>
                  <a:srgbClr val="273239"/>
                </a:solidFill>
                <a:effectLst/>
                <a:latin typeface="Nunito" pitchFamily="2" charset="0"/>
              </a:rPr>
              <a:t>white</a:t>
            </a:r>
          </a:p>
          <a:p>
            <a:pPr algn="just" fontAlgn="base">
              <a:buFont typeface="Arial" panose="020B0604020202020204" pitchFamily="34" charset="0"/>
              <a:buChar char="•"/>
            </a:pPr>
            <a:r>
              <a:rPr lang="en-US" sz="1600" b="0" i="0" dirty="0">
                <a:solidFill>
                  <a:srgbClr val="273239"/>
                </a:solidFill>
                <a:effectLst/>
                <a:latin typeface="Nunito" pitchFamily="2" charset="0"/>
              </a:rPr>
              <a:t>Ticks          </a:t>
            </a:r>
            <a:r>
              <a:rPr lang="en-US" sz="1600" b="1" i="1" dirty="0">
                <a:solidFill>
                  <a:srgbClr val="273239"/>
                </a:solidFill>
                <a:effectLst/>
                <a:latin typeface="Nunito" pitchFamily="2" charset="0"/>
              </a:rPr>
              <a:t>Syntax:      </a:t>
            </a:r>
            <a:r>
              <a:rPr lang="pl-PL" sz="1600" b="0" i="1" dirty="0">
                <a:solidFill>
                  <a:srgbClr val="273239"/>
                </a:solidFill>
                <a:effectLst/>
                <a:latin typeface="Nunito" pitchFamily="2" charset="0"/>
              </a:rPr>
              <a:t>set_style(style=None, rc=None)</a:t>
            </a:r>
            <a:endParaRPr lang="en-US" sz="1600" b="0" i="0" dirty="0">
              <a:solidFill>
                <a:srgbClr val="273239"/>
              </a:solidFill>
              <a:effectLst/>
              <a:latin typeface="Nunito" pitchFamily="2" charset="0"/>
            </a:endParaRPr>
          </a:p>
          <a:p>
            <a:endParaRPr lang="en-IN" sz="1600" dirty="0"/>
          </a:p>
        </p:txBody>
      </p:sp>
    </p:spTree>
    <p:extLst>
      <p:ext uri="{BB962C8B-B14F-4D97-AF65-F5344CB8AC3E}">
        <p14:creationId xmlns:p14="http://schemas.microsoft.com/office/powerpoint/2010/main" val="3139903535"/>
      </p:ext>
    </p:extLst>
  </p:cSld>
  <p:clrMapOvr>
    <a:overrideClrMapping bg1="lt1" tx1="dk1" bg2="lt2" tx2="dk2" accent1="accent1" accent2="accent2" accent3="accent3" accent4="accent4" accent5="accent5" accent6="accent6" hlink="hlink" folHlink="folHlink"/>
  </p:clrMapOvr>
</p:sld>
</file>

<file path=ppt/slides/slide9.xml><?xml version="1.0" encoding="utf-8"?>
<p:sld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A43A793-2773-8980-B589-43D98C2637DF}"/>
              </a:ext>
            </a:extLst>
          </p:cNvPr>
          <p:cNvSpPr>
            <a:spLocks noGrp="1"/>
          </p:cNvSpPr>
          <p:nvPr>
            <p:ph idx="1"/>
          </p:nvPr>
        </p:nvSpPr>
        <p:spPr>
          <a:xfrm>
            <a:off x="838200" y="695325"/>
            <a:ext cx="10515600" cy="5481638"/>
          </a:xfrm>
        </p:spPr>
        <p:txBody>
          <a:bodyPr>
            <a:normAutofit/>
          </a:bodyPr>
          <a:lstStyle/>
          <a:p>
            <a:pPr marL="0" lvl="0" indent="0">
              <a:buNone/>
            </a:pPr>
            <a:r>
              <a:rPr lang="en-US" b="1" dirty="0">
                <a:latin typeface="Calibri" panose="020F0502020204030204" pitchFamily="34" charset="0"/>
                <a:ea typeface="Calibri" panose="020F0502020204030204" pitchFamily="34" charset="0"/>
                <a:cs typeface="Calibri" panose="020F0502020204030204" pitchFamily="34" charset="0"/>
              </a:rPr>
              <a:t>Color Usage in Seaborn:</a:t>
            </a:r>
          </a:p>
          <a:p>
            <a:pPr lvl="0"/>
            <a:r>
              <a:rPr lang="en-US" dirty="0">
                <a:latin typeface="Calibri" panose="020F0502020204030204" pitchFamily="34" charset="0"/>
                <a:ea typeface="Calibri" panose="020F0502020204030204" pitchFamily="34" charset="0"/>
                <a:cs typeface="Calibri" panose="020F0502020204030204" pitchFamily="34" charset="0"/>
              </a:rPr>
              <a:t>Seaborn allows color assignment to plots using matplotlib color codes.</a:t>
            </a:r>
          </a:p>
          <a:p>
            <a:pPr lvl="0"/>
            <a:r>
              <a:rPr lang="en-US" dirty="0">
                <a:latin typeface="Calibri" panose="020F0502020204030204" pitchFamily="34" charset="0"/>
                <a:ea typeface="Calibri" panose="020F0502020204030204" pitchFamily="34" charset="0"/>
                <a:cs typeface="Calibri" panose="020F0502020204030204" pitchFamily="34" charset="0"/>
              </a:rPr>
              <a:t>Use </a:t>
            </a:r>
            <a:r>
              <a:rPr lang="en-US" dirty="0" err="1">
                <a:latin typeface="Calibri" panose="020F0502020204030204" pitchFamily="34" charset="0"/>
                <a:ea typeface="Calibri" panose="020F0502020204030204" pitchFamily="34" charset="0"/>
                <a:cs typeface="Calibri" panose="020F0502020204030204" pitchFamily="34" charset="0"/>
              </a:rPr>
              <a:t>set_palette</a:t>
            </a:r>
            <a:r>
              <a:rPr lang="en-US" dirty="0">
                <a:latin typeface="Calibri" panose="020F0502020204030204" pitchFamily="34" charset="0"/>
                <a:ea typeface="Calibri" panose="020F0502020204030204" pitchFamily="34" charset="0"/>
                <a:cs typeface="Calibri" panose="020F0502020204030204" pitchFamily="34" charset="0"/>
              </a:rPr>
              <a:t>() to define a specific color palette in Seaborn.</a:t>
            </a:r>
          </a:p>
          <a:p>
            <a:pPr lvl="0"/>
            <a:r>
              <a:rPr lang="en-US" dirty="0">
                <a:latin typeface="Calibri" panose="020F0502020204030204" pitchFamily="34" charset="0"/>
                <a:ea typeface="Calibri" panose="020F0502020204030204" pitchFamily="34" charset="0"/>
                <a:cs typeface="Calibri" panose="020F0502020204030204" pitchFamily="34" charset="0"/>
              </a:rPr>
              <a:t>Use </a:t>
            </a:r>
            <a:r>
              <a:rPr lang="en-US" dirty="0" err="1">
                <a:latin typeface="Calibri" panose="020F0502020204030204" pitchFamily="34" charset="0"/>
                <a:ea typeface="Calibri" panose="020F0502020204030204" pitchFamily="34" charset="0"/>
                <a:cs typeface="Calibri" panose="020F0502020204030204" pitchFamily="34" charset="0"/>
              </a:rPr>
              <a:t>sns.color_palette</a:t>
            </a:r>
            <a:r>
              <a:rPr lang="en-US" dirty="0">
                <a:latin typeface="Calibri" panose="020F0502020204030204" pitchFamily="34" charset="0"/>
                <a:ea typeface="Calibri" panose="020F0502020204030204" pitchFamily="34" charset="0"/>
                <a:cs typeface="Calibri" panose="020F0502020204030204" pitchFamily="34" charset="0"/>
              </a:rPr>
              <a:t>() retrieves the active palette.</a:t>
            </a:r>
          </a:p>
          <a:p>
            <a:pPr lvl="0"/>
            <a:r>
              <a:rPr lang="en-US" dirty="0"/>
              <a:t>Circular colors: Ideal for unordered data.</a:t>
            </a:r>
          </a:p>
          <a:p>
            <a:pPr lvl="0"/>
            <a:r>
              <a:rPr lang="en-US" dirty="0"/>
              <a:t>Diverging colors: Suited for data where both low and high values are significant.</a:t>
            </a:r>
          </a:p>
          <a:p>
            <a:pPr lvl="0"/>
            <a:r>
              <a:rPr lang="en-US" dirty="0"/>
              <a:t>Sequential colors: Designed for data with a consistent range, from high to </a:t>
            </a:r>
            <a:r>
              <a:rPr lang="en-US" b="1" dirty="0"/>
              <a:t>low values.</a:t>
            </a:r>
            <a:endParaRPr lang="en-US" sz="2400" b="1" dirty="0">
              <a:latin typeface="Calibri" panose="020F0502020204030204" pitchFamily="34" charset="0"/>
              <a:ea typeface="Calibri" panose="020F0502020204030204" pitchFamily="34" charset="0"/>
              <a:cs typeface="Calibri" panose="020F0502020204030204" pitchFamily="34" charset="0"/>
            </a:endParaRPr>
          </a:p>
          <a:p>
            <a:endParaRPr lang="en-IN" dirty="0"/>
          </a:p>
        </p:txBody>
      </p:sp>
    </p:spTree>
    <p:extLst>
      <p:ext uri="{BB962C8B-B14F-4D97-AF65-F5344CB8AC3E}">
        <p14:creationId xmlns:p14="http://schemas.microsoft.com/office/powerpoint/2010/main" val="3173761238"/>
      </p:ext>
    </p:extLst>
  </p:cSld>
  <p:clrMapOvr>
    <a:overrideClrMapping bg1="lt1" tx1="dk1" bg2="lt2" tx2="dk2" accent1="accent1" accent2="accent2" accent3="accent3" accent4="accent4" accent5="accent5" accent6="accent6" hlink="hlink" folHlink="folHlink"/>
  </p:clrMapOvr>
</p:sld>
</file>

<file path=ppt/slides/slide10.xml><?xml version="1.0" encoding="utf-8"?>
<p:sld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C982E71-4725-1C3F-B090-7B9F0A41C96C}"/>
              </a:ext>
            </a:extLst>
          </p:cNvPr>
          <p:cNvSpPr>
            <a:spLocks noGrp="1"/>
          </p:cNvSpPr>
          <p:nvPr>
            <p:ph idx="1"/>
          </p:nvPr>
        </p:nvSpPr>
        <p:spPr>
          <a:xfrm>
            <a:off x="838200" y="167951"/>
            <a:ext cx="10515600" cy="6009012"/>
          </a:xfrm>
        </p:spPr>
        <p:txBody>
          <a:bodyPr>
            <a:normAutofit fontScale="92500"/>
          </a:bodyPr>
          <a:lstStyle/>
          <a:p>
            <a:pPr marL="0" indent="0" algn="just">
              <a:buNone/>
            </a:pPr>
            <a:r>
              <a:rPr lang="en-IN" b="1" i="0" dirty="0">
                <a:solidFill>
                  <a:srgbClr val="006699"/>
                </a:solidFill>
                <a:effectLst/>
                <a:latin typeface="inter-regular"/>
              </a:rPr>
              <a:t>Using </a:t>
            </a:r>
            <a:r>
              <a:rPr lang="en-IN" b="1" i="0" dirty="0" err="1">
                <a:solidFill>
                  <a:srgbClr val="006699"/>
                </a:solidFill>
                <a:effectLst/>
                <a:latin typeface="inter-regular"/>
              </a:rPr>
              <a:t>color</a:t>
            </a:r>
            <a:r>
              <a:rPr lang="en-IN" b="1" i="0" dirty="0">
                <a:solidFill>
                  <a:srgbClr val="006699"/>
                </a:solidFill>
                <a:effectLst/>
                <a:latin typeface="inter-regular"/>
              </a:rPr>
              <a:t> palette:</a:t>
            </a:r>
          </a:p>
          <a:p>
            <a:pPr marL="0" indent="0" algn="just">
              <a:buNone/>
            </a:pPr>
            <a:r>
              <a:rPr lang="en-IN" b="1" i="0" dirty="0">
                <a:solidFill>
                  <a:srgbClr val="006699"/>
                </a:solidFill>
                <a:effectLst/>
                <a:latin typeface="inter-regular"/>
              </a:rPr>
              <a:t>import</a:t>
            </a:r>
            <a:r>
              <a:rPr lang="en-IN" b="0" i="0" dirty="0">
                <a:solidFill>
                  <a:srgbClr val="000000"/>
                </a:solidFill>
                <a:effectLst/>
                <a:latin typeface="inter-regular"/>
              </a:rPr>
              <a:t> </a:t>
            </a:r>
            <a:r>
              <a:rPr lang="en-IN" b="0" i="0" dirty="0" err="1">
                <a:solidFill>
                  <a:srgbClr val="000000"/>
                </a:solidFill>
                <a:effectLst/>
                <a:latin typeface="inter-regular"/>
              </a:rPr>
              <a:t>matplotlib.pyplot</a:t>
            </a:r>
            <a:r>
              <a:rPr lang="en-IN" b="0" i="0" dirty="0">
                <a:solidFill>
                  <a:srgbClr val="000000"/>
                </a:solidFill>
                <a:effectLst/>
                <a:latin typeface="inter-regular"/>
              </a:rPr>
              <a:t> as </a:t>
            </a:r>
            <a:r>
              <a:rPr lang="en-IN" b="0" i="0" dirty="0" err="1">
                <a:solidFill>
                  <a:srgbClr val="000000"/>
                </a:solidFill>
                <a:effectLst/>
                <a:latin typeface="inter-regular"/>
              </a:rPr>
              <a:t>plt</a:t>
            </a:r>
            <a:r>
              <a:rPr lang="en-IN" b="0" i="0" dirty="0">
                <a:solidFill>
                  <a:srgbClr val="000000"/>
                </a:solidFill>
                <a:effectLst/>
                <a:latin typeface="inter-regular"/>
              </a:rPr>
              <a:t>  </a:t>
            </a:r>
          </a:p>
          <a:p>
            <a:pPr marL="0" indent="0" algn="just">
              <a:buNone/>
            </a:pPr>
            <a:r>
              <a:rPr lang="en-IN" b="1" i="0" dirty="0">
                <a:solidFill>
                  <a:srgbClr val="006699"/>
                </a:solidFill>
                <a:effectLst/>
                <a:latin typeface="inter-regular"/>
              </a:rPr>
              <a:t>import</a:t>
            </a:r>
            <a:r>
              <a:rPr lang="en-IN" b="0" i="0" dirty="0">
                <a:solidFill>
                  <a:srgbClr val="000000"/>
                </a:solidFill>
                <a:effectLst/>
                <a:latin typeface="inter-regular"/>
              </a:rPr>
              <a:t> seaborn as </a:t>
            </a:r>
            <a:r>
              <a:rPr lang="en-IN" b="0" i="0" dirty="0" err="1">
                <a:solidFill>
                  <a:srgbClr val="000000"/>
                </a:solidFill>
                <a:effectLst/>
                <a:latin typeface="inter-regular"/>
              </a:rPr>
              <a:t>sns</a:t>
            </a:r>
            <a:r>
              <a:rPr lang="en-IN" b="0" i="0" dirty="0">
                <a:solidFill>
                  <a:srgbClr val="000000"/>
                </a:solidFill>
                <a:effectLst/>
                <a:latin typeface="inter-regular"/>
              </a:rPr>
              <a:t>  </a:t>
            </a:r>
          </a:p>
          <a:p>
            <a:pPr marL="0" indent="0" algn="just">
              <a:buNone/>
            </a:pPr>
            <a:r>
              <a:rPr lang="en-IN" b="1" i="0" dirty="0">
                <a:solidFill>
                  <a:srgbClr val="006699"/>
                </a:solidFill>
                <a:effectLst/>
                <a:latin typeface="inter-regular"/>
              </a:rPr>
              <a:t>import</a:t>
            </a:r>
            <a:r>
              <a:rPr lang="en-IN" b="0" i="0" dirty="0">
                <a:solidFill>
                  <a:srgbClr val="000000"/>
                </a:solidFill>
                <a:effectLst/>
                <a:latin typeface="inter-regular"/>
              </a:rPr>
              <a:t> pandas as pd  </a:t>
            </a:r>
          </a:p>
          <a:p>
            <a:pPr marL="0" indent="0" algn="just">
              <a:buNone/>
            </a:pPr>
            <a:r>
              <a:rPr lang="en-IN" b="0" i="0" dirty="0">
                <a:solidFill>
                  <a:srgbClr val="000000"/>
                </a:solidFill>
                <a:effectLst/>
                <a:latin typeface="inter-regular"/>
              </a:rPr>
              <a:t>#loading the dataset </a:t>
            </a:r>
            <a:r>
              <a:rPr lang="en-IN" b="0" i="0" dirty="0">
                <a:solidFill>
                  <a:srgbClr val="0000FF"/>
                </a:solidFill>
                <a:effectLst/>
                <a:latin typeface="inter-regular"/>
              </a:rPr>
              <a:t>'tips'</a:t>
            </a:r>
            <a:r>
              <a:rPr lang="en-IN" b="0" i="0" dirty="0">
                <a:solidFill>
                  <a:srgbClr val="000000"/>
                </a:solidFill>
                <a:effectLst/>
                <a:latin typeface="inter-regular"/>
              </a:rPr>
              <a:t>  </a:t>
            </a:r>
          </a:p>
          <a:p>
            <a:pPr marL="0" indent="0" algn="just">
              <a:buNone/>
            </a:pPr>
            <a:r>
              <a:rPr lang="en-IN" b="0" i="0" dirty="0" err="1">
                <a:solidFill>
                  <a:srgbClr val="000000"/>
                </a:solidFill>
                <a:effectLst/>
                <a:latin typeface="inter-regular"/>
              </a:rPr>
              <a:t>df</a:t>
            </a:r>
            <a:r>
              <a:rPr lang="en-IN" b="0" i="0" dirty="0">
                <a:solidFill>
                  <a:srgbClr val="000000"/>
                </a:solidFill>
                <a:effectLst/>
                <a:latin typeface="inter-regular"/>
              </a:rPr>
              <a:t>=</a:t>
            </a:r>
            <a:r>
              <a:rPr lang="en-IN" b="0" i="0" dirty="0" err="1">
                <a:solidFill>
                  <a:srgbClr val="000000"/>
                </a:solidFill>
                <a:effectLst/>
                <a:latin typeface="inter-regular"/>
              </a:rPr>
              <a:t>pd.read_csv</a:t>
            </a:r>
            <a:r>
              <a:rPr lang="en-IN" b="0" i="0" dirty="0">
                <a:solidFill>
                  <a:srgbClr val="000000"/>
                </a:solidFill>
                <a:effectLst/>
                <a:latin typeface="inter-regular"/>
              </a:rPr>
              <a:t>(</a:t>
            </a:r>
            <a:r>
              <a:rPr lang="en-IN" b="0" i="0" dirty="0">
                <a:solidFill>
                  <a:srgbClr val="0000FF"/>
                </a:solidFill>
                <a:effectLst/>
                <a:latin typeface="inter-regular"/>
              </a:rPr>
              <a:t>"/content/tips.csv"</a:t>
            </a:r>
            <a:r>
              <a:rPr lang="en-IN" b="0" i="0" dirty="0">
                <a:solidFill>
                  <a:srgbClr val="000000"/>
                </a:solidFill>
                <a:effectLst/>
                <a:latin typeface="inter-regular"/>
              </a:rPr>
              <a:t>)  </a:t>
            </a:r>
          </a:p>
          <a:p>
            <a:pPr marL="0" indent="0" algn="just">
              <a:buNone/>
            </a:pPr>
            <a:r>
              <a:rPr lang="en-IN" b="0" i="0" dirty="0">
                <a:solidFill>
                  <a:srgbClr val="000000"/>
                </a:solidFill>
                <a:effectLst/>
                <a:latin typeface="inter-regular"/>
              </a:rPr>
              <a:t>#plotting the graph  </a:t>
            </a:r>
          </a:p>
          <a:p>
            <a:pPr marL="0" indent="0" algn="just">
              <a:buNone/>
            </a:pPr>
            <a:r>
              <a:rPr lang="en-IN" b="0" i="0" dirty="0" err="1">
                <a:solidFill>
                  <a:srgbClr val="000000"/>
                </a:solidFill>
                <a:effectLst/>
                <a:latin typeface="inter-regular"/>
              </a:rPr>
              <a:t>sns.countplot</a:t>
            </a:r>
            <a:r>
              <a:rPr lang="en-IN" b="0" i="0" dirty="0">
                <a:solidFill>
                  <a:srgbClr val="000000"/>
                </a:solidFill>
                <a:effectLst/>
                <a:latin typeface="inter-regular"/>
              </a:rPr>
              <a:t>(x=</a:t>
            </a:r>
            <a:r>
              <a:rPr lang="en-IN" b="0" i="0" dirty="0">
                <a:solidFill>
                  <a:srgbClr val="0000FF"/>
                </a:solidFill>
                <a:effectLst/>
                <a:latin typeface="inter-regular"/>
              </a:rPr>
              <a:t>'sex'</a:t>
            </a:r>
            <a:r>
              <a:rPr lang="en-IN" b="0" i="0" dirty="0">
                <a:solidFill>
                  <a:srgbClr val="000000"/>
                </a:solidFill>
                <a:effectLst/>
                <a:latin typeface="inter-regular"/>
              </a:rPr>
              <a:t>, data=</a:t>
            </a:r>
            <a:r>
              <a:rPr lang="en-IN" b="0" i="0" dirty="0" err="1">
                <a:solidFill>
                  <a:srgbClr val="000000"/>
                </a:solidFill>
                <a:effectLst/>
                <a:latin typeface="inter-regular"/>
              </a:rPr>
              <a:t>df</a:t>
            </a:r>
            <a:r>
              <a:rPr lang="en-IN" b="0" i="0" dirty="0">
                <a:solidFill>
                  <a:srgbClr val="000000"/>
                </a:solidFill>
                <a:effectLst/>
                <a:latin typeface="inter-regular"/>
              </a:rPr>
              <a:t>, palette=</a:t>
            </a:r>
            <a:r>
              <a:rPr lang="en-IN" b="0" i="0" dirty="0">
                <a:solidFill>
                  <a:srgbClr val="0000FF"/>
                </a:solidFill>
                <a:effectLst/>
                <a:latin typeface="inter-regular"/>
              </a:rPr>
              <a:t>'Set1'</a:t>
            </a:r>
            <a:r>
              <a:rPr lang="en-IN" b="0" i="0" dirty="0">
                <a:solidFill>
                  <a:srgbClr val="000000"/>
                </a:solidFill>
                <a:effectLst/>
                <a:latin typeface="inter-regular"/>
              </a:rPr>
              <a:t>)  </a:t>
            </a:r>
          </a:p>
          <a:p>
            <a:pPr marL="0" indent="0" algn="just">
              <a:buNone/>
            </a:pPr>
            <a:r>
              <a:rPr lang="en-IN" b="0" i="0" dirty="0" err="1">
                <a:solidFill>
                  <a:srgbClr val="000000"/>
                </a:solidFill>
                <a:effectLst/>
                <a:latin typeface="inter-regular"/>
              </a:rPr>
              <a:t>plt.show</a:t>
            </a:r>
            <a:r>
              <a:rPr lang="en-IN" b="0" i="0" dirty="0">
                <a:solidFill>
                  <a:srgbClr val="000000"/>
                </a:solidFill>
                <a:effectLst/>
                <a:latin typeface="inter-regular"/>
              </a:rPr>
              <a:t>()  </a:t>
            </a:r>
          </a:p>
          <a:p>
            <a:r>
              <a:rPr lang="en-IN" dirty="0"/>
              <a:t>When you use palette="Set1" in Seaborn, you are using a </a:t>
            </a:r>
            <a:r>
              <a:rPr lang="en-IN" b="1" dirty="0"/>
              <a:t>qualitative (categorical) </a:t>
            </a:r>
            <a:r>
              <a:rPr lang="en-IN" b="1" dirty="0" err="1"/>
              <a:t>color</a:t>
            </a:r>
            <a:r>
              <a:rPr lang="en-IN" b="1" dirty="0"/>
              <a:t> palette</a:t>
            </a:r>
            <a:r>
              <a:rPr lang="en-IN" dirty="0"/>
              <a:t>.</a:t>
            </a:r>
          </a:p>
          <a:p>
            <a:pPr marL="0" indent="0">
              <a:buNone/>
            </a:pPr>
            <a:r>
              <a:rPr lang="en-IN" dirty="0"/>
              <a:t>    It is best when your data consists of </a:t>
            </a:r>
            <a:r>
              <a:rPr lang="en-IN" b="1" dirty="0"/>
              <a:t>distinct categories with no numerical order</a:t>
            </a:r>
            <a:r>
              <a:rPr lang="en-IN" dirty="0"/>
              <a:t>.</a:t>
            </a:r>
          </a:p>
          <a:p>
            <a:r>
              <a:rPr lang="en-IN" dirty="0"/>
              <a:t>If by “unordered data” you mean categories such as Apple, Banana, and Orange, use a </a:t>
            </a:r>
            <a:r>
              <a:rPr lang="en-IN" b="1" dirty="0"/>
              <a:t>qualitative palette</a:t>
            </a:r>
            <a:r>
              <a:rPr lang="en-IN" dirty="0"/>
              <a:t> such as </a:t>
            </a:r>
            <a:r>
              <a:rPr lang="en-IN" dirty="0" err="1"/>
              <a:t>sns.color_palette</a:t>
            </a:r>
            <a:r>
              <a:rPr lang="en-IN" dirty="0"/>
              <a:t>("Set2") rather than a circular palette.</a:t>
            </a:r>
          </a:p>
        </p:txBody>
      </p:sp>
      <p:pic>
        <p:nvPicPr>
          <p:cNvPr id="5" name="Picture 4">
            <a:extLst>
              <a:ext uri="{FF2B5EF4-FFF2-40B4-BE49-F238E27FC236}">
                <a16:creationId xmlns:a16="http://schemas.microsoft.com/office/drawing/2014/main" id="{ADC04AFD-85CD-5107-2A58-7928EFB81C70}"/>
              </a:ext>
            </a:extLst>
          </p:cNvPr>
          <p:cNvPicPr>
            <a:picLocks noChangeAspect="1"/>
          </p:cNvPicPr>
          <p:nvPr/>
        </p:nvPicPr>
        <p:blipFill>
          <a:blip r:embed="rId3"/>
          <a:stretch>
            <a:fillRect/>
          </a:stretch>
        </p:blipFill>
        <p:spPr>
          <a:xfrm>
            <a:off x="6176865" y="0"/>
            <a:ext cx="5114731" cy="3163078"/>
          </a:xfrm>
          <a:prstGeom prst="rect">
            <a:avLst/>
          </a:prstGeom>
        </p:spPr>
      </p:pic>
    </p:spTree>
    <p:extLst>
      <p:ext uri="{BB962C8B-B14F-4D97-AF65-F5344CB8AC3E}">
        <p14:creationId xmlns:p14="http://schemas.microsoft.com/office/powerpoint/2010/main" val="1461824185"/>
      </p:ext>
    </p:extLst>
  </p:cSld>
  <p:clrMapOvr>
    <a:overrideClrMapping bg1="lt1" tx1="dk1" bg2="lt2" tx2="dk2" accent1="accent1" accent2="accent2" accent3="accent3" accent4="accent4" accent5="accent5" accent6="accent6" hlink="hlink" folHlink="folHlink"/>
  </p:clrMapOvr>
</p:sld>
</file>

<file path=ppt/slides/slide11.xml><?xml version="1.0" encoding="utf-8"?>
<p:sld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2DEA0A0-C386-0FE7-EF96-01FE4BC705DC}"/>
              </a:ext>
            </a:extLst>
          </p:cNvPr>
          <p:cNvSpPr>
            <a:spLocks noGrp="1"/>
          </p:cNvSpPr>
          <p:nvPr>
            <p:ph idx="1"/>
          </p:nvPr>
        </p:nvSpPr>
        <p:spPr>
          <a:xfrm>
            <a:off x="838200" y="177282"/>
            <a:ext cx="10515600" cy="5999681"/>
          </a:xfrm>
        </p:spPr>
        <p:txBody>
          <a:bodyPr/>
          <a:lstStyle/>
          <a:p>
            <a:pPr algn="just">
              <a:buFont typeface="+mj-lt"/>
              <a:buAutoNum type="arabicPeriod"/>
            </a:pPr>
            <a:r>
              <a:rPr lang="en-US" dirty="0"/>
              <a:t>Using color parameter:</a:t>
            </a:r>
          </a:p>
          <a:p>
            <a:pPr marL="0" indent="0" algn="just">
              <a:buNone/>
            </a:pPr>
            <a:r>
              <a:rPr lang="en-IN" b="1" i="0" dirty="0">
                <a:solidFill>
                  <a:srgbClr val="006699"/>
                </a:solidFill>
                <a:effectLst/>
                <a:latin typeface="inter-regular"/>
              </a:rPr>
              <a:t>import</a:t>
            </a:r>
            <a:r>
              <a:rPr lang="en-IN" b="0" i="0" dirty="0">
                <a:solidFill>
                  <a:srgbClr val="000000"/>
                </a:solidFill>
                <a:effectLst/>
                <a:latin typeface="inter-regular"/>
              </a:rPr>
              <a:t> </a:t>
            </a:r>
            <a:r>
              <a:rPr lang="en-IN" b="0" i="0" dirty="0" err="1">
                <a:solidFill>
                  <a:srgbClr val="000000"/>
                </a:solidFill>
                <a:effectLst/>
                <a:latin typeface="inter-regular"/>
              </a:rPr>
              <a:t>matplotlib.pyplot</a:t>
            </a:r>
            <a:r>
              <a:rPr lang="en-IN" b="0" i="0" dirty="0">
                <a:solidFill>
                  <a:srgbClr val="000000"/>
                </a:solidFill>
                <a:effectLst/>
                <a:latin typeface="inter-regular"/>
              </a:rPr>
              <a:t> as </a:t>
            </a:r>
            <a:r>
              <a:rPr lang="en-IN" b="0" i="0" dirty="0" err="1">
                <a:solidFill>
                  <a:srgbClr val="000000"/>
                </a:solidFill>
                <a:effectLst/>
                <a:latin typeface="inter-regular"/>
              </a:rPr>
              <a:t>plt</a:t>
            </a:r>
            <a:r>
              <a:rPr lang="en-IN" b="0" i="0" dirty="0">
                <a:solidFill>
                  <a:srgbClr val="000000"/>
                </a:solidFill>
                <a:effectLst/>
                <a:latin typeface="inter-regular"/>
              </a:rPr>
              <a:t>  </a:t>
            </a:r>
          </a:p>
          <a:p>
            <a:pPr marL="0" indent="0" algn="just">
              <a:buNone/>
            </a:pPr>
            <a:r>
              <a:rPr lang="en-IN" b="1" i="0" dirty="0">
                <a:solidFill>
                  <a:srgbClr val="006699"/>
                </a:solidFill>
                <a:effectLst/>
                <a:latin typeface="inter-regular"/>
              </a:rPr>
              <a:t>import</a:t>
            </a:r>
            <a:r>
              <a:rPr lang="en-IN" b="0" i="0" dirty="0">
                <a:solidFill>
                  <a:srgbClr val="000000"/>
                </a:solidFill>
                <a:effectLst/>
                <a:latin typeface="inter-regular"/>
              </a:rPr>
              <a:t> seaborn as </a:t>
            </a:r>
            <a:r>
              <a:rPr lang="en-IN" b="0" i="0" dirty="0" err="1">
                <a:solidFill>
                  <a:srgbClr val="000000"/>
                </a:solidFill>
                <a:effectLst/>
                <a:latin typeface="inter-regular"/>
              </a:rPr>
              <a:t>sns</a:t>
            </a:r>
            <a:r>
              <a:rPr lang="en-IN" b="0" i="0" dirty="0">
                <a:solidFill>
                  <a:srgbClr val="000000"/>
                </a:solidFill>
                <a:effectLst/>
                <a:latin typeface="inter-regular"/>
              </a:rPr>
              <a:t>  </a:t>
            </a:r>
          </a:p>
          <a:p>
            <a:pPr marL="0" indent="0" algn="just">
              <a:buNone/>
            </a:pPr>
            <a:r>
              <a:rPr lang="en-IN" b="1" i="0" dirty="0">
                <a:solidFill>
                  <a:srgbClr val="006699"/>
                </a:solidFill>
                <a:effectLst/>
                <a:latin typeface="inter-regular"/>
              </a:rPr>
              <a:t>import</a:t>
            </a:r>
            <a:r>
              <a:rPr lang="en-IN" b="0" i="0" dirty="0">
                <a:solidFill>
                  <a:srgbClr val="000000"/>
                </a:solidFill>
                <a:effectLst/>
                <a:latin typeface="inter-regular"/>
              </a:rPr>
              <a:t> pandas as pd  </a:t>
            </a:r>
          </a:p>
          <a:p>
            <a:pPr marL="0" indent="0" algn="just">
              <a:buNone/>
            </a:pPr>
            <a:r>
              <a:rPr lang="en-IN" b="0" i="0" dirty="0">
                <a:solidFill>
                  <a:srgbClr val="000000"/>
                </a:solidFill>
                <a:effectLst/>
                <a:latin typeface="inter-regular"/>
              </a:rPr>
              <a:t>#loading the dataset </a:t>
            </a:r>
            <a:r>
              <a:rPr lang="en-IN" b="0" i="0" dirty="0">
                <a:solidFill>
                  <a:srgbClr val="0000FF"/>
                </a:solidFill>
                <a:effectLst/>
                <a:latin typeface="inter-regular"/>
              </a:rPr>
              <a:t>'train'</a:t>
            </a:r>
            <a:r>
              <a:rPr lang="en-IN" b="0" i="0" dirty="0">
                <a:solidFill>
                  <a:srgbClr val="000000"/>
                </a:solidFill>
                <a:effectLst/>
                <a:latin typeface="inter-regular"/>
              </a:rPr>
              <a:t>  </a:t>
            </a:r>
          </a:p>
          <a:p>
            <a:pPr marL="0" indent="0" algn="just">
              <a:buNone/>
            </a:pPr>
            <a:r>
              <a:rPr lang="en-IN" b="0" i="0" dirty="0" err="1">
                <a:solidFill>
                  <a:srgbClr val="000000"/>
                </a:solidFill>
                <a:effectLst/>
                <a:latin typeface="inter-regular"/>
              </a:rPr>
              <a:t>df</a:t>
            </a:r>
            <a:r>
              <a:rPr lang="en-IN" b="0" i="0" dirty="0">
                <a:solidFill>
                  <a:srgbClr val="000000"/>
                </a:solidFill>
                <a:effectLst/>
                <a:latin typeface="inter-regular"/>
              </a:rPr>
              <a:t>=</a:t>
            </a:r>
            <a:r>
              <a:rPr lang="en-IN" b="0" i="0" dirty="0" err="1">
                <a:solidFill>
                  <a:srgbClr val="000000"/>
                </a:solidFill>
                <a:effectLst/>
                <a:latin typeface="inter-regular"/>
              </a:rPr>
              <a:t>pd.read_csv</a:t>
            </a:r>
            <a:r>
              <a:rPr lang="en-IN" b="0" i="0" dirty="0">
                <a:solidFill>
                  <a:srgbClr val="000000"/>
                </a:solidFill>
                <a:effectLst/>
                <a:latin typeface="inter-regular"/>
              </a:rPr>
              <a:t>(</a:t>
            </a:r>
            <a:r>
              <a:rPr lang="en-IN" b="0" i="0" dirty="0">
                <a:solidFill>
                  <a:srgbClr val="0000FF"/>
                </a:solidFill>
                <a:effectLst/>
                <a:latin typeface="inter-regular"/>
              </a:rPr>
              <a:t>"/content/train.csv"</a:t>
            </a:r>
            <a:r>
              <a:rPr lang="en-IN" b="0" i="0" dirty="0">
                <a:solidFill>
                  <a:srgbClr val="000000"/>
                </a:solidFill>
                <a:effectLst/>
                <a:latin typeface="inter-regular"/>
              </a:rPr>
              <a:t>)  </a:t>
            </a:r>
          </a:p>
          <a:p>
            <a:pPr marL="0" indent="0" algn="just">
              <a:buNone/>
            </a:pPr>
            <a:r>
              <a:rPr lang="en-IN" b="0" i="0" dirty="0">
                <a:solidFill>
                  <a:srgbClr val="000000"/>
                </a:solidFill>
                <a:effectLst/>
                <a:latin typeface="inter-regular"/>
              </a:rPr>
              <a:t>#plotting the graph  </a:t>
            </a:r>
          </a:p>
          <a:p>
            <a:pPr marL="0" indent="0" algn="just">
              <a:buNone/>
            </a:pPr>
            <a:r>
              <a:rPr lang="en-IN" b="0" i="0" dirty="0" err="1">
                <a:solidFill>
                  <a:srgbClr val="000000"/>
                </a:solidFill>
                <a:effectLst/>
                <a:latin typeface="inter-regular"/>
              </a:rPr>
              <a:t>sns.countplot</a:t>
            </a:r>
            <a:r>
              <a:rPr lang="en-IN" b="0" i="0" dirty="0">
                <a:solidFill>
                  <a:srgbClr val="000000"/>
                </a:solidFill>
                <a:effectLst/>
                <a:latin typeface="inter-regular"/>
              </a:rPr>
              <a:t>(x=</a:t>
            </a:r>
            <a:r>
              <a:rPr lang="en-IN" b="0" i="0" dirty="0">
                <a:solidFill>
                  <a:srgbClr val="0000FF"/>
                </a:solidFill>
                <a:effectLst/>
                <a:latin typeface="inter-regular"/>
              </a:rPr>
              <a:t>'</a:t>
            </a:r>
            <a:r>
              <a:rPr lang="en-IN" b="0" i="0" dirty="0" err="1">
                <a:solidFill>
                  <a:srgbClr val="0000FF"/>
                </a:solidFill>
                <a:effectLst/>
                <a:latin typeface="inter-regular"/>
              </a:rPr>
              <a:t>Pclass</a:t>
            </a:r>
            <a:r>
              <a:rPr lang="en-IN" b="0" i="0" dirty="0">
                <a:solidFill>
                  <a:srgbClr val="0000FF"/>
                </a:solidFill>
                <a:effectLst/>
                <a:latin typeface="inter-regular"/>
              </a:rPr>
              <a:t>'</a:t>
            </a:r>
            <a:r>
              <a:rPr lang="en-IN" b="0" i="0" dirty="0">
                <a:solidFill>
                  <a:srgbClr val="000000"/>
                </a:solidFill>
                <a:effectLst/>
                <a:latin typeface="inter-regular"/>
              </a:rPr>
              <a:t>,hue=</a:t>
            </a:r>
            <a:r>
              <a:rPr lang="en-IN" b="0" i="0" dirty="0">
                <a:solidFill>
                  <a:srgbClr val="0000FF"/>
                </a:solidFill>
                <a:effectLst/>
                <a:latin typeface="inter-regular"/>
              </a:rPr>
              <a:t>'Sex'</a:t>
            </a:r>
            <a:r>
              <a:rPr lang="en-IN" b="0" i="0" dirty="0">
                <a:solidFill>
                  <a:srgbClr val="000000"/>
                </a:solidFill>
                <a:effectLst/>
                <a:latin typeface="inter-regular"/>
              </a:rPr>
              <a:t>, data=</a:t>
            </a:r>
            <a:r>
              <a:rPr lang="en-IN" b="0" i="0" dirty="0" err="1">
                <a:solidFill>
                  <a:srgbClr val="000000"/>
                </a:solidFill>
                <a:effectLst/>
                <a:latin typeface="inter-regular"/>
              </a:rPr>
              <a:t>df</a:t>
            </a:r>
            <a:r>
              <a:rPr lang="en-IN" b="0" i="0" dirty="0">
                <a:solidFill>
                  <a:srgbClr val="000000"/>
                </a:solidFill>
                <a:effectLst/>
                <a:latin typeface="inter-regular"/>
              </a:rPr>
              <a:t>, </a:t>
            </a:r>
            <a:r>
              <a:rPr lang="en-IN" b="0" i="0" dirty="0" err="1">
                <a:solidFill>
                  <a:srgbClr val="000000"/>
                </a:solidFill>
                <a:effectLst/>
                <a:latin typeface="inter-regular"/>
              </a:rPr>
              <a:t>color</a:t>
            </a:r>
            <a:r>
              <a:rPr lang="en-IN" b="0" i="0" dirty="0">
                <a:solidFill>
                  <a:srgbClr val="000000"/>
                </a:solidFill>
                <a:effectLst/>
                <a:latin typeface="inter-regular"/>
              </a:rPr>
              <a:t>=</a:t>
            </a:r>
            <a:r>
              <a:rPr lang="en-IN" b="0" i="0" dirty="0">
                <a:solidFill>
                  <a:srgbClr val="0000FF"/>
                </a:solidFill>
                <a:effectLst/>
                <a:latin typeface="inter-regular"/>
              </a:rPr>
              <a:t>'green'</a:t>
            </a:r>
            <a:r>
              <a:rPr lang="en-IN" b="0" i="0" dirty="0">
                <a:solidFill>
                  <a:srgbClr val="000000"/>
                </a:solidFill>
                <a:effectLst/>
                <a:latin typeface="inter-regular"/>
              </a:rPr>
              <a:t>)  </a:t>
            </a:r>
          </a:p>
          <a:p>
            <a:pPr marL="0" indent="0" algn="just">
              <a:buNone/>
            </a:pPr>
            <a:r>
              <a:rPr lang="en-IN" b="0" i="0" dirty="0" err="1">
                <a:solidFill>
                  <a:srgbClr val="000000"/>
                </a:solidFill>
                <a:effectLst/>
                <a:latin typeface="inter-regular"/>
              </a:rPr>
              <a:t>plt.show</a:t>
            </a:r>
            <a:r>
              <a:rPr lang="en-IN" b="0" i="0" dirty="0">
                <a:solidFill>
                  <a:srgbClr val="000000"/>
                </a:solidFill>
                <a:effectLst/>
                <a:latin typeface="inter-regular"/>
              </a:rPr>
              <a:t>()  </a:t>
            </a:r>
          </a:p>
        </p:txBody>
      </p:sp>
      <p:pic>
        <p:nvPicPr>
          <p:cNvPr id="5" name="Picture 4">
            <a:extLst>
              <a:ext uri="{FF2B5EF4-FFF2-40B4-BE49-F238E27FC236}">
                <a16:creationId xmlns:a16="http://schemas.microsoft.com/office/drawing/2014/main" id="{525D80B9-EDDB-24C3-997C-BF13CEAFA67E}"/>
              </a:ext>
            </a:extLst>
          </p:cNvPr>
          <p:cNvPicPr>
            <a:picLocks noChangeAspect="1"/>
          </p:cNvPicPr>
          <p:nvPr/>
        </p:nvPicPr>
        <p:blipFill>
          <a:blip r:embed="rId3"/>
          <a:stretch>
            <a:fillRect/>
          </a:stretch>
        </p:blipFill>
        <p:spPr>
          <a:xfrm>
            <a:off x="6291167" y="-191584"/>
            <a:ext cx="5357324" cy="3490262"/>
          </a:xfrm>
          <a:prstGeom prst="rect">
            <a:avLst/>
          </a:prstGeom>
        </p:spPr>
      </p:pic>
    </p:spTree>
    <p:extLst>
      <p:ext uri="{BB962C8B-B14F-4D97-AF65-F5344CB8AC3E}">
        <p14:creationId xmlns:p14="http://schemas.microsoft.com/office/powerpoint/2010/main" val="3579272093"/>
      </p:ext>
    </p:extLst>
  </p:cSld>
  <p:clrMapOvr>
    <a:overrideClrMapping bg1="lt1" tx1="dk1" bg2="lt2" tx2="dk2" accent1="accent1" accent2="accent2" accent3="accent3" accent4="accent4" accent5="accent5" accent6="accent6" hlink="hlink" folHlink="folHlink"/>
  </p:clrMapOvr>
</p:sld>
</file>

<file path=ppt/slides/slide12.xml><?xml version="1.0" encoding="utf-8"?>
<p:sld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9FCCC24-7EA7-B3B1-A7FB-7B3742A936C4}"/>
              </a:ext>
            </a:extLst>
          </p:cNvPr>
          <p:cNvSpPr>
            <a:spLocks noGrp="1"/>
          </p:cNvSpPr>
          <p:nvPr>
            <p:ph idx="1"/>
          </p:nvPr>
        </p:nvSpPr>
        <p:spPr>
          <a:xfrm>
            <a:off x="838200" y="139959"/>
            <a:ext cx="10515600" cy="6037004"/>
          </a:xfrm>
        </p:spPr>
        <p:txBody>
          <a:bodyPr>
            <a:normAutofit/>
          </a:bodyPr>
          <a:lstStyle/>
          <a:p>
            <a:r>
              <a:rPr lang="en-IN" dirty="0"/>
              <a:t># importing packages </a:t>
            </a:r>
          </a:p>
          <a:p>
            <a:r>
              <a:rPr lang="en-IN" dirty="0"/>
              <a:t>import seaborn as </a:t>
            </a:r>
            <a:r>
              <a:rPr lang="en-IN" dirty="0" err="1"/>
              <a:t>sns</a:t>
            </a:r>
            <a:r>
              <a:rPr lang="en-IN" dirty="0"/>
              <a:t> </a:t>
            </a:r>
          </a:p>
          <a:p>
            <a:r>
              <a:rPr lang="en-IN" dirty="0"/>
              <a:t>import </a:t>
            </a:r>
            <a:r>
              <a:rPr lang="en-IN" dirty="0" err="1"/>
              <a:t>matplotlib.pyplot</a:t>
            </a:r>
            <a:r>
              <a:rPr lang="en-IN" dirty="0"/>
              <a:t> as </a:t>
            </a:r>
            <a:r>
              <a:rPr lang="en-IN" dirty="0" err="1"/>
              <a:t>plt</a:t>
            </a:r>
            <a:r>
              <a:rPr lang="en-IN" dirty="0"/>
              <a:t> </a:t>
            </a:r>
          </a:p>
          <a:p>
            <a:r>
              <a:rPr lang="en-IN" dirty="0"/>
              <a:t># loading dataset </a:t>
            </a:r>
          </a:p>
          <a:p>
            <a:r>
              <a:rPr lang="en-IN" dirty="0"/>
              <a:t>data = </a:t>
            </a:r>
            <a:r>
              <a:rPr lang="en-IN" dirty="0" err="1"/>
              <a:t>sns.load_dataset</a:t>
            </a:r>
            <a:r>
              <a:rPr lang="en-IN" dirty="0"/>
              <a:t>("iris") </a:t>
            </a:r>
          </a:p>
          <a:p>
            <a:r>
              <a:rPr lang="en-IN" dirty="0"/>
              <a:t># draw </a:t>
            </a:r>
            <a:r>
              <a:rPr lang="en-IN" dirty="0" err="1"/>
              <a:t>lineplot</a:t>
            </a:r>
            <a:r>
              <a:rPr lang="en-IN" dirty="0"/>
              <a:t> </a:t>
            </a:r>
          </a:p>
          <a:p>
            <a:r>
              <a:rPr lang="en-IN" dirty="0" err="1"/>
              <a:t>sns.lineplot</a:t>
            </a:r>
            <a:r>
              <a:rPr lang="en-IN" dirty="0"/>
              <a:t>(x="</a:t>
            </a:r>
            <a:r>
              <a:rPr lang="en-IN" dirty="0" err="1"/>
              <a:t>sepal_length</a:t>
            </a:r>
            <a:r>
              <a:rPr lang="en-IN" dirty="0"/>
              <a:t>", y="</a:t>
            </a:r>
            <a:r>
              <a:rPr lang="en-IN" dirty="0" err="1"/>
              <a:t>sepal_width</a:t>
            </a:r>
            <a:r>
              <a:rPr lang="en-IN" dirty="0"/>
              <a:t>", data=data) </a:t>
            </a:r>
          </a:p>
          <a:p>
            <a:r>
              <a:rPr lang="en-IN" dirty="0"/>
              <a:t># changing the theme to dark </a:t>
            </a:r>
          </a:p>
          <a:p>
            <a:r>
              <a:rPr lang="en-IN" dirty="0" err="1"/>
              <a:t>sns.set_style</a:t>
            </a:r>
            <a:r>
              <a:rPr lang="en-IN" dirty="0"/>
              <a:t>("dark") </a:t>
            </a:r>
          </a:p>
          <a:p>
            <a:r>
              <a:rPr lang="en-IN" dirty="0" err="1"/>
              <a:t>plt.show</a:t>
            </a:r>
            <a:r>
              <a:rPr lang="en-IN" dirty="0"/>
              <a:t>()</a:t>
            </a:r>
          </a:p>
          <a:p>
            <a:endParaRPr lang="en-IN" dirty="0"/>
          </a:p>
        </p:txBody>
      </p:sp>
      <p:pic>
        <p:nvPicPr>
          <p:cNvPr id="5" name="Picture 4">
            <a:extLst>
              <a:ext uri="{FF2B5EF4-FFF2-40B4-BE49-F238E27FC236}">
                <a16:creationId xmlns:a16="http://schemas.microsoft.com/office/drawing/2014/main" id="{1B7150A3-AC52-DAB1-B8C2-A0A41B6020DF}"/>
              </a:ext>
            </a:extLst>
          </p:cNvPr>
          <p:cNvPicPr>
            <a:picLocks noChangeAspect="1"/>
          </p:cNvPicPr>
          <p:nvPr/>
        </p:nvPicPr>
        <p:blipFill>
          <a:blip r:embed="rId3"/>
          <a:stretch>
            <a:fillRect/>
          </a:stretch>
        </p:blipFill>
        <p:spPr>
          <a:xfrm>
            <a:off x="7257022" y="295890"/>
            <a:ext cx="4096778" cy="2837836"/>
          </a:xfrm>
          <a:prstGeom prst="rect">
            <a:avLst/>
          </a:prstGeom>
        </p:spPr>
      </p:pic>
    </p:spTree>
    <p:extLst>
      <p:ext uri="{BB962C8B-B14F-4D97-AF65-F5344CB8AC3E}">
        <p14:creationId xmlns:p14="http://schemas.microsoft.com/office/powerpoint/2010/main" val="3139144686"/>
      </p:ext>
    </p:extLst>
  </p:cSld>
  <p:clrMapOvr>
    <a:overrideClrMapping bg1="lt1" tx1="dk1" bg2="lt2" tx2="dk2" accent1="accent1" accent2="accent2" accent3="accent3" accent4="accent4" accent5="accent5" accent6="accent6" hlink="hlink" folHlink="folHlink"/>
  </p:clrMapOvr>
</p:sld>
</file>

<file path=ppt/slides/slide13.xml><?xml version="1.0" encoding="utf-8"?>
<p:sld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080CEB7-2197-EC79-9D73-03527B23CF06}"/>
              </a:ext>
            </a:extLst>
          </p:cNvPr>
          <p:cNvSpPr>
            <a:spLocks noGrp="1"/>
          </p:cNvSpPr>
          <p:nvPr>
            <p:ph idx="1"/>
          </p:nvPr>
        </p:nvSpPr>
        <p:spPr>
          <a:xfrm>
            <a:off x="642257" y="276743"/>
            <a:ext cx="10515600" cy="6319999"/>
          </a:xfrm>
        </p:spPr>
        <p:txBody>
          <a:bodyPr>
            <a:normAutofit fontScale="92500" lnSpcReduction="20000"/>
          </a:bodyPr>
          <a:lstStyle/>
          <a:p>
            <a:pPr algn="l" fontAlgn="base"/>
            <a:endParaRPr lang="en-US" b="1" i="0" dirty="0">
              <a:solidFill>
                <a:srgbClr val="273239"/>
              </a:solidFill>
              <a:effectLst/>
              <a:latin typeface="Nunito" pitchFamily="2" charset="0"/>
            </a:endParaRPr>
          </a:p>
          <a:p>
            <a:pPr algn="l" fontAlgn="base"/>
            <a:r>
              <a:rPr lang="en-US" b="1" i="0" dirty="0">
                <a:solidFill>
                  <a:srgbClr val="273239"/>
                </a:solidFill>
                <a:effectLst/>
                <a:latin typeface="Nunito" pitchFamily="2" charset="0"/>
              </a:rPr>
              <a:t>Removal of Spines</a:t>
            </a:r>
          </a:p>
          <a:p>
            <a:pPr algn="just" fontAlgn="base"/>
            <a:r>
              <a:rPr lang="en-US" b="0" i="0" dirty="0">
                <a:solidFill>
                  <a:srgbClr val="273239"/>
                </a:solidFill>
                <a:effectLst/>
                <a:latin typeface="Nunito" pitchFamily="2" charset="0"/>
              </a:rPr>
              <a:t>Spines are the lines noting the data boundaries and connecting the axis tick marks. It can be removed using the </a:t>
            </a:r>
            <a:r>
              <a:rPr lang="en-US" b="0" i="0" dirty="0" err="1">
                <a:solidFill>
                  <a:srgbClr val="273239"/>
                </a:solidFill>
                <a:effectLst/>
                <a:latin typeface="Nunito" pitchFamily="2" charset="0"/>
              </a:rPr>
              <a:t>despine</a:t>
            </a:r>
            <a:r>
              <a:rPr lang="en-US" b="0" i="0" dirty="0">
                <a:solidFill>
                  <a:srgbClr val="273239"/>
                </a:solidFill>
                <a:effectLst/>
                <a:latin typeface="Nunito" pitchFamily="2" charset="0"/>
              </a:rPr>
              <a:t>() method.   (top and right borders)</a:t>
            </a:r>
          </a:p>
          <a:p>
            <a:pPr algn="l" fontAlgn="base"/>
            <a:r>
              <a:rPr lang="en-US" b="0" i="0" dirty="0">
                <a:solidFill>
                  <a:srgbClr val="273239"/>
                </a:solidFill>
                <a:effectLst/>
                <a:latin typeface="Nunito" pitchFamily="2" charset="0"/>
              </a:rPr>
              <a:t> </a:t>
            </a:r>
            <a:r>
              <a:rPr lang="en-US" b="1" i="0" dirty="0">
                <a:solidFill>
                  <a:srgbClr val="273239"/>
                </a:solidFill>
                <a:effectLst/>
                <a:latin typeface="Nunito" pitchFamily="2" charset="0"/>
              </a:rPr>
              <a:t>Syntax: </a:t>
            </a:r>
            <a:r>
              <a:rPr lang="en-IN" b="0" i="1" dirty="0" err="1">
                <a:solidFill>
                  <a:srgbClr val="273239"/>
                </a:solidFill>
                <a:effectLst/>
                <a:latin typeface="Nunito" pitchFamily="2" charset="0"/>
              </a:rPr>
              <a:t>sns.despine</a:t>
            </a:r>
            <a:r>
              <a:rPr lang="en-IN" b="0" i="1" dirty="0">
                <a:solidFill>
                  <a:srgbClr val="273239"/>
                </a:solidFill>
                <a:effectLst/>
                <a:latin typeface="Nunito" pitchFamily="2" charset="0"/>
              </a:rPr>
              <a:t>(left = True)</a:t>
            </a:r>
            <a:endParaRPr lang="en-US" b="0" i="0" dirty="0">
              <a:solidFill>
                <a:srgbClr val="273239"/>
              </a:solidFill>
              <a:effectLst/>
              <a:latin typeface="Nunito" pitchFamily="2" charset="0"/>
            </a:endParaRPr>
          </a:p>
          <a:p>
            <a:pPr marL="0" indent="0">
              <a:buNone/>
            </a:pPr>
            <a:r>
              <a:rPr lang="en-IN" dirty="0"/>
              <a:t># importing packages </a:t>
            </a:r>
          </a:p>
          <a:p>
            <a:pPr marL="0" indent="0">
              <a:buNone/>
            </a:pPr>
            <a:r>
              <a:rPr lang="en-IN" dirty="0"/>
              <a:t>import seaborn as </a:t>
            </a:r>
            <a:r>
              <a:rPr lang="en-IN" dirty="0" err="1"/>
              <a:t>sns</a:t>
            </a:r>
            <a:r>
              <a:rPr lang="en-IN" dirty="0"/>
              <a:t> </a:t>
            </a:r>
          </a:p>
          <a:p>
            <a:pPr marL="0" indent="0">
              <a:buNone/>
            </a:pPr>
            <a:r>
              <a:rPr lang="en-IN" dirty="0"/>
              <a:t>import </a:t>
            </a:r>
            <a:r>
              <a:rPr lang="en-IN" dirty="0" err="1"/>
              <a:t>matplotlib.pyplot</a:t>
            </a:r>
            <a:r>
              <a:rPr lang="en-IN" dirty="0"/>
              <a:t> as </a:t>
            </a:r>
            <a:r>
              <a:rPr lang="en-IN" dirty="0" err="1"/>
              <a:t>plt</a:t>
            </a:r>
            <a:r>
              <a:rPr lang="en-IN" dirty="0"/>
              <a:t> </a:t>
            </a:r>
          </a:p>
          <a:p>
            <a:pPr marL="0" indent="0">
              <a:buNone/>
            </a:pPr>
            <a:r>
              <a:rPr lang="en-IN" dirty="0"/>
              <a:t># loading dataset </a:t>
            </a:r>
          </a:p>
          <a:p>
            <a:pPr marL="0" indent="0">
              <a:buNone/>
            </a:pPr>
            <a:r>
              <a:rPr lang="en-IN" dirty="0"/>
              <a:t>data = </a:t>
            </a:r>
            <a:r>
              <a:rPr lang="en-IN" dirty="0" err="1"/>
              <a:t>sns.load_dataset</a:t>
            </a:r>
            <a:r>
              <a:rPr lang="en-IN" dirty="0"/>
              <a:t>("iris") </a:t>
            </a:r>
          </a:p>
          <a:p>
            <a:pPr marL="0" indent="0">
              <a:buNone/>
            </a:pPr>
            <a:r>
              <a:rPr lang="en-IN" dirty="0"/>
              <a:t># draw </a:t>
            </a:r>
            <a:r>
              <a:rPr lang="en-IN" dirty="0" err="1"/>
              <a:t>lineplot</a:t>
            </a:r>
            <a:r>
              <a:rPr lang="en-IN" dirty="0"/>
              <a:t> </a:t>
            </a:r>
          </a:p>
          <a:p>
            <a:pPr marL="0" indent="0">
              <a:buNone/>
            </a:pPr>
            <a:r>
              <a:rPr lang="en-IN" dirty="0" err="1"/>
              <a:t>sns.lineplot</a:t>
            </a:r>
            <a:r>
              <a:rPr lang="en-IN" dirty="0"/>
              <a:t>(x="</a:t>
            </a:r>
            <a:r>
              <a:rPr lang="en-IN" dirty="0" err="1"/>
              <a:t>sepal_length</a:t>
            </a:r>
            <a:r>
              <a:rPr lang="en-IN" dirty="0"/>
              <a:t>", y="</a:t>
            </a:r>
            <a:r>
              <a:rPr lang="en-IN" dirty="0" err="1"/>
              <a:t>sepal_width</a:t>
            </a:r>
            <a:r>
              <a:rPr lang="en-IN" dirty="0"/>
              <a:t>", data=data) </a:t>
            </a:r>
          </a:p>
          <a:p>
            <a:pPr marL="0" indent="0">
              <a:buNone/>
            </a:pPr>
            <a:r>
              <a:rPr lang="en-IN" dirty="0"/>
              <a:t># Removing the spines </a:t>
            </a:r>
          </a:p>
          <a:p>
            <a:pPr marL="0" indent="0">
              <a:buNone/>
            </a:pPr>
            <a:r>
              <a:rPr lang="en-IN" dirty="0" err="1"/>
              <a:t>sns.despine</a:t>
            </a:r>
            <a:r>
              <a:rPr lang="en-IN" dirty="0"/>
              <a:t>(left=‘True’)                    # </a:t>
            </a:r>
            <a:r>
              <a:rPr lang="en-IN" dirty="0" err="1"/>
              <a:t>left,right,top,bottm</a:t>
            </a:r>
            <a:r>
              <a:rPr lang="en-IN" dirty="0"/>
              <a:t> with True or False we can use</a:t>
            </a:r>
          </a:p>
          <a:p>
            <a:pPr marL="0" indent="0">
              <a:buNone/>
            </a:pPr>
            <a:r>
              <a:rPr lang="en-IN" dirty="0" err="1"/>
              <a:t>plt.show</a:t>
            </a:r>
            <a:r>
              <a:rPr lang="en-IN" dirty="0"/>
              <a:t>()</a:t>
            </a:r>
          </a:p>
          <a:p>
            <a:pPr marL="0" indent="0">
              <a:buNone/>
            </a:pPr>
            <a:endParaRPr lang="en-IN" dirty="0"/>
          </a:p>
        </p:txBody>
      </p:sp>
      <p:pic>
        <p:nvPicPr>
          <p:cNvPr id="5" name="Picture 4">
            <a:extLst>
              <a:ext uri="{FF2B5EF4-FFF2-40B4-BE49-F238E27FC236}">
                <a16:creationId xmlns:a16="http://schemas.microsoft.com/office/drawing/2014/main" id="{AFDA75E4-49CA-5995-0C2D-BE2D3C1DCCAF}"/>
              </a:ext>
            </a:extLst>
          </p:cNvPr>
          <p:cNvPicPr>
            <a:picLocks noChangeAspect="1"/>
          </p:cNvPicPr>
          <p:nvPr/>
        </p:nvPicPr>
        <p:blipFill>
          <a:blip r:embed="rId3"/>
          <a:stretch>
            <a:fillRect/>
          </a:stretch>
        </p:blipFill>
        <p:spPr>
          <a:xfrm>
            <a:off x="7501811" y="1810140"/>
            <a:ext cx="3275045" cy="2874790"/>
          </a:xfrm>
          <a:prstGeom prst="rect">
            <a:avLst/>
          </a:prstGeom>
        </p:spPr>
      </p:pic>
    </p:spTree>
    <p:extLst>
      <p:ext uri="{BB962C8B-B14F-4D97-AF65-F5344CB8AC3E}">
        <p14:creationId xmlns:p14="http://schemas.microsoft.com/office/powerpoint/2010/main" val="1810361017"/>
      </p:ext>
    </p:extLst>
  </p:cSld>
  <p:clrMapOvr>
    <a:overrideClrMapping bg1="lt1" tx1="dk1" bg2="lt2" tx2="dk2" accent1="accent1" accent2="accent2" accent3="accent3" accent4="accent4" accent5="accent5" accent6="accent6" hlink="hlink" folHlink="folHlink"/>
  </p:clrMapOvr>
</p:sld>
</file>

<file path=ppt/slides/slide14.xml><?xml version="1.0" encoding="utf-8"?>
<p:sld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BC19A1-92C4-A82F-BB22-A13C03AEA3F6}"/>
              </a:ext>
            </a:extLst>
          </p:cNvPr>
          <p:cNvSpPr>
            <a:spLocks noGrp="1"/>
          </p:cNvSpPr>
          <p:nvPr>
            <p:ph type="title"/>
          </p:nvPr>
        </p:nvSpPr>
        <p:spPr>
          <a:xfrm>
            <a:off x="838200" y="365126"/>
            <a:ext cx="10515600" cy="682624"/>
          </a:xfrm>
        </p:spPr>
        <p:txBody>
          <a:bodyPr>
            <a:normAutofit/>
          </a:bodyPr>
          <a:lstStyle/>
          <a:p>
            <a:r>
              <a:rPr lang="en-US" dirty="0" err="1"/>
              <a:t>Pairplot</a:t>
            </a:r>
            <a:r>
              <a:rPr lang="en-US" dirty="0"/>
              <a:t>() in seaborn</a:t>
            </a:r>
            <a:endParaRPr lang="en-IN" dirty="0"/>
          </a:p>
        </p:txBody>
      </p:sp>
      <p:sp>
        <p:nvSpPr>
          <p:cNvPr id="3" name="Content Placeholder 2">
            <a:extLst>
              <a:ext uri="{FF2B5EF4-FFF2-40B4-BE49-F238E27FC236}">
                <a16:creationId xmlns:a16="http://schemas.microsoft.com/office/drawing/2014/main" id="{37B67E69-10A2-89C5-F27E-E5D95D9CAE48}"/>
              </a:ext>
            </a:extLst>
          </p:cNvPr>
          <p:cNvSpPr>
            <a:spLocks noGrp="1"/>
          </p:cNvSpPr>
          <p:nvPr>
            <p:ph idx="1"/>
          </p:nvPr>
        </p:nvSpPr>
        <p:spPr>
          <a:xfrm>
            <a:off x="838200" y="1123950"/>
            <a:ext cx="10515600" cy="5053013"/>
          </a:xfrm>
        </p:spPr>
        <p:txBody>
          <a:bodyPr/>
          <a:lstStyle/>
          <a:p>
            <a:pPr algn="just"/>
            <a:r>
              <a:rPr lang="en-US" b="1" dirty="0" err="1"/>
              <a:t>seaborn.pairplot</a:t>
            </a:r>
            <a:r>
              <a:rPr lang="en-US" b="1" dirty="0"/>
              <a:t>() </a:t>
            </a:r>
            <a:r>
              <a:rPr lang="en-US" dirty="0"/>
              <a:t>method is used for visualizing relationships between multiple variables in a dataset. By creating a grid of scatter plots it helps to identify how different features interact with each other to identify patterns, correlations and trends in data.</a:t>
            </a:r>
          </a:p>
          <a:p>
            <a:pPr algn="just"/>
            <a:r>
              <a:rPr lang="en-IN" b="1" i="1" dirty="0"/>
              <a:t>Syntax:</a:t>
            </a:r>
            <a:r>
              <a:rPr lang="en-IN" i="1" dirty="0"/>
              <a:t> </a:t>
            </a:r>
            <a:r>
              <a:rPr lang="en-IN" i="1" dirty="0" err="1"/>
              <a:t>seaborn.pairplot</a:t>
            </a:r>
            <a:r>
              <a:rPr lang="en-IN" i="1" dirty="0"/>
              <a:t>(data, **</a:t>
            </a:r>
            <a:r>
              <a:rPr lang="en-IN" i="1" dirty="0" err="1"/>
              <a:t>kwargs</a:t>
            </a:r>
            <a:r>
              <a:rPr lang="en-IN" i="1" dirty="0"/>
              <a:t>)</a:t>
            </a:r>
          </a:p>
          <a:p>
            <a:pPr algn="just"/>
            <a:r>
              <a:rPr lang="en-US" dirty="0"/>
              <a:t>Here </a:t>
            </a:r>
            <a:r>
              <a:rPr lang="en-US" b="1" dirty="0"/>
              <a:t>data</a:t>
            </a:r>
            <a:r>
              <a:rPr lang="en-US" dirty="0"/>
              <a:t> refers to the dataset we want to visualize and </a:t>
            </a:r>
            <a:r>
              <a:rPr lang="en-US" b="1" dirty="0" err="1"/>
              <a:t>kwargs</a:t>
            </a:r>
            <a:r>
              <a:rPr lang="en-US" dirty="0"/>
              <a:t> represent additional optional parameters that can be customized for different visualizations.</a:t>
            </a:r>
          </a:p>
          <a:p>
            <a:pPr algn="just"/>
            <a:endParaRPr lang="en-IN" dirty="0"/>
          </a:p>
        </p:txBody>
      </p:sp>
    </p:spTree>
    <p:extLst>
      <p:ext uri="{BB962C8B-B14F-4D97-AF65-F5344CB8AC3E}">
        <p14:creationId xmlns:p14="http://schemas.microsoft.com/office/powerpoint/2010/main" val="4102710327"/>
      </p:ext>
    </p:extLst>
  </p:cSld>
  <p:clrMapOvr>
    <a:overrideClrMapping bg1="lt1" tx1="dk1" bg2="lt2" tx2="dk2" accent1="accent1" accent2="accent2" accent3="accent3" accent4="accent4" accent5="accent5" accent6="accent6" hlink="hlink" folHlink="folHlink"/>
  </p:clrMapOvr>
</p:sld>
</file>

<file path=ppt/slides/slide15.xml><?xml version="1.0" encoding="utf-8"?>
<p:sld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graphicFrame>
        <p:nvGraphicFramePr>
          <p:cNvPr id="4" name="Content Placeholder 3">
            <a:extLst>
              <a:ext uri="{FF2B5EF4-FFF2-40B4-BE49-F238E27FC236}">
                <a16:creationId xmlns:a16="http://schemas.microsoft.com/office/drawing/2014/main" id="{16A51294-2CF6-822D-9CD5-51BD2B878C74}"/>
              </a:ext>
            </a:extLst>
          </p:cNvPr>
          <p:cNvGraphicFramePr>
            <a:graphicFrameLocks noGrp="1"/>
          </p:cNvGraphicFramePr>
          <p:nvPr>
            <p:ph idx="1"/>
            <p:extLst>
              <p:ext uri="{D42A27DB-BD31-4B8C-83A1-F6EECF244321}">
                <p14:modId xmlns:p14="http://schemas.microsoft.com/office/powerpoint/2010/main" val="3702487756"/>
              </p:ext>
            </p:extLst>
          </p:nvPr>
        </p:nvGraphicFramePr>
        <p:xfrm>
          <a:off x="838200" y="571500"/>
          <a:ext cx="10515600" cy="5060474"/>
        </p:xfrm>
        <a:graphic>
          <a:graphicData uri="http://schemas.openxmlformats.org/drawingml/2006/table">
            <a:tbl>
              <a:tblPr/>
              <a:tblGrid>
                <a:gridCol w="3505200">
                  <a:extLst>
                    <a:ext uri="{9D8B030D-6E8A-4147-A177-3AD203B41FA5}">
                      <a16:colId xmlns:a16="http://schemas.microsoft.com/office/drawing/2014/main" val="1883319902"/>
                    </a:ext>
                  </a:extLst>
                </a:gridCol>
                <a:gridCol w="3505200">
                  <a:extLst>
                    <a:ext uri="{9D8B030D-6E8A-4147-A177-3AD203B41FA5}">
                      <a16:colId xmlns:a16="http://schemas.microsoft.com/office/drawing/2014/main" val="4291840289"/>
                    </a:ext>
                  </a:extLst>
                </a:gridCol>
                <a:gridCol w="3505200">
                  <a:extLst>
                    <a:ext uri="{9D8B030D-6E8A-4147-A177-3AD203B41FA5}">
                      <a16:colId xmlns:a16="http://schemas.microsoft.com/office/drawing/2014/main" val="752811404"/>
                    </a:ext>
                  </a:extLst>
                </a:gridCol>
              </a:tblGrid>
              <a:tr h="800643">
                <a:tc>
                  <a:txBody>
                    <a:bodyPr/>
                    <a:lstStyle/>
                    <a:p>
                      <a:pPr algn="ctr" fontAlgn="ctr">
                        <a:buNone/>
                      </a:pPr>
                      <a:r>
                        <a:rPr lang="en-IN" sz="1250" b="1">
                          <a:effectLst/>
                          <a:latin typeface="Nunito" pitchFamily="2" charset="0"/>
                        </a:rPr>
                        <a:t>Arguments                          </a:t>
                      </a:r>
                      <a:endParaRPr lang="en-IN" sz="1250" b="0">
                        <a:effectLst/>
                        <a:latin typeface="Nunito" pitchFamily="2" charset="0"/>
                      </a:endParaRPr>
                    </a:p>
                  </a:txBody>
                  <a:tcPr marL="76200" marR="76200" marT="106680" marB="106680" anchor="ctr">
                    <a:lnL w="2286" cap="flat" cmpd="sng" algn="ctr">
                      <a:solidFill>
                        <a:srgbClr val="DFDFDF"/>
                      </a:solidFill>
                      <a:prstDash val="solid"/>
                      <a:round/>
                      <a:headEnd type="none" w="med" len="med"/>
                      <a:tailEnd type="none" w="med" len="med"/>
                    </a:lnL>
                    <a:lnR w="2286" cap="flat" cmpd="sng" algn="ctr">
                      <a:solidFill>
                        <a:srgbClr val="DFDFDF"/>
                      </a:solidFill>
                      <a:prstDash val="solid"/>
                      <a:round/>
                      <a:headEnd type="none" w="med" len="med"/>
                      <a:tailEnd type="none" w="med" len="med"/>
                    </a:lnR>
                    <a:lnT w="2286" cap="flat" cmpd="sng" algn="ctr">
                      <a:solidFill>
                        <a:srgbClr val="DFDFDF"/>
                      </a:solidFill>
                      <a:prstDash val="solid"/>
                      <a:round/>
                      <a:headEnd type="none" w="med" len="med"/>
                      <a:tailEnd type="none" w="med" len="med"/>
                    </a:lnT>
                    <a:lnB w="2286" cap="flat" cmpd="sng" algn="ctr">
                      <a:solidFill>
                        <a:srgbClr val="DFDFDF"/>
                      </a:solidFill>
                      <a:prstDash val="solid"/>
                      <a:round/>
                      <a:headEnd type="none" w="med" len="med"/>
                      <a:tailEnd type="none" w="med" len="med"/>
                    </a:lnB>
                    <a:solidFill>
                      <a:srgbClr val="FFFFFF"/>
                    </a:solidFill>
                  </a:tcPr>
                </a:tc>
                <a:tc>
                  <a:txBody>
                    <a:bodyPr/>
                    <a:lstStyle/>
                    <a:p>
                      <a:pPr algn="ctr" fontAlgn="ctr">
                        <a:buNone/>
                      </a:pPr>
                      <a:r>
                        <a:rPr lang="en-IN" sz="1250" b="1">
                          <a:effectLst/>
                          <a:latin typeface="Nunito" pitchFamily="2" charset="0"/>
                        </a:rPr>
                        <a:t>Description</a:t>
                      </a:r>
                      <a:endParaRPr lang="en-IN" sz="1250" b="0">
                        <a:effectLst/>
                        <a:latin typeface="Nunito" pitchFamily="2" charset="0"/>
                      </a:endParaRPr>
                    </a:p>
                  </a:txBody>
                  <a:tcPr marL="76200" marR="76200" marT="106680" marB="106680" anchor="ctr">
                    <a:lnL w="2286" cap="flat" cmpd="sng" algn="ctr">
                      <a:solidFill>
                        <a:srgbClr val="DFDFDF"/>
                      </a:solidFill>
                      <a:prstDash val="solid"/>
                      <a:round/>
                      <a:headEnd type="none" w="med" len="med"/>
                      <a:tailEnd type="none" w="med" len="med"/>
                    </a:lnL>
                    <a:lnR w="2286" cap="flat" cmpd="sng" algn="ctr">
                      <a:solidFill>
                        <a:srgbClr val="DFDFDF"/>
                      </a:solidFill>
                      <a:prstDash val="solid"/>
                      <a:round/>
                      <a:headEnd type="none" w="med" len="med"/>
                      <a:tailEnd type="none" w="med" len="med"/>
                    </a:lnR>
                    <a:lnT w="2286" cap="flat" cmpd="sng" algn="ctr">
                      <a:solidFill>
                        <a:srgbClr val="DFDFDF"/>
                      </a:solidFill>
                      <a:prstDash val="solid"/>
                      <a:round/>
                      <a:headEnd type="none" w="med" len="med"/>
                      <a:tailEnd type="none" w="med" len="med"/>
                    </a:lnT>
                    <a:lnB w="2286" cap="flat" cmpd="sng" algn="ctr">
                      <a:solidFill>
                        <a:srgbClr val="DFDFDF"/>
                      </a:solidFill>
                      <a:prstDash val="solid"/>
                      <a:round/>
                      <a:headEnd type="none" w="med" len="med"/>
                      <a:tailEnd type="none" w="med" len="med"/>
                    </a:lnB>
                    <a:solidFill>
                      <a:srgbClr val="FFFFFF"/>
                    </a:solidFill>
                  </a:tcPr>
                </a:tc>
                <a:tc>
                  <a:txBody>
                    <a:bodyPr/>
                    <a:lstStyle/>
                    <a:p>
                      <a:pPr algn="ctr" fontAlgn="ctr">
                        <a:buNone/>
                      </a:pPr>
                      <a:r>
                        <a:rPr lang="en-IN" sz="1250" b="1">
                          <a:effectLst/>
                          <a:latin typeface="Nunito" pitchFamily="2" charset="0"/>
                        </a:rPr>
                        <a:t>Value                                                                                                        </a:t>
                      </a:r>
                      <a:endParaRPr lang="en-IN" sz="1250" b="0">
                        <a:effectLst/>
                        <a:latin typeface="Nunito" pitchFamily="2" charset="0"/>
                      </a:endParaRPr>
                    </a:p>
                  </a:txBody>
                  <a:tcPr marL="76200" marR="76200" marT="106680" marB="106680" anchor="ctr">
                    <a:lnL w="2286" cap="flat" cmpd="sng" algn="ctr">
                      <a:solidFill>
                        <a:srgbClr val="DFDFDF"/>
                      </a:solidFill>
                      <a:prstDash val="solid"/>
                      <a:round/>
                      <a:headEnd type="none" w="med" len="med"/>
                      <a:tailEnd type="none" w="med" len="med"/>
                    </a:lnL>
                    <a:lnR w="2286" cap="flat" cmpd="sng" algn="ctr">
                      <a:solidFill>
                        <a:srgbClr val="DFDFDF"/>
                      </a:solidFill>
                      <a:prstDash val="solid"/>
                      <a:round/>
                      <a:headEnd type="none" w="med" len="med"/>
                      <a:tailEnd type="none" w="med" len="med"/>
                    </a:lnR>
                    <a:lnT w="2286" cap="flat" cmpd="sng" algn="ctr">
                      <a:solidFill>
                        <a:srgbClr val="DFDFDF"/>
                      </a:solidFill>
                      <a:prstDash val="solid"/>
                      <a:round/>
                      <a:headEnd type="none" w="med" len="med"/>
                      <a:tailEnd type="none" w="med" len="med"/>
                    </a:lnT>
                    <a:lnB w="2286" cap="flat" cmpd="sng" algn="ctr">
                      <a:solidFill>
                        <a:srgbClr val="DFDFDF"/>
                      </a:solidFill>
                      <a:prstDash val="solid"/>
                      <a:round/>
                      <a:headEnd type="none" w="med" len="med"/>
                      <a:tailEnd type="none" w="med" len="med"/>
                    </a:lnB>
                    <a:solidFill>
                      <a:srgbClr val="FFFFFF"/>
                    </a:solidFill>
                  </a:tcPr>
                </a:tc>
                <a:extLst>
                  <a:ext uri="{0D108BD9-81ED-4DB2-BD59-A6C34878D82A}">
                    <a16:rowId xmlns:a16="http://schemas.microsoft.com/office/drawing/2014/main" val="3698465084"/>
                  </a:ext>
                </a:extLst>
              </a:tr>
              <a:tr h="800643">
                <a:tc>
                  <a:txBody>
                    <a:bodyPr/>
                    <a:lstStyle/>
                    <a:p>
                      <a:pPr algn="ctr" fontAlgn="ctr">
                        <a:buNone/>
                      </a:pPr>
                      <a:r>
                        <a:rPr lang="en-IN" sz="1250" b="0" dirty="0">
                          <a:effectLst/>
                          <a:latin typeface="Nunito" pitchFamily="2" charset="0"/>
                        </a:rPr>
                        <a:t>data</a:t>
                      </a:r>
                    </a:p>
                  </a:txBody>
                  <a:tcPr marL="76200" marR="76200" marT="106680" marB="106680" anchor="ctr">
                    <a:lnL w="2286" cap="flat" cmpd="sng" algn="ctr">
                      <a:solidFill>
                        <a:srgbClr val="DFDFDF"/>
                      </a:solidFill>
                      <a:prstDash val="solid"/>
                      <a:round/>
                      <a:headEnd type="none" w="med" len="med"/>
                      <a:tailEnd type="none" w="med" len="med"/>
                    </a:lnL>
                    <a:lnR w="2286" cap="flat" cmpd="sng" algn="ctr">
                      <a:solidFill>
                        <a:srgbClr val="DFDFDF"/>
                      </a:solidFill>
                      <a:prstDash val="solid"/>
                      <a:round/>
                      <a:headEnd type="none" w="med" len="med"/>
                      <a:tailEnd type="none" w="med" len="med"/>
                    </a:lnR>
                    <a:lnT w="2286" cap="flat" cmpd="sng" algn="ctr">
                      <a:solidFill>
                        <a:srgbClr val="DFDFDF"/>
                      </a:solidFill>
                      <a:prstDash val="solid"/>
                      <a:round/>
                      <a:headEnd type="none" w="med" len="med"/>
                      <a:tailEnd type="none" w="med" len="med"/>
                    </a:lnT>
                    <a:lnB w="2286" cap="flat" cmpd="sng" algn="ctr">
                      <a:solidFill>
                        <a:srgbClr val="DFDFDF"/>
                      </a:solidFill>
                      <a:prstDash val="solid"/>
                      <a:round/>
                      <a:headEnd type="none" w="med" len="med"/>
                      <a:tailEnd type="none" w="med" len="med"/>
                    </a:lnB>
                    <a:solidFill>
                      <a:srgbClr val="FFFFFF"/>
                    </a:solidFill>
                  </a:tcPr>
                </a:tc>
                <a:tc>
                  <a:txBody>
                    <a:bodyPr/>
                    <a:lstStyle/>
                    <a:p>
                      <a:pPr algn="ctr" fontAlgn="ctr">
                        <a:buNone/>
                      </a:pPr>
                      <a:r>
                        <a:rPr lang="en-US" sz="1250" b="0">
                          <a:effectLst/>
                          <a:latin typeface="Nunito" pitchFamily="2" charset="0"/>
                        </a:rPr>
                        <a:t>Dataframe where each column is a variable and each row is an observation.</a:t>
                      </a:r>
                    </a:p>
                  </a:txBody>
                  <a:tcPr marL="76200" marR="76200" marT="106680" marB="106680" anchor="ctr">
                    <a:lnL w="2286" cap="flat" cmpd="sng" algn="ctr">
                      <a:solidFill>
                        <a:srgbClr val="DFDFDF"/>
                      </a:solidFill>
                      <a:prstDash val="solid"/>
                      <a:round/>
                      <a:headEnd type="none" w="med" len="med"/>
                      <a:tailEnd type="none" w="med" len="med"/>
                    </a:lnL>
                    <a:lnR w="2286" cap="flat" cmpd="sng" algn="ctr">
                      <a:solidFill>
                        <a:srgbClr val="DFDFDF"/>
                      </a:solidFill>
                      <a:prstDash val="solid"/>
                      <a:round/>
                      <a:headEnd type="none" w="med" len="med"/>
                      <a:tailEnd type="none" w="med" len="med"/>
                    </a:lnR>
                    <a:lnT w="2286" cap="flat" cmpd="sng" algn="ctr">
                      <a:solidFill>
                        <a:srgbClr val="DFDFDF"/>
                      </a:solidFill>
                      <a:prstDash val="solid"/>
                      <a:round/>
                      <a:headEnd type="none" w="med" len="med"/>
                      <a:tailEnd type="none" w="med" len="med"/>
                    </a:lnT>
                    <a:lnB w="2286" cap="flat" cmpd="sng" algn="ctr">
                      <a:solidFill>
                        <a:srgbClr val="DFDFDF"/>
                      </a:solidFill>
                      <a:prstDash val="solid"/>
                      <a:round/>
                      <a:headEnd type="none" w="med" len="med"/>
                      <a:tailEnd type="none" w="med" len="med"/>
                    </a:lnB>
                    <a:solidFill>
                      <a:srgbClr val="FFFFFF"/>
                    </a:solidFill>
                  </a:tcPr>
                </a:tc>
                <a:tc>
                  <a:txBody>
                    <a:bodyPr/>
                    <a:lstStyle/>
                    <a:p>
                      <a:pPr algn="ctr" fontAlgn="ctr">
                        <a:buNone/>
                      </a:pPr>
                      <a:r>
                        <a:rPr lang="en-IN" sz="1250" b="0">
                          <a:effectLst/>
                          <a:latin typeface="Nunito" pitchFamily="2" charset="0"/>
                        </a:rPr>
                        <a:t>DataFrame</a:t>
                      </a:r>
                    </a:p>
                  </a:txBody>
                  <a:tcPr marL="76200" marR="76200" marT="106680" marB="106680" anchor="ctr">
                    <a:lnL w="2286" cap="flat" cmpd="sng" algn="ctr">
                      <a:solidFill>
                        <a:srgbClr val="DFDFDF"/>
                      </a:solidFill>
                      <a:prstDash val="solid"/>
                      <a:round/>
                      <a:headEnd type="none" w="med" len="med"/>
                      <a:tailEnd type="none" w="med" len="med"/>
                    </a:lnL>
                    <a:lnR w="2286" cap="flat" cmpd="sng" algn="ctr">
                      <a:solidFill>
                        <a:srgbClr val="DFDFDF"/>
                      </a:solidFill>
                      <a:prstDash val="solid"/>
                      <a:round/>
                      <a:headEnd type="none" w="med" len="med"/>
                      <a:tailEnd type="none" w="med" len="med"/>
                    </a:lnR>
                    <a:lnT w="2286" cap="flat" cmpd="sng" algn="ctr">
                      <a:solidFill>
                        <a:srgbClr val="DFDFDF"/>
                      </a:solidFill>
                      <a:prstDash val="solid"/>
                      <a:round/>
                      <a:headEnd type="none" w="med" len="med"/>
                      <a:tailEnd type="none" w="med" len="med"/>
                    </a:lnT>
                    <a:lnB w="2286" cap="flat" cmpd="sng" algn="ctr">
                      <a:solidFill>
                        <a:srgbClr val="DFDFDF"/>
                      </a:solidFill>
                      <a:prstDash val="solid"/>
                      <a:round/>
                      <a:headEnd type="none" w="med" len="med"/>
                      <a:tailEnd type="none" w="med" len="med"/>
                    </a:lnB>
                    <a:solidFill>
                      <a:srgbClr val="FFFFFF"/>
                    </a:solidFill>
                  </a:tcPr>
                </a:tc>
                <a:extLst>
                  <a:ext uri="{0D108BD9-81ED-4DB2-BD59-A6C34878D82A}">
                    <a16:rowId xmlns:a16="http://schemas.microsoft.com/office/drawing/2014/main" val="1137887247"/>
                  </a:ext>
                </a:extLst>
              </a:tr>
              <a:tr h="800643">
                <a:tc>
                  <a:txBody>
                    <a:bodyPr/>
                    <a:lstStyle/>
                    <a:p>
                      <a:pPr algn="ctr" fontAlgn="ctr">
                        <a:buNone/>
                      </a:pPr>
                      <a:r>
                        <a:rPr lang="en-IN" sz="1250" b="0">
                          <a:effectLst/>
                          <a:latin typeface="Nunito" pitchFamily="2" charset="0"/>
                        </a:rPr>
                        <a:t>hue</a:t>
                      </a:r>
                    </a:p>
                  </a:txBody>
                  <a:tcPr marL="76200" marR="76200" marT="106680" marB="106680" anchor="ctr">
                    <a:lnL w="2286" cap="flat" cmpd="sng" algn="ctr">
                      <a:solidFill>
                        <a:srgbClr val="DFDFDF"/>
                      </a:solidFill>
                      <a:prstDash val="solid"/>
                      <a:round/>
                      <a:headEnd type="none" w="med" len="med"/>
                      <a:tailEnd type="none" w="med" len="med"/>
                    </a:lnL>
                    <a:lnR w="2286" cap="flat" cmpd="sng" algn="ctr">
                      <a:solidFill>
                        <a:srgbClr val="DFDFDF"/>
                      </a:solidFill>
                      <a:prstDash val="solid"/>
                      <a:round/>
                      <a:headEnd type="none" w="med" len="med"/>
                      <a:tailEnd type="none" w="med" len="med"/>
                    </a:lnR>
                    <a:lnT w="2286" cap="flat" cmpd="sng" algn="ctr">
                      <a:solidFill>
                        <a:srgbClr val="DFDFDF"/>
                      </a:solidFill>
                      <a:prstDash val="solid"/>
                      <a:round/>
                      <a:headEnd type="none" w="med" len="med"/>
                      <a:tailEnd type="none" w="med" len="med"/>
                    </a:lnT>
                    <a:lnB w="2286" cap="flat" cmpd="sng" algn="ctr">
                      <a:solidFill>
                        <a:srgbClr val="DFDFDF"/>
                      </a:solidFill>
                      <a:prstDash val="solid"/>
                      <a:round/>
                      <a:headEnd type="none" w="med" len="med"/>
                      <a:tailEnd type="none" w="med" len="med"/>
                    </a:lnB>
                    <a:solidFill>
                      <a:srgbClr val="FFFFFF"/>
                    </a:solidFill>
                  </a:tcPr>
                </a:tc>
                <a:tc>
                  <a:txBody>
                    <a:bodyPr/>
                    <a:lstStyle/>
                    <a:p>
                      <a:pPr algn="ctr" fontAlgn="ctr">
                        <a:buNone/>
                      </a:pPr>
                      <a:r>
                        <a:rPr lang="en-US" sz="1250" b="0" dirty="0">
                          <a:effectLst/>
                          <a:latin typeface="Nunito" pitchFamily="2" charset="0"/>
                        </a:rPr>
                        <a:t>Variable in </a:t>
                      </a:r>
                      <a:r>
                        <a:rPr lang="en-US" sz="1250" b="1" dirty="0">
                          <a:effectLst/>
                          <a:latin typeface="Nunito" pitchFamily="2" charset="0"/>
                        </a:rPr>
                        <a:t>data</a:t>
                      </a:r>
                      <a:r>
                        <a:rPr lang="en-US" sz="1250" b="0" dirty="0">
                          <a:effectLst/>
                          <a:latin typeface="Nunito" pitchFamily="2" charset="0"/>
                        </a:rPr>
                        <a:t> to map plot aspects to different colors.</a:t>
                      </a:r>
                    </a:p>
                  </a:txBody>
                  <a:tcPr marL="76200" marR="76200" marT="106680" marB="106680" anchor="ctr">
                    <a:lnL w="2286" cap="flat" cmpd="sng" algn="ctr">
                      <a:solidFill>
                        <a:srgbClr val="DFDFDF"/>
                      </a:solidFill>
                      <a:prstDash val="solid"/>
                      <a:round/>
                      <a:headEnd type="none" w="med" len="med"/>
                      <a:tailEnd type="none" w="med" len="med"/>
                    </a:lnL>
                    <a:lnR w="2286" cap="flat" cmpd="sng" algn="ctr">
                      <a:solidFill>
                        <a:srgbClr val="DFDFDF"/>
                      </a:solidFill>
                      <a:prstDash val="solid"/>
                      <a:round/>
                      <a:headEnd type="none" w="med" len="med"/>
                      <a:tailEnd type="none" w="med" len="med"/>
                    </a:lnR>
                    <a:lnT w="2286" cap="flat" cmpd="sng" algn="ctr">
                      <a:solidFill>
                        <a:srgbClr val="DFDFDF"/>
                      </a:solidFill>
                      <a:prstDash val="solid"/>
                      <a:round/>
                      <a:headEnd type="none" w="med" len="med"/>
                      <a:tailEnd type="none" w="med" len="med"/>
                    </a:lnT>
                    <a:lnB w="2286" cap="flat" cmpd="sng" algn="ctr">
                      <a:solidFill>
                        <a:srgbClr val="DFDFDF"/>
                      </a:solidFill>
                      <a:prstDash val="solid"/>
                      <a:round/>
                      <a:headEnd type="none" w="med" len="med"/>
                      <a:tailEnd type="none" w="med" len="med"/>
                    </a:lnB>
                    <a:solidFill>
                      <a:srgbClr val="FFFFFF"/>
                    </a:solidFill>
                  </a:tcPr>
                </a:tc>
                <a:tc>
                  <a:txBody>
                    <a:bodyPr/>
                    <a:lstStyle/>
                    <a:p>
                      <a:pPr algn="ctr" fontAlgn="ctr">
                        <a:buNone/>
                      </a:pPr>
                      <a:r>
                        <a:rPr lang="en-IN" sz="1250" b="0">
                          <a:effectLst/>
                          <a:latin typeface="Nunito" pitchFamily="2" charset="0"/>
                        </a:rPr>
                        <a:t>string (variable name), optional</a:t>
                      </a:r>
                    </a:p>
                  </a:txBody>
                  <a:tcPr marL="76200" marR="76200" marT="106680" marB="106680" anchor="ctr">
                    <a:lnL w="2286" cap="flat" cmpd="sng" algn="ctr">
                      <a:solidFill>
                        <a:srgbClr val="DFDFDF"/>
                      </a:solidFill>
                      <a:prstDash val="solid"/>
                      <a:round/>
                      <a:headEnd type="none" w="med" len="med"/>
                      <a:tailEnd type="none" w="med" len="med"/>
                    </a:lnL>
                    <a:lnR w="2286" cap="flat" cmpd="sng" algn="ctr">
                      <a:solidFill>
                        <a:srgbClr val="DFDFDF"/>
                      </a:solidFill>
                      <a:prstDash val="solid"/>
                      <a:round/>
                      <a:headEnd type="none" w="med" len="med"/>
                      <a:tailEnd type="none" w="med" len="med"/>
                    </a:lnR>
                    <a:lnT w="2286" cap="flat" cmpd="sng" algn="ctr">
                      <a:solidFill>
                        <a:srgbClr val="DFDFDF"/>
                      </a:solidFill>
                      <a:prstDash val="solid"/>
                      <a:round/>
                      <a:headEnd type="none" w="med" len="med"/>
                      <a:tailEnd type="none" w="med" len="med"/>
                    </a:lnT>
                    <a:lnB w="2286" cap="flat" cmpd="sng" algn="ctr">
                      <a:solidFill>
                        <a:srgbClr val="DFDFDF"/>
                      </a:solidFill>
                      <a:prstDash val="solid"/>
                      <a:round/>
                      <a:headEnd type="none" w="med" len="med"/>
                      <a:tailEnd type="none" w="med" len="med"/>
                    </a:lnB>
                    <a:solidFill>
                      <a:srgbClr val="FFFFFF"/>
                    </a:solidFill>
                  </a:tcPr>
                </a:tc>
                <a:extLst>
                  <a:ext uri="{0D108BD9-81ED-4DB2-BD59-A6C34878D82A}">
                    <a16:rowId xmlns:a16="http://schemas.microsoft.com/office/drawing/2014/main" val="1643416590"/>
                  </a:ext>
                </a:extLst>
              </a:tr>
              <a:tr h="800643">
                <a:tc>
                  <a:txBody>
                    <a:bodyPr/>
                    <a:lstStyle/>
                    <a:p>
                      <a:pPr algn="ctr" fontAlgn="ctr">
                        <a:buNone/>
                      </a:pPr>
                      <a:r>
                        <a:rPr lang="en-IN" sz="1250" b="0">
                          <a:effectLst/>
                          <a:latin typeface="Nunito" pitchFamily="2" charset="0"/>
                        </a:rPr>
                        <a:t>palette</a:t>
                      </a:r>
                    </a:p>
                  </a:txBody>
                  <a:tcPr marL="76200" marR="76200" marT="106680" marB="106680" anchor="ctr">
                    <a:lnL w="2286" cap="flat" cmpd="sng" algn="ctr">
                      <a:solidFill>
                        <a:srgbClr val="DFDFDF"/>
                      </a:solidFill>
                      <a:prstDash val="solid"/>
                      <a:round/>
                      <a:headEnd type="none" w="med" len="med"/>
                      <a:tailEnd type="none" w="med" len="med"/>
                    </a:lnL>
                    <a:lnR w="2286" cap="flat" cmpd="sng" algn="ctr">
                      <a:solidFill>
                        <a:srgbClr val="DFDFDF"/>
                      </a:solidFill>
                      <a:prstDash val="solid"/>
                      <a:round/>
                      <a:headEnd type="none" w="med" len="med"/>
                      <a:tailEnd type="none" w="med" len="med"/>
                    </a:lnR>
                    <a:lnT w="2286" cap="flat" cmpd="sng" algn="ctr">
                      <a:solidFill>
                        <a:srgbClr val="DFDFDF"/>
                      </a:solidFill>
                      <a:prstDash val="solid"/>
                      <a:round/>
                      <a:headEnd type="none" w="med" len="med"/>
                      <a:tailEnd type="none" w="med" len="med"/>
                    </a:lnT>
                    <a:lnB w="2286" cap="flat" cmpd="sng" algn="ctr">
                      <a:solidFill>
                        <a:srgbClr val="DFDFDF"/>
                      </a:solidFill>
                      <a:prstDash val="solid"/>
                      <a:round/>
                      <a:headEnd type="none" w="med" len="med"/>
                      <a:tailEnd type="none" w="med" len="med"/>
                    </a:lnB>
                    <a:solidFill>
                      <a:srgbClr val="FFFFFF"/>
                    </a:solidFill>
                  </a:tcPr>
                </a:tc>
                <a:tc>
                  <a:txBody>
                    <a:bodyPr/>
                    <a:lstStyle/>
                    <a:p>
                      <a:pPr algn="ctr" fontAlgn="ctr">
                        <a:buNone/>
                      </a:pPr>
                      <a:r>
                        <a:rPr lang="en-US" sz="1250" b="0">
                          <a:effectLst/>
                          <a:latin typeface="Nunito" pitchFamily="2" charset="0"/>
                        </a:rPr>
                        <a:t>Set of colors for mapping the </a:t>
                      </a:r>
                      <a:r>
                        <a:rPr lang="en-US" sz="1250" b="1">
                          <a:effectLst/>
                          <a:latin typeface="Nunito" pitchFamily="2" charset="0"/>
                        </a:rPr>
                        <a:t>hue</a:t>
                      </a:r>
                      <a:r>
                        <a:rPr lang="en-US" sz="1250" b="0">
                          <a:effectLst/>
                          <a:latin typeface="Nunito" pitchFamily="2" charset="0"/>
                        </a:rPr>
                        <a:t> variable. Can be a dictionary for custom color mapping</a:t>
                      </a:r>
                    </a:p>
                  </a:txBody>
                  <a:tcPr marL="76200" marR="76200" marT="106680" marB="106680" anchor="ctr">
                    <a:lnL w="2286" cap="flat" cmpd="sng" algn="ctr">
                      <a:solidFill>
                        <a:srgbClr val="DFDFDF"/>
                      </a:solidFill>
                      <a:prstDash val="solid"/>
                      <a:round/>
                      <a:headEnd type="none" w="med" len="med"/>
                      <a:tailEnd type="none" w="med" len="med"/>
                    </a:lnL>
                    <a:lnR w="2286" cap="flat" cmpd="sng" algn="ctr">
                      <a:solidFill>
                        <a:srgbClr val="DFDFDF"/>
                      </a:solidFill>
                      <a:prstDash val="solid"/>
                      <a:round/>
                      <a:headEnd type="none" w="med" len="med"/>
                      <a:tailEnd type="none" w="med" len="med"/>
                    </a:lnR>
                    <a:lnT w="2286" cap="flat" cmpd="sng" algn="ctr">
                      <a:solidFill>
                        <a:srgbClr val="DFDFDF"/>
                      </a:solidFill>
                      <a:prstDash val="solid"/>
                      <a:round/>
                      <a:headEnd type="none" w="med" len="med"/>
                      <a:tailEnd type="none" w="med" len="med"/>
                    </a:lnT>
                    <a:lnB w="2286" cap="flat" cmpd="sng" algn="ctr">
                      <a:solidFill>
                        <a:srgbClr val="DFDFDF"/>
                      </a:solidFill>
                      <a:prstDash val="solid"/>
                      <a:round/>
                      <a:headEnd type="none" w="med" len="med"/>
                      <a:tailEnd type="none" w="med" len="med"/>
                    </a:lnB>
                    <a:solidFill>
                      <a:srgbClr val="FFFFFF"/>
                    </a:solidFill>
                  </a:tcPr>
                </a:tc>
                <a:tc>
                  <a:txBody>
                    <a:bodyPr/>
                    <a:lstStyle/>
                    <a:p>
                      <a:pPr algn="ctr" fontAlgn="ctr">
                        <a:buNone/>
                      </a:pPr>
                      <a:r>
                        <a:rPr lang="en-US" sz="1250" b="0">
                          <a:effectLst/>
                          <a:latin typeface="Nunito" pitchFamily="2" charset="0"/>
                        </a:rPr>
                        <a:t>dict or seaborn color palette</a:t>
                      </a:r>
                    </a:p>
                  </a:txBody>
                  <a:tcPr marL="76200" marR="76200" marT="106680" marB="106680" anchor="ctr">
                    <a:lnL w="2286" cap="flat" cmpd="sng" algn="ctr">
                      <a:solidFill>
                        <a:srgbClr val="DFDFDF"/>
                      </a:solidFill>
                      <a:prstDash val="solid"/>
                      <a:round/>
                      <a:headEnd type="none" w="med" len="med"/>
                      <a:tailEnd type="none" w="med" len="med"/>
                    </a:lnL>
                    <a:lnR w="2286" cap="flat" cmpd="sng" algn="ctr">
                      <a:solidFill>
                        <a:srgbClr val="DFDFDF"/>
                      </a:solidFill>
                      <a:prstDash val="solid"/>
                      <a:round/>
                      <a:headEnd type="none" w="med" len="med"/>
                      <a:tailEnd type="none" w="med" len="med"/>
                    </a:lnR>
                    <a:lnT w="2286" cap="flat" cmpd="sng" algn="ctr">
                      <a:solidFill>
                        <a:srgbClr val="DFDFDF"/>
                      </a:solidFill>
                      <a:prstDash val="solid"/>
                      <a:round/>
                      <a:headEnd type="none" w="med" len="med"/>
                      <a:tailEnd type="none" w="med" len="med"/>
                    </a:lnT>
                    <a:lnB w="2286" cap="flat" cmpd="sng" algn="ctr">
                      <a:solidFill>
                        <a:srgbClr val="DFDFDF"/>
                      </a:solidFill>
                      <a:prstDash val="solid"/>
                      <a:round/>
                      <a:headEnd type="none" w="med" len="med"/>
                      <a:tailEnd type="none" w="med" len="med"/>
                    </a:lnB>
                    <a:solidFill>
                      <a:srgbClr val="FFFFFF"/>
                    </a:solidFill>
                  </a:tcPr>
                </a:tc>
                <a:extLst>
                  <a:ext uri="{0D108BD9-81ED-4DB2-BD59-A6C34878D82A}">
                    <a16:rowId xmlns:a16="http://schemas.microsoft.com/office/drawing/2014/main" val="5590643"/>
                  </a:ext>
                </a:extLst>
              </a:tr>
              <a:tr h="1057259">
                <a:tc>
                  <a:txBody>
                    <a:bodyPr/>
                    <a:lstStyle/>
                    <a:p>
                      <a:pPr algn="ctr" fontAlgn="ctr">
                        <a:buNone/>
                      </a:pPr>
                      <a:r>
                        <a:rPr lang="en-IN" sz="1250" b="0">
                          <a:effectLst/>
                          <a:latin typeface="Nunito" pitchFamily="2" charset="0"/>
                        </a:rPr>
                        <a:t>{x, y}_vars</a:t>
                      </a:r>
                    </a:p>
                  </a:txBody>
                  <a:tcPr marL="76200" marR="76200" marT="106680" marB="106680" anchor="ctr">
                    <a:lnL w="2286" cap="flat" cmpd="sng" algn="ctr">
                      <a:solidFill>
                        <a:srgbClr val="DFDFDF"/>
                      </a:solidFill>
                      <a:prstDash val="solid"/>
                      <a:round/>
                      <a:headEnd type="none" w="med" len="med"/>
                      <a:tailEnd type="none" w="med" len="med"/>
                    </a:lnL>
                    <a:lnR w="2286" cap="flat" cmpd="sng" algn="ctr">
                      <a:solidFill>
                        <a:srgbClr val="DFDFDF"/>
                      </a:solidFill>
                      <a:prstDash val="solid"/>
                      <a:round/>
                      <a:headEnd type="none" w="med" len="med"/>
                      <a:tailEnd type="none" w="med" len="med"/>
                    </a:lnR>
                    <a:lnT w="2286" cap="flat" cmpd="sng" algn="ctr">
                      <a:solidFill>
                        <a:srgbClr val="DFDFDF"/>
                      </a:solidFill>
                      <a:prstDash val="solid"/>
                      <a:round/>
                      <a:headEnd type="none" w="med" len="med"/>
                      <a:tailEnd type="none" w="med" len="med"/>
                    </a:lnT>
                    <a:lnB w="2286" cap="flat" cmpd="sng" algn="ctr">
                      <a:solidFill>
                        <a:srgbClr val="DFDFDF"/>
                      </a:solidFill>
                      <a:prstDash val="solid"/>
                      <a:round/>
                      <a:headEnd type="none" w="med" len="med"/>
                      <a:tailEnd type="none" w="med" len="med"/>
                    </a:lnB>
                    <a:solidFill>
                      <a:srgbClr val="FFFFFF"/>
                    </a:solidFill>
                  </a:tcPr>
                </a:tc>
                <a:tc>
                  <a:txBody>
                    <a:bodyPr/>
                    <a:lstStyle/>
                    <a:p>
                      <a:pPr algn="ctr" fontAlgn="ctr">
                        <a:buNone/>
                      </a:pPr>
                      <a:r>
                        <a:rPr lang="en-US" sz="1250" b="0">
                          <a:effectLst/>
                          <a:latin typeface="Nunito" pitchFamily="2" charset="0"/>
                        </a:rPr>
                        <a:t>Allows you to specify which variables to use for the rows and columns of the plot to create a custom layout.</a:t>
                      </a:r>
                    </a:p>
                  </a:txBody>
                  <a:tcPr marL="76200" marR="76200" marT="106680" marB="106680" anchor="ctr">
                    <a:lnL w="2286" cap="flat" cmpd="sng" algn="ctr">
                      <a:solidFill>
                        <a:srgbClr val="DFDFDF"/>
                      </a:solidFill>
                      <a:prstDash val="solid"/>
                      <a:round/>
                      <a:headEnd type="none" w="med" len="med"/>
                      <a:tailEnd type="none" w="med" len="med"/>
                    </a:lnL>
                    <a:lnR w="2286" cap="flat" cmpd="sng" algn="ctr">
                      <a:solidFill>
                        <a:srgbClr val="DFDFDF"/>
                      </a:solidFill>
                      <a:prstDash val="solid"/>
                      <a:round/>
                      <a:headEnd type="none" w="med" len="med"/>
                      <a:tailEnd type="none" w="med" len="med"/>
                    </a:lnR>
                    <a:lnT w="2286" cap="flat" cmpd="sng" algn="ctr">
                      <a:solidFill>
                        <a:srgbClr val="DFDFDF"/>
                      </a:solidFill>
                      <a:prstDash val="solid"/>
                      <a:round/>
                      <a:headEnd type="none" w="med" len="med"/>
                      <a:tailEnd type="none" w="med" len="med"/>
                    </a:lnT>
                    <a:lnB w="2286" cap="flat" cmpd="sng" algn="ctr">
                      <a:solidFill>
                        <a:srgbClr val="DFDFDF"/>
                      </a:solidFill>
                      <a:prstDash val="solid"/>
                      <a:round/>
                      <a:headEnd type="none" w="med" len="med"/>
                      <a:tailEnd type="none" w="med" len="med"/>
                    </a:lnB>
                    <a:solidFill>
                      <a:srgbClr val="FFFFFF"/>
                    </a:solidFill>
                  </a:tcPr>
                </a:tc>
                <a:tc>
                  <a:txBody>
                    <a:bodyPr/>
                    <a:lstStyle/>
                    <a:p>
                      <a:pPr algn="ctr" fontAlgn="ctr">
                        <a:buNone/>
                      </a:pPr>
                      <a:r>
                        <a:rPr lang="en-US" sz="1250" b="0">
                          <a:effectLst/>
                          <a:latin typeface="Nunito" pitchFamily="2" charset="0"/>
                        </a:rPr>
                        <a:t>lists of variable names, optional</a:t>
                      </a:r>
                    </a:p>
                  </a:txBody>
                  <a:tcPr marL="76200" marR="76200" marT="106680" marB="106680" anchor="ctr">
                    <a:lnL w="2286" cap="flat" cmpd="sng" algn="ctr">
                      <a:solidFill>
                        <a:srgbClr val="DFDFDF"/>
                      </a:solidFill>
                      <a:prstDash val="solid"/>
                      <a:round/>
                      <a:headEnd type="none" w="med" len="med"/>
                      <a:tailEnd type="none" w="med" len="med"/>
                    </a:lnL>
                    <a:lnR w="2286" cap="flat" cmpd="sng" algn="ctr">
                      <a:solidFill>
                        <a:srgbClr val="DFDFDF"/>
                      </a:solidFill>
                      <a:prstDash val="solid"/>
                      <a:round/>
                      <a:headEnd type="none" w="med" len="med"/>
                      <a:tailEnd type="none" w="med" len="med"/>
                    </a:lnR>
                    <a:lnT w="2286" cap="flat" cmpd="sng" algn="ctr">
                      <a:solidFill>
                        <a:srgbClr val="DFDFDF"/>
                      </a:solidFill>
                      <a:prstDash val="solid"/>
                      <a:round/>
                      <a:headEnd type="none" w="med" len="med"/>
                      <a:tailEnd type="none" w="med" len="med"/>
                    </a:lnT>
                    <a:lnB w="2286" cap="flat" cmpd="sng" algn="ctr">
                      <a:solidFill>
                        <a:srgbClr val="DFDFDF"/>
                      </a:solidFill>
                      <a:prstDash val="solid"/>
                      <a:round/>
                      <a:headEnd type="none" w="med" len="med"/>
                      <a:tailEnd type="none" w="med" len="med"/>
                    </a:lnB>
                    <a:solidFill>
                      <a:srgbClr val="FFFFFF"/>
                    </a:solidFill>
                  </a:tcPr>
                </a:tc>
                <a:extLst>
                  <a:ext uri="{0D108BD9-81ED-4DB2-BD59-A6C34878D82A}">
                    <a16:rowId xmlns:a16="http://schemas.microsoft.com/office/drawing/2014/main" val="860953059"/>
                  </a:ext>
                </a:extLst>
              </a:tr>
              <a:tr h="800643">
                <a:tc>
                  <a:txBody>
                    <a:bodyPr/>
                    <a:lstStyle/>
                    <a:p>
                      <a:pPr algn="ctr" fontAlgn="ctr">
                        <a:buNone/>
                      </a:pPr>
                      <a:r>
                        <a:rPr lang="en-IN" sz="1250" b="0">
                          <a:effectLst/>
                          <a:latin typeface="Nunito" pitchFamily="2" charset="0"/>
                        </a:rPr>
                        <a:t>dropna</a:t>
                      </a:r>
                    </a:p>
                  </a:txBody>
                  <a:tcPr marL="76200" marR="76200" marT="106680" marB="106680" anchor="ctr">
                    <a:lnL w="2286" cap="flat" cmpd="sng" algn="ctr">
                      <a:solidFill>
                        <a:srgbClr val="DFDFDF"/>
                      </a:solidFill>
                      <a:prstDash val="solid"/>
                      <a:round/>
                      <a:headEnd type="none" w="med" len="med"/>
                      <a:tailEnd type="none" w="med" len="med"/>
                    </a:lnL>
                    <a:lnR w="2286" cap="flat" cmpd="sng" algn="ctr">
                      <a:solidFill>
                        <a:srgbClr val="DFDFDF"/>
                      </a:solidFill>
                      <a:prstDash val="solid"/>
                      <a:round/>
                      <a:headEnd type="none" w="med" len="med"/>
                      <a:tailEnd type="none" w="med" len="med"/>
                    </a:lnR>
                    <a:lnT w="2286" cap="flat" cmpd="sng" algn="ctr">
                      <a:solidFill>
                        <a:srgbClr val="DFDFDF"/>
                      </a:solidFill>
                      <a:prstDash val="solid"/>
                      <a:round/>
                      <a:headEnd type="none" w="med" len="med"/>
                      <a:tailEnd type="none" w="med" len="med"/>
                    </a:lnT>
                    <a:lnB w="2286" cap="flat" cmpd="sng" algn="ctr">
                      <a:solidFill>
                        <a:srgbClr val="DFDFDF"/>
                      </a:solidFill>
                      <a:prstDash val="solid"/>
                      <a:round/>
                      <a:headEnd type="none" w="med" len="med"/>
                      <a:tailEnd type="none" w="med" len="med"/>
                    </a:lnB>
                    <a:solidFill>
                      <a:srgbClr val="FFFFFF"/>
                    </a:solidFill>
                  </a:tcPr>
                </a:tc>
                <a:tc>
                  <a:txBody>
                    <a:bodyPr/>
                    <a:lstStyle/>
                    <a:p>
                      <a:pPr algn="ctr" fontAlgn="ctr">
                        <a:buNone/>
                      </a:pPr>
                      <a:r>
                        <a:rPr lang="en-US" sz="1250" b="0">
                          <a:effectLst/>
                          <a:latin typeface="Nunito" pitchFamily="2" charset="0"/>
                        </a:rPr>
                        <a:t>Drop missing values from the data before plotting.</a:t>
                      </a:r>
                    </a:p>
                  </a:txBody>
                  <a:tcPr marL="76200" marR="76200" marT="106680" marB="106680" anchor="ctr">
                    <a:lnL w="2286" cap="flat" cmpd="sng" algn="ctr">
                      <a:solidFill>
                        <a:srgbClr val="DFDFDF"/>
                      </a:solidFill>
                      <a:prstDash val="solid"/>
                      <a:round/>
                      <a:headEnd type="none" w="med" len="med"/>
                      <a:tailEnd type="none" w="med" len="med"/>
                    </a:lnL>
                    <a:lnR w="2286" cap="flat" cmpd="sng" algn="ctr">
                      <a:solidFill>
                        <a:srgbClr val="DFDFDF"/>
                      </a:solidFill>
                      <a:prstDash val="solid"/>
                      <a:round/>
                      <a:headEnd type="none" w="med" len="med"/>
                      <a:tailEnd type="none" w="med" len="med"/>
                    </a:lnR>
                    <a:lnT w="2286" cap="flat" cmpd="sng" algn="ctr">
                      <a:solidFill>
                        <a:srgbClr val="DFDFDF"/>
                      </a:solidFill>
                      <a:prstDash val="solid"/>
                      <a:round/>
                      <a:headEnd type="none" w="med" len="med"/>
                      <a:tailEnd type="none" w="med" len="med"/>
                    </a:lnT>
                    <a:lnB w="2286" cap="flat" cmpd="sng" algn="ctr">
                      <a:solidFill>
                        <a:srgbClr val="DFDFDF"/>
                      </a:solidFill>
                      <a:prstDash val="solid"/>
                      <a:round/>
                      <a:headEnd type="none" w="med" len="med"/>
                      <a:tailEnd type="none" w="med" len="med"/>
                    </a:lnB>
                    <a:solidFill>
                      <a:srgbClr val="FFFFFF"/>
                    </a:solidFill>
                  </a:tcPr>
                </a:tc>
                <a:tc>
                  <a:txBody>
                    <a:bodyPr/>
                    <a:lstStyle/>
                    <a:p>
                      <a:pPr algn="ctr" fontAlgn="ctr">
                        <a:buNone/>
                      </a:pPr>
                      <a:r>
                        <a:rPr lang="en-IN" sz="1250" b="0" dirty="0" err="1">
                          <a:effectLst/>
                          <a:latin typeface="Nunito" pitchFamily="2" charset="0"/>
                        </a:rPr>
                        <a:t>boolean</a:t>
                      </a:r>
                      <a:r>
                        <a:rPr lang="en-IN" sz="1250" b="0" dirty="0">
                          <a:effectLst/>
                          <a:latin typeface="Nunito" pitchFamily="2" charset="0"/>
                        </a:rPr>
                        <a:t>, optional</a:t>
                      </a:r>
                    </a:p>
                  </a:txBody>
                  <a:tcPr marL="76200" marR="76200" marT="106680" marB="106680" anchor="ctr">
                    <a:lnL w="2286" cap="flat" cmpd="sng" algn="ctr">
                      <a:solidFill>
                        <a:srgbClr val="DFDFDF"/>
                      </a:solidFill>
                      <a:prstDash val="solid"/>
                      <a:round/>
                      <a:headEnd type="none" w="med" len="med"/>
                      <a:tailEnd type="none" w="med" len="med"/>
                    </a:lnL>
                    <a:lnR w="2286" cap="flat" cmpd="sng" algn="ctr">
                      <a:solidFill>
                        <a:srgbClr val="DFDFDF"/>
                      </a:solidFill>
                      <a:prstDash val="solid"/>
                      <a:round/>
                      <a:headEnd type="none" w="med" len="med"/>
                      <a:tailEnd type="none" w="med" len="med"/>
                    </a:lnR>
                    <a:lnT w="2286" cap="flat" cmpd="sng" algn="ctr">
                      <a:solidFill>
                        <a:srgbClr val="DFDFDF"/>
                      </a:solidFill>
                      <a:prstDash val="solid"/>
                      <a:round/>
                      <a:headEnd type="none" w="med" len="med"/>
                      <a:tailEnd type="none" w="med" len="med"/>
                    </a:lnT>
                    <a:lnB w="2286" cap="flat" cmpd="sng" algn="ctr">
                      <a:solidFill>
                        <a:srgbClr val="DFDFDF"/>
                      </a:solidFill>
                      <a:prstDash val="solid"/>
                      <a:round/>
                      <a:headEnd type="none" w="med" len="med"/>
                      <a:tailEnd type="none" w="med" len="med"/>
                    </a:lnB>
                    <a:solidFill>
                      <a:srgbClr val="FFFFFF"/>
                    </a:solidFill>
                  </a:tcPr>
                </a:tc>
                <a:extLst>
                  <a:ext uri="{0D108BD9-81ED-4DB2-BD59-A6C34878D82A}">
                    <a16:rowId xmlns:a16="http://schemas.microsoft.com/office/drawing/2014/main" val="2457726774"/>
                  </a:ext>
                </a:extLst>
              </a:tr>
            </a:tbl>
          </a:graphicData>
        </a:graphic>
      </p:graphicFrame>
    </p:spTree>
    <p:extLst>
      <p:ext uri="{BB962C8B-B14F-4D97-AF65-F5344CB8AC3E}">
        <p14:creationId xmlns:p14="http://schemas.microsoft.com/office/powerpoint/2010/main" val="4082637138"/>
      </p:ext>
    </p:extLst>
  </p:cSld>
  <p:clrMapOvr>
    <a:overrideClrMapping bg1="lt1" tx1="dk1" bg2="lt2" tx2="dk2" accent1="accent1" accent2="accent2" accent3="accent3" accent4="accent4" accent5="accent5" accent6="accent6" hlink="hlink" folHlink="folHlink"/>
  </p:clrMapOvr>
</p:sld>
</file>

<file path=ppt/slides/slide16.xml><?xml version="1.0" encoding="utf-8"?>
<p:sld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05FE135-24B3-2098-6DAB-DA84C6393012}"/>
              </a:ext>
            </a:extLst>
          </p:cNvPr>
          <p:cNvSpPr>
            <a:spLocks noGrp="1"/>
          </p:cNvSpPr>
          <p:nvPr>
            <p:ph idx="1"/>
          </p:nvPr>
        </p:nvSpPr>
        <p:spPr>
          <a:xfrm>
            <a:off x="771525" y="0"/>
            <a:ext cx="10515600" cy="4257675"/>
          </a:xfrm>
        </p:spPr>
        <p:txBody>
          <a:bodyPr>
            <a:normAutofit/>
          </a:bodyPr>
          <a:lstStyle/>
          <a:p>
            <a:r>
              <a:rPr lang="en-IN" dirty="0" err="1">
                <a:solidFill>
                  <a:srgbClr val="C00000"/>
                </a:solidFill>
              </a:rPr>
              <a:t>Pairplot</a:t>
            </a:r>
            <a:r>
              <a:rPr lang="en-IN" dirty="0">
                <a:solidFill>
                  <a:srgbClr val="C00000"/>
                </a:solidFill>
              </a:rPr>
              <a:t> with Hue by Day:</a:t>
            </a:r>
          </a:p>
          <a:p>
            <a:r>
              <a:rPr lang="en-IN" dirty="0"/>
              <a:t>We will use hue parameter to </a:t>
            </a:r>
            <a:r>
              <a:rPr lang="en-IN" dirty="0" err="1"/>
              <a:t>color-code</a:t>
            </a:r>
            <a:r>
              <a:rPr lang="en-IN" dirty="0"/>
              <a:t> points based on the day column. This helps to distinguish between different days of the week.</a:t>
            </a:r>
          </a:p>
          <a:p>
            <a:pPr marL="457200" lvl="1" indent="0">
              <a:buNone/>
            </a:pPr>
            <a:r>
              <a:rPr lang="en-IN" dirty="0"/>
              <a:t>import seaborn</a:t>
            </a:r>
          </a:p>
          <a:p>
            <a:pPr marL="457200" lvl="1" indent="0">
              <a:buNone/>
            </a:pPr>
            <a:r>
              <a:rPr lang="en-IN" dirty="0"/>
              <a:t>import </a:t>
            </a:r>
            <a:r>
              <a:rPr lang="en-IN" dirty="0" err="1"/>
              <a:t>matplotlib.pyplot</a:t>
            </a:r>
            <a:r>
              <a:rPr lang="en-IN" dirty="0"/>
              <a:t> as </a:t>
            </a:r>
            <a:r>
              <a:rPr lang="en-IN" dirty="0" err="1"/>
              <a:t>plt</a:t>
            </a:r>
            <a:endParaRPr lang="en-IN" dirty="0"/>
          </a:p>
          <a:p>
            <a:pPr marL="457200" lvl="1" indent="0">
              <a:buNone/>
            </a:pPr>
            <a:r>
              <a:rPr lang="en-IN" dirty="0" err="1"/>
              <a:t>df</a:t>
            </a:r>
            <a:r>
              <a:rPr lang="en-IN" dirty="0"/>
              <a:t> = </a:t>
            </a:r>
            <a:r>
              <a:rPr lang="en-IN" dirty="0" err="1"/>
              <a:t>seaborn.load_dataset</a:t>
            </a:r>
            <a:r>
              <a:rPr lang="en-IN" dirty="0"/>
              <a:t>('tips')</a:t>
            </a:r>
          </a:p>
          <a:p>
            <a:pPr marL="457200" lvl="1" indent="0">
              <a:buNone/>
            </a:pPr>
            <a:r>
              <a:rPr lang="en-IN" dirty="0" err="1"/>
              <a:t>seaborn.pairplot</a:t>
            </a:r>
            <a:r>
              <a:rPr lang="en-IN" dirty="0"/>
              <a:t>(</a:t>
            </a:r>
            <a:r>
              <a:rPr lang="en-IN" dirty="0" err="1"/>
              <a:t>df</a:t>
            </a:r>
            <a:r>
              <a:rPr lang="en-IN" dirty="0"/>
              <a:t>, hue ='day')</a:t>
            </a:r>
          </a:p>
          <a:p>
            <a:pPr marL="457200" lvl="1" indent="0">
              <a:buNone/>
            </a:pPr>
            <a:r>
              <a:rPr lang="en-IN" dirty="0" err="1"/>
              <a:t>plt.show</a:t>
            </a:r>
            <a:r>
              <a:rPr lang="en-IN" dirty="0"/>
              <a:t>()</a:t>
            </a:r>
          </a:p>
          <a:p>
            <a:r>
              <a:rPr lang="en-IN" dirty="0"/>
              <a:t> </a:t>
            </a:r>
            <a:r>
              <a:rPr lang="en-US" dirty="0"/>
              <a:t>A grid of scatter plots showing the relationships between the numerical features in the </a:t>
            </a:r>
            <a:r>
              <a:rPr lang="en-US" b="1" dirty="0"/>
              <a:t>tips</a:t>
            </a:r>
            <a:r>
              <a:rPr lang="en-US" dirty="0"/>
              <a:t> dataset with color coding based on the </a:t>
            </a:r>
            <a:r>
              <a:rPr lang="en-US" b="1" dirty="0"/>
              <a:t>day </a:t>
            </a:r>
            <a:r>
              <a:rPr lang="en-US" dirty="0"/>
              <a:t>column is formed.</a:t>
            </a:r>
            <a:endParaRPr lang="en-IN" dirty="0"/>
          </a:p>
          <a:p>
            <a:endParaRPr lang="en-IN" dirty="0"/>
          </a:p>
        </p:txBody>
      </p:sp>
      <p:pic>
        <p:nvPicPr>
          <p:cNvPr id="3078" name="Picture 6" descr="Screenshot262">
            <a:extLst>
              <a:ext uri="{FF2B5EF4-FFF2-40B4-BE49-F238E27FC236}">
                <a16:creationId xmlns:a16="http://schemas.microsoft.com/office/drawing/2014/main" id="{78CF054D-460A-FA09-5FE0-4AF07A5060F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73275" y="4181475"/>
            <a:ext cx="7912100" cy="25717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8153487"/>
      </p:ext>
    </p:extLst>
  </p:cSld>
  <p:clrMapOvr>
    <a:overrideClrMapping bg1="lt1" tx1="dk1" bg2="lt2" tx2="dk2" accent1="accent1" accent2="accent2" accent3="accent3" accent4="accent4" accent5="accent5" accent6="accent6" hlink="hlink" folHlink="folHlink"/>
  </p:clrMapOvr>
</p:sld>
</file>

<file path=ppt/slides/slide17.xml><?xml version="1.0" encoding="utf-8"?>
<p:sld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FC047C-6CA5-B0C3-FC42-327403631DC1}"/>
              </a:ext>
            </a:extLst>
          </p:cNvPr>
          <p:cNvSpPr>
            <a:spLocks noGrp="1"/>
          </p:cNvSpPr>
          <p:nvPr>
            <p:ph type="title"/>
          </p:nvPr>
        </p:nvSpPr>
        <p:spPr>
          <a:xfrm>
            <a:off x="838200" y="365125"/>
            <a:ext cx="10515600" cy="415925"/>
          </a:xfrm>
        </p:spPr>
        <p:txBody>
          <a:bodyPr>
            <a:normAutofit fontScale="90000"/>
          </a:bodyPr>
          <a:lstStyle/>
          <a:p>
            <a:r>
              <a:rPr lang="en-US" b="1" dirty="0" err="1"/>
              <a:t>Pairplot</a:t>
            </a:r>
            <a:r>
              <a:rPr lang="en-US" b="1" dirty="0"/>
              <a:t> with Custom Palette by Sex</a:t>
            </a:r>
            <a:br>
              <a:rPr lang="en-US" b="1" dirty="0"/>
            </a:br>
            <a:endParaRPr lang="en-IN" dirty="0"/>
          </a:p>
        </p:txBody>
      </p:sp>
      <p:sp>
        <p:nvSpPr>
          <p:cNvPr id="3" name="Content Placeholder 2">
            <a:extLst>
              <a:ext uri="{FF2B5EF4-FFF2-40B4-BE49-F238E27FC236}">
                <a16:creationId xmlns:a16="http://schemas.microsoft.com/office/drawing/2014/main" id="{791F66EA-443E-69F5-2ADA-0655D7632359}"/>
              </a:ext>
            </a:extLst>
          </p:cNvPr>
          <p:cNvSpPr>
            <a:spLocks noGrp="1"/>
          </p:cNvSpPr>
          <p:nvPr>
            <p:ph idx="1"/>
          </p:nvPr>
        </p:nvSpPr>
        <p:spPr>
          <a:xfrm>
            <a:off x="838199" y="781050"/>
            <a:ext cx="11172825" cy="5395913"/>
          </a:xfrm>
        </p:spPr>
        <p:txBody>
          <a:bodyPr>
            <a:normAutofit/>
          </a:bodyPr>
          <a:lstStyle/>
          <a:p>
            <a:r>
              <a:rPr lang="en-IN" dirty="0"/>
              <a:t>We will use the hue and palette parameter to </a:t>
            </a:r>
            <a:r>
              <a:rPr lang="en-IN" dirty="0" err="1"/>
              <a:t>color-code</a:t>
            </a:r>
            <a:r>
              <a:rPr lang="en-IN" dirty="0"/>
              <a:t> points based on the sex column helps in distinguishing between male and female customers. Here we defined colour palette as blue and pink using </a:t>
            </a:r>
            <a:r>
              <a:rPr lang="en-IN" dirty="0" err="1"/>
              <a:t>custom_palette</a:t>
            </a:r>
            <a:r>
              <a:rPr lang="en-IN" dirty="0"/>
              <a:t>.</a:t>
            </a:r>
          </a:p>
          <a:p>
            <a:r>
              <a:rPr lang="en-IN" dirty="0"/>
              <a:t>import seaborn</a:t>
            </a:r>
          </a:p>
          <a:p>
            <a:r>
              <a:rPr lang="en-IN" dirty="0"/>
              <a:t>import </a:t>
            </a:r>
            <a:r>
              <a:rPr lang="en-IN" dirty="0" err="1"/>
              <a:t>matplotlib.pyplot</a:t>
            </a:r>
            <a:r>
              <a:rPr lang="en-IN" dirty="0"/>
              <a:t> as </a:t>
            </a:r>
            <a:r>
              <a:rPr lang="en-IN" dirty="0" err="1"/>
              <a:t>plt</a:t>
            </a:r>
            <a:endParaRPr lang="en-IN" dirty="0"/>
          </a:p>
          <a:p>
            <a:r>
              <a:rPr lang="en-IN" dirty="0" err="1"/>
              <a:t>df</a:t>
            </a:r>
            <a:r>
              <a:rPr lang="en-IN" dirty="0"/>
              <a:t> = </a:t>
            </a:r>
            <a:r>
              <a:rPr lang="en-IN" dirty="0" err="1"/>
              <a:t>seaborn.load_dataset</a:t>
            </a:r>
            <a:r>
              <a:rPr lang="en-IN" dirty="0"/>
              <a:t>('tips')</a:t>
            </a:r>
          </a:p>
          <a:p>
            <a:r>
              <a:rPr lang="en-IN" dirty="0" err="1"/>
              <a:t>custom_palette</a:t>
            </a:r>
            <a:r>
              <a:rPr lang="en-IN" dirty="0"/>
              <a:t> = {'Male': '</a:t>
            </a:r>
            <a:r>
              <a:rPr lang="en-IN" dirty="0" err="1"/>
              <a:t>lightblue</a:t>
            </a:r>
            <a:r>
              <a:rPr lang="en-IN" dirty="0"/>
              <a:t>', 'Female': 'pink'}</a:t>
            </a:r>
          </a:p>
          <a:p>
            <a:r>
              <a:rPr lang="en-IN" dirty="0" err="1"/>
              <a:t>seaborn.pairplot</a:t>
            </a:r>
            <a:r>
              <a:rPr lang="en-IN" dirty="0"/>
              <a:t>(</a:t>
            </a:r>
            <a:r>
              <a:rPr lang="en-IN" dirty="0" err="1"/>
              <a:t>df</a:t>
            </a:r>
            <a:r>
              <a:rPr lang="en-IN" dirty="0"/>
              <a:t>, hue='sex', palette=</a:t>
            </a:r>
            <a:r>
              <a:rPr lang="en-IN" dirty="0" err="1"/>
              <a:t>custom_palette</a:t>
            </a:r>
            <a:r>
              <a:rPr lang="en-IN" dirty="0"/>
              <a:t>)</a:t>
            </a:r>
          </a:p>
          <a:p>
            <a:r>
              <a:rPr lang="en-IN" dirty="0" err="1"/>
              <a:t>plt.show</a:t>
            </a:r>
            <a:r>
              <a:rPr lang="en-IN" dirty="0"/>
              <a:t>()</a:t>
            </a:r>
          </a:p>
          <a:p>
            <a:endParaRPr lang="en-IN" dirty="0"/>
          </a:p>
          <a:p>
            <a:r>
              <a:rPr lang="en-IN" dirty="0"/>
              <a:t>We can map </a:t>
            </a:r>
            <a:r>
              <a:rPr lang="en-IN" dirty="0" err="1"/>
              <a:t>colors</a:t>
            </a:r>
            <a:r>
              <a:rPr lang="en-IN" dirty="0"/>
              <a:t> to categorical variables not for the numeric values</a:t>
            </a:r>
          </a:p>
        </p:txBody>
      </p:sp>
    </p:spTree>
    <p:extLst>
      <p:ext uri="{BB962C8B-B14F-4D97-AF65-F5344CB8AC3E}">
        <p14:creationId xmlns:p14="http://schemas.microsoft.com/office/powerpoint/2010/main" val="129923950"/>
      </p:ext>
    </p:extLst>
  </p:cSld>
  <p:clrMapOvr>
    <a:overrideClrMapping bg1="lt1" tx1="dk1" bg2="lt2" tx2="dk2" accent1="accent1" accent2="accent2" accent3="accent3" accent4="accent4" accent5="accent5" accent6="accent6" hlink="hlink" folHlink="folHlink"/>
  </p:clrMapOvr>
</p:sld>
</file>

<file path=ppt/slides/slide18.xml><?xml version="1.0" encoding="utf-8"?>
<p:sld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2571D30-B5CB-5348-3A13-995AB1C13A72}"/>
              </a:ext>
            </a:extLst>
          </p:cNvPr>
          <p:cNvSpPr>
            <a:spLocks noGrp="1"/>
          </p:cNvSpPr>
          <p:nvPr>
            <p:ph idx="1"/>
          </p:nvPr>
        </p:nvSpPr>
        <p:spPr>
          <a:xfrm>
            <a:off x="838200" y="190500"/>
            <a:ext cx="10515600" cy="5986463"/>
          </a:xfrm>
        </p:spPr>
        <p:txBody>
          <a:bodyPr>
            <a:normAutofit/>
          </a:bodyPr>
          <a:lstStyle/>
          <a:p>
            <a:endParaRPr lang="en-IN" dirty="0">
              <a:solidFill>
                <a:srgbClr val="C00000"/>
              </a:solidFill>
            </a:endParaRPr>
          </a:p>
          <a:p>
            <a:r>
              <a:rPr lang="en-IN" dirty="0" err="1">
                <a:solidFill>
                  <a:srgbClr val="C00000"/>
                </a:solidFill>
              </a:rPr>
              <a:t>Pairplot</a:t>
            </a:r>
            <a:r>
              <a:rPr lang="en-IN" dirty="0">
                <a:solidFill>
                  <a:srgbClr val="C00000"/>
                </a:solidFill>
              </a:rPr>
              <a:t> with Specific Variables:</a:t>
            </a:r>
          </a:p>
          <a:p>
            <a:r>
              <a:rPr lang="en-IN" dirty="0"/>
              <a:t>We can focus on specific variables in the tips dataset. Here we visualize only the </a:t>
            </a:r>
            <a:r>
              <a:rPr lang="en-IN" dirty="0" err="1"/>
              <a:t>total_bill</a:t>
            </a:r>
            <a:r>
              <a:rPr lang="en-IN" dirty="0"/>
              <a:t>, tip and size features using {x, y}_vars parameter.</a:t>
            </a:r>
          </a:p>
          <a:p>
            <a:pPr marL="0" indent="0">
              <a:buNone/>
            </a:pPr>
            <a:r>
              <a:rPr lang="en-IN" dirty="0"/>
              <a:t>import seaborn</a:t>
            </a:r>
          </a:p>
          <a:p>
            <a:pPr marL="0" indent="0">
              <a:buNone/>
            </a:pPr>
            <a:r>
              <a:rPr lang="en-IN" dirty="0"/>
              <a:t>import </a:t>
            </a:r>
            <a:r>
              <a:rPr lang="en-IN" dirty="0" err="1"/>
              <a:t>matplotlib.pyplot</a:t>
            </a:r>
            <a:r>
              <a:rPr lang="en-IN" dirty="0"/>
              <a:t> as </a:t>
            </a:r>
            <a:r>
              <a:rPr lang="en-IN" dirty="0" err="1"/>
              <a:t>plt</a:t>
            </a:r>
            <a:endParaRPr lang="en-IN" dirty="0"/>
          </a:p>
          <a:p>
            <a:pPr marL="0" indent="0">
              <a:buNone/>
            </a:pPr>
            <a:r>
              <a:rPr lang="en-IN" dirty="0" err="1"/>
              <a:t>df</a:t>
            </a:r>
            <a:r>
              <a:rPr lang="en-IN" dirty="0"/>
              <a:t> = </a:t>
            </a:r>
            <a:r>
              <a:rPr lang="en-IN" dirty="0" err="1"/>
              <a:t>seaborn.load_dataset</a:t>
            </a:r>
            <a:r>
              <a:rPr lang="en-IN" dirty="0"/>
              <a:t>('tips')</a:t>
            </a:r>
          </a:p>
          <a:p>
            <a:pPr marL="0" indent="0">
              <a:buNone/>
            </a:pPr>
            <a:r>
              <a:rPr lang="en-IN" dirty="0" err="1"/>
              <a:t>seaborn.pairplot</a:t>
            </a:r>
            <a:r>
              <a:rPr lang="en-IN" dirty="0"/>
              <a:t>(</a:t>
            </a:r>
            <a:r>
              <a:rPr lang="en-IN" dirty="0" err="1"/>
              <a:t>df</a:t>
            </a:r>
            <a:r>
              <a:rPr lang="en-IN" dirty="0"/>
              <a:t>[['</a:t>
            </a:r>
            <a:r>
              <a:rPr lang="en-IN" dirty="0" err="1"/>
              <a:t>total_bill</a:t>
            </a:r>
            <a:r>
              <a:rPr lang="en-IN" dirty="0"/>
              <a:t>', 'tip', 'size']])</a:t>
            </a:r>
          </a:p>
          <a:p>
            <a:pPr marL="0" indent="0">
              <a:buNone/>
            </a:pPr>
            <a:r>
              <a:rPr lang="en-IN" dirty="0" err="1"/>
              <a:t>plt.show</a:t>
            </a:r>
            <a:r>
              <a:rPr lang="en-IN" dirty="0"/>
              <a:t>()</a:t>
            </a:r>
          </a:p>
        </p:txBody>
      </p:sp>
      <p:pic>
        <p:nvPicPr>
          <p:cNvPr id="9" name="Picture 8">
            <a:extLst>
              <a:ext uri="{FF2B5EF4-FFF2-40B4-BE49-F238E27FC236}">
                <a16:creationId xmlns:a16="http://schemas.microsoft.com/office/drawing/2014/main" id="{13A59C5D-445E-5F33-0861-D151C1B81E15}"/>
              </a:ext>
            </a:extLst>
          </p:cNvPr>
          <p:cNvPicPr>
            <a:picLocks noChangeAspect="1"/>
          </p:cNvPicPr>
          <p:nvPr/>
        </p:nvPicPr>
        <p:blipFill>
          <a:blip r:embed="rId3"/>
          <a:stretch>
            <a:fillRect/>
          </a:stretch>
        </p:blipFill>
        <p:spPr>
          <a:xfrm>
            <a:off x="5617302" y="1981199"/>
            <a:ext cx="6574698" cy="2695575"/>
          </a:xfrm>
          <a:prstGeom prst="rect">
            <a:avLst/>
          </a:prstGeom>
        </p:spPr>
      </p:pic>
    </p:spTree>
    <p:extLst>
      <p:ext uri="{BB962C8B-B14F-4D97-AF65-F5344CB8AC3E}">
        <p14:creationId xmlns:p14="http://schemas.microsoft.com/office/powerpoint/2010/main" val="167372138"/>
      </p:ext>
    </p:extLst>
  </p:cSld>
  <p:clrMapOvr>
    <a:overrideClrMapping bg1="lt1" tx1="dk1" bg2="lt2" tx2="dk2" accent1="accent1" accent2="accent2" accent3="accent3" accent4="accent4" accent5="accent5" accent6="accent6" hlink="hlink" folHlink="folHlink"/>
  </p:clrMapOvr>
</p:sld>
</file>

<file path=ppt/slides/slide19.xml><?xml version="1.0" encoding="utf-8"?>
<p:sld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401BE5E-7188-45A1-B12B-FF4D854C7C74}"/>
              </a:ext>
            </a:extLst>
          </p:cNvPr>
          <p:cNvSpPr>
            <a:spLocks noGrp="1"/>
          </p:cNvSpPr>
          <p:nvPr>
            <p:ph idx="1"/>
          </p:nvPr>
        </p:nvSpPr>
        <p:spPr>
          <a:xfrm>
            <a:off x="838200" y="223934"/>
            <a:ext cx="10515600" cy="6634065"/>
          </a:xfrm>
        </p:spPr>
        <p:txBody>
          <a:bodyPr>
            <a:normAutofit/>
          </a:bodyPr>
          <a:lstStyle/>
          <a:p>
            <a:r>
              <a:rPr lang="en-US" b="1" i="0" dirty="0">
                <a:solidFill>
                  <a:srgbClr val="273239"/>
                </a:solidFill>
                <a:effectLst/>
                <a:latin typeface="Source Sans 3"/>
              </a:rPr>
              <a:t>KDE Plot Visualization with Pandas and Seaborn</a:t>
            </a:r>
          </a:p>
          <a:p>
            <a:pPr marL="0" indent="0" algn="l" rtl="0" fontAlgn="base">
              <a:buNone/>
            </a:pPr>
            <a:r>
              <a:rPr lang="en-US" b="0" i="0" dirty="0">
                <a:solidFill>
                  <a:srgbClr val="273239"/>
                </a:solidFill>
                <a:effectLst/>
                <a:latin typeface="Nunito" pitchFamily="2" charset="0"/>
              </a:rPr>
              <a:t>KDE Plot described as </a:t>
            </a:r>
            <a:r>
              <a:rPr lang="en-US" b="1" i="0" dirty="0">
                <a:solidFill>
                  <a:srgbClr val="273239"/>
                </a:solidFill>
                <a:effectLst/>
                <a:latin typeface="Nunito" pitchFamily="2" charset="0"/>
              </a:rPr>
              <a:t>Kernel Density Estimate </a:t>
            </a:r>
            <a:r>
              <a:rPr lang="en-US" b="0" i="0" dirty="0">
                <a:solidFill>
                  <a:srgbClr val="273239"/>
                </a:solidFill>
                <a:effectLst/>
                <a:latin typeface="Nunito" pitchFamily="2" charset="0"/>
              </a:rPr>
              <a:t>is used for visualizing the Probability  Density of a continuous variable. It depicts the probability density at different values in a continuous variable. We can also plot a single graph for multiple samples which helps in more efficient data visualization. In this article, we will be using Iris Dataset and KDE Plot to visualize the insights of the dataset.</a:t>
            </a:r>
          </a:p>
          <a:p>
            <a:r>
              <a:rPr lang="en-IN" b="1" i="1" dirty="0">
                <a:solidFill>
                  <a:srgbClr val="273239"/>
                </a:solidFill>
                <a:effectLst/>
                <a:latin typeface="Nunito" pitchFamily="2" charset="0"/>
              </a:rPr>
              <a:t>Syntax: </a:t>
            </a:r>
          </a:p>
          <a:p>
            <a:r>
              <a:rPr lang="en-IN" b="0" i="1" dirty="0" err="1">
                <a:solidFill>
                  <a:srgbClr val="273239"/>
                </a:solidFill>
                <a:effectLst/>
                <a:latin typeface="Nunito" pitchFamily="2" charset="0"/>
              </a:rPr>
              <a:t>seaborn.kdeplot</a:t>
            </a:r>
            <a:r>
              <a:rPr lang="en-IN" b="0" i="1" dirty="0">
                <a:solidFill>
                  <a:srgbClr val="273239"/>
                </a:solidFill>
                <a:effectLst/>
                <a:latin typeface="Nunito" pitchFamily="2" charset="0"/>
              </a:rPr>
              <a:t>(x=None, *, y=None, vertical=False, palette=None, **</a:t>
            </a:r>
            <a:r>
              <a:rPr lang="en-IN" b="0" i="1" dirty="0" err="1">
                <a:solidFill>
                  <a:srgbClr val="273239"/>
                </a:solidFill>
                <a:effectLst/>
                <a:latin typeface="Nunito" pitchFamily="2" charset="0"/>
              </a:rPr>
              <a:t>kwargs</a:t>
            </a:r>
            <a:r>
              <a:rPr lang="en-IN" b="0" i="1" dirty="0">
                <a:solidFill>
                  <a:srgbClr val="273239"/>
                </a:solidFill>
                <a:effectLst/>
                <a:latin typeface="Nunito" pitchFamily="2" charset="0"/>
              </a:rPr>
              <a:t>)</a:t>
            </a:r>
          </a:p>
          <a:p>
            <a:pPr algn="l" fontAlgn="base"/>
            <a:r>
              <a:rPr lang="en-US" b="1" i="1" dirty="0">
                <a:solidFill>
                  <a:srgbClr val="273239"/>
                </a:solidFill>
                <a:effectLst/>
                <a:latin typeface="Nunito" pitchFamily="2" charset="0"/>
              </a:rPr>
              <a:t>x, y :</a:t>
            </a:r>
            <a:r>
              <a:rPr lang="en-US" b="0" i="1" dirty="0">
                <a:solidFill>
                  <a:srgbClr val="273239"/>
                </a:solidFill>
                <a:effectLst/>
                <a:latin typeface="Nunito" pitchFamily="2" charset="0"/>
              </a:rPr>
              <a:t> vectors or keys in data</a:t>
            </a:r>
          </a:p>
          <a:p>
            <a:pPr algn="l" fontAlgn="base"/>
            <a:r>
              <a:rPr lang="en-US" b="1" i="1" dirty="0">
                <a:solidFill>
                  <a:srgbClr val="273239"/>
                </a:solidFill>
                <a:effectLst/>
                <a:latin typeface="Nunito" pitchFamily="2" charset="0"/>
              </a:rPr>
              <a:t>vertical :</a:t>
            </a:r>
            <a:r>
              <a:rPr lang="en-US" b="0" i="1" dirty="0">
                <a:solidFill>
                  <a:srgbClr val="273239"/>
                </a:solidFill>
                <a:effectLst/>
                <a:latin typeface="Nunito" pitchFamily="2" charset="0"/>
              </a:rPr>
              <a:t> </a:t>
            </a:r>
            <a:r>
              <a:rPr lang="en-US" b="0" i="1" dirty="0" err="1">
                <a:solidFill>
                  <a:srgbClr val="273239"/>
                </a:solidFill>
                <a:effectLst/>
                <a:latin typeface="Nunito" pitchFamily="2" charset="0"/>
              </a:rPr>
              <a:t>boolean</a:t>
            </a:r>
            <a:r>
              <a:rPr lang="en-US" b="0" i="1" dirty="0">
                <a:solidFill>
                  <a:srgbClr val="273239"/>
                </a:solidFill>
                <a:effectLst/>
                <a:latin typeface="Nunito" pitchFamily="2" charset="0"/>
              </a:rPr>
              <a:t> (True or False)</a:t>
            </a:r>
          </a:p>
          <a:p>
            <a:pPr algn="l" fontAlgn="base"/>
            <a:r>
              <a:rPr lang="en-US" b="1" i="1" dirty="0">
                <a:solidFill>
                  <a:srgbClr val="273239"/>
                </a:solidFill>
                <a:effectLst/>
                <a:latin typeface="Nunito" pitchFamily="2" charset="0"/>
              </a:rPr>
              <a:t>data :</a:t>
            </a:r>
            <a:r>
              <a:rPr lang="en-US" b="0" i="1" dirty="0">
                <a:solidFill>
                  <a:srgbClr val="273239"/>
                </a:solidFill>
                <a:effectLst/>
                <a:latin typeface="Nunito" pitchFamily="2" charset="0"/>
              </a:rPr>
              <a:t> </a:t>
            </a:r>
            <a:r>
              <a:rPr lang="en-US" b="0" i="1" dirty="0" err="1">
                <a:solidFill>
                  <a:srgbClr val="273239"/>
                </a:solidFill>
                <a:effectLst/>
                <a:latin typeface="Nunito" pitchFamily="2" charset="0"/>
              </a:rPr>
              <a:t>pandas.DataFrame</a:t>
            </a:r>
            <a:r>
              <a:rPr lang="en-US" b="0" i="1" dirty="0">
                <a:solidFill>
                  <a:srgbClr val="273239"/>
                </a:solidFill>
                <a:effectLst/>
                <a:latin typeface="Nunito" pitchFamily="2" charset="0"/>
              </a:rPr>
              <a:t>, </a:t>
            </a:r>
            <a:r>
              <a:rPr lang="en-US" b="0" i="1" dirty="0" err="1">
                <a:solidFill>
                  <a:srgbClr val="273239"/>
                </a:solidFill>
                <a:effectLst/>
                <a:latin typeface="Nunito" pitchFamily="2" charset="0"/>
              </a:rPr>
              <a:t>numpy.ndarray</a:t>
            </a:r>
            <a:r>
              <a:rPr lang="en-US" b="0" i="1" dirty="0">
                <a:solidFill>
                  <a:srgbClr val="273239"/>
                </a:solidFill>
                <a:effectLst/>
                <a:latin typeface="Nunito" pitchFamily="2" charset="0"/>
              </a:rPr>
              <a:t>, mapping, or sequence</a:t>
            </a:r>
          </a:p>
          <a:p>
            <a:endParaRPr lang="en-US" b="1" i="0" dirty="0">
              <a:solidFill>
                <a:srgbClr val="273239"/>
              </a:solidFill>
              <a:effectLst/>
              <a:latin typeface="Source Sans 3"/>
            </a:endParaRPr>
          </a:p>
          <a:p>
            <a:endParaRPr lang="en-IN" dirty="0"/>
          </a:p>
        </p:txBody>
      </p:sp>
    </p:spTree>
    <p:extLst>
      <p:ext uri="{BB962C8B-B14F-4D97-AF65-F5344CB8AC3E}">
        <p14:creationId xmlns:p14="http://schemas.microsoft.com/office/powerpoint/2010/main" val="116492513"/>
      </p:ext>
    </p:extLst>
  </p:cSld>
  <p:clrMapOvr>
    <a:overrideClrMapping bg1="lt1" tx1="dk1" bg2="lt2" tx2="dk2" accent1="accent1" accent2="accent2" accent3="accent3" accent4="accent4" accent5="accent5" accent6="accent6" hlink="hlink" folHlink="folHlink"/>
  </p:clrMapOvr>
</p:sld>
</file>

<file path=ppt/slides/slide20.xml><?xml version="1.0" encoding="utf-8"?>
<p:sld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4" name="Rectangle 2">
            <a:extLst>
              <a:ext uri="{FF2B5EF4-FFF2-40B4-BE49-F238E27FC236}">
                <a16:creationId xmlns:a16="http://schemas.microsoft.com/office/drawing/2014/main" id="{DDCE2B85-71BA-0662-7DE8-407AFF4098CD}"/>
              </a:ext>
            </a:extLst>
          </p:cNvPr>
          <p:cNvSpPr>
            <a:spLocks noGrp="1" noChangeArrowheads="1"/>
          </p:cNvSpPr>
          <p:nvPr>
            <p:ph idx="1"/>
          </p:nvPr>
        </p:nvSpPr>
        <p:spPr bwMode="auto">
          <a:xfrm>
            <a:off x="758666" y="1107808"/>
            <a:ext cx="4833257" cy="28161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rgbClr val="000000"/>
                </a:solidFill>
                <a:effectLst/>
                <a:latin typeface="Consolas" panose="020B0609020204030204" pitchFamily="49" charset="0"/>
              </a:rPr>
              <a:t>x</a:t>
            </a:r>
            <a:r>
              <a:rPr kumimoji="0" lang="en-US" altLang="en-US" sz="2000" b="1" i="0" u="none" strike="noStrike" cap="none" normalizeH="0" baseline="0" dirty="0">
                <a:ln>
                  <a:noFill/>
                </a:ln>
                <a:solidFill>
                  <a:srgbClr val="006699"/>
                </a:solidFill>
                <a:effectLst/>
                <a:latin typeface="Consolas" panose="020B0609020204030204" pitchFamily="49" charset="0"/>
              </a:rPr>
              <a:t>=</a:t>
            </a:r>
            <a:r>
              <a:rPr kumimoji="0" lang="en-US" altLang="en-US" sz="2000" b="0" i="0" u="none" strike="noStrike" cap="none" normalizeH="0" baseline="0" dirty="0">
                <a:ln>
                  <a:noFill/>
                </a:ln>
                <a:solidFill>
                  <a:srgbClr val="273239"/>
                </a:solidFill>
                <a:effectLst/>
                <a:latin typeface="Consolas" panose="020B0609020204030204" pitchFamily="49" charset="0"/>
              </a:rPr>
              <a:t> </a:t>
            </a:r>
            <a:r>
              <a:rPr kumimoji="0" lang="en-US" altLang="en-US" sz="2000" b="0" i="0" u="none" strike="noStrike" cap="none" normalizeH="0" baseline="0" dirty="0" err="1">
                <a:ln>
                  <a:noFill/>
                </a:ln>
                <a:solidFill>
                  <a:srgbClr val="000000"/>
                </a:solidFill>
                <a:effectLst/>
                <a:latin typeface="Consolas" panose="020B0609020204030204" pitchFamily="49" charset="0"/>
              </a:rPr>
              <a:t>np.random.randn</a:t>
            </a:r>
            <a:r>
              <a:rPr kumimoji="0" lang="en-US" altLang="en-US" sz="2000" b="0" i="0" u="none" strike="noStrike" cap="none" normalizeH="0" baseline="0" dirty="0">
                <a:ln>
                  <a:noFill/>
                </a:ln>
                <a:solidFill>
                  <a:srgbClr val="000000"/>
                </a:solidFill>
                <a:effectLst/>
                <a:latin typeface="Consolas" panose="020B0609020204030204" pitchFamily="49" charset="0"/>
              </a:rPr>
              <a:t>(</a:t>
            </a:r>
            <a:r>
              <a:rPr kumimoji="0" lang="en-US" altLang="en-US" sz="2000" b="0" i="0" u="none" strike="noStrike" cap="none" normalizeH="0" baseline="0" dirty="0">
                <a:ln>
                  <a:noFill/>
                </a:ln>
                <a:solidFill>
                  <a:srgbClr val="009900"/>
                </a:solidFill>
                <a:effectLst/>
                <a:latin typeface="Consolas" panose="020B0609020204030204" pitchFamily="49" charset="0"/>
              </a:rPr>
              <a:t>200</a:t>
            </a:r>
            <a:r>
              <a:rPr kumimoji="0" lang="en-US" altLang="en-US" sz="2000" b="0" i="0" u="none" strike="noStrike" cap="none" normalizeH="0" baseline="0" dirty="0">
                <a:ln>
                  <a:noFill/>
                </a:ln>
                <a:solidFill>
                  <a:srgbClr val="000000"/>
                </a:solidFill>
                <a:effectLst/>
                <a:latin typeface="Consolas" panose="020B0609020204030204" pitchFamily="49" charset="0"/>
              </a:rPr>
              <a:t>)</a:t>
            </a:r>
            <a:endParaRPr kumimoji="0" lang="en-US" altLang="en-US" sz="20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rgbClr val="000000"/>
                </a:solidFill>
                <a:effectLst/>
                <a:latin typeface="Consolas" panose="020B0609020204030204" pitchFamily="49" charset="0"/>
              </a:rPr>
              <a:t>y </a:t>
            </a:r>
            <a:r>
              <a:rPr kumimoji="0" lang="en-US" altLang="en-US" sz="2000" b="1" i="0" u="none" strike="noStrike" cap="none" normalizeH="0" baseline="0" dirty="0">
                <a:ln>
                  <a:noFill/>
                </a:ln>
                <a:solidFill>
                  <a:srgbClr val="006699"/>
                </a:solidFill>
                <a:effectLst/>
                <a:latin typeface="Consolas" panose="020B0609020204030204" pitchFamily="49" charset="0"/>
              </a:rPr>
              <a:t>=</a:t>
            </a:r>
            <a:r>
              <a:rPr kumimoji="0" lang="en-US" altLang="en-US" sz="2000" b="0" i="0" u="none" strike="noStrike" cap="none" normalizeH="0" baseline="0" dirty="0">
                <a:ln>
                  <a:noFill/>
                </a:ln>
                <a:solidFill>
                  <a:srgbClr val="273239"/>
                </a:solidFill>
                <a:effectLst/>
                <a:latin typeface="Consolas" panose="020B0609020204030204" pitchFamily="49" charset="0"/>
              </a:rPr>
              <a:t> </a:t>
            </a:r>
            <a:r>
              <a:rPr kumimoji="0" lang="en-US" altLang="en-US" sz="2000" b="0" i="0" u="none" strike="noStrike" cap="none" normalizeH="0" baseline="0" dirty="0" err="1">
                <a:ln>
                  <a:noFill/>
                </a:ln>
                <a:solidFill>
                  <a:srgbClr val="000000"/>
                </a:solidFill>
                <a:effectLst/>
                <a:latin typeface="Consolas" panose="020B0609020204030204" pitchFamily="49" charset="0"/>
              </a:rPr>
              <a:t>np.random.randn</a:t>
            </a:r>
            <a:r>
              <a:rPr kumimoji="0" lang="en-US" altLang="en-US" sz="2000" b="0" i="0" u="none" strike="noStrike" cap="none" normalizeH="0" baseline="0" dirty="0">
                <a:ln>
                  <a:noFill/>
                </a:ln>
                <a:solidFill>
                  <a:srgbClr val="000000"/>
                </a:solidFill>
                <a:effectLst/>
                <a:latin typeface="Consolas" panose="020B0609020204030204" pitchFamily="49" charset="0"/>
              </a:rPr>
              <a:t>(</a:t>
            </a:r>
            <a:r>
              <a:rPr kumimoji="0" lang="en-US" altLang="en-US" sz="2000" b="0" i="0" u="none" strike="noStrike" cap="none" normalizeH="0" baseline="0" dirty="0">
                <a:ln>
                  <a:noFill/>
                </a:ln>
                <a:solidFill>
                  <a:srgbClr val="009900"/>
                </a:solidFill>
                <a:effectLst/>
                <a:latin typeface="Consolas" panose="020B0609020204030204" pitchFamily="49" charset="0"/>
              </a:rPr>
              <a:t>200</a:t>
            </a:r>
            <a:r>
              <a:rPr kumimoji="0" lang="en-US" altLang="en-US" sz="2000" b="0" i="0" u="none" strike="noStrike" cap="none" normalizeH="0" baseline="0" dirty="0">
                <a:ln>
                  <a:noFill/>
                </a:ln>
                <a:solidFill>
                  <a:srgbClr val="000000"/>
                </a:solidFill>
                <a:effectLst/>
                <a:latin typeface="Consolas" panose="020B0609020204030204" pitchFamily="49" charset="0"/>
              </a:rPr>
              <a:t>)</a:t>
            </a:r>
            <a:endParaRPr kumimoji="0" lang="en-US" altLang="en-US" sz="20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rgbClr val="273239"/>
                </a:solidFill>
                <a:effectLst/>
                <a:latin typeface="Consolas" panose="020B0609020204030204" pitchFamily="49" charset="0"/>
              </a:rPr>
              <a:t> </a:t>
            </a:r>
            <a:endParaRPr kumimoji="0" lang="en-US" altLang="en-US" sz="20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rgbClr val="008200"/>
                </a:solidFill>
                <a:effectLst/>
                <a:latin typeface="Consolas" panose="020B0609020204030204" pitchFamily="49" charset="0"/>
              </a:rPr>
              <a:t># </a:t>
            </a:r>
            <a:r>
              <a:rPr kumimoji="0" lang="en-US" altLang="en-US" sz="2000" b="0" i="0" u="none" strike="noStrike" cap="none" normalizeH="0" baseline="0" dirty="0" err="1">
                <a:ln>
                  <a:noFill/>
                </a:ln>
                <a:solidFill>
                  <a:srgbClr val="008200"/>
                </a:solidFill>
                <a:effectLst/>
                <a:latin typeface="Consolas" panose="020B0609020204030204" pitchFamily="49" charset="0"/>
              </a:rPr>
              <a:t>Kde</a:t>
            </a:r>
            <a:r>
              <a:rPr kumimoji="0" lang="en-US" altLang="en-US" sz="2000" b="0" i="0" u="none" strike="noStrike" cap="none" normalizeH="0" baseline="0" dirty="0">
                <a:ln>
                  <a:noFill/>
                </a:ln>
                <a:solidFill>
                  <a:srgbClr val="008200"/>
                </a:solidFill>
                <a:effectLst/>
                <a:latin typeface="Consolas" panose="020B0609020204030204" pitchFamily="49" charset="0"/>
              </a:rPr>
              <a:t> for x var</a:t>
            </a:r>
            <a:endParaRPr kumimoji="0" lang="en-US" altLang="en-US" sz="20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err="1">
                <a:ln>
                  <a:noFill/>
                </a:ln>
                <a:solidFill>
                  <a:srgbClr val="000000"/>
                </a:solidFill>
                <a:effectLst/>
                <a:latin typeface="Consolas" panose="020B0609020204030204" pitchFamily="49" charset="0"/>
              </a:rPr>
              <a:t>sns.kdeplot</a:t>
            </a:r>
            <a:r>
              <a:rPr kumimoji="0" lang="en-US" altLang="en-US" sz="2000" b="0" i="0" u="none" strike="noStrike" cap="none" normalizeH="0" baseline="0" dirty="0">
                <a:ln>
                  <a:noFill/>
                </a:ln>
                <a:solidFill>
                  <a:srgbClr val="000000"/>
                </a:solidFill>
                <a:effectLst/>
                <a:latin typeface="Consolas" panose="020B0609020204030204" pitchFamily="49" charset="0"/>
              </a:rPr>
              <a:t>(x)</a:t>
            </a:r>
          </a:p>
          <a:p>
            <a:pPr algn="l" fontAlgn="base"/>
            <a:r>
              <a:rPr lang="en-US" sz="1400" b="1" i="0" dirty="0">
                <a:solidFill>
                  <a:srgbClr val="273239"/>
                </a:solidFill>
                <a:effectLst/>
                <a:latin typeface="Nunito" pitchFamily="2" charset="0"/>
              </a:rPr>
              <a:t>Use Shade to fill the area covered by curve:  </a:t>
            </a:r>
          </a:p>
          <a:p>
            <a:pPr algn="l" fontAlgn="base"/>
            <a:r>
              <a:rPr lang="en-US" sz="1400" b="0" i="0" dirty="0">
                <a:solidFill>
                  <a:srgbClr val="273239"/>
                </a:solidFill>
                <a:effectLst/>
                <a:latin typeface="Nunito" pitchFamily="2" charset="0"/>
              </a:rPr>
              <a:t>We can highlight the plot using shade to the area covered by the curve. If True, shadow processing is performed in the area below the </a:t>
            </a:r>
            <a:r>
              <a:rPr lang="en-US" sz="1400" b="0" i="0" dirty="0" err="1">
                <a:solidFill>
                  <a:srgbClr val="273239"/>
                </a:solidFill>
                <a:effectLst/>
                <a:latin typeface="Nunito" pitchFamily="2" charset="0"/>
              </a:rPr>
              <a:t>kde</a:t>
            </a:r>
            <a:r>
              <a:rPr lang="en-US" sz="1400" b="0" i="0" dirty="0">
                <a:solidFill>
                  <a:srgbClr val="273239"/>
                </a:solidFill>
                <a:effectLst/>
                <a:latin typeface="Nunito" pitchFamily="2" charset="0"/>
              </a:rPr>
              <a:t> curve, and color controls the color of the curve and shadow</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000" b="0" i="0" u="none" strike="noStrike" cap="none" normalizeH="0" baseline="0" dirty="0">
              <a:ln>
                <a:noFill/>
              </a:ln>
              <a:solidFill>
                <a:schemeClr val="tx1"/>
              </a:solidFill>
              <a:effectLst/>
            </a:endParaRPr>
          </a:p>
        </p:txBody>
      </p:sp>
      <p:pic>
        <p:nvPicPr>
          <p:cNvPr id="6" name="Picture 5">
            <a:extLst>
              <a:ext uri="{FF2B5EF4-FFF2-40B4-BE49-F238E27FC236}">
                <a16:creationId xmlns:a16="http://schemas.microsoft.com/office/drawing/2014/main" id="{9DEC1465-5AB2-26D2-91CE-9E8BA4FE7890}"/>
              </a:ext>
            </a:extLst>
          </p:cNvPr>
          <p:cNvPicPr>
            <a:picLocks noChangeAspect="1"/>
          </p:cNvPicPr>
          <p:nvPr/>
        </p:nvPicPr>
        <p:blipFill>
          <a:blip r:embed="rId3"/>
          <a:stretch>
            <a:fillRect/>
          </a:stretch>
        </p:blipFill>
        <p:spPr>
          <a:xfrm>
            <a:off x="5596842" y="412613"/>
            <a:ext cx="6181725" cy="3838575"/>
          </a:xfrm>
          <a:prstGeom prst="rect">
            <a:avLst/>
          </a:prstGeom>
        </p:spPr>
      </p:pic>
      <p:sp>
        <p:nvSpPr>
          <p:cNvPr id="7" name="Rectangle 3">
            <a:extLst>
              <a:ext uri="{FF2B5EF4-FFF2-40B4-BE49-F238E27FC236}">
                <a16:creationId xmlns:a16="http://schemas.microsoft.com/office/drawing/2014/main" id="{D4F7F0D7-9978-238A-586D-0773A3396645}"/>
              </a:ext>
            </a:extLst>
          </p:cNvPr>
          <p:cNvSpPr>
            <a:spLocks noChangeArrowheads="1"/>
          </p:cNvSpPr>
          <p:nvPr/>
        </p:nvSpPr>
        <p:spPr bwMode="auto">
          <a:xfrm>
            <a:off x="808205" y="4112689"/>
            <a:ext cx="3698481"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a:ln>
                  <a:noFill/>
                </a:ln>
                <a:solidFill>
                  <a:srgbClr val="000000"/>
                </a:solidFill>
                <a:effectLst/>
                <a:latin typeface="Consolas" panose="020B0609020204030204" pitchFamily="49" charset="0"/>
              </a:rPr>
              <a:t>sns.kdeplot(x, shade </a:t>
            </a:r>
            <a:r>
              <a:rPr kumimoji="0" lang="en-US" altLang="en-US" b="1" i="0" u="none" strike="noStrike" cap="none" normalizeH="0" baseline="0">
                <a:ln>
                  <a:noFill/>
                </a:ln>
                <a:solidFill>
                  <a:srgbClr val="006699"/>
                </a:solidFill>
                <a:effectLst/>
                <a:latin typeface="Consolas" panose="020B0609020204030204" pitchFamily="49" charset="0"/>
              </a:rPr>
              <a:t>=</a:t>
            </a:r>
            <a:r>
              <a:rPr kumimoji="0" lang="en-US" altLang="en-US" b="0" i="0" u="none" strike="noStrike" cap="none" normalizeH="0" baseline="0">
                <a:ln>
                  <a:noFill/>
                </a:ln>
                <a:solidFill>
                  <a:srgbClr val="273239"/>
                </a:solidFill>
                <a:effectLst/>
                <a:latin typeface="Consolas" panose="020B0609020204030204" pitchFamily="49" charset="0"/>
              </a:rPr>
              <a:t> </a:t>
            </a:r>
            <a:r>
              <a:rPr kumimoji="0" lang="en-US" altLang="en-US" b="0" i="0" u="none" strike="noStrike" cap="none" normalizeH="0" baseline="0">
                <a:ln>
                  <a:noFill/>
                </a:ln>
                <a:solidFill>
                  <a:srgbClr val="808080"/>
                </a:solidFill>
                <a:effectLst/>
                <a:latin typeface="Consolas" panose="020B0609020204030204" pitchFamily="49" charset="0"/>
              </a:rPr>
              <a:t>True</a:t>
            </a:r>
            <a:r>
              <a:rPr kumimoji="0" lang="en-US" altLang="en-US" b="0" i="0" u="none" strike="noStrike" cap="none" normalizeH="0" baseline="0">
                <a:ln>
                  <a:noFill/>
                </a:ln>
                <a:solidFill>
                  <a:srgbClr val="000000"/>
                </a:solidFill>
                <a:effectLst/>
                <a:latin typeface="Consolas" panose="020B0609020204030204" pitchFamily="49" charset="0"/>
              </a:rPr>
              <a:t>)</a:t>
            </a:r>
            <a:r>
              <a:rPr kumimoji="0" lang="en-US" altLang="en-US" b="0" i="0" u="none" strike="noStrike" cap="none" normalizeH="0" baseline="0">
                <a:ln>
                  <a:noFill/>
                </a:ln>
                <a:solidFill>
                  <a:schemeClr val="tx1"/>
                </a:solidFill>
                <a:effectLst/>
              </a:rPr>
              <a:t> </a:t>
            </a:r>
          </a:p>
        </p:txBody>
      </p:sp>
      <p:pic>
        <p:nvPicPr>
          <p:cNvPr id="9" name="Picture 8">
            <a:extLst>
              <a:ext uri="{FF2B5EF4-FFF2-40B4-BE49-F238E27FC236}">
                <a16:creationId xmlns:a16="http://schemas.microsoft.com/office/drawing/2014/main" id="{E725FA3E-F573-16A1-EBE1-34893BBB9DB2}"/>
              </a:ext>
            </a:extLst>
          </p:cNvPr>
          <p:cNvPicPr>
            <a:picLocks noChangeAspect="1"/>
          </p:cNvPicPr>
          <p:nvPr/>
        </p:nvPicPr>
        <p:blipFill>
          <a:blip r:embed="rId4"/>
          <a:stretch>
            <a:fillRect/>
          </a:stretch>
        </p:blipFill>
        <p:spPr>
          <a:xfrm>
            <a:off x="5591923" y="4112688"/>
            <a:ext cx="6191563" cy="2745311"/>
          </a:xfrm>
          <a:prstGeom prst="rect">
            <a:avLst/>
          </a:prstGeom>
        </p:spPr>
      </p:pic>
    </p:spTree>
    <p:extLst>
      <p:ext uri="{BB962C8B-B14F-4D97-AF65-F5344CB8AC3E}">
        <p14:creationId xmlns:p14="http://schemas.microsoft.com/office/powerpoint/2010/main" val="3927722109"/>
      </p:ext>
    </p:extLst>
  </p:cSld>
  <p:clrMapOvr>
    <a:overrideClrMapping bg1="lt1" tx1="dk1" bg2="lt2" tx2="dk2" accent1="accent1" accent2="accent2" accent3="accent3" accent4="accent4" accent5="accent5" accent6="accent6" hlink="hlink" folHlink="folHlink"/>
  </p:clrMapOvr>
</p:sld>
</file>

<file path=ppt/slides/slide21.xml><?xml version="1.0" encoding="utf-8"?>
<p:sld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4" name="Rectangle 2">
            <a:extLst>
              <a:ext uri="{FF2B5EF4-FFF2-40B4-BE49-F238E27FC236}">
                <a16:creationId xmlns:a16="http://schemas.microsoft.com/office/drawing/2014/main" id="{94EF3735-0AE0-3345-6A5F-6E20384402B0}"/>
              </a:ext>
            </a:extLst>
          </p:cNvPr>
          <p:cNvSpPr>
            <a:spLocks noGrp="1" noChangeArrowheads="1"/>
          </p:cNvSpPr>
          <p:nvPr>
            <p:ph idx="1"/>
          </p:nvPr>
        </p:nvSpPr>
        <p:spPr bwMode="auto">
          <a:xfrm>
            <a:off x="743573" y="522922"/>
            <a:ext cx="5352427"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err="1">
                <a:ln>
                  <a:noFill/>
                </a:ln>
                <a:solidFill>
                  <a:srgbClr val="000000"/>
                </a:solidFill>
                <a:effectLst/>
                <a:latin typeface="Consolas" panose="020B0609020204030204" pitchFamily="49" charset="0"/>
              </a:rPr>
              <a:t>sns.kdeplot</a:t>
            </a:r>
            <a:r>
              <a:rPr kumimoji="0" lang="en-US" altLang="en-US" sz="2400" b="0" i="0" u="none" strike="noStrike" cap="none" normalizeH="0" baseline="0" dirty="0">
                <a:ln>
                  <a:noFill/>
                </a:ln>
                <a:solidFill>
                  <a:srgbClr val="000000"/>
                </a:solidFill>
                <a:effectLst/>
                <a:latin typeface="Consolas" panose="020B0609020204030204" pitchFamily="49" charset="0"/>
              </a:rPr>
              <a:t>(x, vertical </a:t>
            </a:r>
            <a:r>
              <a:rPr kumimoji="0" lang="en-US" altLang="en-US" sz="2400" b="1" i="0" u="none" strike="noStrike" cap="none" normalizeH="0" baseline="0" dirty="0">
                <a:ln>
                  <a:noFill/>
                </a:ln>
                <a:solidFill>
                  <a:srgbClr val="006699"/>
                </a:solidFill>
                <a:effectLst/>
                <a:latin typeface="Consolas" panose="020B0609020204030204" pitchFamily="49" charset="0"/>
              </a:rPr>
              <a:t>=</a:t>
            </a:r>
            <a:r>
              <a:rPr kumimoji="0" lang="en-US" altLang="en-US" sz="2400" b="0" i="0" u="none" strike="noStrike" cap="none" normalizeH="0" baseline="0" dirty="0">
                <a:ln>
                  <a:noFill/>
                </a:ln>
                <a:solidFill>
                  <a:srgbClr val="273239"/>
                </a:solidFill>
                <a:effectLst/>
                <a:latin typeface="Consolas" panose="020B0609020204030204" pitchFamily="49" charset="0"/>
              </a:rPr>
              <a:t> </a:t>
            </a:r>
            <a:r>
              <a:rPr kumimoji="0" lang="en-US" altLang="en-US" sz="2400" b="0" i="0" u="none" strike="noStrike" cap="none" normalizeH="0" baseline="0" dirty="0">
                <a:ln>
                  <a:noFill/>
                </a:ln>
                <a:solidFill>
                  <a:srgbClr val="808080"/>
                </a:solidFill>
                <a:effectLst/>
                <a:latin typeface="Consolas" panose="020B0609020204030204" pitchFamily="49" charset="0"/>
              </a:rPr>
              <a:t>True</a:t>
            </a:r>
            <a:r>
              <a:rPr kumimoji="0" lang="en-US" altLang="en-US" sz="2400" b="0" i="0" u="none" strike="noStrike" cap="none" normalizeH="0" baseline="0" dirty="0">
                <a:ln>
                  <a:noFill/>
                </a:ln>
                <a:solidFill>
                  <a:srgbClr val="000000"/>
                </a:solidFill>
                <a:effectLst/>
                <a:latin typeface="Consolas" panose="020B0609020204030204" pitchFamily="49" charset="0"/>
              </a:rPr>
              <a:t>)</a:t>
            </a:r>
            <a:r>
              <a:rPr kumimoji="0" lang="en-US" altLang="en-US" sz="2400" b="0" i="0" u="none" strike="noStrike" cap="none" normalizeH="0" baseline="0" dirty="0">
                <a:ln>
                  <a:noFill/>
                </a:ln>
                <a:solidFill>
                  <a:schemeClr val="tx1"/>
                </a:solidFill>
                <a:effectLst/>
              </a:rPr>
              <a:t> </a:t>
            </a:r>
            <a:endParaRPr kumimoji="0" lang="en-US" altLang="en-US" sz="2400" b="0" i="0" u="none" strike="noStrike" cap="none" normalizeH="0" baseline="0" dirty="0">
              <a:ln>
                <a:noFill/>
              </a:ln>
              <a:solidFill>
                <a:schemeClr val="tx1"/>
              </a:solidFill>
              <a:effectLst/>
              <a:latin typeface="Arial" panose="020B0604020202020204" pitchFamily="34" charset="0"/>
            </a:endParaRPr>
          </a:p>
        </p:txBody>
      </p:sp>
      <p:pic>
        <p:nvPicPr>
          <p:cNvPr id="6" name="Picture 5">
            <a:extLst>
              <a:ext uri="{FF2B5EF4-FFF2-40B4-BE49-F238E27FC236}">
                <a16:creationId xmlns:a16="http://schemas.microsoft.com/office/drawing/2014/main" id="{FE880FA3-71C7-F6BF-6C0F-42C8EEDD5CE4}"/>
              </a:ext>
            </a:extLst>
          </p:cNvPr>
          <p:cNvPicPr>
            <a:picLocks noChangeAspect="1"/>
          </p:cNvPicPr>
          <p:nvPr/>
        </p:nvPicPr>
        <p:blipFill>
          <a:blip r:embed="rId3"/>
          <a:stretch>
            <a:fillRect/>
          </a:stretch>
        </p:blipFill>
        <p:spPr>
          <a:xfrm>
            <a:off x="6538450" y="275303"/>
            <a:ext cx="5122608" cy="3810000"/>
          </a:xfrm>
          <a:prstGeom prst="rect">
            <a:avLst/>
          </a:prstGeom>
        </p:spPr>
      </p:pic>
      <p:sp>
        <p:nvSpPr>
          <p:cNvPr id="8" name="Rectangle 3">
            <a:extLst>
              <a:ext uri="{FF2B5EF4-FFF2-40B4-BE49-F238E27FC236}">
                <a16:creationId xmlns:a16="http://schemas.microsoft.com/office/drawing/2014/main" id="{0E43FB4B-41DC-29DF-1984-9FE1F202CBB1}"/>
              </a:ext>
            </a:extLst>
          </p:cNvPr>
          <p:cNvSpPr>
            <a:spLocks noChangeArrowheads="1"/>
          </p:cNvSpPr>
          <p:nvPr/>
        </p:nvSpPr>
        <p:spPr bwMode="auto">
          <a:xfrm>
            <a:off x="609600" y="1455173"/>
            <a:ext cx="5279923" cy="234419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12696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1" i="0" u="none" strike="noStrike" cap="none" normalizeH="0" baseline="0" dirty="0">
                <a:ln>
                  <a:noFill/>
                </a:ln>
                <a:solidFill>
                  <a:srgbClr val="273239"/>
                </a:solidFill>
                <a:effectLst/>
                <a:latin typeface="Nunito" pitchFamily="2" charset="0"/>
              </a:rPr>
              <a:t>Bivariate </a:t>
            </a:r>
            <a:r>
              <a:rPr kumimoji="0" lang="en-US" altLang="en-US" sz="2400" b="1" i="0" u="none" strike="noStrike" cap="none" normalizeH="0" baseline="0" dirty="0" err="1">
                <a:ln>
                  <a:noFill/>
                </a:ln>
                <a:solidFill>
                  <a:srgbClr val="273239"/>
                </a:solidFill>
                <a:effectLst/>
                <a:latin typeface="Nunito" pitchFamily="2" charset="0"/>
              </a:rPr>
              <a:t>Kdeplot</a:t>
            </a:r>
            <a:r>
              <a:rPr kumimoji="0" lang="en-US" altLang="en-US" sz="2400" b="1" i="0" u="none" strike="noStrike" cap="none" normalizeH="0" baseline="0" dirty="0">
                <a:ln>
                  <a:noFill/>
                </a:ln>
                <a:solidFill>
                  <a:srgbClr val="273239"/>
                </a:solidFill>
                <a:effectLst/>
                <a:latin typeface="Nunito" pitchFamily="2" charset="0"/>
              </a:rPr>
              <a:t> for two variables: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a:ln>
                  <a:noFill/>
                </a:ln>
                <a:solidFill>
                  <a:srgbClr val="273239"/>
                </a:solidFill>
                <a:effectLst/>
                <a:latin typeface="Nunito" pitchFamily="2" charset="0"/>
              </a:rPr>
              <a:t>Simple pass the two variables into the </a:t>
            </a:r>
            <a:r>
              <a:rPr kumimoji="0" lang="en-US" altLang="en-US" sz="2400" b="0" i="0" u="none" strike="noStrike" cap="none" normalizeH="0" baseline="0" dirty="0" err="1">
                <a:ln>
                  <a:noFill/>
                </a:ln>
                <a:solidFill>
                  <a:srgbClr val="273239"/>
                </a:solidFill>
                <a:effectLst/>
                <a:latin typeface="Nunito" pitchFamily="2" charset="0"/>
              </a:rPr>
              <a:t>seaborn.kdeplot</a:t>
            </a:r>
            <a:r>
              <a:rPr kumimoji="0" lang="en-US" altLang="en-US" sz="2400" b="0" i="0" u="none" strike="noStrike" cap="none" normalizeH="0" baseline="0" dirty="0">
                <a:ln>
                  <a:noFill/>
                </a:ln>
                <a:solidFill>
                  <a:srgbClr val="273239"/>
                </a:solidFill>
                <a:effectLst/>
                <a:latin typeface="Nunito" pitchFamily="2" charset="0"/>
              </a:rPr>
              <a:t>() methods.</a:t>
            </a:r>
            <a:endParaRPr kumimoji="0" lang="en-US" altLang="en-US" sz="24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tabLst/>
            </a:pPr>
            <a:r>
              <a:rPr kumimoji="0" lang="en-US" altLang="en-US" sz="2400" b="0" i="0" u="none" strike="noStrike" cap="none" normalizeH="0" baseline="0" dirty="0">
                <a:ln>
                  <a:noFill/>
                </a:ln>
                <a:solidFill>
                  <a:srgbClr val="273239"/>
                </a:solidFill>
                <a:effectLst/>
                <a:latin typeface="Nunito" pitchFamily="2" charset="0"/>
              </a:rPr>
              <a:t>Syntax:</a:t>
            </a:r>
          </a:p>
          <a:p>
            <a:pPr marL="0" marR="0" lvl="0" indent="0" algn="l" defTabSz="914400" rtl="0" eaLnBrk="0" fontAlgn="base" latinLnBrk="0" hangingPunct="0">
              <a:lnSpc>
                <a:spcPct val="100000"/>
              </a:lnSpc>
              <a:spcBef>
                <a:spcPct val="0"/>
              </a:spcBef>
              <a:spcAft>
                <a:spcPct val="0"/>
              </a:spcAft>
              <a:buClrTx/>
              <a:buSzTx/>
              <a:tabLst/>
            </a:pPr>
            <a:r>
              <a:rPr lang="en-US" altLang="en-US" sz="2400" dirty="0" err="1">
                <a:solidFill>
                  <a:srgbClr val="273239"/>
                </a:solidFill>
                <a:latin typeface="Nunito" pitchFamily="2" charset="0"/>
              </a:rPr>
              <a:t>Sns.kdeplot</a:t>
            </a:r>
            <a:r>
              <a:rPr lang="en-US" altLang="en-US" sz="2400" dirty="0">
                <a:solidFill>
                  <a:srgbClr val="273239"/>
                </a:solidFill>
                <a:latin typeface="Nunito" pitchFamily="2" charset="0"/>
              </a:rPr>
              <a:t>(</a:t>
            </a:r>
            <a:r>
              <a:rPr lang="en-US" altLang="en-US" sz="2400" dirty="0" err="1">
                <a:solidFill>
                  <a:srgbClr val="273239"/>
                </a:solidFill>
                <a:latin typeface="Nunito" pitchFamily="2" charset="0"/>
              </a:rPr>
              <a:t>x,y</a:t>
            </a:r>
            <a:r>
              <a:rPr lang="en-US" altLang="en-US" sz="2400" dirty="0">
                <a:solidFill>
                  <a:srgbClr val="273239"/>
                </a:solidFill>
                <a:latin typeface="Nunito" pitchFamily="2" charset="0"/>
              </a:rPr>
              <a:t>)</a:t>
            </a:r>
            <a:endParaRPr kumimoji="0" lang="en-US" altLang="en-US" sz="2400" b="0" i="0" u="none" strike="noStrike" cap="none" normalizeH="0" baseline="0" dirty="0">
              <a:ln>
                <a:noFill/>
              </a:ln>
              <a:solidFill>
                <a:srgbClr val="273239"/>
              </a:solidFill>
              <a:effectLst/>
              <a:latin typeface="Nunito" pitchFamily="2"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400" b="0" i="0" u="none" strike="noStrike" cap="none" normalizeH="0" baseline="0" dirty="0">
              <a:ln>
                <a:noFill/>
              </a:ln>
              <a:solidFill>
                <a:schemeClr val="tx1"/>
              </a:solidFill>
              <a:effectLst/>
            </a:endParaRPr>
          </a:p>
        </p:txBody>
      </p:sp>
      <p:sp>
        <p:nvSpPr>
          <p:cNvPr id="9" name="Rectangle 4">
            <a:extLst>
              <a:ext uri="{FF2B5EF4-FFF2-40B4-BE49-F238E27FC236}">
                <a16:creationId xmlns:a16="http://schemas.microsoft.com/office/drawing/2014/main" id="{69486406-56F2-0ED5-8B87-5F65EBF8765A}"/>
              </a:ext>
            </a:extLst>
          </p:cNvPr>
          <p:cNvSpPr>
            <a:spLocks noChangeArrowheads="1"/>
          </p:cNvSpPr>
          <p:nvPr/>
        </p:nvSpPr>
        <p:spPr bwMode="auto">
          <a:xfrm>
            <a:off x="3503613" y="4256088"/>
            <a:ext cx="254000" cy="457200"/>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p>
            <a:endParaRPr lang="en-IN"/>
          </a:p>
        </p:txBody>
      </p:sp>
      <p:pic>
        <p:nvPicPr>
          <p:cNvPr id="11" name="Picture 10">
            <a:extLst>
              <a:ext uri="{FF2B5EF4-FFF2-40B4-BE49-F238E27FC236}">
                <a16:creationId xmlns:a16="http://schemas.microsoft.com/office/drawing/2014/main" id="{D8C8EE75-49B7-90EA-66E6-DCC5A3894CE0}"/>
              </a:ext>
            </a:extLst>
          </p:cNvPr>
          <p:cNvPicPr>
            <a:picLocks noChangeAspect="1"/>
          </p:cNvPicPr>
          <p:nvPr/>
        </p:nvPicPr>
        <p:blipFill>
          <a:blip r:embed="rId4"/>
          <a:stretch>
            <a:fillRect/>
          </a:stretch>
        </p:blipFill>
        <p:spPr>
          <a:xfrm>
            <a:off x="1449644" y="3408056"/>
            <a:ext cx="4646356" cy="3228667"/>
          </a:xfrm>
          <a:prstGeom prst="rect">
            <a:avLst/>
          </a:prstGeom>
        </p:spPr>
      </p:pic>
    </p:spTree>
    <p:extLst>
      <p:ext uri="{BB962C8B-B14F-4D97-AF65-F5344CB8AC3E}">
        <p14:creationId xmlns:p14="http://schemas.microsoft.com/office/powerpoint/2010/main" val="3226769750"/>
      </p:ext>
    </p:extLst>
  </p:cSld>
  <p:clrMapOvr>
    <a:overrideClrMapping bg1="lt1" tx1="dk1" bg2="lt2" tx2="dk2" accent1="accent1" accent2="accent2" accent3="accent3" accent4="accent4" accent5="accent5" accent6="accent6" hlink="hlink" folHlink="folHlink"/>
  </p:clrMapOvr>
</p:sld>
</file>

<file path=ppt/slides/slide22.xml><?xml version="1.0" encoding="utf-8"?>
<p:sld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F2001F7-C5C0-09AC-603E-5E79921681BE}"/>
              </a:ext>
            </a:extLst>
          </p:cNvPr>
          <p:cNvSpPr>
            <a:spLocks noGrp="1"/>
          </p:cNvSpPr>
          <p:nvPr>
            <p:ph idx="1"/>
          </p:nvPr>
        </p:nvSpPr>
        <p:spPr>
          <a:xfrm>
            <a:off x="838200" y="195943"/>
            <a:ext cx="10515600" cy="5981020"/>
          </a:xfrm>
        </p:spPr>
        <p:txBody>
          <a:bodyPr/>
          <a:lstStyle/>
          <a:p>
            <a:r>
              <a:rPr lang="en-IN" dirty="0" err="1"/>
              <a:t>setosa</a:t>
            </a:r>
            <a:r>
              <a:rPr lang="en-IN" dirty="0"/>
              <a:t> = </a:t>
            </a:r>
            <a:r>
              <a:rPr lang="en-IN" dirty="0" err="1"/>
              <a:t>iris.loc</a:t>
            </a:r>
            <a:r>
              <a:rPr lang="en-IN" dirty="0"/>
              <a:t>[</a:t>
            </a:r>
            <a:r>
              <a:rPr lang="en-IN" dirty="0" err="1"/>
              <a:t>iris.species</a:t>
            </a:r>
            <a:r>
              <a:rPr lang="en-IN" dirty="0"/>
              <a:t>=="</a:t>
            </a:r>
            <a:r>
              <a:rPr lang="en-IN" dirty="0" err="1"/>
              <a:t>setosa</a:t>
            </a:r>
            <a:r>
              <a:rPr lang="en-IN" dirty="0"/>
              <a:t>"]</a:t>
            </a:r>
          </a:p>
          <a:p>
            <a:r>
              <a:rPr lang="en-IN" dirty="0"/>
              <a:t>virginica = </a:t>
            </a:r>
            <a:r>
              <a:rPr lang="en-IN" dirty="0" err="1"/>
              <a:t>iris.loc</a:t>
            </a:r>
            <a:r>
              <a:rPr lang="en-IN" dirty="0"/>
              <a:t>[</a:t>
            </a:r>
            <a:r>
              <a:rPr lang="en-IN" dirty="0" err="1"/>
              <a:t>iris.species</a:t>
            </a:r>
            <a:r>
              <a:rPr lang="en-IN" dirty="0"/>
              <a:t> == "virginica"]</a:t>
            </a:r>
          </a:p>
          <a:p>
            <a:r>
              <a:rPr lang="en-IN" dirty="0" err="1"/>
              <a:t>sns.kdeplot</a:t>
            </a:r>
            <a:r>
              <a:rPr lang="en-IN" dirty="0"/>
              <a:t>(</a:t>
            </a:r>
            <a:r>
              <a:rPr lang="en-IN" dirty="0" err="1"/>
              <a:t>setosa.petal_length</a:t>
            </a:r>
            <a:r>
              <a:rPr lang="en-IN" dirty="0"/>
              <a:t>, </a:t>
            </a:r>
            <a:r>
              <a:rPr lang="en-IN" dirty="0" err="1"/>
              <a:t>setosa.petal_width</a:t>
            </a:r>
            <a:r>
              <a:rPr lang="en-IN" dirty="0"/>
              <a:t>)</a:t>
            </a:r>
          </a:p>
          <a:p>
            <a:endParaRPr lang="en-IN" dirty="0"/>
          </a:p>
        </p:txBody>
      </p:sp>
      <p:pic>
        <p:nvPicPr>
          <p:cNvPr id="5" name="Picture 4">
            <a:extLst>
              <a:ext uri="{FF2B5EF4-FFF2-40B4-BE49-F238E27FC236}">
                <a16:creationId xmlns:a16="http://schemas.microsoft.com/office/drawing/2014/main" id="{EAD9CB9C-0519-451A-E965-E033CE5ECD60}"/>
              </a:ext>
            </a:extLst>
          </p:cNvPr>
          <p:cNvPicPr>
            <a:picLocks noChangeAspect="1"/>
          </p:cNvPicPr>
          <p:nvPr/>
        </p:nvPicPr>
        <p:blipFill>
          <a:blip r:embed="rId3"/>
          <a:stretch>
            <a:fillRect/>
          </a:stretch>
        </p:blipFill>
        <p:spPr>
          <a:xfrm>
            <a:off x="5318449" y="1604865"/>
            <a:ext cx="5393094" cy="3743810"/>
          </a:xfrm>
          <a:prstGeom prst="rect">
            <a:avLst/>
          </a:prstGeom>
        </p:spPr>
      </p:pic>
    </p:spTree>
    <p:extLst>
      <p:ext uri="{BB962C8B-B14F-4D97-AF65-F5344CB8AC3E}">
        <p14:creationId xmlns:p14="http://schemas.microsoft.com/office/powerpoint/2010/main" val="3935310229"/>
      </p:ext>
    </p:extLst>
  </p:cSld>
  <p:clrMapOvr>
    <a:overrideClrMapping bg1="lt1" tx1="dk1" bg2="lt2" tx2="dk2" accent1="accent1" accent2="accent2" accent3="accent3" accent4="accent4" accent5="accent5" accent6="accent6" hlink="hlink" folHlink="folHlink"/>
  </p:clrMapOvr>
</p:sld>
</file>

<file path=ppt/slides/slide23.xml><?xml version="1.0" encoding="utf-8"?>
<p:sld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231789-137C-57F3-DC6E-CF14B748E964}"/>
              </a:ext>
            </a:extLst>
          </p:cNvPr>
          <p:cNvSpPr>
            <a:spLocks noGrp="1"/>
          </p:cNvSpPr>
          <p:nvPr>
            <p:ph type="title"/>
          </p:nvPr>
        </p:nvSpPr>
        <p:spPr>
          <a:xfrm>
            <a:off x="838200" y="365125"/>
            <a:ext cx="10515600" cy="720725"/>
          </a:xfrm>
        </p:spPr>
        <p:txBody>
          <a:bodyPr/>
          <a:lstStyle/>
          <a:p>
            <a:r>
              <a:rPr lang="en-US" dirty="0"/>
              <a:t>Seaborn Distribution plots:</a:t>
            </a:r>
            <a:endParaRPr lang="en-IN" dirty="0"/>
          </a:p>
        </p:txBody>
      </p:sp>
      <p:sp>
        <p:nvSpPr>
          <p:cNvPr id="3" name="Content Placeholder 2">
            <a:extLst>
              <a:ext uri="{FF2B5EF4-FFF2-40B4-BE49-F238E27FC236}">
                <a16:creationId xmlns:a16="http://schemas.microsoft.com/office/drawing/2014/main" id="{B2D52D75-242A-546F-7025-985B1D3C2D80}"/>
              </a:ext>
            </a:extLst>
          </p:cNvPr>
          <p:cNvSpPr>
            <a:spLocks noGrp="1"/>
          </p:cNvSpPr>
          <p:nvPr>
            <p:ph idx="1"/>
          </p:nvPr>
        </p:nvSpPr>
        <p:spPr>
          <a:xfrm>
            <a:off x="838200" y="1162050"/>
            <a:ext cx="10515600" cy="5014913"/>
          </a:xfrm>
        </p:spPr>
        <p:txBody>
          <a:bodyPr>
            <a:normAutofit/>
          </a:bodyPr>
          <a:lstStyle/>
          <a:p>
            <a:r>
              <a:rPr lang="en-US" dirty="0"/>
              <a:t>Seaborn is a Python data visualization library based on Matplotlib. It provides a high-level interface for drawing attractive and informative statistical graphics. This article deals with the distribution plots in seaborn which is used for examining univariate and bivariate distributions.</a:t>
            </a:r>
          </a:p>
          <a:p>
            <a:pPr fontAlgn="base"/>
            <a:r>
              <a:rPr lang="en-IN" dirty="0" err="1"/>
              <a:t>joinplot</a:t>
            </a:r>
            <a:endParaRPr lang="en-IN" dirty="0"/>
          </a:p>
          <a:p>
            <a:pPr fontAlgn="base"/>
            <a:r>
              <a:rPr lang="en-IN" dirty="0" err="1"/>
              <a:t>distplot</a:t>
            </a:r>
            <a:endParaRPr lang="en-IN" dirty="0"/>
          </a:p>
          <a:p>
            <a:pPr fontAlgn="base"/>
            <a:r>
              <a:rPr lang="en-US" b="1" dirty="0" err="1"/>
              <a:t>Displot</a:t>
            </a:r>
            <a:endParaRPr lang="en-US" b="1" dirty="0"/>
          </a:p>
          <a:p>
            <a:pPr fontAlgn="base"/>
            <a:r>
              <a:rPr lang="en-US" dirty="0"/>
              <a:t>It is used basically for univariant set of observations and visualizes it through a histogram i.e. only one observation and hence we choose one particular column of the dataset. </a:t>
            </a:r>
          </a:p>
          <a:p>
            <a:pPr fontAlgn="base"/>
            <a:r>
              <a:rPr lang="en-US" b="1" dirty="0"/>
              <a:t>Syntax: </a:t>
            </a:r>
            <a:r>
              <a:rPr lang="en-US" dirty="0" err="1"/>
              <a:t>distplot</a:t>
            </a:r>
            <a:r>
              <a:rPr lang="en-US" dirty="0"/>
              <a:t>(a[, bins, hist, </a:t>
            </a:r>
            <a:r>
              <a:rPr lang="en-US" dirty="0" err="1"/>
              <a:t>kde</a:t>
            </a:r>
            <a:r>
              <a:rPr lang="en-US" dirty="0"/>
              <a:t>, rug, fit, ...])</a:t>
            </a:r>
          </a:p>
          <a:p>
            <a:pPr marL="0" indent="0">
              <a:buNone/>
            </a:pPr>
            <a:endParaRPr lang="en-IN" dirty="0"/>
          </a:p>
        </p:txBody>
      </p:sp>
    </p:spTree>
    <p:extLst>
      <p:ext uri="{BB962C8B-B14F-4D97-AF65-F5344CB8AC3E}">
        <p14:creationId xmlns:p14="http://schemas.microsoft.com/office/powerpoint/2010/main" val="3549026998"/>
      </p:ext>
    </p:extLst>
  </p:cSld>
  <p:clrMapOvr>
    <a:overrideClrMapping bg1="lt1" tx1="dk1" bg2="lt2" tx2="dk2" accent1="accent1" accent2="accent2" accent3="accent3" accent4="accent4" accent5="accent5" accent6="accent6" hlink="hlink" folHlink="folHlink"/>
  </p:clrMapOvr>
</p:sld>
</file>

<file path=ppt/slides/slide24.xml><?xml version="1.0" encoding="utf-8"?>
<p:sld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B2D3889-E24D-9DB2-3BB7-A4C4B19AC260}"/>
              </a:ext>
            </a:extLst>
          </p:cNvPr>
          <p:cNvSpPr>
            <a:spLocks noGrp="1"/>
          </p:cNvSpPr>
          <p:nvPr>
            <p:ph idx="1"/>
          </p:nvPr>
        </p:nvSpPr>
        <p:spPr>
          <a:xfrm>
            <a:off x="838200" y="142875"/>
            <a:ext cx="10515600" cy="6034088"/>
          </a:xfrm>
        </p:spPr>
        <p:txBody>
          <a:bodyPr>
            <a:normAutofit fontScale="92500" lnSpcReduction="20000"/>
          </a:bodyPr>
          <a:lstStyle/>
          <a:p>
            <a:r>
              <a:rPr lang="en-IN" dirty="0"/>
              <a:t># set the background style of the plot</a:t>
            </a:r>
          </a:p>
          <a:p>
            <a:pPr marL="0" indent="0">
              <a:buNone/>
            </a:pPr>
            <a:r>
              <a:rPr lang="en-IN" dirty="0" err="1"/>
              <a:t>sns.set_style</a:t>
            </a:r>
            <a:r>
              <a:rPr lang="en-IN" dirty="0"/>
              <a:t>('</a:t>
            </a:r>
            <a:r>
              <a:rPr lang="en-IN" dirty="0" err="1"/>
              <a:t>whitegrid</a:t>
            </a:r>
            <a:r>
              <a:rPr lang="en-IN" dirty="0"/>
              <a:t>')</a:t>
            </a:r>
          </a:p>
          <a:p>
            <a:pPr marL="0" indent="0">
              <a:buNone/>
            </a:pPr>
            <a:r>
              <a:rPr lang="en-IN" dirty="0"/>
              <a:t># set the background style of the plot</a:t>
            </a:r>
          </a:p>
          <a:p>
            <a:pPr marL="0" indent="0">
              <a:buNone/>
            </a:pPr>
            <a:r>
              <a:rPr lang="en-IN" dirty="0" err="1"/>
              <a:t>sns.set_style</a:t>
            </a:r>
            <a:r>
              <a:rPr lang="en-IN" dirty="0"/>
              <a:t>('</a:t>
            </a:r>
            <a:r>
              <a:rPr lang="en-IN" dirty="0" err="1"/>
              <a:t>whitegrid</a:t>
            </a:r>
            <a:r>
              <a:rPr lang="en-IN" dirty="0"/>
              <a:t>')</a:t>
            </a:r>
          </a:p>
          <a:p>
            <a:pPr marL="0" indent="0">
              <a:buNone/>
            </a:pPr>
            <a:r>
              <a:rPr lang="en-IN" dirty="0" err="1"/>
              <a:t>sns.distplot</a:t>
            </a:r>
            <a:r>
              <a:rPr lang="en-IN" dirty="0"/>
              <a:t>(</a:t>
            </a:r>
            <a:r>
              <a:rPr lang="en-IN" dirty="0" err="1"/>
              <a:t>df</a:t>
            </a:r>
            <a:r>
              <a:rPr lang="en-IN" dirty="0"/>
              <a:t>['</a:t>
            </a:r>
            <a:r>
              <a:rPr lang="en-IN" dirty="0" err="1"/>
              <a:t>total_bill</a:t>
            </a:r>
            <a:r>
              <a:rPr lang="en-IN" dirty="0"/>
              <a:t>'], </a:t>
            </a:r>
            <a:r>
              <a:rPr lang="en-IN" dirty="0" err="1"/>
              <a:t>kde</a:t>
            </a:r>
            <a:r>
              <a:rPr lang="en-IN" dirty="0"/>
              <a:t> = False, </a:t>
            </a:r>
            <a:r>
              <a:rPr lang="en-IN" dirty="0" err="1"/>
              <a:t>color</a:t>
            </a:r>
            <a:r>
              <a:rPr lang="en-IN" dirty="0"/>
              <a:t> ='red', bins = 30).</a:t>
            </a:r>
          </a:p>
          <a:p>
            <a:pPr fontAlgn="base"/>
            <a:r>
              <a:rPr lang="en-US" b="1" dirty="0"/>
              <a:t>Explanation:</a:t>
            </a:r>
            <a:endParaRPr lang="en-US" dirty="0"/>
          </a:p>
          <a:p>
            <a:pPr fontAlgn="base"/>
            <a:r>
              <a:rPr lang="en-US" dirty="0"/>
              <a:t>KDE stands for </a:t>
            </a:r>
            <a:r>
              <a:rPr lang="en-US" b="1" dirty="0"/>
              <a:t>Kernel Density Estimation</a:t>
            </a:r>
            <a:r>
              <a:rPr lang="en-US" dirty="0"/>
              <a:t> </a:t>
            </a:r>
          </a:p>
          <a:p>
            <a:pPr marL="0" indent="0" fontAlgn="base">
              <a:buNone/>
            </a:pPr>
            <a:r>
              <a:rPr lang="en-US" dirty="0"/>
              <a:t>and that is another kind of the plot in seaborn.</a:t>
            </a:r>
          </a:p>
          <a:p>
            <a:pPr fontAlgn="base"/>
            <a:r>
              <a:rPr lang="en-US" dirty="0"/>
              <a:t>bins is used to set the number of bins you </a:t>
            </a:r>
          </a:p>
          <a:p>
            <a:pPr marL="0" indent="0" fontAlgn="base">
              <a:buNone/>
            </a:pPr>
            <a:r>
              <a:rPr lang="en-US" dirty="0"/>
              <a:t>want in your plot and it actually depends on</a:t>
            </a:r>
          </a:p>
          <a:p>
            <a:pPr marL="0" indent="0" fontAlgn="base">
              <a:buNone/>
            </a:pPr>
            <a:r>
              <a:rPr lang="en-US" dirty="0"/>
              <a:t> your dataset.</a:t>
            </a:r>
          </a:p>
          <a:p>
            <a:pPr fontAlgn="base"/>
            <a:r>
              <a:rPr lang="en-US" dirty="0"/>
              <a:t>color is used to specify the color of the plot</a:t>
            </a:r>
          </a:p>
          <a:p>
            <a:pPr fontAlgn="base"/>
            <a:r>
              <a:rPr lang="en-US" dirty="0"/>
              <a:t>Now looking at this we can say that most of</a:t>
            </a:r>
          </a:p>
          <a:p>
            <a:pPr fontAlgn="base"/>
            <a:r>
              <a:rPr lang="en-US" dirty="0"/>
              <a:t> the total bill given lies between 10 and 20.</a:t>
            </a:r>
          </a:p>
          <a:p>
            <a:endParaRPr lang="en-IN" dirty="0"/>
          </a:p>
        </p:txBody>
      </p:sp>
      <p:pic>
        <p:nvPicPr>
          <p:cNvPr id="6146" name="Picture 2">
            <a:extLst>
              <a:ext uri="{FF2B5EF4-FFF2-40B4-BE49-F238E27FC236}">
                <a16:creationId xmlns:a16="http://schemas.microsoft.com/office/drawing/2014/main" id="{649BA917-4DA0-6DE5-96EB-286B276BBA4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286625" y="3062288"/>
            <a:ext cx="3824288" cy="31146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7021401"/>
      </p:ext>
    </p:extLst>
  </p:cSld>
  <p:clrMapOvr>
    <a:overrideClrMapping bg1="lt1" tx1="dk1" bg2="lt2" tx2="dk2" accent1="accent1" accent2="accent2" accent3="accent3" accent4="accent4" accent5="accent5" accent6="accent6" hlink="hlink" folHlink="folHlink"/>
  </p:clrMapOvr>
</p:sld>
</file>

<file path=ppt/slides/slide25.xml><?xml version="1.0" encoding="utf-8"?>
<p:sld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6BE0D61-3645-2DCB-0E9E-B97D3CF5918E}"/>
              </a:ext>
            </a:extLst>
          </p:cNvPr>
          <p:cNvSpPr>
            <a:spLocks noGrp="1"/>
          </p:cNvSpPr>
          <p:nvPr>
            <p:ph idx="1"/>
          </p:nvPr>
        </p:nvSpPr>
        <p:spPr>
          <a:xfrm>
            <a:off x="228600" y="400050"/>
            <a:ext cx="10515600" cy="6457950"/>
          </a:xfrm>
        </p:spPr>
        <p:txBody>
          <a:bodyPr>
            <a:normAutofit fontScale="92500" lnSpcReduction="20000"/>
          </a:bodyPr>
          <a:lstStyle/>
          <a:p>
            <a:r>
              <a:rPr lang="en-US" dirty="0" err="1"/>
              <a:t>Jointplot</a:t>
            </a:r>
            <a:endParaRPr lang="en-US" dirty="0"/>
          </a:p>
          <a:p>
            <a:r>
              <a:rPr lang="en-US" dirty="0"/>
              <a:t>It is used to draw a plot of two variables with bivariate and univariate graphs. It basically combines two different plots.</a:t>
            </a:r>
          </a:p>
          <a:p>
            <a:pPr marL="0" indent="0">
              <a:buNone/>
            </a:pPr>
            <a:r>
              <a:rPr lang="en-US" sz="2600" dirty="0"/>
              <a:t>Syntax:  </a:t>
            </a:r>
            <a:r>
              <a:rPr lang="en-US" sz="2600" dirty="0" err="1"/>
              <a:t>jointplot</a:t>
            </a:r>
            <a:r>
              <a:rPr lang="en-US" sz="2600" dirty="0"/>
              <a:t>(x, y[, data, kind, </a:t>
            </a:r>
            <a:r>
              <a:rPr lang="en-US" sz="2600" dirty="0" err="1"/>
              <a:t>stat_func</a:t>
            </a:r>
            <a:r>
              <a:rPr lang="en-US" sz="2600" dirty="0"/>
              <a:t>, ...])    </a:t>
            </a:r>
          </a:p>
          <a:p>
            <a:r>
              <a:rPr lang="en-US" dirty="0"/>
              <a:t>Example: </a:t>
            </a:r>
            <a:r>
              <a:rPr lang="en-US" dirty="0" err="1"/>
              <a:t>sns.jointplot</a:t>
            </a:r>
            <a:r>
              <a:rPr lang="en-US" dirty="0"/>
              <a:t>(x ='</a:t>
            </a:r>
            <a:r>
              <a:rPr lang="en-US" dirty="0" err="1"/>
              <a:t>total_bill</a:t>
            </a:r>
            <a:r>
              <a:rPr lang="en-US" dirty="0"/>
              <a:t>', y ='tip', data = </a:t>
            </a:r>
            <a:r>
              <a:rPr lang="en-US" dirty="0" err="1"/>
              <a:t>df</a:t>
            </a:r>
            <a:r>
              <a:rPr lang="en-US" dirty="0"/>
              <a:t>)</a:t>
            </a:r>
          </a:p>
          <a:p>
            <a:pPr marL="0" indent="0" fontAlgn="base">
              <a:buNone/>
            </a:pPr>
            <a:r>
              <a:rPr lang="en-US" b="1" dirty="0"/>
              <a:t>Explanation:</a:t>
            </a:r>
            <a:endParaRPr lang="en-US" dirty="0"/>
          </a:p>
          <a:p>
            <a:pPr fontAlgn="base"/>
            <a:r>
              <a:rPr lang="en-US" dirty="0"/>
              <a:t>kind is a variable that helps us play  around with the fact as to how do you want to </a:t>
            </a:r>
          </a:p>
          <a:p>
            <a:pPr marL="0" indent="0" fontAlgn="base">
              <a:buNone/>
            </a:pPr>
            <a:r>
              <a:rPr lang="en-US" dirty="0" err="1"/>
              <a:t>visualise</a:t>
            </a:r>
            <a:r>
              <a:rPr lang="en-US" dirty="0"/>
              <a:t> the data.</a:t>
            </a:r>
          </a:p>
          <a:p>
            <a:pPr marL="0" indent="0" fontAlgn="base">
              <a:buNone/>
            </a:pPr>
            <a:r>
              <a:rPr lang="en-US" dirty="0"/>
              <a:t>It helps to see </a:t>
            </a:r>
            <a:r>
              <a:rPr lang="en-US" dirty="0" err="1"/>
              <a:t>whats</a:t>
            </a:r>
            <a:r>
              <a:rPr lang="en-US" dirty="0"/>
              <a:t> going inside the </a:t>
            </a:r>
            <a:r>
              <a:rPr lang="en-US" dirty="0" err="1"/>
              <a:t>joinplot</a:t>
            </a:r>
            <a:r>
              <a:rPr lang="en-US" dirty="0"/>
              <a:t>. </a:t>
            </a:r>
          </a:p>
          <a:p>
            <a:pPr marL="0" indent="0" fontAlgn="base">
              <a:buNone/>
            </a:pPr>
            <a:r>
              <a:rPr lang="en-US" dirty="0"/>
              <a:t>The default is scatter and can be hex,  reg(regression) or </a:t>
            </a:r>
            <a:r>
              <a:rPr lang="en-US" dirty="0" err="1"/>
              <a:t>kde</a:t>
            </a:r>
            <a:r>
              <a:rPr lang="en-US" dirty="0"/>
              <a:t>.</a:t>
            </a:r>
          </a:p>
          <a:p>
            <a:pPr fontAlgn="base"/>
            <a:r>
              <a:rPr lang="en-US" dirty="0"/>
              <a:t>x and y are two strings that are the column  names and the data that column contains is </a:t>
            </a:r>
          </a:p>
          <a:p>
            <a:pPr marL="0" indent="0" fontAlgn="base">
              <a:buNone/>
            </a:pPr>
            <a:r>
              <a:rPr lang="en-US" dirty="0"/>
              <a:t>used by specifying the data parameter.</a:t>
            </a:r>
          </a:p>
          <a:p>
            <a:pPr fontAlgn="base"/>
            <a:r>
              <a:rPr lang="en-US" dirty="0"/>
              <a:t>here we can see tips on the y axis and total bill   on the x axis as well as a linear relationship between </a:t>
            </a:r>
          </a:p>
          <a:p>
            <a:pPr marL="0" indent="0" fontAlgn="base">
              <a:buNone/>
            </a:pPr>
            <a:r>
              <a:rPr lang="en-US" dirty="0"/>
              <a:t>       the two that suggests that the total bill increases with the tips.</a:t>
            </a:r>
          </a:p>
          <a:p>
            <a:pPr lvl="1" fontAlgn="base"/>
            <a:r>
              <a:rPr lang="en-US" dirty="0"/>
              <a:t>hue sets up the categorical separation between the entries if the dataset.</a:t>
            </a:r>
          </a:p>
          <a:p>
            <a:pPr lvl="1" fontAlgn="base"/>
            <a:r>
              <a:rPr lang="en-US" dirty="0"/>
              <a:t>palette is used for designing the plots.</a:t>
            </a:r>
          </a:p>
          <a:p>
            <a:endParaRPr lang="en-IN" dirty="0"/>
          </a:p>
        </p:txBody>
      </p:sp>
      <p:pic>
        <p:nvPicPr>
          <p:cNvPr id="7176" name="Picture 8">
            <a:extLst>
              <a:ext uri="{FF2B5EF4-FFF2-40B4-BE49-F238E27FC236}">
                <a16:creationId xmlns:a16="http://schemas.microsoft.com/office/drawing/2014/main" id="{73473D6C-30C2-4388-B490-7E1754C3963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391650" y="1295399"/>
            <a:ext cx="3305175" cy="395763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87033144"/>
      </p:ext>
    </p:extLst>
  </p:cSld>
  <p:clrMapOvr>
    <a:overrideClrMapping bg1="lt1" tx1="dk1" bg2="lt2" tx2="dk2" accent1="accent1" accent2="accent2" accent3="accent3" accent4="accent4" accent5="accent5" accent6="accent6" hlink="hlink" folHlink="folHlink"/>
  </p:clrMapOvr>
</p:sld>
</file>

<file path=ppt/slides/slide26.xml><?xml version="1.0" encoding="utf-8"?>
<p:sld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CC6211B-D24D-CF8D-E2D2-A055381632D4}"/>
              </a:ext>
            </a:extLst>
          </p:cNvPr>
          <p:cNvSpPr>
            <a:spLocks noGrp="1"/>
          </p:cNvSpPr>
          <p:nvPr>
            <p:ph idx="1"/>
          </p:nvPr>
        </p:nvSpPr>
        <p:spPr>
          <a:xfrm>
            <a:off x="838200" y="0"/>
            <a:ext cx="10515600" cy="6176963"/>
          </a:xfrm>
        </p:spPr>
        <p:txBody>
          <a:bodyPr/>
          <a:lstStyle/>
          <a:p>
            <a:r>
              <a:rPr lang="en-IN" b="0" i="0" dirty="0" err="1">
                <a:solidFill>
                  <a:srgbClr val="610B38"/>
                </a:solidFill>
                <a:effectLst/>
                <a:latin typeface="erdana"/>
              </a:rPr>
              <a:t>Countplot</a:t>
            </a:r>
            <a:r>
              <a:rPr lang="en-IN" b="0" i="0" dirty="0">
                <a:solidFill>
                  <a:srgbClr val="610B38"/>
                </a:solidFill>
                <a:effectLst/>
                <a:latin typeface="erdana"/>
              </a:rPr>
              <a:t>:</a:t>
            </a:r>
          </a:p>
          <a:p>
            <a:pPr algn="just"/>
            <a:r>
              <a:rPr lang="en-US" b="0" i="0" dirty="0">
                <a:solidFill>
                  <a:srgbClr val="333333"/>
                </a:solidFill>
                <a:effectLst/>
                <a:latin typeface="inter-regular"/>
              </a:rPr>
              <a:t>The </a:t>
            </a:r>
            <a:r>
              <a:rPr lang="en-US" b="0" i="0" dirty="0" err="1">
                <a:solidFill>
                  <a:srgbClr val="333333"/>
                </a:solidFill>
                <a:effectLst/>
                <a:latin typeface="inter-regular"/>
              </a:rPr>
              <a:t>countplot</a:t>
            </a:r>
            <a:r>
              <a:rPr lang="en-US" b="0" i="0" dirty="0">
                <a:solidFill>
                  <a:srgbClr val="333333"/>
                </a:solidFill>
                <a:effectLst/>
                <a:latin typeface="inter-regular"/>
              </a:rPr>
              <a:t> is used to represent the occurrence(counts) of the observation present in the categorical variable.</a:t>
            </a:r>
          </a:p>
          <a:p>
            <a:pPr algn="just"/>
            <a:r>
              <a:rPr lang="en-US" b="0" i="0" dirty="0">
                <a:solidFill>
                  <a:srgbClr val="333333"/>
                </a:solidFill>
                <a:effectLst/>
                <a:latin typeface="inter-regular"/>
              </a:rPr>
              <a:t>It uses the concept of a bar chart for the visual depiction.</a:t>
            </a:r>
          </a:p>
          <a:p>
            <a:pPr marL="514350" indent="-514350">
              <a:buAutoNum type="arabicPeriod"/>
            </a:pPr>
            <a:r>
              <a:rPr lang="en-US" b="0" i="0" dirty="0">
                <a:solidFill>
                  <a:srgbClr val="610B4B"/>
                </a:solidFill>
                <a:effectLst/>
                <a:latin typeface="erdana"/>
              </a:rPr>
              <a:t>Value counts for a single </a:t>
            </a:r>
            <a:r>
              <a:rPr lang="en-US" b="0" i="0" dirty="0" err="1">
                <a:solidFill>
                  <a:srgbClr val="610B4B"/>
                </a:solidFill>
                <a:effectLst/>
                <a:latin typeface="erdana"/>
              </a:rPr>
              <a:t>variable:</a:t>
            </a:r>
            <a:r>
              <a:rPr lang="en-US" b="0" i="0" dirty="0" err="1">
                <a:solidFill>
                  <a:srgbClr val="333333"/>
                </a:solidFill>
                <a:effectLst/>
                <a:latin typeface="inter-regular"/>
              </a:rPr>
              <a:t>we</a:t>
            </a:r>
            <a:r>
              <a:rPr lang="en-US" b="0" i="0" dirty="0">
                <a:solidFill>
                  <a:srgbClr val="333333"/>
                </a:solidFill>
                <a:effectLst/>
                <a:latin typeface="inter-regular"/>
              </a:rPr>
              <a:t> will create a </a:t>
            </a:r>
            <a:r>
              <a:rPr lang="en-US" b="0" i="0" dirty="0" err="1">
                <a:solidFill>
                  <a:srgbClr val="333333"/>
                </a:solidFill>
                <a:effectLst/>
                <a:latin typeface="inter-regular"/>
              </a:rPr>
              <a:t>countplot</a:t>
            </a:r>
            <a:r>
              <a:rPr lang="en-US" b="0" i="0" dirty="0">
                <a:solidFill>
                  <a:srgbClr val="333333"/>
                </a:solidFill>
                <a:effectLst/>
                <a:latin typeface="inter-regular"/>
              </a:rPr>
              <a:t> for a single variable. We have taken the dataset 'tips' to implement the same.</a:t>
            </a:r>
            <a:endParaRPr lang="en-US" b="0" i="0" dirty="0">
              <a:solidFill>
                <a:srgbClr val="610B4B"/>
              </a:solidFill>
              <a:effectLst/>
              <a:latin typeface="erdana"/>
            </a:endParaRPr>
          </a:p>
          <a:p>
            <a:pPr marL="514350" indent="-514350">
              <a:buAutoNum type="arabicPeriod"/>
            </a:pPr>
            <a:endParaRPr lang="en-US" dirty="0">
              <a:solidFill>
                <a:srgbClr val="610B4B"/>
              </a:solidFill>
              <a:latin typeface="erdana"/>
            </a:endParaRPr>
          </a:p>
          <a:p>
            <a:pPr marL="514350" indent="-514350">
              <a:buAutoNum type="arabicPeriod"/>
            </a:pPr>
            <a:endParaRPr lang="en-US" b="0" i="0" dirty="0">
              <a:solidFill>
                <a:srgbClr val="610B4B"/>
              </a:solidFill>
              <a:effectLst/>
              <a:latin typeface="erdana"/>
            </a:endParaRPr>
          </a:p>
          <a:p>
            <a:endParaRPr lang="en-IN" b="0" i="0" dirty="0">
              <a:solidFill>
                <a:srgbClr val="610B38"/>
              </a:solidFill>
              <a:effectLst/>
              <a:latin typeface="erdana"/>
            </a:endParaRPr>
          </a:p>
          <a:p>
            <a:endParaRPr lang="en-IN" dirty="0"/>
          </a:p>
        </p:txBody>
      </p:sp>
      <p:pic>
        <p:nvPicPr>
          <p:cNvPr id="5" name="Picture 4">
            <a:extLst>
              <a:ext uri="{FF2B5EF4-FFF2-40B4-BE49-F238E27FC236}">
                <a16:creationId xmlns:a16="http://schemas.microsoft.com/office/drawing/2014/main" id="{C47291B6-78AA-6805-E834-4377EFAD763E}"/>
              </a:ext>
            </a:extLst>
          </p:cNvPr>
          <p:cNvPicPr>
            <a:picLocks noChangeAspect="1"/>
          </p:cNvPicPr>
          <p:nvPr/>
        </p:nvPicPr>
        <p:blipFill>
          <a:blip r:embed="rId3"/>
          <a:stretch>
            <a:fillRect/>
          </a:stretch>
        </p:blipFill>
        <p:spPr>
          <a:xfrm>
            <a:off x="3715898" y="2645727"/>
            <a:ext cx="7037827" cy="3725600"/>
          </a:xfrm>
          <a:prstGeom prst="rect">
            <a:avLst/>
          </a:prstGeom>
        </p:spPr>
      </p:pic>
    </p:spTree>
    <p:extLst>
      <p:ext uri="{BB962C8B-B14F-4D97-AF65-F5344CB8AC3E}">
        <p14:creationId xmlns:p14="http://schemas.microsoft.com/office/powerpoint/2010/main" val="1857988527"/>
      </p:ext>
    </p:extLst>
  </p:cSld>
  <p:clrMapOvr>
    <a:overrideClrMapping bg1="lt1" tx1="dk1" bg2="lt2" tx2="dk2" accent1="accent1" accent2="accent2" accent3="accent3" accent4="accent4" accent5="accent5" accent6="accent6" hlink="hlink" folHlink="folHlink"/>
  </p:clrMapOvr>
</p:sld>
</file>

<file path=ppt/slides/slide27.xml><?xml version="1.0" encoding="utf-8"?>
<p:sld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A133C1A-1C01-45F0-16EE-2FD4C166B756}"/>
              </a:ext>
            </a:extLst>
          </p:cNvPr>
          <p:cNvSpPr>
            <a:spLocks noGrp="1"/>
          </p:cNvSpPr>
          <p:nvPr>
            <p:ph idx="1"/>
          </p:nvPr>
        </p:nvSpPr>
        <p:spPr>
          <a:xfrm>
            <a:off x="838200" y="149290"/>
            <a:ext cx="10515600" cy="6027673"/>
          </a:xfrm>
        </p:spPr>
        <p:txBody>
          <a:bodyPr/>
          <a:lstStyle/>
          <a:p>
            <a:endParaRPr lang="en-US" b="0" i="0" dirty="0">
              <a:solidFill>
                <a:srgbClr val="610B4B"/>
              </a:solidFill>
              <a:effectLst/>
              <a:latin typeface="erdana"/>
            </a:endParaRPr>
          </a:p>
          <a:p>
            <a:r>
              <a:rPr lang="en-US" b="0" i="0" dirty="0">
                <a:solidFill>
                  <a:srgbClr val="610B4B"/>
                </a:solidFill>
                <a:effectLst/>
                <a:latin typeface="erdana"/>
              </a:rPr>
              <a:t>2. Representing two categorical variables using hue parameter</a:t>
            </a:r>
          </a:p>
          <a:p>
            <a:pPr marL="0" indent="0" algn="just">
              <a:buNone/>
            </a:pPr>
            <a:r>
              <a:rPr lang="en-IN" b="1" i="0" dirty="0">
                <a:solidFill>
                  <a:srgbClr val="006699"/>
                </a:solidFill>
                <a:effectLst/>
                <a:latin typeface="inter-regular"/>
              </a:rPr>
              <a:t>import</a:t>
            </a:r>
            <a:r>
              <a:rPr lang="en-IN" b="0" i="0" dirty="0">
                <a:solidFill>
                  <a:srgbClr val="000000"/>
                </a:solidFill>
                <a:effectLst/>
                <a:latin typeface="inter-regular"/>
              </a:rPr>
              <a:t> </a:t>
            </a:r>
            <a:r>
              <a:rPr lang="en-IN" b="0" i="0" dirty="0" err="1">
                <a:solidFill>
                  <a:srgbClr val="000000"/>
                </a:solidFill>
                <a:effectLst/>
                <a:latin typeface="inter-regular"/>
              </a:rPr>
              <a:t>matplotlib.pyplot</a:t>
            </a:r>
            <a:r>
              <a:rPr lang="en-IN" b="0" i="0" dirty="0">
                <a:solidFill>
                  <a:srgbClr val="000000"/>
                </a:solidFill>
                <a:effectLst/>
                <a:latin typeface="inter-regular"/>
              </a:rPr>
              <a:t> as </a:t>
            </a:r>
            <a:r>
              <a:rPr lang="en-IN" b="0" i="0" dirty="0" err="1">
                <a:solidFill>
                  <a:srgbClr val="000000"/>
                </a:solidFill>
                <a:effectLst/>
                <a:latin typeface="inter-regular"/>
              </a:rPr>
              <a:t>plt</a:t>
            </a:r>
            <a:r>
              <a:rPr lang="en-IN" b="0" i="0" dirty="0">
                <a:solidFill>
                  <a:srgbClr val="000000"/>
                </a:solidFill>
                <a:effectLst/>
                <a:latin typeface="inter-regular"/>
              </a:rPr>
              <a:t>  </a:t>
            </a:r>
          </a:p>
          <a:p>
            <a:pPr marL="0" indent="0" algn="just">
              <a:buNone/>
            </a:pPr>
            <a:r>
              <a:rPr lang="en-IN" b="1" i="0" dirty="0">
                <a:solidFill>
                  <a:srgbClr val="006699"/>
                </a:solidFill>
                <a:effectLst/>
                <a:latin typeface="inter-regular"/>
              </a:rPr>
              <a:t>import</a:t>
            </a:r>
            <a:r>
              <a:rPr lang="en-IN" b="0" i="0" dirty="0">
                <a:solidFill>
                  <a:srgbClr val="000000"/>
                </a:solidFill>
                <a:effectLst/>
                <a:latin typeface="inter-regular"/>
              </a:rPr>
              <a:t> seaborn as </a:t>
            </a:r>
            <a:r>
              <a:rPr lang="en-IN" b="0" i="0" dirty="0" err="1">
                <a:solidFill>
                  <a:srgbClr val="000000"/>
                </a:solidFill>
                <a:effectLst/>
                <a:latin typeface="inter-regular"/>
              </a:rPr>
              <a:t>sns</a:t>
            </a:r>
            <a:r>
              <a:rPr lang="en-IN" b="0" i="0" dirty="0">
                <a:solidFill>
                  <a:srgbClr val="000000"/>
                </a:solidFill>
                <a:effectLst/>
                <a:latin typeface="inter-regular"/>
              </a:rPr>
              <a:t>  </a:t>
            </a:r>
          </a:p>
          <a:p>
            <a:pPr marL="0" indent="0" algn="just">
              <a:buNone/>
            </a:pPr>
            <a:r>
              <a:rPr lang="en-IN" b="1" i="0" dirty="0">
                <a:solidFill>
                  <a:srgbClr val="006699"/>
                </a:solidFill>
                <a:effectLst/>
                <a:latin typeface="inter-regular"/>
              </a:rPr>
              <a:t>import</a:t>
            </a:r>
            <a:r>
              <a:rPr lang="en-IN" b="0" i="0" dirty="0">
                <a:solidFill>
                  <a:srgbClr val="000000"/>
                </a:solidFill>
                <a:effectLst/>
                <a:latin typeface="inter-regular"/>
              </a:rPr>
              <a:t> pandas as pd  </a:t>
            </a:r>
          </a:p>
          <a:p>
            <a:pPr marL="0" indent="0" algn="just">
              <a:buNone/>
            </a:pPr>
            <a:r>
              <a:rPr lang="en-IN" b="0" i="0" dirty="0">
                <a:solidFill>
                  <a:srgbClr val="000000"/>
                </a:solidFill>
                <a:effectLst/>
                <a:latin typeface="inter-regular"/>
              </a:rPr>
              <a:t>#loading the dataset </a:t>
            </a:r>
            <a:r>
              <a:rPr lang="en-IN" b="0" i="0" dirty="0">
                <a:solidFill>
                  <a:srgbClr val="0000FF"/>
                </a:solidFill>
                <a:effectLst/>
                <a:latin typeface="inter-regular"/>
              </a:rPr>
              <a:t>'tips'</a:t>
            </a:r>
            <a:r>
              <a:rPr lang="en-IN" b="0" i="0" dirty="0">
                <a:solidFill>
                  <a:srgbClr val="000000"/>
                </a:solidFill>
                <a:effectLst/>
                <a:latin typeface="inter-regular"/>
              </a:rPr>
              <a:t>  </a:t>
            </a:r>
          </a:p>
          <a:p>
            <a:pPr marL="0" indent="0" algn="just">
              <a:buNone/>
            </a:pPr>
            <a:r>
              <a:rPr lang="en-IN" b="0" i="0" dirty="0" err="1">
                <a:solidFill>
                  <a:srgbClr val="000000"/>
                </a:solidFill>
                <a:effectLst/>
                <a:latin typeface="inter-regular"/>
              </a:rPr>
              <a:t>df</a:t>
            </a:r>
            <a:r>
              <a:rPr lang="en-IN" b="0" i="0" dirty="0">
                <a:solidFill>
                  <a:srgbClr val="000000"/>
                </a:solidFill>
                <a:effectLst/>
                <a:latin typeface="inter-regular"/>
              </a:rPr>
              <a:t>=</a:t>
            </a:r>
            <a:r>
              <a:rPr lang="en-IN" b="0" i="0" dirty="0" err="1">
                <a:solidFill>
                  <a:srgbClr val="000000"/>
                </a:solidFill>
                <a:effectLst/>
                <a:latin typeface="inter-regular"/>
              </a:rPr>
              <a:t>pd.read_csv</a:t>
            </a:r>
            <a:r>
              <a:rPr lang="en-IN" b="0" i="0" dirty="0">
                <a:solidFill>
                  <a:srgbClr val="000000"/>
                </a:solidFill>
                <a:effectLst/>
                <a:latin typeface="inter-regular"/>
              </a:rPr>
              <a:t>(</a:t>
            </a:r>
            <a:r>
              <a:rPr lang="en-IN" b="0" i="0" dirty="0">
                <a:solidFill>
                  <a:srgbClr val="0000FF"/>
                </a:solidFill>
                <a:effectLst/>
                <a:latin typeface="inter-regular"/>
              </a:rPr>
              <a:t>"/content/tips.csv"</a:t>
            </a:r>
            <a:r>
              <a:rPr lang="en-IN" b="0" i="0" dirty="0">
                <a:solidFill>
                  <a:srgbClr val="000000"/>
                </a:solidFill>
                <a:effectLst/>
                <a:latin typeface="inter-regular"/>
              </a:rPr>
              <a:t>)  </a:t>
            </a:r>
          </a:p>
          <a:p>
            <a:pPr marL="0" indent="0" algn="just">
              <a:buNone/>
            </a:pPr>
            <a:r>
              <a:rPr lang="en-IN" b="0" i="0" dirty="0">
                <a:solidFill>
                  <a:srgbClr val="000000"/>
                </a:solidFill>
                <a:effectLst/>
                <a:latin typeface="inter-regular"/>
              </a:rPr>
              <a:t>#plotting the graph  </a:t>
            </a:r>
          </a:p>
          <a:p>
            <a:pPr marL="0" indent="0" algn="just">
              <a:buNone/>
            </a:pPr>
            <a:r>
              <a:rPr lang="en-IN" b="0" i="0" dirty="0" err="1">
                <a:solidFill>
                  <a:srgbClr val="000000"/>
                </a:solidFill>
                <a:effectLst/>
                <a:latin typeface="inter-regular"/>
              </a:rPr>
              <a:t>sns.countplot</a:t>
            </a:r>
            <a:r>
              <a:rPr lang="en-IN" b="0" i="0" dirty="0">
                <a:solidFill>
                  <a:srgbClr val="000000"/>
                </a:solidFill>
                <a:effectLst/>
                <a:latin typeface="inter-regular"/>
              </a:rPr>
              <a:t>(x=</a:t>
            </a:r>
            <a:r>
              <a:rPr lang="en-IN" b="0" i="0" dirty="0">
                <a:solidFill>
                  <a:srgbClr val="0000FF"/>
                </a:solidFill>
                <a:effectLst/>
                <a:latin typeface="inter-regular"/>
              </a:rPr>
              <a:t>'</a:t>
            </a:r>
            <a:r>
              <a:rPr lang="en-IN" b="0" i="0" dirty="0" err="1">
                <a:solidFill>
                  <a:srgbClr val="0000FF"/>
                </a:solidFill>
                <a:effectLst/>
                <a:latin typeface="inter-regular"/>
              </a:rPr>
              <a:t>sex'</a:t>
            </a:r>
            <a:r>
              <a:rPr lang="en-IN" b="0" i="0" dirty="0" err="1">
                <a:solidFill>
                  <a:srgbClr val="000000"/>
                </a:solidFill>
                <a:effectLst/>
                <a:latin typeface="inter-regular"/>
              </a:rPr>
              <a:t>,hue</a:t>
            </a:r>
            <a:r>
              <a:rPr lang="en-IN" b="0" i="0" dirty="0">
                <a:solidFill>
                  <a:srgbClr val="000000"/>
                </a:solidFill>
                <a:effectLst/>
                <a:latin typeface="inter-regular"/>
              </a:rPr>
              <a:t>=</a:t>
            </a:r>
            <a:r>
              <a:rPr lang="en-IN" b="0" i="0" dirty="0">
                <a:solidFill>
                  <a:srgbClr val="0000FF"/>
                </a:solidFill>
                <a:effectLst/>
                <a:latin typeface="inter-regular"/>
              </a:rPr>
              <a:t>'</a:t>
            </a:r>
            <a:r>
              <a:rPr lang="en-IN" b="0" i="0" dirty="0" err="1">
                <a:solidFill>
                  <a:srgbClr val="0000FF"/>
                </a:solidFill>
                <a:effectLst/>
                <a:latin typeface="inter-regular"/>
              </a:rPr>
              <a:t>smoker'</a:t>
            </a:r>
            <a:r>
              <a:rPr lang="en-IN" b="0" i="0" dirty="0" err="1">
                <a:solidFill>
                  <a:srgbClr val="000000"/>
                </a:solidFill>
                <a:effectLst/>
                <a:latin typeface="inter-regular"/>
              </a:rPr>
              <a:t>,data</a:t>
            </a:r>
            <a:r>
              <a:rPr lang="en-IN" b="0" i="0" dirty="0">
                <a:solidFill>
                  <a:srgbClr val="000000"/>
                </a:solidFill>
                <a:effectLst/>
                <a:latin typeface="inter-regular"/>
              </a:rPr>
              <a:t>=</a:t>
            </a:r>
            <a:r>
              <a:rPr lang="en-IN" b="0" i="0" dirty="0" err="1">
                <a:solidFill>
                  <a:srgbClr val="000000"/>
                </a:solidFill>
                <a:effectLst/>
                <a:latin typeface="inter-regular"/>
              </a:rPr>
              <a:t>df</a:t>
            </a:r>
            <a:r>
              <a:rPr lang="en-IN" b="0" i="0" dirty="0">
                <a:solidFill>
                  <a:srgbClr val="000000"/>
                </a:solidFill>
                <a:effectLst/>
                <a:latin typeface="inter-regular"/>
              </a:rPr>
              <a:t>)  </a:t>
            </a:r>
          </a:p>
          <a:p>
            <a:pPr marL="0" indent="0" algn="just">
              <a:buNone/>
            </a:pPr>
            <a:r>
              <a:rPr lang="en-IN" b="0" i="0" dirty="0" err="1">
                <a:solidFill>
                  <a:srgbClr val="000000"/>
                </a:solidFill>
                <a:effectLst/>
                <a:latin typeface="inter-regular"/>
              </a:rPr>
              <a:t>plt.show</a:t>
            </a:r>
            <a:r>
              <a:rPr lang="en-IN" b="0" i="0" dirty="0">
                <a:solidFill>
                  <a:srgbClr val="000000"/>
                </a:solidFill>
                <a:effectLst/>
                <a:latin typeface="inter-regular"/>
              </a:rPr>
              <a:t>()  </a:t>
            </a:r>
          </a:p>
          <a:p>
            <a:endParaRPr lang="en-IN" dirty="0"/>
          </a:p>
        </p:txBody>
      </p:sp>
      <p:pic>
        <p:nvPicPr>
          <p:cNvPr id="5" name="Picture 4">
            <a:extLst>
              <a:ext uri="{FF2B5EF4-FFF2-40B4-BE49-F238E27FC236}">
                <a16:creationId xmlns:a16="http://schemas.microsoft.com/office/drawing/2014/main" id="{A2EB3873-2738-1F52-5D92-D84DCC3D623E}"/>
              </a:ext>
            </a:extLst>
          </p:cNvPr>
          <p:cNvPicPr>
            <a:picLocks noChangeAspect="1"/>
          </p:cNvPicPr>
          <p:nvPr/>
        </p:nvPicPr>
        <p:blipFill>
          <a:blip r:embed="rId3"/>
          <a:stretch>
            <a:fillRect/>
          </a:stretch>
        </p:blipFill>
        <p:spPr>
          <a:xfrm>
            <a:off x="6607141" y="535032"/>
            <a:ext cx="5845047" cy="3103907"/>
          </a:xfrm>
          <a:prstGeom prst="rect">
            <a:avLst/>
          </a:prstGeom>
        </p:spPr>
      </p:pic>
    </p:spTree>
    <p:extLst>
      <p:ext uri="{BB962C8B-B14F-4D97-AF65-F5344CB8AC3E}">
        <p14:creationId xmlns:p14="http://schemas.microsoft.com/office/powerpoint/2010/main" val="3735108753"/>
      </p:ext>
    </p:extLst>
  </p:cSld>
  <p:clrMapOvr>
    <a:overrideClrMapping bg1="lt1" tx1="dk1" bg2="lt2" tx2="dk2" accent1="accent1" accent2="accent2" accent3="accent3" accent4="accent4" accent5="accent5" accent6="accent6" hlink="hlink" folHlink="folHlink"/>
  </p:clrMapOvr>
</p:sld>
</file>

<file path=ppt/slides/slide28.xml><?xml version="1.0" encoding="utf-8"?>
<p:sld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1C49050-167A-41CD-9D5E-7045AF19AB4D}"/>
              </a:ext>
            </a:extLst>
          </p:cNvPr>
          <p:cNvSpPr>
            <a:spLocks noGrp="1"/>
          </p:cNvSpPr>
          <p:nvPr>
            <p:ph idx="1"/>
          </p:nvPr>
        </p:nvSpPr>
        <p:spPr>
          <a:xfrm>
            <a:off x="838200" y="139959"/>
            <a:ext cx="10515600" cy="6037004"/>
          </a:xfrm>
        </p:spPr>
        <p:txBody>
          <a:bodyPr>
            <a:normAutofit/>
          </a:bodyPr>
          <a:lstStyle/>
          <a:p>
            <a:pPr algn="just"/>
            <a:r>
              <a:rPr lang="en-IN" b="0" i="0" dirty="0">
                <a:solidFill>
                  <a:srgbClr val="610B4B"/>
                </a:solidFill>
                <a:effectLst/>
                <a:latin typeface="erdana"/>
              </a:rPr>
              <a:t>3. Creating Horizontal Plots</a:t>
            </a:r>
          </a:p>
          <a:p>
            <a:pPr marL="0" indent="0" algn="just">
              <a:buNone/>
            </a:pPr>
            <a:r>
              <a:rPr lang="en-IN" b="1" i="0" dirty="0">
                <a:solidFill>
                  <a:srgbClr val="006699"/>
                </a:solidFill>
                <a:effectLst/>
                <a:latin typeface="inter-regular"/>
              </a:rPr>
              <a:t>import</a:t>
            </a:r>
            <a:r>
              <a:rPr lang="en-IN" b="0" i="0" dirty="0">
                <a:solidFill>
                  <a:srgbClr val="000000"/>
                </a:solidFill>
                <a:effectLst/>
                <a:latin typeface="inter-regular"/>
              </a:rPr>
              <a:t> </a:t>
            </a:r>
            <a:r>
              <a:rPr lang="en-IN" b="0" i="0" dirty="0" err="1">
                <a:solidFill>
                  <a:srgbClr val="000000"/>
                </a:solidFill>
                <a:effectLst/>
                <a:latin typeface="inter-regular"/>
              </a:rPr>
              <a:t>matplotlib.pyplot</a:t>
            </a:r>
            <a:r>
              <a:rPr lang="en-IN" b="0" i="0" dirty="0">
                <a:solidFill>
                  <a:srgbClr val="000000"/>
                </a:solidFill>
                <a:effectLst/>
                <a:latin typeface="inter-regular"/>
              </a:rPr>
              <a:t> as </a:t>
            </a:r>
            <a:r>
              <a:rPr lang="en-IN" b="0" i="0" dirty="0" err="1">
                <a:solidFill>
                  <a:srgbClr val="000000"/>
                </a:solidFill>
                <a:effectLst/>
                <a:latin typeface="inter-regular"/>
              </a:rPr>
              <a:t>plt</a:t>
            </a:r>
            <a:r>
              <a:rPr lang="en-IN" b="0" i="0" dirty="0">
                <a:solidFill>
                  <a:srgbClr val="000000"/>
                </a:solidFill>
                <a:effectLst/>
                <a:latin typeface="inter-regular"/>
              </a:rPr>
              <a:t>  </a:t>
            </a:r>
          </a:p>
          <a:p>
            <a:pPr marL="0" indent="0" algn="just">
              <a:buNone/>
            </a:pPr>
            <a:r>
              <a:rPr lang="en-IN" b="1" i="0" dirty="0">
                <a:solidFill>
                  <a:srgbClr val="006699"/>
                </a:solidFill>
                <a:effectLst/>
                <a:latin typeface="inter-regular"/>
              </a:rPr>
              <a:t>import</a:t>
            </a:r>
            <a:r>
              <a:rPr lang="en-IN" b="0" i="0" dirty="0">
                <a:solidFill>
                  <a:srgbClr val="000000"/>
                </a:solidFill>
                <a:effectLst/>
                <a:latin typeface="inter-regular"/>
              </a:rPr>
              <a:t> seaborn as </a:t>
            </a:r>
            <a:r>
              <a:rPr lang="en-IN" b="0" i="0" dirty="0" err="1">
                <a:solidFill>
                  <a:srgbClr val="000000"/>
                </a:solidFill>
                <a:effectLst/>
                <a:latin typeface="inter-regular"/>
              </a:rPr>
              <a:t>sns</a:t>
            </a:r>
            <a:r>
              <a:rPr lang="en-IN" b="0" i="0" dirty="0">
                <a:solidFill>
                  <a:srgbClr val="000000"/>
                </a:solidFill>
                <a:effectLst/>
                <a:latin typeface="inter-regular"/>
              </a:rPr>
              <a:t>  </a:t>
            </a:r>
          </a:p>
          <a:p>
            <a:pPr marL="0" indent="0" algn="just">
              <a:buNone/>
            </a:pPr>
            <a:r>
              <a:rPr lang="en-IN" b="1" i="0" dirty="0">
                <a:solidFill>
                  <a:srgbClr val="006699"/>
                </a:solidFill>
                <a:effectLst/>
                <a:latin typeface="inter-regular"/>
              </a:rPr>
              <a:t>import</a:t>
            </a:r>
            <a:r>
              <a:rPr lang="en-IN" b="0" i="0" dirty="0">
                <a:solidFill>
                  <a:srgbClr val="000000"/>
                </a:solidFill>
                <a:effectLst/>
                <a:latin typeface="inter-regular"/>
              </a:rPr>
              <a:t> pandas as pd  </a:t>
            </a:r>
          </a:p>
          <a:p>
            <a:pPr marL="0" indent="0" algn="just">
              <a:buNone/>
            </a:pPr>
            <a:r>
              <a:rPr lang="en-IN" b="0" i="0" dirty="0">
                <a:solidFill>
                  <a:srgbClr val="000000"/>
                </a:solidFill>
                <a:effectLst/>
                <a:latin typeface="inter-regular"/>
              </a:rPr>
              <a:t>#loading the dataset </a:t>
            </a:r>
            <a:r>
              <a:rPr lang="en-IN" b="0" i="0" dirty="0">
                <a:solidFill>
                  <a:srgbClr val="0000FF"/>
                </a:solidFill>
                <a:effectLst/>
                <a:latin typeface="inter-regular"/>
              </a:rPr>
              <a:t>'tips'</a:t>
            </a:r>
            <a:r>
              <a:rPr lang="en-IN" b="0" i="0" dirty="0">
                <a:solidFill>
                  <a:srgbClr val="000000"/>
                </a:solidFill>
                <a:effectLst/>
                <a:latin typeface="inter-regular"/>
              </a:rPr>
              <a:t>  </a:t>
            </a:r>
          </a:p>
          <a:p>
            <a:pPr marL="0" indent="0" algn="just">
              <a:buNone/>
            </a:pPr>
            <a:r>
              <a:rPr lang="en-IN" b="0" i="0" dirty="0" err="1">
                <a:solidFill>
                  <a:srgbClr val="000000"/>
                </a:solidFill>
                <a:effectLst/>
                <a:latin typeface="inter-regular"/>
              </a:rPr>
              <a:t>df</a:t>
            </a:r>
            <a:r>
              <a:rPr lang="en-IN" b="0" i="0" dirty="0">
                <a:solidFill>
                  <a:srgbClr val="000000"/>
                </a:solidFill>
                <a:effectLst/>
                <a:latin typeface="inter-regular"/>
              </a:rPr>
              <a:t>=</a:t>
            </a:r>
            <a:r>
              <a:rPr lang="en-IN" b="0" i="0" dirty="0" err="1">
                <a:solidFill>
                  <a:srgbClr val="000000"/>
                </a:solidFill>
                <a:effectLst/>
                <a:latin typeface="inter-regular"/>
              </a:rPr>
              <a:t>pd.read_csv</a:t>
            </a:r>
            <a:r>
              <a:rPr lang="en-IN" b="0" i="0" dirty="0">
                <a:solidFill>
                  <a:srgbClr val="000000"/>
                </a:solidFill>
                <a:effectLst/>
                <a:latin typeface="inter-regular"/>
              </a:rPr>
              <a:t>(</a:t>
            </a:r>
            <a:r>
              <a:rPr lang="en-IN" b="0" i="0" dirty="0">
                <a:solidFill>
                  <a:srgbClr val="0000FF"/>
                </a:solidFill>
                <a:effectLst/>
                <a:latin typeface="inter-regular"/>
              </a:rPr>
              <a:t>"/content/tips.csv"</a:t>
            </a:r>
            <a:r>
              <a:rPr lang="en-IN" b="0" i="0" dirty="0">
                <a:solidFill>
                  <a:srgbClr val="000000"/>
                </a:solidFill>
                <a:effectLst/>
                <a:latin typeface="inter-regular"/>
              </a:rPr>
              <a:t>)  </a:t>
            </a:r>
          </a:p>
          <a:p>
            <a:pPr marL="0" indent="0" algn="just">
              <a:buNone/>
            </a:pPr>
            <a:r>
              <a:rPr lang="en-IN" b="0" i="0" dirty="0">
                <a:solidFill>
                  <a:srgbClr val="000000"/>
                </a:solidFill>
                <a:effectLst/>
                <a:latin typeface="inter-regular"/>
              </a:rPr>
              <a:t>#plotting the graph  </a:t>
            </a:r>
          </a:p>
          <a:p>
            <a:pPr marL="0" indent="0" algn="just">
              <a:buNone/>
            </a:pPr>
            <a:r>
              <a:rPr lang="en-IN" b="0" i="0" dirty="0" err="1">
                <a:solidFill>
                  <a:srgbClr val="000000"/>
                </a:solidFill>
                <a:effectLst/>
                <a:latin typeface="inter-regular"/>
              </a:rPr>
              <a:t>sns.countplot</a:t>
            </a:r>
            <a:r>
              <a:rPr lang="en-IN" b="0" i="0" dirty="0">
                <a:solidFill>
                  <a:srgbClr val="000000"/>
                </a:solidFill>
                <a:effectLst/>
                <a:latin typeface="inter-regular"/>
              </a:rPr>
              <a:t>(y=</a:t>
            </a:r>
            <a:r>
              <a:rPr lang="en-IN" b="0" i="0" dirty="0">
                <a:solidFill>
                  <a:srgbClr val="0000FF"/>
                </a:solidFill>
                <a:effectLst/>
                <a:latin typeface="inter-regular"/>
              </a:rPr>
              <a:t>'</a:t>
            </a:r>
            <a:r>
              <a:rPr lang="en-IN" b="0" i="0" dirty="0" err="1">
                <a:solidFill>
                  <a:srgbClr val="0000FF"/>
                </a:solidFill>
                <a:effectLst/>
                <a:latin typeface="inter-regular"/>
              </a:rPr>
              <a:t>sex'</a:t>
            </a:r>
            <a:r>
              <a:rPr lang="en-IN" b="0" i="0" dirty="0" err="1">
                <a:solidFill>
                  <a:srgbClr val="000000"/>
                </a:solidFill>
                <a:effectLst/>
                <a:latin typeface="inter-regular"/>
              </a:rPr>
              <a:t>,hue</a:t>
            </a:r>
            <a:r>
              <a:rPr lang="en-IN" b="0" i="0" dirty="0">
                <a:solidFill>
                  <a:srgbClr val="000000"/>
                </a:solidFill>
                <a:effectLst/>
                <a:latin typeface="inter-regular"/>
              </a:rPr>
              <a:t>=</a:t>
            </a:r>
            <a:r>
              <a:rPr lang="en-IN" b="0" i="0" dirty="0">
                <a:solidFill>
                  <a:srgbClr val="0000FF"/>
                </a:solidFill>
                <a:effectLst/>
                <a:latin typeface="inter-regular"/>
              </a:rPr>
              <a:t>'</a:t>
            </a:r>
            <a:r>
              <a:rPr lang="en-IN" b="0" i="0" dirty="0" err="1">
                <a:solidFill>
                  <a:srgbClr val="0000FF"/>
                </a:solidFill>
                <a:effectLst/>
                <a:latin typeface="inter-regular"/>
              </a:rPr>
              <a:t>smoker'</a:t>
            </a:r>
            <a:r>
              <a:rPr lang="en-IN" b="0" i="0" dirty="0" err="1">
                <a:solidFill>
                  <a:srgbClr val="000000"/>
                </a:solidFill>
                <a:effectLst/>
                <a:latin typeface="inter-regular"/>
              </a:rPr>
              <a:t>,data</a:t>
            </a:r>
            <a:r>
              <a:rPr lang="en-IN" b="0" i="0" dirty="0">
                <a:solidFill>
                  <a:srgbClr val="000000"/>
                </a:solidFill>
                <a:effectLst/>
                <a:latin typeface="inter-regular"/>
              </a:rPr>
              <a:t>=</a:t>
            </a:r>
            <a:r>
              <a:rPr lang="en-IN" b="0" i="0" dirty="0" err="1">
                <a:solidFill>
                  <a:srgbClr val="000000"/>
                </a:solidFill>
                <a:effectLst/>
                <a:latin typeface="inter-regular"/>
              </a:rPr>
              <a:t>df</a:t>
            </a:r>
            <a:r>
              <a:rPr lang="en-IN" b="0" i="0" dirty="0">
                <a:solidFill>
                  <a:srgbClr val="000000"/>
                </a:solidFill>
                <a:effectLst/>
                <a:latin typeface="inter-regular"/>
              </a:rPr>
              <a:t>)  </a:t>
            </a:r>
          </a:p>
          <a:p>
            <a:pPr marL="0" indent="0" algn="just">
              <a:buNone/>
            </a:pPr>
            <a:r>
              <a:rPr lang="en-IN" b="0" i="0" dirty="0" err="1">
                <a:solidFill>
                  <a:srgbClr val="000000"/>
                </a:solidFill>
                <a:effectLst/>
                <a:latin typeface="inter-regular"/>
              </a:rPr>
              <a:t>plt.show</a:t>
            </a:r>
            <a:r>
              <a:rPr lang="en-IN" b="0" i="0" dirty="0">
                <a:solidFill>
                  <a:srgbClr val="000000"/>
                </a:solidFill>
                <a:effectLst/>
                <a:latin typeface="inter-regular"/>
              </a:rPr>
              <a:t>()  </a:t>
            </a:r>
          </a:p>
          <a:p>
            <a:endParaRPr lang="en-IN" dirty="0"/>
          </a:p>
        </p:txBody>
      </p:sp>
      <p:pic>
        <p:nvPicPr>
          <p:cNvPr id="5" name="Picture 4">
            <a:extLst>
              <a:ext uri="{FF2B5EF4-FFF2-40B4-BE49-F238E27FC236}">
                <a16:creationId xmlns:a16="http://schemas.microsoft.com/office/drawing/2014/main" id="{6DE3B5E5-69C6-4735-44EA-8805C8A171BD}"/>
              </a:ext>
            </a:extLst>
          </p:cNvPr>
          <p:cNvPicPr>
            <a:picLocks noChangeAspect="1"/>
          </p:cNvPicPr>
          <p:nvPr/>
        </p:nvPicPr>
        <p:blipFill>
          <a:blip r:embed="rId3"/>
          <a:stretch>
            <a:fillRect/>
          </a:stretch>
        </p:blipFill>
        <p:spPr>
          <a:xfrm>
            <a:off x="6240264" y="-101011"/>
            <a:ext cx="5951736" cy="3756986"/>
          </a:xfrm>
          <a:prstGeom prst="rect">
            <a:avLst/>
          </a:prstGeom>
        </p:spPr>
      </p:pic>
    </p:spTree>
    <p:extLst>
      <p:ext uri="{BB962C8B-B14F-4D97-AF65-F5344CB8AC3E}">
        <p14:creationId xmlns:p14="http://schemas.microsoft.com/office/powerpoint/2010/main" val="2275657151"/>
      </p:ext>
    </p:extLst>
  </p:cSld>
  <p:clrMapOvr>
    <a:overrideClrMapping bg1="lt1" tx1="dk1" bg2="lt2" tx2="dk2" accent1="accent1" accent2="accent2" accent3="accent3" accent4="accent4" accent5="accent5" accent6="accent6" hlink="hlink" folHlink="folHlink"/>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a:extLst>
              <a:ext uri="{FF2B5EF4-FFF2-40B4-BE49-F238E27FC236}">
                <a16:creationId xmlns:a16="http://schemas.microsoft.com/office/drawing/2014/main" id="{045E056E-10BD-0B9E-4ACE-A3F54C31FD9F}"/>
              </a:ext>
            </a:extLst>
          </p:cNvPr>
          <p:cNvSpPr/>
          <p:nvPr/>
        </p:nvSpPr>
        <p:spPr>
          <a:xfrm>
            <a:off x="2161309" y="93891"/>
            <a:ext cx="7105194" cy="412293"/>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Gill Sans MT"/>
                <a:ea typeface="+mn-ea"/>
                <a:cs typeface="+mn-cs"/>
              </a:rPr>
              <a:t>REFERENCES FOR FURTHER LEARNING OF THE SESSION</a:t>
            </a:r>
            <a:endParaRPr kumimoji="0" lang="en-US" sz="1800" b="0" i="0" u="none" strike="noStrike" kern="1200" cap="none" spc="0" normalizeH="0" baseline="0" noProof="0" dirty="0">
              <a:ln>
                <a:noFill/>
              </a:ln>
              <a:solidFill>
                <a:prstClr val="white"/>
              </a:solidFill>
              <a:effectLst/>
              <a:uLnTx/>
              <a:uFillTx/>
              <a:latin typeface="Poppins" panose="00000500000000000000" pitchFamily="2" charset="0"/>
              <a:ea typeface="+mn-ea"/>
              <a:cs typeface="Poppins" panose="00000500000000000000" pitchFamily="2" charset="0"/>
            </a:endParaRPr>
          </a:p>
        </p:txBody>
      </p:sp>
      <p:sp>
        <p:nvSpPr>
          <p:cNvPr id="9" name="TextBox 8"/>
          <p:cNvSpPr txBox="1"/>
          <p:nvPr/>
        </p:nvSpPr>
        <p:spPr>
          <a:xfrm>
            <a:off x="900331" y="1167618"/>
            <a:ext cx="10409819" cy="4060022"/>
          </a:xfrm>
          <a:prstGeom prst="rect">
            <a:avLst/>
          </a:prstGeom>
          <a:noFill/>
        </p:spPr>
        <p:txBody>
          <a:bodyPr wrap="square" rtlCol="0">
            <a:spAutoFit/>
          </a:bodyPr>
          <a:lstStyle/>
          <a:p>
            <a:pPr marL="0" marR="0" lvl="0" indent="0" algn="l" defTabSz="457200" rtl="0" eaLnBrk="1" fontAlgn="auto" latinLnBrk="0" hangingPunct="1">
              <a:lnSpc>
                <a:spcPct val="15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Gill Sans MT"/>
                <a:ea typeface="+mn-ea"/>
                <a:cs typeface="+mn-cs"/>
              </a:rPr>
              <a:t>Text Books:</a:t>
            </a:r>
            <a:endParaRPr kumimoji="0" lang="en-US" sz="1800" b="0" i="0" u="none" strike="noStrike" kern="1200" cap="none" spc="0" normalizeH="0" baseline="0" noProof="0" dirty="0">
              <a:ln>
                <a:noFill/>
              </a:ln>
              <a:solidFill>
                <a:prstClr val="black"/>
              </a:solidFill>
              <a:effectLst/>
              <a:uLnTx/>
              <a:uFillTx/>
              <a:latin typeface="Gill Sans MT"/>
              <a:ea typeface="+mn-ea"/>
              <a:cs typeface="+mn-cs"/>
            </a:endParaRPr>
          </a:p>
          <a:p>
            <a:pPr marL="514350" marR="0" lvl="0" indent="-514350" algn="just" defTabSz="457200" rtl="0" eaLnBrk="1" fontAlgn="auto" latinLnBrk="0" hangingPunct="1">
              <a:lnSpc>
                <a:spcPct val="100000"/>
              </a:lnSpc>
              <a:spcBef>
                <a:spcPts val="0"/>
              </a:spcBef>
              <a:spcAft>
                <a:spcPts val="0"/>
              </a:spcAft>
              <a:buClrTx/>
              <a:buSzTx/>
              <a:buFont typeface="Arial" panose="020B0604020202020204" pitchFamily="34" charset="0"/>
              <a:buAutoNum type="arabicPeriod"/>
              <a:tabLst/>
              <a:defRPr/>
            </a:pPr>
            <a:r>
              <a:rPr kumimoji="0" lang="en-IN" sz="1800" b="0" i="0" u="none" strike="noStrike" kern="1200" cap="none" spc="0" normalizeH="0" baseline="0" noProof="0" dirty="0">
                <a:ln>
                  <a:noFill/>
                </a:ln>
                <a:solidFill>
                  <a:prstClr val="black"/>
                </a:solidFill>
                <a:effectLst/>
                <a:uLnTx/>
                <a:uFillTx/>
                <a:latin typeface="Gill Sans MT"/>
                <a:ea typeface="+mn-ea"/>
                <a:cs typeface="+mn-cs"/>
              </a:rPr>
              <a:t>Introduction to Data Science- A Structured </a:t>
            </a:r>
            <a:r>
              <a:rPr kumimoji="0" lang="en-IN" sz="1800" b="0" i="0" u="none" strike="noStrike" kern="1200" cap="none" spc="0" normalizeH="0" baseline="0" noProof="0" dirty="0" err="1">
                <a:ln>
                  <a:noFill/>
                </a:ln>
                <a:solidFill>
                  <a:prstClr val="black"/>
                </a:solidFill>
                <a:effectLst/>
                <a:uLnTx/>
                <a:uFillTx/>
                <a:latin typeface="Gill Sans MT"/>
                <a:ea typeface="+mn-ea"/>
                <a:cs typeface="+mn-cs"/>
              </a:rPr>
              <a:t>Methodology,Goran</a:t>
            </a:r>
            <a:r>
              <a:rPr kumimoji="0" lang="en-IN" sz="1800" b="0" i="0" u="none" strike="noStrike" kern="1200" cap="none" spc="0" normalizeH="0" baseline="0" noProof="0" dirty="0">
                <a:ln>
                  <a:noFill/>
                </a:ln>
                <a:solidFill>
                  <a:prstClr val="black"/>
                </a:solidFill>
                <a:effectLst/>
                <a:uLnTx/>
                <a:uFillTx/>
                <a:latin typeface="Gill Sans MT"/>
                <a:ea typeface="+mn-ea"/>
                <a:cs typeface="+mn-cs"/>
              </a:rPr>
              <a:t> </a:t>
            </a:r>
            <a:r>
              <a:rPr kumimoji="0" lang="en-IN" sz="1800" b="0" i="0" u="none" strike="noStrike" kern="1200" cap="none" spc="0" normalizeH="0" baseline="0" noProof="0" dirty="0" err="1">
                <a:ln>
                  <a:noFill/>
                </a:ln>
                <a:solidFill>
                  <a:prstClr val="black"/>
                </a:solidFill>
                <a:effectLst/>
                <a:uLnTx/>
                <a:uFillTx/>
                <a:latin typeface="Gill Sans MT"/>
                <a:ea typeface="+mn-ea"/>
                <a:cs typeface="+mn-cs"/>
              </a:rPr>
              <a:t>trajkovski</a:t>
            </a:r>
            <a:r>
              <a:rPr kumimoji="0" lang="en-IN" sz="1800" b="0" i="0" u="none" strike="noStrike" kern="1200" cap="none" spc="0" normalizeH="0" baseline="0" noProof="0" dirty="0">
                <a:ln>
                  <a:noFill/>
                </a:ln>
                <a:solidFill>
                  <a:prstClr val="black"/>
                </a:solidFill>
                <a:effectLst/>
                <a:uLnTx/>
                <a:uFillTx/>
                <a:latin typeface="Gill Sans MT"/>
                <a:ea typeface="+mn-ea"/>
                <a:cs typeface="+mn-cs"/>
              </a:rPr>
              <a:t>. </a:t>
            </a:r>
          </a:p>
          <a:p>
            <a:pPr marL="514350" marR="0" lvl="0" indent="-514350" algn="just" defTabSz="457200" rtl="0" eaLnBrk="1" fontAlgn="auto" latinLnBrk="0" hangingPunct="1">
              <a:lnSpc>
                <a:spcPct val="100000"/>
              </a:lnSpc>
              <a:spcBef>
                <a:spcPts val="0"/>
              </a:spcBef>
              <a:spcAft>
                <a:spcPts val="0"/>
              </a:spcAft>
              <a:buClrTx/>
              <a:buSzTx/>
              <a:buFont typeface="Arial" panose="020B0604020202020204" pitchFamily="34" charset="0"/>
              <a:buAutoNum type="arabicPeriod"/>
              <a:tabLst/>
              <a:defRPr/>
            </a:pPr>
            <a:r>
              <a:rPr kumimoji="0" lang="en-IN" sz="1800" b="0" i="0" u="none" strike="noStrike" kern="1200" cap="none" spc="0" normalizeH="0" baseline="0" noProof="0" dirty="0">
                <a:ln>
                  <a:noFill/>
                </a:ln>
                <a:solidFill>
                  <a:prstClr val="black"/>
                </a:solidFill>
                <a:effectLst/>
                <a:uLnTx/>
                <a:uFillTx/>
                <a:latin typeface="Gill Sans MT"/>
                <a:ea typeface="+mn-ea"/>
                <a:cs typeface="+mn-cs"/>
              </a:rPr>
              <a:t>Data Science from Scratch- Joel Grus - O’Reilly - 2015 </a:t>
            </a:r>
          </a:p>
          <a:p>
            <a:pPr marL="514350" marR="0" lvl="0" indent="-514350" algn="just" defTabSz="457200" rtl="0" eaLnBrk="1" fontAlgn="auto" latinLnBrk="0" hangingPunct="1">
              <a:lnSpc>
                <a:spcPct val="100000"/>
              </a:lnSpc>
              <a:spcBef>
                <a:spcPts val="0"/>
              </a:spcBef>
              <a:spcAft>
                <a:spcPts val="0"/>
              </a:spcAft>
              <a:buClrTx/>
              <a:buSzTx/>
              <a:buFont typeface="Arial" panose="020B0604020202020204" pitchFamily="34" charset="0"/>
              <a:buAutoNum type="arabicPeriod"/>
              <a:tabLst/>
              <a:defRPr/>
            </a:pPr>
            <a:r>
              <a:rPr kumimoji="0" lang="en-IN" sz="1800" b="0" i="0" u="none" strike="noStrike" kern="1200" cap="none" spc="0" normalizeH="0" baseline="0" noProof="0" dirty="0">
                <a:ln>
                  <a:noFill/>
                </a:ln>
                <a:solidFill>
                  <a:prstClr val="black"/>
                </a:solidFill>
                <a:effectLst/>
                <a:uLnTx/>
                <a:uFillTx/>
                <a:latin typeface="Gill Sans MT"/>
                <a:ea typeface="+mn-ea"/>
                <a:cs typeface="+mn-cs"/>
              </a:rPr>
              <a:t>Practical Statistics for Data Scientists - Peter Bruce, Andrew Bruce &amp; Peter </a:t>
            </a:r>
            <a:r>
              <a:rPr kumimoji="0" lang="en-IN" sz="1800" b="0" i="0" u="none" strike="noStrike" kern="1200" cap="none" spc="0" normalizeH="0" baseline="0" noProof="0" dirty="0" err="1">
                <a:ln>
                  <a:noFill/>
                </a:ln>
                <a:solidFill>
                  <a:prstClr val="black"/>
                </a:solidFill>
                <a:effectLst/>
                <a:uLnTx/>
                <a:uFillTx/>
                <a:latin typeface="Gill Sans MT"/>
                <a:ea typeface="+mn-ea"/>
                <a:cs typeface="+mn-cs"/>
              </a:rPr>
              <a:t>Gedeck</a:t>
            </a:r>
            <a:r>
              <a:rPr kumimoji="0" lang="en-IN" sz="1800" b="0" i="0" u="none" strike="noStrike" kern="1200" cap="none" spc="0" normalizeH="0" baseline="0" noProof="0" dirty="0">
                <a:ln>
                  <a:noFill/>
                </a:ln>
                <a:solidFill>
                  <a:prstClr val="black"/>
                </a:solidFill>
                <a:effectLst/>
                <a:uLnTx/>
                <a:uFillTx/>
                <a:latin typeface="Gill Sans MT"/>
                <a:ea typeface="+mn-ea"/>
                <a:cs typeface="+mn-cs"/>
              </a:rPr>
              <a:t> - O’Reilly - 2020 </a:t>
            </a:r>
          </a:p>
          <a:p>
            <a:pPr marL="514350" marR="0" lvl="0" indent="-514350" algn="just" defTabSz="457200" rtl="0" eaLnBrk="1" fontAlgn="auto" latinLnBrk="0" hangingPunct="1">
              <a:lnSpc>
                <a:spcPct val="100000"/>
              </a:lnSpc>
              <a:spcBef>
                <a:spcPts val="0"/>
              </a:spcBef>
              <a:spcAft>
                <a:spcPts val="0"/>
              </a:spcAft>
              <a:buClrTx/>
              <a:buSzTx/>
              <a:buFont typeface="Arial" panose="020B0604020202020204" pitchFamily="34" charset="0"/>
              <a:buAutoNum type="arabicPeriod"/>
              <a:tabLst/>
              <a:defRPr/>
            </a:pPr>
            <a:r>
              <a:rPr kumimoji="0" lang="en-IN" sz="1800" b="0" i="0" u="none" strike="noStrike" kern="1200" cap="none" spc="0" normalizeH="0" baseline="0" noProof="0" dirty="0">
                <a:ln>
                  <a:noFill/>
                </a:ln>
                <a:solidFill>
                  <a:prstClr val="black"/>
                </a:solidFill>
                <a:effectLst/>
                <a:uLnTx/>
                <a:uFillTx/>
                <a:latin typeface="Gill Sans MT"/>
                <a:ea typeface="+mn-ea"/>
                <a:cs typeface="+mn-cs"/>
              </a:rPr>
              <a:t>Data Science and Machine Learning (Mathematical and Statistical Methods) - Dirk P. Kroese, Zdravko I. Botev, Thomas </a:t>
            </a:r>
            <a:r>
              <a:rPr kumimoji="0" lang="en-IN" sz="1800" b="0" i="0" u="none" strike="noStrike" kern="1200" cap="none" spc="0" normalizeH="0" baseline="0" noProof="0" dirty="0" err="1">
                <a:ln>
                  <a:noFill/>
                </a:ln>
                <a:solidFill>
                  <a:prstClr val="black"/>
                </a:solidFill>
                <a:effectLst/>
                <a:uLnTx/>
                <a:uFillTx/>
                <a:latin typeface="Gill Sans MT"/>
                <a:ea typeface="+mn-ea"/>
                <a:cs typeface="+mn-cs"/>
              </a:rPr>
              <a:t>Taimre</a:t>
            </a:r>
            <a:r>
              <a:rPr kumimoji="0" lang="en-IN" sz="1800" b="0" i="0" u="none" strike="noStrike" kern="1200" cap="none" spc="0" normalizeH="0" baseline="0" noProof="0" dirty="0">
                <a:ln>
                  <a:noFill/>
                </a:ln>
                <a:solidFill>
                  <a:prstClr val="black"/>
                </a:solidFill>
                <a:effectLst/>
                <a:uLnTx/>
                <a:uFillTx/>
                <a:latin typeface="Gill Sans MT"/>
                <a:ea typeface="+mn-ea"/>
                <a:cs typeface="+mn-cs"/>
              </a:rPr>
              <a:t>, Radislav Vaisman- Chapman and Hall/CRC - 2025 </a:t>
            </a:r>
          </a:p>
          <a:p>
            <a:pPr marL="514350" marR="0" lvl="0" indent="-514350" algn="just" defTabSz="457200" rtl="0" eaLnBrk="1" fontAlgn="auto" latinLnBrk="0" hangingPunct="1">
              <a:lnSpc>
                <a:spcPct val="100000"/>
              </a:lnSpc>
              <a:spcBef>
                <a:spcPts val="0"/>
              </a:spcBef>
              <a:spcAft>
                <a:spcPts val="0"/>
              </a:spcAft>
              <a:buClrTx/>
              <a:buSzTx/>
              <a:buFont typeface="Arial" panose="020B0604020202020204" pitchFamily="34" charset="0"/>
              <a:buAutoNum type="arabicPeriod"/>
              <a:tabLst/>
              <a:defRPr/>
            </a:pPr>
            <a:r>
              <a:rPr kumimoji="0" lang="en-IN" sz="1800" b="0" i="0" u="none" strike="noStrike" kern="1200" cap="none" spc="0" normalizeH="0" baseline="0" noProof="0" dirty="0">
                <a:ln>
                  <a:noFill/>
                </a:ln>
                <a:solidFill>
                  <a:prstClr val="black"/>
                </a:solidFill>
                <a:effectLst/>
                <a:uLnTx/>
                <a:uFillTx/>
                <a:latin typeface="Gill Sans MT"/>
                <a:ea typeface="+mn-ea"/>
                <a:cs typeface="+mn-cs"/>
              </a:rPr>
              <a:t>Foundations of Data Science - </a:t>
            </a:r>
            <a:r>
              <a:rPr kumimoji="0" lang="en-IN" sz="1800" b="0" i="0" u="none" strike="noStrike" kern="1200" cap="none" spc="0" normalizeH="0" baseline="0" noProof="0" dirty="0" err="1">
                <a:ln>
                  <a:noFill/>
                </a:ln>
                <a:solidFill>
                  <a:prstClr val="black"/>
                </a:solidFill>
                <a:effectLst/>
                <a:uLnTx/>
                <a:uFillTx/>
                <a:latin typeface="Gill Sans MT"/>
                <a:ea typeface="+mn-ea"/>
                <a:cs typeface="+mn-cs"/>
              </a:rPr>
              <a:t>Avrim</a:t>
            </a:r>
            <a:r>
              <a:rPr kumimoji="0" lang="en-IN" sz="1800" b="0" i="0" u="none" strike="noStrike" kern="1200" cap="none" spc="0" normalizeH="0" baseline="0" noProof="0" dirty="0">
                <a:ln>
                  <a:noFill/>
                </a:ln>
                <a:solidFill>
                  <a:prstClr val="black"/>
                </a:solidFill>
                <a:effectLst/>
                <a:uLnTx/>
                <a:uFillTx/>
                <a:latin typeface="Gill Sans MT"/>
                <a:ea typeface="+mn-ea"/>
                <a:cs typeface="+mn-cs"/>
              </a:rPr>
              <a:t> Blum, John Hopcroft, and Ravindran Kannan - Cambridge University Press – 2020</a:t>
            </a:r>
          </a:p>
          <a:p>
            <a:pPr marL="0" marR="0" lvl="0" indent="0" algn="l" defTabSz="457200" rtl="0" eaLnBrk="1" fontAlgn="auto" latinLnBrk="0" hangingPunct="1">
              <a:lnSpc>
                <a:spcPct val="15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Gill Sans MT"/>
                <a:ea typeface="+mn-ea"/>
                <a:cs typeface="+mn-cs"/>
              </a:rPr>
              <a:t>Reference Books:</a:t>
            </a:r>
            <a:endParaRPr kumimoji="0" lang="en-US" sz="1800" b="0" i="0" u="none" strike="noStrike" kern="1200" cap="none" spc="0" normalizeH="0" baseline="0" noProof="0" dirty="0">
              <a:ln>
                <a:noFill/>
              </a:ln>
              <a:solidFill>
                <a:prstClr val="black"/>
              </a:solidFill>
              <a:effectLst/>
              <a:uLnTx/>
              <a:uFillTx/>
              <a:latin typeface="Gill Sans MT"/>
              <a:ea typeface="+mn-ea"/>
              <a:cs typeface="+mn-cs"/>
            </a:endParaRPr>
          </a:p>
          <a:p>
            <a:pPr marL="0" marR="0" lvl="0" indent="0" algn="just"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Gill Sans MT"/>
                <a:ea typeface="+mn-ea"/>
                <a:cs typeface="+mn-cs"/>
              </a:rPr>
              <a:t>R1.Data Science and Its Applications by Aakanksha </a:t>
            </a:r>
            <a:r>
              <a:rPr kumimoji="0" lang="en-US" sz="1800" b="0" i="0" u="none" strike="noStrike" kern="1200" cap="none" spc="0" normalizeH="0" baseline="0" noProof="0" dirty="0" err="1">
                <a:ln>
                  <a:noFill/>
                </a:ln>
                <a:solidFill>
                  <a:prstClr val="black"/>
                </a:solidFill>
                <a:effectLst/>
                <a:uLnTx/>
                <a:uFillTx/>
                <a:latin typeface="Gill Sans MT"/>
                <a:ea typeface="+mn-ea"/>
                <a:cs typeface="+mn-cs"/>
              </a:rPr>
              <a:t>Sharaff</a:t>
            </a:r>
            <a:r>
              <a:rPr kumimoji="0" lang="en-US" sz="1800" b="0" i="0" u="none" strike="noStrike" kern="1200" cap="none" spc="0" normalizeH="0" baseline="0" noProof="0" dirty="0">
                <a:ln>
                  <a:noFill/>
                </a:ln>
                <a:solidFill>
                  <a:prstClr val="black"/>
                </a:solidFill>
                <a:effectLst/>
                <a:uLnTx/>
                <a:uFillTx/>
                <a:latin typeface="Gill Sans MT"/>
                <a:ea typeface="+mn-ea"/>
                <a:cs typeface="+mn-cs"/>
              </a:rPr>
              <a:t> and G. R. Sinha. </a:t>
            </a:r>
          </a:p>
          <a:p>
            <a:pPr marL="0" marR="0" lvl="0" indent="0" algn="just"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Gill Sans MT"/>
                <a:ea typeface="+mn-ea"/>
                <a:cs typeface="+mn-cs"/>
              </a:rPr>
              <a:t>R2. Introducing Data Science Big Data, Machine Learning, and more using Python tools. by Davy </a:t>
            </a:r>
            <a:r>
              <a:rPr kumimoji="0" lang="en-US" sz="1800" b="0" i="0" u="none" strike="noStrike" kern="1200" cap="none" spc="0" normalizeH="0" baseline="0" noProof="0" dirty="0" err="1">
                <a:ln>
                  <a:noFill/>
                </a:ln>
                <a:solidFill>
                  <a:prstClr val="black"/>
                </a:solidFill>
                <a:effectLst/>
                <a:uLnTx/>
                <a:uFillTx/>
                <a:latin typeface="Gill Sans MT"/>
                <a:ea typeface="+mn-ea"/>
                <a:cs typeface="+mn-cs"/>
              </a:rPr>
              <a:t>cielen</a:t>
            </a:r>
            <a:r>
              <a:rPr kumimoji="0" lang="en-US" sz="1800" b="0" i="0" u="none" strike="noStrike" kern="1200" cap="none" spc="0" normalizeH="0" baseline="0" noProof="0" dirty="0">
                <a:ln>
                  <a:noFill/>
                </a:ln>
                <a:solidFill>
                  <a:prstClr val="black"/>
                </a:solidFill>
                <a:effectLst/>
                <a:uLnTx/>
                <a:uFillTx/>
                <a:latin typeface="Gill Sans MT"/>
                <a:ea typeface="+mn-ea"/>
                <a:cs typeface="+mn-cs"/>
              </a:rPr>
              <a:t>, Arno D.B. </a:t>
            </a:r>
            <a:r>
              <a:rPr kumimoji="0" lang="en-US" sz="1800" b="0" i="0" u="none" strike="noStrike" kern="1200" cap="none" spc="0" normalizeH="0" baseline="0" noProof="0" dirty="0" err="1">
                <a:ln>
                  <a:noFill/>
                </a:ln>
                <a:solidFill>
                  <a:prstClr val="black"/>
                </a:solidFill>
                <a:effectLst/>
                <a:uLnTx/>
                <a:uFillTx/>
                <a:latin typeface="Gill Sans MT"/>
                <a:ea typeface="+mn-ea"/>
                <a:cs typeface="+mn-cs"/>
              </a:rPr>
              <a:t>Meysman</a:t>
            </a:r>
            <a:r>
              <a:rPr kumimoji="0" lang="en-US" sz="1800" b="0" i="0" u="none" strike="noStrike" kern="1200" cap="none" spc="0" normalizeH="0" baseline="0" noProof="0" dirty="0">
                <a:ln>
                  <a:noFill/>
                </a:ln>
                <a:solidFill>
                  <a:prstClr val="black"/>
                </a:solidFill>
                <a:effectLst/>
                <a:uLnTx/>
                <a:uFillTx/>
                <a:latin typeface="Gill Sans MT"/>
                <a:ea typeface="+mn-ea"/>
                <a:cs typeface="+mn-cs"/>
              </a:rPr>
              <a:t> and Mohamed Ali.</a:t>
            </a:r>
            <a:endParaRPr kumimoji="0" lang="en-US" altLang="en-US" sz="1800" b="0" i="0" u="none" strike="noStrike" kern="1200" cap="none" spc="0" normalizeH="0" baseline="0" noProof="0" dirty="0">
              <a:ln>
                <a:noFill/>
              </a:ln>
              <a:solidFill>
                <a:prstClr val="black"/>
              </a:solidFill>
              <a:effectLst/>
              <a:uLnTx/>
              <a:uFillTx/>
              <a:latin typeface="Gill Sans MT"/>
              <a:ea typeface="+mn-ea"/>
              <a:cs typeface="+mn-cs"/>
            </a:endParaRPr>
          </a:p>
          <a:p>
            <a:pPr marL="0" marR="0" lvl="0" indent="0" algn="l" defTabSz="457200" rtl="0" eaLnBrk="1" fontAlgn="auto" latinLnBrk="0" hangingPunct="1">
              <a:lnSpc>
                <a:spcPct val="15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Gill Sans MT"/>
              <a:ea typeface="+mn-ea"/>
              <a:cs typeface="+mn-cs"/>
            </a:endParaRPr>
          </a:p>
        </p:txBody>
      </p:sp>
    </p:spTree>
    <p:extLst>
      <p:ext uri="{BB962C8B-B14F-4D97-AF65-F5344CB8AC3E}">
        <p14:creationId xmlns:p14="http://schemas.microsoft.com/office/powerpoint/2010/main" val="1045272356"/>
      </p:ext>
    </p:extLst>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3">
            <a:extLst>
              <a:ext uri="{FF2B5EF4-FFF2-40B4-BE49-F238E27FC236}">
                <a16:creationId xmlns:a16="http://schemas.microsoft.com/office/drawing/2014/main" id="{E792BE84-3448-2348-B352-CD5BC083E5FD}"/>
              </a:ext>
            </a:extLst>
          </p:cNvPr>
          <p:cNvSpPr/>
          <p:nvPr/>
        </p:nvSpPr>
        <p:spPr>
          <a:xfrm>
            <a:off x="2602523" y="1856934"/>
            <a:ext cx="7920111" cy="2883877"/>
          </a:xfrm>
          <a:prstGeom prst="roundRect">
            <a:avLst/>
          </a:prstGeom>
          <a:solidFill>
            <a:schemeClr val="accent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white"/>
              </a:solidFill>
              <a:effectLst/>
              <a:uLnTx/>
              <a:uFillTx/>
              <a:latin typeface="Poppins" pitchFamily="2" charset="77"/>
              <a:ea typeface="+mn-ea"/>
              <a:cs typeface="Poppins" pitchFamily="2" charset="77"/>
            </a:endParaRPr>
          </a:p>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2400" b="1" i="0" u="none" strike="noStrike" kern="1200" cap="none" spc="0" normalizeH="0" baseline="0" noProof="0" dirty="0">
              <a:ln>
                <a:noFill/>
              </a:ln>
              <a:solidFill>
                <a:prstClr val="white"/>
              </a:solidFill>
              <a:effectLst/>
              <a:uLnTx/>
              <a:uFillTx/>
              <a:latin typeface="Poppins" pitchFamily="2" charset="77"/>
              <a:ea typeface="+mn-ea"/>
              <a:cs typeface="Poppins" pitchFamily="2" charset="77"/>
            </a:endParaRPr>
          </a:p>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white"/>
                </a:solidFill>
                <a:effectLst/>
                <a:uLnTx/>
                <a:uFillTx/>
                <a:latin typeface="Poppins" pitchFamily="2" charset="77"/>
                <a:ea typeface="+mn-ea"/>
                <a:cs typeface="Poppins" pitchFamily="2" charset="77"/>
              </a:rPr>
              <a:t>THANK YOU</a:t>
            </a:r>
          </a:p>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white"/>
              </a:solidFill>
              <a:effectLst/>
              <a:uLnTx/>
              <a:uFillTx/>
              <a:latin typeface="Poppins" pitchFamily="2" charset="77"/>
              <a:ea typeface="+mn-ea"/>
              <a:cs typeface="Poppins" pitchFamily="2" charset="77"/>
            </a:endParaRPr>
          </a:p>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white"/>
              </a:solidFill>
              <a:effectLst/>
              <a:uLnTx/>
              <a:uFillTx/>
              <a:latin typeface="Poppins" pitchFamily="2" charset="77"/>
              <a:ea typeface="+mn-ea"/>
              <a:cs typeface="Poppins" pitchFamily="2" charset="77"/>
            </a:endParaRPr>
          </a:p>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white"/>
              </a:solidFill>
              <a:effectLst/>
              <a:uLnTx/>
              <a:uFillTx/>
              <a:latin typeface="Poppins" pitchFamily="2" charset="77"/>
              <a:ea typeface="+mn-ea"/>
              <a:cs typeface="Poppins" pitchFamily="2" charset="77"/>
            </a:endParaRPr>
          </a:p>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white"/>
              </a:solidFill>
              <a:effectLst/>
              <a:uLnTx/>
              <a:uFillTx/>
              <a:latin typeface="Poppins" pitchFamily="2" charset="77"/>
              <a:ea typeface="+mn-ea"/>
              <a:cs typeface="Poppins" pitchFamily="2" charset="77"/>
            </a:endParaRPr>
          </a:p>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white"/>
                </a:solidFill>
                <a:effectLst/>
                <a:uLnTx/>
                <a:uFillTx/>
                <a:latin typeface="Poppins" pitchFamily="2" charset="77"/>
                <a:ea typeface="+mn-ea"/>
                <a:cs typeface="Poppins" pitchFamily="2" charset="77"/>
              </a:rPr>
              <a:t>Team – DS</a:t>
            </a:r>
          </a:p>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white"/>
              </a:solidFill>
              <a:effectLst/>
              <a:uLnTx/>
              <a:uFillTx/>
              <a:latin typeface="Poppins" pitchFamily="2" charset="77"/>
              <a:ea typeface="+mn-ea"/>
              <a:cs typeface="Poppins" pitchFamily="2" charset="77"/>
            </a:endParaRPr>
          </a:p>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white"/>
              </a:solidFill>
              <a:effectLst/>
              <a:uLnTx/>
              <a:uFillTx/>
              <a:latin typeface="Poppins" pitchFamily="2" charset="77"/>
              <a:ea typeface="+mn-ea"/>
              <a:cs typeface="Poppins" pitchFamily="2" charset="77"/>
            </a:endParaRPr>
          </a:p>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white"/>
              </a:solidFill>
              <a:effectLst/>
              <a:uLnTx/>
              <a:uFillTx/>
              <a:latin typeface="Poppins" pitchFamily="2" charset="77"/>
              <a:ea typeface="+mn-ea"/>
              <a:cs typeface="Poppins" pitchFamily="2" charset="77"/>
            </a:endParaRPr>
          </a:p>
        </p:txBody>
      </p:sp>
      <p:pic>
        <p:nvPicPr>
          <p:cNvPr id="6" name="Picture 2" descr="KL Deemed to be University Logo"/>
          <p:cNvPicPr>
            <a:picLocks noChangeAspect="1" noChangeArrowheads="1"/>
          </p:cNvPicPr>
          <p:nvPr/>
        </p:nvPicPr>
        <p:blipFill>
          <a:blip r:embed="rId2"/>
          <a:srcRect/>
          <a:stretch>
            <a:fillRect/>
          </a:stretch>
        </p:blipFill>
        <p:spPr bwMode="auto">
          <a:xfrm>
            <a:off x="5514534" y="2560321"/>
            <a:ext cx="3235570" cy="1083212"/>
          </a:xfrm>
          <a:prstGeom prst="rect">
            <a:avLst/>
          </a:prstGeom>
          <a:noFill/>
        </p:spPr>
      </p:pic>
    </p:spTree>
  </p:cSld>
  <p:clrMapOvr>
    <a:masterClrMapping/>
  </p:clrMapOvr>
</p:sld>
</file>

<file path=ppt/theme/theme1.xml><?xml version="1.0" encoding="utf-8"?>
<a:theme xmlns:a="http://schemas.openxmlformats.org/drawingml/2006/main" name="Gallery">
  <a:themeElements>
    <a:clrScheme name="Gallery">
      <a:dk1>
        <a:sysClr val="windowText" lastClr="000000"/>
      </a:dk1>
      <a:lt1>
        <a:sysClr val="window" lastClr="FFFFFF"/>
      </a:lt1>
      <a:dk2>
        <a:srgbClr val="454545"/>
      </a:dk2>
      <a:lt2>
        <a:srgbClr val="DFDBD5"/>
      </a:lt2>
      <a:accent1>
        <a:srgbClr val="B71E42"/>
      </a:accent1>
      <a:accent2>
        <a:srgbClr val="DE478E"/>
      </a:accent2>
      <a:accent3>
        <a:srgbClr val="BC72F0"/>
      </a:accent3>
      <a:accent4>
        <a:srgbClr val="795FAF"/>
      </a:accent4>
      <a:accent5>
        <a:srgbClr val="586EA6"/>
      </a:accent5>
      <a:accent6>
        <a:srgbClr val="6892A0"/>
      </a:accent6>
      <a:hlink>
        <a:srgbClr val="FA2B5C"/>
      </a:hlink>
      <a:folHlink>
        <a:srgbClr val="BC658E"/>
      </a:folHlink>
    </a:clrScheme>
    <a:fontScheme name="Gallery">
      <a:majorFont>
        <a:latin typeface="Gill Sans M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ill Sans MT"/>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solidFill>
        <a:gradFill rotWithShape="1">
          <a:gsLst>
            <a:gs pos="0">
              <a:schemeClr val="phClr">
                <a:tint val="94000"/>
                <a:satMod val="80000"/>
                <a:lumMod val="106000"/>
              </a:schemeClr>
            </a:gs>
            <a:gs pos="100000">
              <a:schemeClr val="phClr">
                <a:shade val="80000"/>
              </a:schemeClr>
            </a:gs>
          </a:gsLst>
          <a:path path="circle">
            <a:fillToRect l="43000" r="43000" b="100000"/>
          </a:path>
        </a:gradFill>
      </a:bgFillStyleLst>
    </a:fmtScheme>
  </a:themeElements>
  <a:objectDefaults/>
  <a:extraClrSchemeLst/>
  <a:extLst>
    <a:ext uri="{05A4C25C-085E-4340-85A3-A5531E510DB2}">
      <thm15:themeFamily xmlns:thm15="http://schemas.microsoft.com/office/thememl/2012/main" name="Presentation1" id="{24598BE9-BD78-4C1A-902E-0BA786164A9D}" vid="{1551CBD6-114D-4A17-981D-82FBB9D54941}"/>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Gallery">
    <a:dk1>
      <a:sysClr val="windowText" lastClr="000000"/>
    </a:dk1>
    <a:lt1>
      <a:sysClr val="window" lastClr="FFFFFF"/>
    </a:lt1>
    <a:dk2>
      <a:srgbClr val="454545"/>
    </a:dk2>
    <a:lt2>
      <a:srgbClr val="DFDBD5"/>
    </a:lt2>
    <a:accent1>
      <a:srgbClr val="B71E42"/>
    </a:accent1>
    <a:accent2>
      <a:srgbClr val="DE478E"/>
    </a:accent2>
    <a:accent3>
      <a:srgbClr val="BC72F0"/>
    </a:accent3>
    <a:accent4>
      <a:srgbClr val="795FAF"/>
    </a:accent4>
    <a:accent5>
      <a:srgbClr val="586EA6"/>
    </a:accent5>
    <a:accent6>
      <a:srgbClr val="6892A0"/>
    </a:accent6>
    <a:hlink>
      <a:srgbClr val="FA2B5C"/>
    </a:hlink>
    <a:folHlink>
      <a:srgbClr val="BC658E"/>
    </a:folHlink>
  </a:clrScheme>
</a:themeOverride>
</file>

<file path=ppt/theme/themeOverride2.xml><?xml version="1.0" encoding="utf-8"?>
<a:themeOverride xmlns:a="http://schemas.openxmlformats.org/drawingml/2006/main">
  <a:clrScheme name="Gallery">
    <a:dk1>
      <a:sysClr val="windowText" lastClr="000000"/>
    </a:dk1>
    <a:lt1>
      <a:sysClr val="window" lastClr="FFFFFF"/>
    </a:lt1>
    <a:dk2>
      <a:srgbClr val="454545"/>
    </a:dk2>
    <a:lt2>
      <a:srgbClr val="DFDBD5"/>
    </a:lt2>
    <a:accent1>
      <a:srgbClr val="B71E42"/>
    </a:accent1>
    <a:accent2>
      <a:srgbClr val="DE478E"/>
    </a:accent2>
    <a:accent3>
      <a:srgbClr val="BC72F0"/>
    </a:accent3>
    <a:accent4>
      <a:srgbClr val="795FAF"/>
    </a:accent4>
    <a:accent5>
      <a:srgbClr val="586EA6"/>
    </a:accent5>
    <a:accent6>
      <a:srgbClr val="6892A0"/>
    </a:accent6>
    <a:hlink>
      <a:srgbClr val="FA2B5C"/>
    </a:hlink>
    <a:folHlink>
      <a:srgbClr val="BC658E"/>
    </a:folHlink>
  </a:clrScheme>
</a:themeOverride>
</file>

<file path=ppt/theme/themeOverride3.xml><?xml version="1.0" encoding="utf-8"?>
<a:themeOverride xmlns:a="http://schemas.openxmlformats.org/drawingml/2006/main">
  <a:clrScheme name="Gallery">
    <a:dk1>
      <a:sysClr val="windowText" lastClr="000000"/>
    </a:dk1>
    <a:lt1>
      <a:sysClr val="window" lastClr="FFFFFF"/>
    </a:lt1>
    <a:dk2>
      <a:srgbClr val="454545"/>
    </a:dk2>
    <a:lt2>
      <a:srgbClr val="DFDBD5"/>
    </a:lt2>
    <a:accent1>
      <a:srgbClr val="B71E42"/>
    </a:accent1>
    <a:accent2>
      <a:srgbClr val="DE478E"/>
    </a:accent2>
    <a:accent3>
      <a:srgbClr val="BC72F0"/>
    </a:accent3>
    <a:accent4>
      <a:srgbClr val="795FAF"/>
    </a:accent4>
    <a:accent5>
      <a:srgbClr val="586EA6"/>
    </a:accent5>
    <a:accent6>
      <a:srgbClr val="6892A0"/>
    </a:accent6>
    <a:hlink>
      <a:srgbClr val="FA2B5C"/>
    </a:hlink>
    <a:folHlink>
      <a:srgbClr val="BC658E"/>
    </a:folHlink>
  </a:clrScheme>
</a:themeOverride>
</file>

<file path=ppt/theme/themeOverride4.xml><?xml version="1.0" encoding="utf-8"?>
<a:themeOverride xmlns:a="http://schemas.openxmlformats.org/drawingml/2006/main">
  <a:clrScheme name="Gallery">
    <a:dk1>
      <a:sysClr val="windowText" lastClr="000000"/>
    </a:dk1>
    <a:lt1>
      <a:sysClr val="window" lastClr="FFFFFF"/>
    </a:lt1>
    <a:dk2>
      <a:srgbClr val="454545"/>
    </a:dk2>
    <a:lt2>
      <a:srgbClr val="DFDBD5"/>
    </a:lt2>
    <a:accent1>
      <a:srgbClr val="B71E42"/>
    </a:accent1>
    <a:accent2>
      <a:srgbClr val="DE478E"/>
    </a:accent2>
    <a:accent3>
      <a:srgbClr val="BC72F0"/>
    </a:accent3>
    <a:accent4>
      <a:srgbClr val="795FAF"/>
    </a:accent4>
    <a:accent5>
      <a:srgbClr val="586EA6"/>
    </a:accent5>
    <a:accent6>
      <a:srgbClr val="6892A0"/>
    </a:accent6>
    <a:hlink>
      <a:srgbClr val="FA2B5C"/>
    </a:hlink>
    <a:folHlink>
      <a:srgbClr val="BC658E"/>
    </a:folHlink>
  </a:clrScheme>
</a:themeOverride>
</file>

<file path=ppt/theme/themeOverride5.xml><?xml version="1.0" encoding="utf-8"?>
<a:themeOverride xmlns:a="http://schemas.openxmlformats.org/drawingml/2006/main">
  <a:clrScheme name="Gallery">
    <a:dk1>
      <a:sysClr val="windowText" lastClr="000000"/>
    </a:dk1>
    <a:lt1>
      <a:sysClr val="window" lastClr="FFFFFF"/>
    </a:lt1>
    <a:dk2>
      <a:srgbClr val="454545"/>
    </a:dk2>
    <a:lt2>
      <a:srgbClr val="DFDBD5"/>
    </a:lt2>
    <a:accent1>
      <a:srgbClr val="B71E42"/>
    </a:accent1>
    <a:accent2>
      <a:srgbClr val="DE478E"/>
    </a:accent2>
    <a:accent3>
      <a:srgbClr val="BC72F0"/>
    </a:accent3>
    <a:accent4>
      <a:srgbClr val="795FAF"/>
    </a:accent4>
    <a:accent5>
      <a:srgbClr val="586EA6"/>
    </a:accent5>
    <a:accent6>
      <a:srgbClr val="6892A0"/>
    </a:accent6>
    <a:hlink>
      <a:srgbClr val="FA2B5C"/>
    </a:hlink>
    <a:folHlink>
      <a:srgbClr val="BC658E"/>
    </a:folHlink>
  </a:clrScheme>
</a:themeOverride>
</file>

<file path=ppt/theme/themeOverride6.xml><?xml version="1.0" encoding="utf-8"?>
<a:themeOverride xmlns:a="http://schemas.openxmlformats.org/drawingml/2006/main">
  <a:clrScheme name="Gallery">
    <a:dk1>
      <a:sysClr val="windowText" lastClr="000000"/>
    </a:dk1>
    <a:lt1>
      <a:sysClr val="window" lastClr="FFFFFF"/>
    </a:lt1>
    <a:dk2>
      <a:srgbClr val="454545"/>
    </a:dk2>
    <a:lt2>
      <a:srgbClr val="DFDBD5"/>
    </a:lt2>
    <a:accent1>
      <a:srgbClr val="B71E42"/>
    </a:accent1>
    <a:accent2>
      <a:srgbClr val="DE478E"/>
    </a:accent2>
    <a:accent3>
      <a:srgbClr val="BC72F0"/>
    </a:accent3>
    <a:accent4>
      <a:srgbClr val="795FAF"/>
    </a:accent4>
    <a:accent5>
      <a:srgbClr val="586EA6"/>
    </a:accent5>
    <a:accent6>
      <a:srgbClr val="6892A0"/>
    </a:accent6>
    <a:hlink>
      <a:srgbClr val="FA2B5C"/>
    </a:hlink>
    <a:folHlink>
      <a:srgbClr val="BC658E"/>
    </a:folHlink>
  </a:clrScheme>
</a:themeOverride>
</file>

<file path=ppt/theme/themeOverride7.xml><?xml version="1.0" encoding="utf-8"?>
<a:themeOverride xmlns:a="http://schemas.openxmlformats.org/drawingml/2006/main">
  <a:clrScheme name="Gallery">
    <a:dk1>
      <a:sysClr val="windowText" lastClr="000000"/>
    </a:dk1>
    <a:lt1>
      <a:sysClr val="window" lastClr="FFFFFF"/>
    </a:lt1>
    <a:dk2>
      <a:srgbClr val="454545"/>
    </a:dk2>
    <a:lt2>
      <a:srgbClr val="DFDBD5"/>
    </a:lt2>
    <a:accent1>
      <a:srgbClr val="B71E42"/>
    </a:accent1>
    <a:accent2>
      <a:srgbClr val="DE478E"/>
    </a:accent2>
    <a:accent3>
      <a:srgbClr val="BC72F0"/>
    </a:accent3>
    <a:accent4>
      <a:srgbClr val="795FAF"/>
    </a:accent4>
    <a:accent5>
      <a:srgbClr val="586EA6"/>
    </a:accent5>
    <a:accent6>
      <a:srgbClr val="6892A0"/>
    </a:accent6>
    <a:hlink>
      <a:srgbClr val="FA2B5C"/>
    </a:hlink>
    <a:folHlink>
      <a:srgbClr val="BC658E"/>
    </a:folHlink>
  </a:clrScheme>
</a:themeOverride>
</file>

<file path=ppt/theme/themeOverride8.xml><?xml version="1.0" encoding="utf-8"?>
<a:themeOverride xmlns:a="http://schemas.openxmlformats.org/drawingml/2006/main">
  <a:clrScheme name="Gallery">
    <a:dk1>
      <a:sysClr val="windowText" lastClr="000000"/>
    </a:dk1>
    <a:lt1>
      <a:sysClr val="window" lastClr="FFFFFF"/>
    </a:lt1>
    <a:dk2>
      <a:srgbClr val="454545"/>
    </a:dk2>
    <a:lt2>
      <a:srgbClr val="DFDBD5"/>
    </a:lt2>
    <a:accent1>
      <a:srgbClr val="B71E42"/>
    </a:accent1>
    <a:accent2>
      <a:srgbClr val="DE478E"/>
    </a:accent2>
    <a:accent3>
      <a:srgbClr val="BC72F0"/>
    </a:accent3>
    <a:accent4>
      <a:srgbClr val="795FAF"/>
    </a:accent4>
    <a:accent5>
      <a:srgbClr val="586EA6"/>
    </a:accent5>
    <a:accent6>
      <a:srgbClr val="6892A0"/>
    </a:accent6>
    <a:hlink>
      <a:srgbClr val="FA2B5C"/>
    </a:hlink>
    <a:folHlink>
      <a:srgbClr val="BC658E"/>
    </a:folHlink>
  </a:clrScheme>
</a:themeOverride>
</file>

<file path=ppt/theme/themeOverride9.xml><?xml version="1.0" encoding="utf-8"?>
<a:themeOverride xmlns:a="http://schemas.openxmlformats.org/drawingml/2006/main">
  <a:clrScheme name="Gallery">
    <a:dk1>
      <a:sysClr val="windowText" lastClr="000000"/>
    </a:dk1>
    <a:lt1>
      <a:sysClr val="window" lastClr="FFFFFF"/>
    </a:lt1>
    <a:dk2>
      <a:srgbClr val="454545"/>
    </a:dk2>
    <a:lt2>
      <a:srgbClr val="DFDBD5"/>
    </a:lt2>
    <a:accent1>
      <a:srgbClr val="B71E42"/>
    </a:accent1>
    <a:accent2>
      <a:srgbClr val="DE478E"/>
    </a:accent2>
    <a:accent3>
      <a:srgbClr val="BC72F0"/>
    </a:accent3>
    <a:accent4>
      <a:srgbClr val="795FAF"/>
    </a:accent4>
    <a:accent5>
      <a:srgbClr val="586EA6"/>
    </a:accent5>
    <a:accent6>
      <a:srgbClr val="6892A0"/>
    </a:accent6>
    <a:hlink>
      <a:srgbClr val="FA2B5C"/>
    </a:hlink>
    <a:folHlink>
      <a:srgbClr val="BC658E"/>
    </a:folHlink>
  </a:clrScheme>
</a:themeOverride>
</file>

<file path=ppt/theme/themeOverride10.xml><?xml version="1.0" encoding="utf-8"?>
<a:themeOverride xmlns:a="http://schemas.openxmlformats.org/drawingml/2006/main">
  <a:clrScheme name="Gallery">
    <a:dk1>
      <a:sysClr val="windowText" lastClr="000000"/>
    </a:dk1>
    <a:lt1>
      <a:sysClr val="window" lastClr="FFFFFF"/>
    </a:lt1>
    <a:dk2>
      <a:srgbClr val="454545"/>
    </a:dk2>
    <a:lt2>
      <a:srgbClr val="DFDBD5"/>
    </a:lt2>
    <a:accent1>
      <a:srgbClr val="B71E42"/>
    </a:accent1>
    <a:accent2>
      <a:srgbClr val="DE478E"/>
    </a:accent2>
    <a:accent3>
      <a:srgbClr val="BC72F0"/>
    </a:accent3>
    <a:accent4>
      <a:srgbClr val="795FAF"/>
    </a:accent4>
    <a:accent5>
      <a:srgbClr val="586EA6"/>
    </a:accent5>
    <a:accent6>
      <a:srgbClr val="6892A0"/>
    </a:accent6>
    <a:hlink>
      <a:srgbClr val="FA2B5C"/>
    </a:hlink>
    <a:folHlink>
      <a:srgbClr val="BC658E"/>
    </a:folHlink>
  </a:clrScheme>
</a:themeOverride>
</file>

<file path=ppt/theme/themeOverride11.xml><?xml version="1.0" encoding="utf-8"?>
<a:themeOverride xmlns:a="http://schemas.openxmlformats.org/drawingml/2006/main">
  <a:clrScheme name="Gallery">
    <a:dk1>
      <a:sysClr val="windowText" lastClr="000000"/>
    </a:dk1>
    <a:lt1>
      <a:sysClr val="window" lastClr="FFFFFF"/>
    </a:lt1>
    <a:dk2>
      <a:srgbClr val="454545"/>
    </a:dk2>
    <a:lt2>
      <a:srgbClr val="DFDBD5"/>
    </a:lt2>
    <a:accent1>
      <a:srgbClr val="B71E42"/>
    </a:accent1>
    <a:accent2>
      <a:srgbClr val="DE478E"/>
    </a:accent2>
    <a:accent3>
      <a:srgbClr val="BC72F0"/>
    </a:accent3>
    <a:accent4>
      <a:srgbClr val="795FAF"/>
    </a:accent4>
    <a:accent5>
      <a:srgbClr val="586EA6"/>
    </a:accent5>
    <a:accent6>
      <a:srgbClr val="6892A0"/>
    </a:accent6>
    <a:hlink>
      <a:srgbClr val="FA2B5C"/>
    </a:hlink>
    <a:folHlink>
      <a:srgbClr val="BC658E"/>
    </a:folHlink>
  </a:clrScheme>
</a:themeOverride>
</file>

<file path=ppt/theme/themeOverride12.xml><?xml version="1.0" encoding="utf-8"?>
<a:themeOverride xmlns:a="http://schemas.openxmlformats.org/drawingml/2006/main">
  <a:clrScheme name="Gallery">
    <a:dk1>
      <a:sysClr val="windowText" lastClr="000000"/>
    </a:dk1>
    <a:lt1>
      <a:sysClr val="window" lastClr="FFFFFF"/>
    </a:lt1>
    <a:dk2>
      <a:srgbClr val="454545"/>
    </a:dk2>
    <a:lt2>
      <a:srgbClr val="DFDBD5"/>
    </a:lt2>
    <a:accent1>
      <a:srgbClr val="B71E42"/>
    </a:accent1>
    <a:accent2>
      <a:srgbClr val="DE478E"/>
    </a:accent2>
    <a:accent3>
      <a:srgbClr val="BC72F0"/>
    </a:accent3>
    <a:accent4>
      <a:srgbClr val="795FAF"/>
    </a:accent4>
    <a:accent5>
      <a:srgbClr val="586EA6"/>
    </a:accent5>
    <a:accent6>
      <a:srgbClr val="6892A0"/>
    </a:accent6>
    <a:hlink>
      <a:srgbClr val="FA2B5C"/>
    </a:hlink>
    <a:folHlink>
      <a:srgbClr val="BC658E"/>
    </a:folHlink>
  </a:clrScheme>
</a:themeOverride>
</file>

<file path=ppt/theme/themeOverride13.xml><?xml version="1.0" encoding="utf-8"?>
<a:themeOverride xmlns:a="http://schemas.openxmlformats.org/drawingml/2006/main">
  <a:clrScheme name="Gallery">
    <a:dk1>
      <a:sysClr val="windowText" lastClr="000000"/>
    </a:dk1>
    <a:lt1>
      <a:sysClr val="window" lastClr="FFFFFF"/>
    </a:lt1>
    <a:dk2>
      <a:srgbClr val="454545"/>
    </a:dk2>
    <a:lt2>
      <a:srgbClr val="DFDBD5"/>
    </a:lt2>
    <a:accent1>
      <a:srgbClr val="B71E42"/>
    </a:accent1>
    <a:accent2>
      <a:srgbClr val="DE478E"/>
    </a:accent2>
    <a:accent3>
      <a:srgbClr val="BC72F0"/>
    </a:accent3>
    <a:accent4>
      <a:srgbClr val="795FAF"/>
    </a:accent4>
    <a:accent5>
      <a:srgbClr val="586EA6"/>
    </a:accent5>
    <a:accent6>
      <a:srgbClr val="6892A0"/>
    </a:accent6>
    <a:hlink>
      <a:srgbClr val="FA2B5C"/>
    </a:hlink>
    <a:folHlink>
      <a:srgbClr val="BC658E"/>
    </a:folHlink>
  </a:clrScheme>
</a:themeOverride>
</file>

<file path=ppt/theme/themeOverride14.xml><?xml version="1.0" encoding="utf-8"?>
<a:themeOverride xmlns:a="http://schemas.openxmlformats.org/drawingml/2006/main">
  <a:clrScheme name="Gallery">
    <a:dk1>
      <a:sysClr val="windowText" lastClr="000000"/>
    </a:dk1>
    <a:lt1>
      <a:sysClr val="window" lastClr="FFFFFF"/>
    </a:lt1>
    <a:dk2>
      <a:srgbClr val="454545"/>
    </a:dk2>
    <a:lt2>
      <a:srgbClr val="DFDBD5"/>
    </a:lt2>
    <a:accent1>
      <a:srgbClr val="B71E42"/>
    </a:accent1>
    <a:accent2>
      <a:srgbClr val="DE478E"/>
    </a:accent2>
    <a:accent3>
      <a:srgbClr val="BC72F0"/>
    </a:accent3>
    <a:accent4>
      <a:srgbClr val="795FAF"/>
    </a:accent4>
    <a:accent5>
      <a:srgbClr val="586EA6"/>
    </a:accent5>
    <a:accent6>
      <a:srgbClr val="6892A0"/>
    </a:accent6>
    <a:hlink>
      <a:srgbClr val="FA2B5C"/>
    </a:hlink>
    <a:folHlink>
      <a:srgbClr val="BC658E"/>
    </a:folHlink>
  </a:clrScheme>
</a:themeOverride>
</file>

<file path=ppt/theme/themeOverride15.xml><?xml version="1.0" encoding="utf-8"?>
<a:themeOverride xmlns:a="http://schemas.openxmlformats.org/drawingml/2006/main">
  <a:clrScheme name="Gallery">
    <a:dk1>
      <a:sysClr val="windowText" lastClr="000000"/>
    </a:dk1>
    <a:lt1>
      <a:sysClr val="window" lastClr="FFFFFF"/>
    </a:lt1>
    <a:dk2>
      <a:srgbClr val="454545"/>
    </a:dk2>
    <a:lt2>
      <a:srgbClr val="DFDBD5"/>
    </a:lt2>
    <a:accent1>
      <a:srgbClr val="B71E42"/>
    </a:accent1>
    <a:accent2>
      <a:srgbClr val="DE478E"/>
    </a:accent2>
    <a:accent3>
      <a:srgbClr val="BC72F0"/>
    </a:accent3>
    <a:accent4>
      <a:srgbClr val="795FAF"/>
    </a:accent4>
    <a:accent5>
      <a:srgbClr val="586EA6"/>
    </a:accent5>
    <a:accent6>
      <a:srgbClr val="6892A0"/>
    </a:accent6>
    <a:hlink>
      <a:srgbClr val="FA2B5C"/>
    </a:hlink>
    <a:folHlink>
      <a:srgbClr val="BC658E"/>
    </a:folHlink>
  </a:clrScheme>
</a:themeOverride>
</file>

<file path=ppt/theme/themeOverride16.xml><?xml version="1.0" encoding="utf-8"?>
<a:themeOverride xmlns:a="http://schemas.openxmlformats.org/drawingml/2006/main">
  <a:clrScheme name="Gallery">
    <a:dk1>
      <a:sysClr val="windowText" lastClr="000000"/>
    </a:dk1>
    <a:lt1>
      <a:sysClr val="window" lastClr="FFFFFF"/>
    </a:lt1>
    <a:dk2>
      <a:srgbClr val="454545"/>
    </a:dk2>
    <a:lt2>
      <a:srgbClr val="DFDBD5"/>
    </a:lt2>
    <a:accent1>
      <a:srgbClr val="B71E42"/>
    </a:accent1>
    <a:accent2>
      <a:srgbClr val="DE478E"/>
    </a:accent2>
    <a:accent3>
      <a:srgbClr val="BC72F0"/>
    </a:accent3>
    <a:accent4>
      <a:srgbClr val="795FAF"/>
    </a:accent4>
    <a:accent5>
      <a:srgbClr val="586EA6"/>
    </a:accent5>
    <a:accent6>
      <a:srgbClr val="6892A0"/>
    </a:accent6>
    <a:hlink>
      <a:srgbClr val="FA2B5C"/>
    </a:hlink>
    <a:folHlink>
      <a:srgbClr val="BC658E"/>
    </a:folHlink>
  </a:clrScheme>
</a:themeOverride>
</file>

<file path=ppt/theme/themeOverride17.xml><?xml version="1.0" encoding="utf-8"?>
<a:themeOverride xmlns:a="http://schemas.openxmlformats.org/drawingml/2006/main">
  <a:clrScheme name="Gallery">
    <a:dk1>
      <a:sysClr val="windowText" lastClr="000000"/>
    </a:dk1>
    <a:lt1>
      <a:sysClr val="window" lastClr="FFFFFF"/>
    </a:lt1>
    <a:dk2>
      <a:srgbClr val="454545"/>
    </a:dk2>
    <a:lt2>
      <a:srgbClr val="DFDBD5"/>
    </a:lt2>
    <a:accent1>
      <a:srgbClr val="B71E42"/>
    </a:accent1>
    <a:accent2>
      <a:srgbClr val="DE478E"/>
    </a:accent2>
    <a:accent3>
      <a:srgbClr val="BC72F0"/>
    </a:accent3>
    <a:accent4>
      <a:srgbClr val="795FAF"/>
    </a:accent4>
    <a:accent5>
      <a:srgbClr val="586EA6"/>
    </a:accent5>
    <a:accent6>
      <a:srgbClr val="6892A0"/>
    </a:accent6>
    <a:hlink>
      <a:srgbClr val="FA2B5C"/>
    </a:hlink>
    <a:folHlink>
      <a:srgbClr val="BC658E"/>
    </a:folHlink>
  </a:clrScheme>
</a:themeOverride>
</file>

<file path=ppt/theme/themeOverride18.xml><?xml version="1.0" encoding="utf-8"?>
<a:themeOverride xmlns:a="http://schemas.openxmlformats.org/drawingml/2006/main">
  <a:clrScheme name="Gallery">
    <a:dk1>
      <a:sysClr val="windowText" lastClr="000000"/>
    </a:dk1>
    <a:lt1>
      <a:sysClr val="window" lastClr="FFFFFF"/>
    </a:lt1>
    <a:dk2>
      <a:srgbClr val="454545"/>
    </a:dk2>
    <a:lt2>
      <a:srgbClr val="DFDBD5"/>
    </a:lt2>
    <a:accent1>
      <a:srgbClr val="B71E42"/>
    </a:accent1>
    <a:accent2>
      <a:srgbClr val="DE478E"/>
    </a:accent2>
    <a:accent3>
      <a:srgbClr val="BC72F0"/>
    </a:accent3>
    <a:accent4>
      <a:srgbClr val="795FAF"/>
    </a:accent4>
    <a:accent5>
      <a:srgbClr val="586EA6"/>
    </a:accent5>
    <a:accent6>
      <a:srgbClr val="6892A0"/>
    </a:accent6>
    <a:hlink>
      <a:srgbClr val="FA2B5C"/>
    </a:hlink>
    <a:folHlink>
      <a:srgbClr val="BC658E"/>
    </a:folHlink>
  </a:clrScheme>
</a:themeOverride>
</file>

<file path=ppt/theme/themeOverride19.xml><?xml version="1.0" encoding="utf-8"?>
<a:themeOverride xmlns:a="http://schemas.openxmlformats.org/drawingml/2006/main">
  <a:clrScheme name="Gallery">
    <a:dk1>
      <a:sysClr val="windowText" lastClr="000000"/>
    </a:dk1>
    <a:lt1>
      <a:sysClr val="window" lastClr="FFFFFF"/>
    </a:lt1>
    <a:dk2>
      <a:srgbClr val="454545"/>
    </a:dk2>
    <a:lt2>
      <a:srgbClr val="DFDBD5"/>
    </a:lt2>
    <a:accent1>
      <a:srgbClr val="B71E42"/>
    </a:accent1>
    <a:accent2>
      <a:srgbClr val="DE478E"/>
    </a:accent2>
    <a:accent3>
      <a:srgbClr val="BC72F0"/>
    </a:accent3>
    <a:accent4>
      <a:srgbClr val="795FAF"/>
    </a:accent4>
    <a:accent5>
      <a:srgbClr val="586EA6"/>
    </a:accent5>
    <a:accent6>
      <a:srgbClr val="6892A0"/>
    </a:accent6>
    <a:hlink>
      <a:srgbClr val="FA2B5C"/>
    </a:hlink>
    <a:folHlink>
      <a:srgbClr val="BC658E"/>
    </a:folHlink>
  </a:clrScheme>
</a:themeOverride>
</file>

<file path=ppt/theme/themeOverride20.xml><?xml version="1.0" encoding="utf-8"?>
<a:themeOverride xmlns:a="http://schemas.openxmlformats.org/drawingml/2006/main">
  <a:clrScheme name="Gallery">
    <a:dk1>
      <a:sysClr val="windowText" lastClr="000000"/>
    </a:dk1>
    <a:lt1>
      <a:sysClr val="window" lastClr="FFFFFF"/>
    </a:lt1>
    <a:dk2>
      <a:srgbClr val="454545"/>
    </a:dk2>
    <a:lt2>
      <a:srgbClr val="DFDBD5"/>
    </a:lt2>
    <a:accent1>
      <a:srgbClr val="B71E42"/>
    </a:accent1>
    <a:accent2>
      <a:srgbClr val="DE478E"/>
    </a:accent2>
    <a:accent3>
      <a:srgbClr val="BC72F0"/>
    </a:accent3>
    <a:accent4>
      <a:srgbClr val="795FAF"/>
    </a:accent4>
    <a:accent5>
      <a:srgbClr val="586EA6"/>
    </a:accent5>
    <a:accent6>
      <a:srgbClr val="6892A0"/>
    </a:accent6>
    <a:hlink>
      <a:srgbClr val="FA2B5C"/>
    </a:hlink>
    <a:folHlink>
      <a:srgbClr val="BC658E"/>
    </a:folHlink>
  </a:clrScheme>
</a:themeOverride>
</file>

<file path=ppt/theme/themeOverride21.xml><?xml version="1.0" encoding="utf-8"?>
<a:themeOverride xmlns:a="http://schemas.openxmlformats.org/drawingml/2006/main">
  <a:clrScheme name="Gallery">
    <a:dk1>
      <a:sysClr val="windowText" lastClr="000000"/>
    </a:dk1>
    <a:lt1>
      <a:sysClr val="window" lastClr="FFFFFF"/>
    </a:lt1>
    <a:dk2>
      <a:srgbClr val="454545"/>
    </a:dk2>
    <a:lt2>
      <a:srgbClr val="DFDBD5"/>
    </a:lt2>
    <a:accent1>
      <a:srgbClr val="B71E42"/>
    </a:accent1>
    <a:accent2>
      <a:srgbClr val="DE478E"/>
    </a:accent2>
    <a:accent3>
      <a:srgbClr val="BC72F0"/>
    </a:accent3>
    <a:accent4>
      <a:srgbClr val="795FAF"/>
    </a:accent4>
    <a:accent5>
      <a:srgbClr val="586EA6"/>
    </a:accent5>
    <a:accent6>
      <a:srgbClr val="6892A0"/>
    </a:accent6>
    <a:hlink>
      <a:srgbClr val="FA2B5C"/>
    </a:hlink>
    <a:folHlink>
      <a:srgbClr val="BC658E"/>
    </a:folHlink>
  </a:clrScheme>
</a:themeOverride>
</file>

<file path=ppt/theme/themeOverride22.xml><?xml version="1.0" encoding="utf-8"?>
<a:themeOverride xmlns:a="http://schemas.openxmlformats.org/drawingml/2006/main">
  <a:clrScheme name="Gallery">
    <a:dk1>
      <a:sysClr val="windowText" lastClr="000000"/>
    </a:dk1>
    <a:lt1>
      <a:sysClr val="window" lastClr="FFFFFF"/>
    </a:lt1>
    <a:dk2>
      <a:srgbClr val="454545"/>
    </a:dk2>
    <a:lt2>
      <a:srgbClr val="DFDBD5"/>
    </a:lt2>
    <a:accent1>
      <a:srgbClr val="B71E42"/>
    </a:accent1>
    <a:accent2>
      <a:srgbClr val="DE478E"/>
    </a:accent2>
    <a:accent3>
      <a:srgbClr val="BC72F0"/>
    </a:accent3>
    <a:accent4>
      <a:srgbClr val="795FAF"/>
    </a:accent4>
    <a:accent5>
      <a:srgbClr val="586EA6"/>
    </a:accent5>
    <a:accent6>
      <a:srgbClr val="6892A0"/>
    </a:accent6>
    <a:hlink>
      <a:srgbClr val="FA2B5C"/>
    </a:hlink>
    <a:folHlink>
      <a:srgbClr val="BC658E"/>
    </a:folHlink>
  </a:clrScheme>
</a:themeOverride>
</file>

<file path=ppt/theme/themeOverride23.xml><?xml version="1.0" encoding="utf-8"?>
<a:themeOverride xmlns:a="http://schemas.openxmlformats.org/drawingml/2006/main">
  <a:clrScheme name="Gallery">
    <a:dk1>
      <a:sysClr val="windowText" lastClr="000000"/>
    </a:dk1>
    <a:lt1>
      <a:sysClr val="window" lastClr="FFFFFF"/>
    </a:lt1>
    <a:dk2>
      <a:srgbClr val="454545"/>
    </a:dk2>
    <a:lt2>
      <a:srgbClr val="DFDBD5"/>
    </a:lt2>
    <a:accent1>
      <a:srgbClr val="B71E42"/>
    </a:accent1>
    <a:accent2>
      <a:srgbClr val="DE478E"/>
    </a:accent2>
    <a:accent3>
      <a:srgbClr val="BC72F0"/>
    </a:accent3>
    <a:accent4>
      <a:srgbClr val="795FAF"/>
    </a:accent4>
    <a:accent5>
      <a:srgbClr val="586EA6"/>
    </a:accent5>
    <a:accent6>
      <a:srgbClr val="6892A0"/>
    </a:accent6>
    <a:hlink>
      <a:srgbClr val="FA2B5C"/>
    </a:hlink>
    <a:folHlink>
      <a:srgbClr val="BC658E"/>
    </a:folHlink>
  </a:clrScheme>
</a:themeOverride>
</file>

<file path=ppt/theme/themeOverride24.xml><?xml version="1.0" encoding="utf-8"?>
<a:themeOverride xmlns:a="http://schemas.openxmlformats.org/drawingml/2006/main">
  <a:clrScheme name="Gallery">
    <a:dk1>
      <a:sysClr val="windowText" lastClr="000000"/>
    </a:dk1>
    <a:lt1>
      <a:sysClr val="window" lastClr="FFFFFF"/>
    </a:lt1>
    <a:dk2>
      <a:srgbClr val="454545"/>
    </a:dk2>
    <a:lt2>
      <a:srgbClr val="DFDBD5"/>
    </a:lt2>
    <a:accent1>
      <a:srgbClr val="B71E42"/>
    </a:accent1>
    <a:accent2>
      <a:srgbClr val="DE478E"/>
    </a:accent2>
    <a:accent3>
      <a:srgbClr val="BC72F0"/>
    </a:accent3>
    <a:accent4>
      <a:srgbClr val="795FAF"/>
    </a:accent4>
    <a:accent5>
      <a:srgbClr val="586EA6"/>
    </a:accent5>
    <a:accent6>
      <a:srgbClr val="6892A0"/>
    </a:accent6>
    <a:hlink>
      <a:srgbClr val="FA2B5C"/>
    </a:hlink>
    <a:folHlink>
      <a:srgbClr val="BC658E"/>
    </a:folHlink>
  </a:clrScheme>
</a:themeOverride>
</file>

<file path=ppt/theme/themeOverride25.xml><?xml version="1.0" encoding="utf-8"?>
<a:themeOverride xmlns:a="http://schemas.openxmlformats.org/drawingml/2006/main">
  <a:clrScheme name="Gallery">
    <a:dk1>
      <a:sysClr val="windowText" lastClr="000000"/>
    </a:dk1>
    <a:lt1>
      <a:sysClr val="window" lastClr="FFFFFF"/>
    </a:lt1>
    <a:dk2>
      <a:srgbClr val="454545"/>
    </a:dk2>
    <a:lt2>
      <a:srgbClr val="DFDBD5"/>
    </a:lt2>
    <a:accent1>
      <a:srgbClr val="B71E42"/>
    </a:accent1>
    <a:accent2>
      <a:srgbClr val="DE478E"/>
    </a:accent2>
    <a:accent3>
      <a:srgbClr val="BC72F0"/>
    </a:accent3>
    <a:accent4>
      <a:srgbClr val="795FAF"/>
    </a:accent4>
    <a:accent5>
      <a:srgbClr val="586EA6"/>
    </a:accent5>
    <a:accent6>
      <a:srgbClr val="6892A0"/>
    </a:accent6>
    <a:hlink>
      <a:srgbClr val="FA2B5C"/>
    </a:hlink>
    <a:folHlink>
      <a:srgbClr val="BC658E"/>
    </a:folHlink>
  </a:clrScheme>
</a:themeOverride>
</file>

<file path=docProps/app.xml><?xml version="1.0" encoding="utf-8"?>
<Properties xmlns="http://schemas.openxmlformats.org/officeDocument/2006/extended-properties" xmlns:vt="http://schemas.openxmlformats.org/officeDocument/2006/docPropsVTypes">
  <Template/>
  <TotalTime>1439</TotalTime>
  <Words>2835</Words>
  <Application>Microsoft Office PowerPoint</Application>
  <PresentationFormat>Widescreen</PresentationFormat>
  <Paragraphs>288</Paragraphs>
  <Slides>30</Slides>
  <Notes>0</Notes>
  <HiddenSlides>0</HiddenSlides>
  <MMClips>0</MMClips>
  <ScaleCrop>false</ScaleCrop>
  <HeadingPairs>
    <vt:vector size="6" baseType="variant">
      <vt:variant>
        <vt:lpstr>Fonts Used</vt:lpstr>
      </vt:variant>
      <vt:variant>
        <vt:i4>12</vt:i4>
      </vt:variant>
      <vt:variant>
        <vt:lpstr>Theme</vt:lpstr>
      </vt:variant>
      <vt:variant>
        <vt:i4>1</vt:i4>
      </vt:variant>
      <vt:variant>
        <vt:lpstr>Slide Titles</vt:lpstr>
      </vt:variant>
      <vt:variant>
        <vt:i4>30</vt:i4>
      </vt:variant>
    </vt:vector>
  </HeadingPairs>
  <TitlesOfParts>
    <vt:vector size="43" baseType="lpstr">
      <vt:lpstr>Arial</vt:lpstr>
      <vt:lpstr>Calibri</vt:lpstr>
      <vt:lpstr>Consolas</vt:lpstr>
      <vt:lpstr>erdana</vt:lpstr>
      <vt:lpstr>Gill Sans MT</vt:lpstr>
      <vt:lpstr>inter-regular</vt:lpstr>
      <vt:lpstr>Lato</vt:lpstr>
      <vt:lpstr>Nunito</vt:lpstr>
      <vt:lpstr>Poppins</vt:lpstr>
      <vt:lpstr>Source Sans 3</vt:lpstr>
      <vt:lpstr>Times New Roman</vt:lpstr>
      <vt:lpstr>Wingdings</vt:lpstr>
      <vt:lpstr>Gallery</vt:lpstr>
      <vt:lpstr>PowerPoint Presentation</vt:lpstr>
      <vt:lpstr>PowerPoint Presentation</vt:lpstr>
      <vt:lpstr>      Key Concepts</vt:lpstr>
      <vt:lpstr>What is Data Visualization?           </vt:lpstr>
      <vt:lpstr>Introduction to seaborn </vt:lpstr>
      <vt:lpstr>PowerPoint Presentation</vt:lpstr>
      <vt:lpstr>Seaborn Distribution Plots:</vt:lpstr>
      <vt:lpstr>PowerPoint Presentation</vt:lpstr>
      <vt:lpstr>PowerPoint Presentation</vt:lpstr>
      <vt:lpstr>PowerPoint Presentation</vt:lpstr>
      <vt:lpstr>PowerPoint Presentation</vt:lpstr>
      <vt:lpstr>PowerPoint Presentation</vt:lpstr>
      <vt:lpstr>PowerPoint Presentation</vt:lpstr>
      <vt:lpstr>Pairplot() in seaborn</vt:lpstr>
      <vt:lpstr>PowerPoint Presentation</vt:lpstr>
      <vt:lpstr>PowerPoint Presentation</vt:lpstr>
      <vt:lpstr>Pairplot with Custom Palette by Sex </vt:lpstr>
      <vt:lpstr>PowerPoint Presentation</vt:lpstr>
      <vt:lpstr>PowerPoint Presentation</vt:lpstr>
      <vt:lpstr>PowerPoint Presentation</vt:lpstr>
      <vt:lpstr>PowerPoint Presentation</vt:lpstr>
      <vt:lpstr>PowerPoint Presentation</vt:lpstr>
      <vt:lpstr>Seaborn Distribution plots:</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is Data Visualization?</dc:title>
  <dc:creator>N Sunanda</dc:creator>
  <cp:lastModifiedBy>sunanda nalajala</cp:lastModifiedBy>
  <cp:revision>29</cp:revision>
  <dcterms:created xsi:type="dcterms:W3CDTF">2023-11-08T08:15:22Z</dcterms:created>
  <dcterms:modified xsi:type="dcterms:W3CDTF">2026-08-31T08:49:16Z</dcterms:modified>
</cp:coreProperties>
</file>