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sldIdLst>
    <p:sldId id="364" r:id="rId3"/>
    <p:sldId id="365" r:id="rId4"/>
    <p:sldId id="366" r:id="rId5"/>
    <p:sldId id="367" r:id="rId6"/>
    <p:sldId id="368" r:id="rId7"/>
    <p:sldId id="369" r:id="rId8"/>
    <p:sldId id="256" r:id="rId9"/>
    <p:sldId id="258" r:id="rId10"/>
    <p:sldId id="264" r:id="rId11"/>
    <p:sldId id="265" r:id="rId12"/>
    <p:sldId id="257" r:id="rId13"/>
    <p:sldId id="267" r:id="rId14"/>
    <p:sldId id="266" r:id="rId15"/>
    <p:sldId id="370" r:id="rId16"/>
    <p:sldId id="371" r:id="rId17"/>
    <p:sldId id="259" r:id="rId18"/>
    <p:sldId id="260" r:id="rId19"/>
    <p:sldId id="261" r:id="rId20"/>
    <p:sldId id="263" r:id="rId21"/>
    <p:sldId id="400" r:id="rId22"/>
    <p:sldId id="40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4515B-B131-4A75-F62E-E1D410978F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76CA177-2430-C7D8-BB94-1F462EC39B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CA81C8-52B5-9197-806E-4AEC435A4A35}"/>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5" name="Footer Placeholder 4">
            <a:extLst>
              <a:ext uri="{FF2B5EF4-FFF2-40B4-BE49-F238E27FC236}">
                <a16:creationId xmlns:a16="http://schemas.microsoft.com/office/drawing/2014/main" id="{F1634E45-448B-CDC9-5D23-16C905D92D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57C9BB-6BC8-4A4C-2705-AA8616BCD077}"/>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1108428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F22AC-0288-0CB4-8360-3B132D5A70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DB3CF6-3DFB-D641-3FA1-BC70E87652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3EE850-3B11-39E7-5764-EF525C539450}"/>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5" name="Footer Placeholder 4">
            <a:extLst>
              <a:ext uri="{FF2B5EF4-FFF2-40B4-BE49-F238E27FC236}">
                <a16:creationId xmlns:a16="http://schemas.microsoft.com/office/drawing/2014/main" id="{D670DAE7-2165-36E6-6275-2B21EA5767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0F16A2-1C64-847C-16BB-AA4E0A1B8F87}"/>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4096857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D8DCF-C424-CAA0-0E14-0B01441B34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0BAC50D-2D1C-4C87-AF09-2BEF72444E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952B52-A284-4BCA-699C-7BBECC157129}"/>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5" name="Footer Placeholder 4">
            <a:extLst>
              <a:ext uri="{FF2B5EF4-FFF2-40B4-BE49-F238E27FC236}">
                <a16:creationId xmlns:a16="http://schemas.microsoft.com/office/drawing/2014/main" id="{1920E10B-FB0D-8DA7-F368-983944A869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C158AC-A7BD-9D44-28CA-B6D734538E46}"/>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1136270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BA46D-050E-8072-4548-7722A96AF5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AE5E42-F3A1-3D4A-6367-8C2C514419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1197CB-D2BF-E030-A96A-C180A980DF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3D49C99-1BE3-FFA7-DCFD-E6F2DE9683F7}"/>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6" name="Footer Placeholder 5">
            <a:extLst>
              <a:ext uri="{FF2B5EF4-FFF2-40B4-BE49-F238E27FC236}">
                <a16:creationId xmlns:a16="http://schemas.microsoft.com/office/drawing/2014/main" id="{F8804BE4-ED1F-C388-647F-DEAC1C0C7B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C9A5AE-AAFF-A65C-4EBB-73D4609F57B8}"/>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3771776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8E49B-D550-5A6F-8510-4CEFEB5315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FFAFBF-D535-C004-96D4-C0F85080CE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E20A7B-1CCF-8B07-41C0-B79E74EC2E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585CCBD-1CB7-264C-BD24-FFAEF6D425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92587B-2E0D-D6DB-1EA3-0D950A3ACF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0AD369-2C36-0B61-2294-42FE52555E5D}"/>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8" name="Footer Placeholder 7">
            <a:extLst>
              <a:ext uri="{FF2B5EF4-FFF2-40B4-BE49-F238E27FC236}">
                <a16:creationId xmlns:a16="http://schemas.microsoft.com/office/drawing/2014/main" id="{28AF661E-F55A-44F0-5FB8-D89ABD609A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B556F5-F38C-36A4-3D38-3225C333985D}"/>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417824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F7599-77C0-F19A-149A-180E0B70BC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6AC27D6-CBDE-181C-3642-211373DE5895}"/>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4" name="Footer Placeholder 3">
            <a:extLst>
              <a:ext uri="{FF2B5EF4-FFF2-40B4-BE49-F238E27FC236}">
                <a16:creationId xmlns:a16="http://schemas.microsoft.com/office/drawing/2014/main" id="{07555444-DBFF-CC0E-AD51-956B65C4ADC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0CB027A-1C45-04ED-2158-F9AD4EEA2068}"/>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2124353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45C7B4-BE50-F30B-F023-5A234BD1A8C4}"/>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3" name="Footer Placeholder 2">
            <a:extLst>
              <a:ext uri="{FF2B5EF4-FFF2-40B4-BE49-F238E27FC236}">
                <a16:creationId xmlns:a16="http://schemas.microsoft.com/office/drawing/2014/main" id="{994A942A-6C49-6DB4-7230-3A2700BB9EF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6ED7316-34C2-30AB-3089-C18D44539EEC}"/>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2920940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B0C3-960A-E782-4687-883A9974D5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445D840-177B-A95D-8900-967EC1B276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ED8B6B-A097-5F69-56C9-04038CA7C3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63613C-F386-EA57-5685-15E3AEFC611D}"/>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6" name="Footer Placeholder 5">
            <a:extLst>
              <a:ext uri="{FF2B5EF4-FFF2-40B4-BE49-F238E27FC236}">
                <a16:creationId xmlns:a16="http://schemas.microsoft.com/office/drawing/2014/main" id="{5C213E3E-CC9B-BFAA-102F-C5099F6D5E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867AE3-3BDE-D36E-673E-F7514358D3DC}"/>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2153480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86541-303C-8586-601A-A3BECB0C3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7B7545-CBF5-9A56-D0C2-957DC7A347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322B536-141A-0C47-DAF7-8E634029F5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D9DF7-408D-E672-087D-4C98A2A67CF1}"/>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6" name="Footer Placeholder 5">
            <a:extLst>
              <a:ext uri="{FF2B5EF4-FFF2-40B4-BE49-F238E27FC236}">
                <a16:creationId xmlns:a16="http://schemas.microsoft.com/office/drawing/2014/main" id="{30ADD476-8765-5FDB-4A1A-BFA41C1F42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3111D6-B538-2C06-BE5F-2494E150095E}"/>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57834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129B5-E1A3-590A-78E7-79BACA02E4B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D6C960-D62F-7FE6-A389-1A2A40A543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3B4C79-B4F6-B729-EBCF-0CB8CD5DBB93}"/>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5" name="Footer Placeholder 4">
            <a:extLst>
              <a:ext uri="{FF2B5EF4-FFF2-40B4-BE49-F238E27FC236}">
                <a16:creationId xmlns:a16="http://schemas.microsoft.com/office/drawing/2014/main" id="{3A8D278F-4592-C43C-0D7F-8DE83E3108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83545F-323E-4EA3-E1F7-DF691FF58A4D}"/>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1336232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711149-BBA9-BAD4-F430-23FFC6B5ED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F042B2-7CAF-20D6-85FA-80CD27CCBB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70A2AD0-E38F-001A-DEFE-DF47C13585A4}"/>
              </a:ext>
            </a:extLst>
          </p:cNvPr>
          <p:cNvSpPr>
            <a:spLocks noGrp="1"/>
          </p:cNvSpPr>
          <p:nvPr>
            <p:ph type="dt" sz="half" idx="10"/>
          </p:nvPr>
        </p:nvSpPr>
        <p:spPr/>
        <p:txBody>
          <a:bodyPr/>
          <a:lstStyle/>
          <a:p>
            <a:fld id="{DE33AF74-332B-41A3-A0D0-3711E00283B6}" type="datetimeFigureOut">
              <a:rPr lang="en-IN" smtClean="0"/>
              <a:t>02-06-2026</a:t>
            </a:fld>
            <a:endParaRPr lang="en-IN"/>
          </a:p>
        </p:txBody>
      </p:sp>
      <p:sp>
        <p:nvSpPr>
          <p:cNvPr id="5" name="Footer Placeholder 4">
            <a:extLst>
              <a:ext uri="{FF2B5EF4-FFF2-40B4-BE49-F238E27FC236}">
                <a16:creationId xmlns:a16="http://schemas.microsoft.com/office/drawing/2014/main" id="{E14F1493-9514-632F-2BBF-588E5D8206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FB825F-9087-7598-B1B7-5AB352D17082}"/>
              </a:ext>
            </a:extLst>
          </p:cNvPr>
          <p:cNvSpPr>
            <a:spLocks noGrp="1"/>
          </p:cNvSpPr>
          <p:nvPr>
            <p:ph type="sldNum" sz="quarter" idx="12"/>
          </p:nvPr>
        </p:nvSpPr>
        <p:spPr/>
        <p:txBody>
          <a:bodyPr/>
          <a:lstStyle/>
          <a:p>
            <a:fld id="{C3387508-7952-4C4E-B9A2-4A365DC43B5E}" type="slidenum">
              <a:rPr lang="en-IN" smtClean="0"/>
              <a:t>‹#›</a:t>
            </a:fld>
            <a:endParaRPr lang="en-IN"/>
          </a:p>
        </p:txBody>
      </p:sp>
    </p:spTree>
    <p:extLst>
      <p:ext uri="{BB962C8B-B14F-4D97-AF65-F5344CB8AC3E}">
        <p14:creationId xmlns:p14="http://schemas.microsoft.com/office/powerpoint/2010/main" val="2959985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Slide Number Placeholder 5"/>
          <p:cNvSpPr>
            <a:spLocks noGrp="1"/>
          </p:cNvSpPr>
          <p:nvPr>
            <p:ph type="sldNum" sz="quarter" idx="12"/>
          </p:nvPr>
        </p:nvSpPr>
        <p:spPr>
          <a:xfrm>
            <a:off x="1437664" y="798973"/>
            <a:ext cx="811019" cy="503578"/>
          </a:xfrm>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311388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1600648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5913355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6/2/2026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305879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6/2/2026</a:t>
            </a:fld>
            <a:endParaRPr lang="en-US"/>
          </a:p>
        </p:txBody>
      </p:sp>
      <p:sp>
        <p:nvSpPr>
          <p:cNvPr id="9" name="Slide Number Placeholder 8"/>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1605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6/2/2026</a:t>
            </a:fld>
            <a:endParaRPr lang="en-US"/>
          </a:p>
        </p:txBody>
      </p:sp>
      <p:sp>
        <p:nvSpPr>
          <p:cNvPr id="5" name="Slide Number Placeholder 4"/>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230396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6/2/2026</a:t>
            </a:fld>
            <a:endParaRPr lang="en-US"/>
          </a:p>
        </p:txBody>
      </p:sp>
      <p:sp>
        <p:nvSpPr>
          <p:cNvPr id="4" name="Slide Number Placeholder 3"/>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41722202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211797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D8BD707-D9CF-40AE-B4C6-C98DA3205C09}" type="datetimeFigureOut">
              <a:rPr lang="en-US" smtClean="0"/>
              <a:pPr/>
              <a:t>6/2/2026</a:t>
            </a:fld>
            <a:endParaRPr lang="en-US"/>
          </a:p>
        </p:txBody>
      </p:sp>
      <p:sp>
        <p:nvSpPr>
          <p:cNvPr id="7" name="Slide Number Placeholder 6"/>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2322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spTree>
    <p:extLst>
      <p:ext uri="{BB962C8B-B14F-4D97-AF65-F5344CB8AC3E}">
        <p14:creationId xmlns:p14="http://schemas.microsoft.com/office/powerpoint/2010/main" val="22980898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6/2/2026</a:t>
            </a:fld>
            <a:endParaRPr lang="en-US"/>
          </a:p>
        </p:txBody>
      </p:sp>
      <p:sp>
        <p:nvSpPr>
          <p:cNvPr id="6" name="Slide Number Placeholder 5"/>
          <p:cNvSpPr>
            <a:spLocks noGrp="1"/>
          </p:cNvSpPr>
          <p:nvPr>
            <p:ph type="sldNum" sz="quarter" idx="12"/>
          </p:nvPr>
        </p:nvSpPr>
        <p:spPr/>
        <p:txBody>
          <a:bodyPr/>
          <a:lstStyle/>
          <a:p>
            <a:pPr marL="109855">
              <a:lnSpc>
                <a:spcPts val="1070"/>
              </a:lnSpc>
            </a:pPr>
            <a:fld id="{81D60167-4931-47E6-BA6A-407CBD079E47}" type="slidenum">
              <a:rPr lang="en-IN" smtClean="0"/>
              <a:pPr marL="109855">
                <a:lnSpc>
                  <a:spcPts val="1070"/>
                </a:lnSpc>
              </a:pPr>
              <a:t>‹#›</a:t>
            </a:fld>
            <a:endParaRPr lang="en-IN"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16420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Click icon to add picture</a:t>
            </a:r>
            <a:endParaRPr/>
          </a:p>
        </p:txBody>
      </p:sp>
    </p:spTree>
    <p:extLst>
      <p:ext uri="{BB962C8B-B14F-4D97-AF65-F5344CB8AC3E}">
        <p14:creationId xmlns:p14="http://schemas.microsoft.com/office/powerpoint/2010/main" val="2362687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22219B-6BB6-580D-C44D-8DD309F2F5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BD7C54-6B5A-2DBB-DDCA-3BADC12D45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A21FF4-4976-E2FB-5F9C-EA088E7F5F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33AF74-332B-41A3-A0D0-3711E00283B6}" type="datetimeFigureOut">
              <a:rPr lang="en-IN" smtClean="0"/>
              <a:t>02-06-2026</a:t>
            </a:fld>
            <a:endParaRPr lang="en-IN"/>
          </a:p>
        </p:txBody>
      </p:sp>
      <p:sp>
        <p:nvSpPr>
          <p:cNvPr id="5" name="Footer Placeholder 4">
            <a:extLst>
              <a:ext uri="{FF2B5EF4-FFF2-40B4-BE49-F238E27FC236}">
                <a16:creationId xmlns:a16="http://schemas.microsoft.com/office/drawing/2014/main" id="{92A872A6-AA34-F6E6-E6C1-398D7E1E73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71B392F-B23E-199A-C714-A2A9FBEC2B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387508-7952-4C4E-B9A2-4A365DC43B5E}" type="slidenum">
              <a:rPr lang="en-IN" smtClean="0"/>
              <a:t>‹#›</a:t>
            </a:fld>
            <a:endParaRPr lang="en-IN"/>
          </a:p>
        </p:txBody>
      </p:sp>
    </p:spTree>
    <p:extLst>
      <p:ext uri="{BB962C8B-B14F-4D97-AF65-F5344CB8AC3E}">
        <p14:creationId xmlns:p14="http://schemas.microsoft.com/office/powerpoint/2010/main" val="133053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D8BD707-D9CF-40AE-B4C6-C98DA3205C09}" type="datetimeFigureOut">
              <a:rPr lang="en-US" smtClean="0"/>
              <a:pPr/>
              <a:t>6/2/2026</a:t>
            </a:fld>
            <a:endParaRPr lang="en-US"/>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pPr marL="109855">
              <a:lnSpc>
                <a:spcPts val="1070"/>
              </a:lnSpc>
            </a:pPr>
            <a:fld id="{81D60167-4931-47E6-BA6A-407CBD079E47}" type="slidenum">
              <a:rPr lang="en-IN" smtClean="0"/>
              <a:pPr marL="109855">
                <a:lnSpc>
                  <a:spcPts val="1070"/>
                </a:lnSpc>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201169384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23.xml"/><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slideLayout" Target="../slideLayouts/slideLayout13.xml"/><Relationship Id="rId1" Type="http://schemas.openxmlformats.org/officeDocument/2006/relationships/themeOverride" Target="../theme/themeOverride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13.xml"/><Relationship Id="rId1" Type="http://schemas.openxmlformats.org/officeDocument/2006/relationships/themeOverride" Target="../theme/themeOverride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6.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3.xml"/><Relationship Id="rId1" Type="http://schemas.openxmlformats.org/officeDocument/2006/relationships/themeOverride" Target="../theme/themeOverride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3.xml"/><Relationship Id="rId1" Type="http://schemas.openxmlformats.org/officeDocument/2006/relationships/themeOverride" Target="../theme/themeOverride8.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9.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13.xml"/><Relationship Id="rId1" Type="http://schemas.openxmlformats.org/officeDocument/2006/relationships/themeOverride" Target="../theme/themeOverride10.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13.xml"/><Relationship Id="rId1" Type="http://schemas.openxmlformats.org/officeDocument/2006/relationships/themeOverride" Target="../theme/themeOverride11.xml"/><Relationship Id="rId4" Type="http://schemas.openxmlformats.org/officeDocument/2006/relationships/hyperlink" Target="https://www.geeksforgeeks.org/pyplot-in-matplotlib/"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13.xml"/><Relationship Id="rId1" Type="http://schemas.openxmlformats.org/officeDocument/2006/relationships/themeOverride" Target="../theme/themeOverride1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13.xml"/><Relationship Id="rId1" Type="http://schemas.openxmlformats.org/officeDocument/2006/relationships/themeOverride" Target="../theme/themeOverride1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hemeOverride" Target="../theme/themeOverr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475;p16">
            <a:extLst>
              <a:ext uri="{FF2B5EF4-FFF2-40B4-BE49-F238E27FC236}">
                <a16:creationId xmlns:a16="http://schemas.microsoft.com/office/drawing/2014/main" id="{CB69EC99-FFAF-B3A6-842B-B510C0EAB741}"/>
              </a:ext>
            </a:extLst>
          </p:cNvPr>
          <p:cNvSpPr txBox="1"/>
          <p:nvPr/>
        </p:nvSpPr>
        <p:spPr>
          <a:xfrm>
            <a:off x="2971800" y="762000"/>
            <a:ext cx="5650523" cy="707846"/>
          </a:xfrm>
          <a:prstGeom prst="rect">
            <a:avLst/>
          </a:prstGeom>
          <a:noFill/>
          <a:ln>
            <a:noFill/>
          </a:ln>
          <a:effectLst/>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rPr>
              <a:t>Department of </a:t>
            </a:r>
            <a:r>
              <a:rPr lang="en-US" sz="4000" dirty="0">
                <a:solidFill>
                  <a:srgbClr val="00B0F0"/>
                </a:solidFill>
                <a:latin typeface="Gill Sans MT"/>
                <a:cs typeface="Poppins" pitchFamily="2" charset="77"/>
              </a:rPr>
              <a:t>CSE</a:t>
            </a:r>
            <a:endParaRPr kumimoji="0" lang="en-US" sz="4000" b="0" i="0" u="none" strike="noStrike" kern="1200" cap="none" spc="0" normalizeH="0" baseline="0" noProof="0" dirty="0">
              <a:ln>
                <a:noFill/>
              </a:ln>
              <a:solidFill>
                <a:srgbClr val="00B0F0"/>
              </a:solidFill>
              <a:effectLst/>
              <a:uLnTx/>
              <a:uFillTx/>
              <a:latin typeface="Gill Sans MT"/>
              <a:ea typeface="+mn-ea"/>
              <a:cs typeface="Poppins" pitchFamily="2" charset="77"/>
            </a:endParaRPr>
          </a:p>
        </p:txBody>
      </p:sp>
      <p:sp>
        <p:nvSpPr>
          <p:cNvPr id="6" name="Google Shape;476;p16">
            <a:extLst>
              <a:ext uri="{FF2B5EF4-FFF2-40B4-BE49-F238E27FC236}">
                <a16:creationId xmlns:a16="http://schemas.microsoft.com/office/drawing/2014/main" id="{84A891A9-D46F-5E9B-65D6-C64F832A0362}"/>
              </a:ext>
            </a:extLst>
          </p:cNvPr>
          <p:cNvSpPr txBox="1"/>
          <p:nvPr/>
        </p:nvSpPr>
        <p:spPr>
          <a:xfrm>
            <a:off x="1447800" y="2090192"/>
            <a:ext cx="8218565" cy="3170058"/>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COURSE NAME: Data science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all" spc="0" normalizeH="0" baseline="0" noProof="0" dirty="0">
                <a:ln/>
                <a:solidFill>
                  <a:srgbClr val="00B0F0"/>
                </a:solidFill>
                <a:effectLst/>
                <a:uLnTx/>
                <a:uFillTx/>
                <a:latin typeface="Gill Sans MT"/>
                <a:ea typeface="+mn-ea"/>
                <a:cs typeface="Poppins" panose="00000500000000000000" pitchFamily="2" charset="0"/>
                <a:sym typeface="BioRhyme ExtraBold"/>
              </a:rPr>
              <a:t>COURSE CODE: 24AD3107</a:t>
            </a:r>
            <a:r>
              <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rPr>
              <a:t>	</a:t>
            </a: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white">
                    <a:lumMod val="50000"/>
                  </a:prstClr>
                </a:solidFill>
                <a:effectLst/>
                <a:uLnTx/>
                <a:uFillTx/>
                <a:latin typeface="Gill Sans MT"/>
                <a:ea typeface="BioRhyme ExtraBold"/>
                <a:cs typeface="Poppins" panose="00000500000000000000" pitchFamily="2" charset="0"/>
                <a:sym typeface="BioRhyme ExtraBold"/>
              </a:rPr>
              <a:t>Topic: </a:t>
            </a:r>
          </a:p>
          <a:p>
            <a:pPr lvl="0" algn="ctr" defTabSz="457200"/>
            <a:r>
              <a:rPr kumimoji="0" lang="en-US" sz="3200" b="0" i="0" u="none" strike="noStrike" kern="1200" cap="none" spc="0" normalizeH="0" baseline="0" noProof="0" dirty="0">
                <a:ln>
                  <a:noFill/>
                </a:ln>
                <a:solidFill>
                  <a:prstClr val="black"/>
                </a:solidFill>
                <a:effectLst/>
                <a:uLnTx/>
                <a:uFillTx/>
                <a:latin typeface="Gill Sans MT"/>
                <a:ea typeface="+mn-ea"/>
                <a:cs typeface="+mn-cs"/>
              </a:rPr>
              <a:t>Introduction to Matplotlib &amp;</a:t>
            </a:r>
            <a:r>
              <a:rPr lang="en-IN" sz="3200" dirty="0"/>
              <a:t>Python Visualization using Matplotlib</a:t>
            </a:r>
            <a:endParaRPr kumimoji="0" lang="en-US" sz="3200" b="1" i="0" u="none" strike="noStrike" kern="1200" cap="all" spc="0" normalizeH="0" baseline="0" noProof="0" dirty="0">
              <a:ln/>
              <a:solidFill>
                <a:srgbClr val="C00000"/>
              </a:solidFill>
              <a:effectLst/>
              <a:uLnTx/>
              <a:uFillTx/>
              <a:latin typeface="Gill Sans MT"/>
              <a:ea typeface="+mn-ea"/>
              <a:cs typeface="Poppins" panose="00000500000000000000" pitchFamily="2" charset="0"/>
              <a:sym typeface="BioRhyme ExtraBold"/>
            </a:endParaRPr>
          </a:p>
        </p:txBody>
      </p:sp>
      <p:sp>
        <p:nvSpPr>
          <p:cNvPr id="7" name="Google Shape;502;p17">
            <a:extLst>
              <a:ext uri="{FF2B5EF4-FFF2-40B4-BE49-F238E27FC236}">
                <a16:creationId xmlns:a16="http://schemas.microsoft.com/office/drawing/2014/main" id="{A5120A7A-ED85-153C-EE7C-2FEB2D482089}"/>
              </a:ext>
            </a:extLst>
          </p:cNvPr>
          <p:cNvSpPr/>
          <p:nvPr/>
        </p:nvSpPr>
        <p:spPr>
          <a:xfrm>
            <a:off x="4876800" y="541020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rPr>
              <a:t>Session - </a:t>
            </a:r>
            <a:r>
              <a:rPr lang="en-US" sz="2800" b="1" dirty="0">
                <a:solidFill>
                  <a:prstClr val="white"/>
                </a:solidFill>
                <a:latin typeface="Gill Sans MT"/>
                <a:ea typeface="Calibri"/>
                <a:cs typeface="Poppins" panose="00000500000000000000" pitchFamily="2" charset="0"/>
                <a:sym typeface="Calibri"/>
              </a:rPr>
              <a:t>3</a:t>
            </a:r>
            <a:endParaRPr kumimoji="0" sz="2800" b="1" i="0" u="none" strike="noStrike" kern="1200" cap="none" spc="0" normalizeH="0" baseline="0" noProof="0" dirty="0">
              <a:ln>
                <a:noFill/>
              </a:ln>
              <a:solidFill>
                <a:prstClr val="white"/>
              </a:solidFill>
              <a:effectLst/>
              <a:uLnTx/>
              <a:uFillTx/>
              <a:latin typeface="Gill Sans MT"/>
              <a:ea typeface="Calibri"/>
              <a:cs typeface="Poppins" panose="00000500000000000000" pitchFamily="2" charset="0"/>
              <a:sym typeface="Calibri"/>
            </a:endParaRPr>
          </a:p>
        </p:txBody>
      </p:sp>
    </p:spTree>
    <p:extLst>
      <p:ext uri="{BB962C8B-B14F-4D97-AF65-F5344CB8AC3E}">
        <p14:creationId xmlns:p14="http://schemas.microsoft.com/office/powerpoint/2010/main" val="469216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7648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Poppins"/>
                <a:ea typeface="+mn-ea"/>
                <a:cs typeface="Poppins"/>
              </a:rPr>
              <a:t>To familiarize students with the basic concept of  Introduction to Matplotlib and Data Visualization using </a:t>
            </a:r>
            <a:r>
              <a:rPr kumimoji="0" lang="en-US" sz="1600" b="0" i="0" u="none" strike="noStrike" kern="1200" cap="none" spc="0" normalizeH="0" baseline="0" noProof="0" dirty="0" err="1">
                <a:ln>
                  <a:noFill/>
                </a:ln>
                <a:solidFill>
                  <a:prstClr val="black"/>
                </a:solidFill>
                <a:effectLst/>
                <a:uLnTx/>
                <a:uFillTx/>
                <a:latin typeface="Poppins"/>
                <a:ea typeface="+mn-ea"/>
                <a:cs typeface="Poppins"/>
              </a:rPr>
              <a:t>Matplot</a:t>
            </a:r>
            <a:r>
              <a:rPr lang="en-US" sz="1600" dirty="0">
                <a:solidFill>
                  <a:prstClr val="black"/>
                </a:solidFill>
                <a:latin typeface="Poppins"/>
                <a:cs typeface="Poppins"/>
              </a:rPr>
              <a:t>lib in </a:t>
            </a:r>
            <a:r>
              <a:rPr kumimoji="0" lang="en-US" sz="1600" b="0" i="0" u="none" strike="noStrike" kern="1200" cap="none" spc="0" normalizeH="0" baseline="0" noProof="0" dirty="0">
                <a:ln>
                  <a:noFill/>
                </a:ln>
                <a:solidFill>
                  <a:prstClr val="black"/>
                </a:solidFill>
                <a:effectLst/>
                <a:uLnTx/>
                <a:uFillTx/>
                <a:latin typeface="Poppins"/>
                <a:ea typeface="+mn-ea"/>
                <a:cs typeface="Poppins"/>
              </a:rPr>
              <a:t> Python.</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49514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9982200" cy="1009635"/>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lvl="0" defTabSz="457200">
              <a:lnSpc>
                <a:spcPct val="200000"/>
              </a:lnSpc>
            </a:pPr>
            <a:r>
              <a:rPr kumimoji="0" lang="en-US" sz="1600" b="0" i="0" u="none" strike="noStrike" kern="1200" cap="none" spc="0" normalizeH="0" baseline="0" noProof="0" dirty="0">
                <a:ln>
                  <a:noFill/>
                </a:ln>
                <a:solidFill>
                  <a:prstClr val="black"/>
                </a:solidFill>
                <a:effectLst/>
                <a:uLnTx/>
                <a:uFillTx/>
                <a:latin typeface="Poppins"/>
                <a:ea typeface="+mn-ea"/>
                <a:cs typeface="Poppins"/>
              </a:rPr>
              <a:t>This Session is designed to: </a:t>
            </a:r>
            <a:r>
              <a:rPr lang="en-US" sz="1600" dirty="0">
                <a:solidFill>
                  <a:prstClr val="black"/>
                </a:solidFill>
                <a:latin typeface="Poppins"/>
                <a:cs typeface="Poppins"/>
              </a:rPr>
              <a:t>Introduction to Matplotlib and Data Visualization using Matplotlib in  Python.</a:t>
            </a:r>
            <a:endParaRPr kumimoji="0" lang="en-US" sz="1600" b="0" i="0" u="none" strike="noStrike" kern="1200" cap="none" spc="0" normalizeH="0" baseline="0" noProof="0" dirty="0">
              <a:ln>
                <a:noFill/>
              </a:ln>
              <a:solidFill>
                <a:prstClr val="black"/>
              </a:solidFill>
              <a:effectLst/>
              <a:uLnTx/>
              <a:uFillTx/>
              <a:latin typeface="Poppins"/>
              <a:ea typeface="+mn-ea"/>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47684" y="4863626"/>
            <a:ext cx="9906000" cy="508344"/>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a:ea typeface="+mn-ea"/>
                <a:cs typeface="Arial"/>
              </a:rPr>
              <a:t>At the end of this session, you should be able to: plot </a:t>
            </a:r>
            <a:r>
              <a:rPr kumimoji="0" lang="en-US" sz="1600" b="0" i="0" u="none" strike="noStrike" kern="1200" cap="none" spc="0" normalizeH="0" baseline="0" noProof="0" dirty="0" err="1">
                <a:ln>
                  <a:noFill/>
                </a:ln>
                <a:solidFill>
                  <a:prstClr val="black"/>
                </a:solidFill>
                <a:effectLst/>
                <a:uLnTx/>
                <a:uFillTx/>
                <a:latin typeface="Arial"/>
                <a:ea typeface="+mn-ea"/>
                <a:cs typeface="Arial"/>
              </a:rPr>
              <a:t>differet</a:t>
            </a:r>
            <a:r>
              <a:rPr kumimoji="0" lang="en-US" sz="1600" b="0" i="0" u="none" strike="noStrike" kern="1200" cap="none" spc="0" normalizeH="0" baseline="0" noProof="0" dirty="0">
                <a:ln>
                  <a:noFill/>
                </a:ln>
                <a:solidFill>
                  <a:prstClr val="black"/>
                </a:solidFill>
                <a:effectLst/>
                <a:uLnTx/>
                <a:uFillTx/>
                <a:latin typeface="Arial"/>
                <a:ea typeface="+mn-ea"/>
                <a:cs typeface="Arial"/>
              </a:rPr>
              <a:t> </a:t>
            </a:r>
            <a:r>
              <a:rPr kumimoji="0" lang="en-US" sz="1600" b="0" i="0" u="none" strike="noStrike" kern="1200" cap="none" spc="0" normalizeH="0" baseline="0" noProof="0" dirty="0" err="1">
                <a:ln>
                  <a:noFill/>
                </a:ln>
                <a:solidFill>
                  <a:prstClr val="black"/>
                </a:solidFill>
                <a:effectLst/>
                <a:uLnTx/>
                <a:uFillTx/>
                <a:latin typeface="Arial"/>
                <a:ea typeface="+mn-ea"/>
                <a:cs typeface="Arial"/>
              </a:rPr>
              <a:t>tyoes</a:t>
            </a:r>
            <a:r>
              <a:rPr kumimoji="0" lang="en-US" sz="1600" b="0" i="0" u="none" strike="noStrike" kern="1200" cap="none" spc="0" normalizeH="0" baseline="0" noProof="0" dirty="0">
                <a:ln>
                  <a:noFill/>
                </a:ln>
                <a:solidFill>
                  <a:prstClr val="black"/>
                </a:solidFill>
                <a:effectLst/>
                <a:uLnTx/>
                <a:uFillTx/>
                <a:latin typeface="Arial"/>
                <a:ea typeface="+mn-ea"/>
                <a:cs typeface="Arial"/>
              </a:rPr>
              <a:t> of plots using </a:t>
            </a:r>
            <a:r>
              <a:rPr kumimoji="0" lang="en-US" sz="1600" b="0" i="0" u="none" strike="noStrike" kern="1200" cap="none" spc="0" normalizeH="0" baseline="0" noProof="0" dirty="0" err="1">
                <a:ln>
                  <a:noFill/>
                </a:ln>
                <a:solidFill>
                  <a:prstClr val="black"/>
                </a:solidFill>
                <a:effectLst/>
                <a:uLnTx/>
                <a:uFillTx/>
                <a:latin typeface="Arial"/>
                <a:ea typeface="+mn-ea"/>
                <a:cs typeface="Arial"/>
              </a:rPr>
              <a:t>Maatplotlib</a:t>
            </a:r>
            <a:endParaRPr kumimoji="0" lang="en-US" sz="1600" b="0" i="0" u="none" strike="noStrike" kern="1200" cap="none" spc="0" normalizeH="0" baseline="0" noProof="0" dirty="0">
              <a:ln>
                <a:noFill/>
              </a:ln>
              <a:solidFill>
                <a:prstClr val="black"/>
              </a:solidFill>
              <a:effectLst/>
              <a:uLnTx/>
              <a:uFillTx/>
              <a:latin typeface="Arial"/>
              <a:ea typeface="+mn-ea"/>
              <a:cs typeface="Arial"/>
            </a:endParaRPr>
          </a:p>
        </p:txBody>
      </p:sp>
    </p:spTree>
    <p:extLst>
      <p:ext uri="{BB962C8B-B14F-4D97-AF65-F5344CB8AC3E}">
        <p14:creationId xmlns:p14="http://schemas.microsoft.com/office/powerpoint/2010/main" val="134585469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1FB182DA-8516-88B8-108C-8195B819749E}"/>
              </a:ext>
            </a:extLst>
          </p:cNvPr>
          <p:cNvSpPr>
            <a:spLocks noGrp="1"/>
          </p:cNvSpPr>
          <p:nvPr>
            <p:ph type="title" idx="4294967295"/>
          </p:nvPr>
        </p:nvSpPr>
        <p:spPr>
          <a:xfrm>
            <a:off x="0" y="652463"/>
            <a:ext cx="10515600" cy="1325562"/>
          </a:xfrm>
        </p:spPr>
        <p:txBody>
          <a:bodyPr/>
          <a:lstStyle/>
          <a:p>
            <a:r>
              <a:rPr lang="en-US" altLang="en-US" dirty="0"/>
              <a:t>      Key Concepts</a:t>
            </a:r>
          </a:p>
        </p:txBody>
      </p:sp>
      <p:sp>
        <p:nvSpPr>
          <p:cNvPr id="18435" name="Content Placeholder 2">
            <a:extLst>
              <a:ext uri="{FF2B5EF4-FFF2-40B4-BE49-F238E27FC236}">
                <a16:creationId xmlns:a16="http://schemas.microsoft.com/office/drawing/2014/main" id="{56F88FC0-F086-2D56-9F7F-55E81DA658CB}"/>
              </a:ext>
            </a:extLst>
          </p:cNvPr>
          <p:cNvSpPr>
            <a:spLocks noGrp="1"/>
          </p:cNvSpPr>
          <p:nvPr>
            <p:ph idx="4294967295"/>
          </p:nvPr>
        </p:nvSpPr>
        <p:spPr>
          <a:xfrm>
            <a:off x="588963" y="1316038"/>
            <a:ext cx="11603037" cy="4595812"/>
          </a:xfrm>
        </p:spPr>
        <p:txBody>
          <a:bodyPr>
            <a:normAutofit/>
          </a:bodyPr>
          <a:lstStyle/>
          <a:p>
            <a:pPr>
              <a:buFont typeface="Wingdings" pitchFamily="2" charset="2"/>
              <a:buChar char="v"/>
              <a:defRPr/>
            </a:pPr>
            <a:r>
              <a:rPr lang="en-US" sz="2800" dirty="0"/>
              <a:t>Introduction to matplotlib</a:t>
            </a:r>
          </a:p>
          <a:p>
            <a:pPr>
              <a:buFont typeface="Wingdings" pitchFamily="2" charset="2"/>
              <a:buChar char="v"/>
              <a:defRPr/>
            </a:pPr>
            <a:r>
              <a:rPr lang="en-US" sz="2800" dirty="0"/>
              <a:t>Python Visualization</a:t>
            </a:r>
          </a:p>
          <a:p>
            <a:pPr>
              <a:buFont typeface="Wingdings" pitchFamily="2" charset="2"/>
              <a:buChar char="v"/>
              <a:defRPr/>
            </a:pPr>
            <a:r>
              <a:rPr lang="en-US" sz="2800" dirty="0"/>
              <a:t>Visualization using Matplotlib.</a:t>
            </a:r>
          </a:p>
          <a:p>
            <a:pPr>
              <a:buFont typeface="Wingdings" pitchFamily="2" charset="2"/>
              <a:buChar char="v"/>
              <a:defRPr/>
            </a:pPr>
            <a:endParaRPr lang="en-US" sz="2800" dirty="0"/>
          </a:p>
          <a:p>
            <a:pPr>
              <a:buFont typeface="Wingdings" pitchFamily="2" charset="2"/>
              <a:buChar char="v"/>
              <a:defRPr/>
            </a:pPr>
            <a:endParaRPr lang="en-US" altLang="en-US" sz="2800" dirty="0"/>
          </a:p>
          <a:p>
            <a:pPr>
              <a:buFont typeface="Wingdings" pitchFamily="2" charset="2"/>
              <a:buChar char="v"/>
              <a:defRPr/>
            </a:pPr>
            <a:endParaRPr lang="en-US" altLang="en-US" sz="2800" dirty="0"/>
          </a:p>
          <a:p>
            <a:pPr marL="0" indent="0">
              <a:buNone/>
              <a:defRPr/>
            </a:pPr>
            <a:endParaRPr lang="en-US" altLang="en-US" sz="4200" dirty="0">
              <a:latin typeface="Times New Roman" pitchFamily="16" charset="0"/>
              <a:cs typeface="Times New Roman" pitchFamily="16" charset="0"/>
            </a:endParaRPr>
          </a:p>
          <a:p>
            <a:pPr marL="457200" indent="-457200">
              <a:buFont typeface="Wingdings" pitchFamily="2" charset="2"/>
              <a:buChar char="v"/>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a:p>
            <a:pPr marL="457200" indent="-457200">
              <a:buNone/>
              <a:defRPr/>
            </a:pPr>
            <a:endParaRPr lang="en-US" altLang="en-US" dirty="0">
              <a:latin typeface="Times New Roman" pitchFamily="16" charset="0"/>
              <a:cs typeface="Times New Roman" pitchFamily="16" charset="0"/>
            </a:endParaRPr>
          </a:p>
        </p:txBody>
      </p:sp>
      <p:sp>
        <p:nvSpPr>
          <p:cNvPr id="2" name="Rounded Rectangle 17">
            <a:extLst>
              <a:ext uri="{FF2B5EF4-FFF2-40B4-BE49-F238E27FC236}">
                <a16:creationId xmlns:a16="http://schemas.microsoft.com/office/drawing/2014/main" id="{978A528D-FBDF-73B4-7991-604D89DCAB64}"/>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Gill Sans MT"/>
                <a:ea typeface="+mn-ea"/>
                <a:cs typeface="+mn-cs"/>
              </a:rPr>
              <a:t>SESSION INTRODUCTION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8435">
                                            <p:txEl>
                                              <p:pRg st="2" end="2"/>
                                            </p:txEl>
                                          </p:spTgt>
                                        </p:tgtEl>
                                        <p:attrNameLst>
                                          <p:attrName>style.visibility</p:attrName>
                                        </p:attrNameLst>
                                      </p:cBhvr>
                                      <p:to>
                                        <p:strVal val="visible"/>
                                      </p:to>
                                    </p:set>
                                    <p:animEffect transition="in" filter="wipe(left)">
                                      <p:cBhvr>
                                        <p:cTn id="16" dur="500"/>
                                        <p:tgtEl>
                                          <p:spTgt spid="1843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0960"/>
            <a:ext cx="8229600" cy="662940"/>
          </a:xfrm>
        </p:spPr>
        <p:txBody>
          <a:bodyPr/>
          <a:lstStyle/>
          <a:p>
            <a:r>
              <a:rPr lang="en-US" dirty="0" err="1"/>
              <a:t>Matplotlib</a:t>
            </a:r>
            <a:endParaRPr lang="en-US" dirty="0"/>
          </a:p>
        </p:txBody>
      </p:sp>
      <p:sp>
        <p:nvSpPr>
          <p:cNvPr id="3" name="Content Placeholder 2"/>
          <p:cNvSpPr>
            <a:spLocks noGrp="1"/>
          </p:cNvSpPr>
          <p:nvPr>
            <p:ph idx="1"/>
          </p:nvPr>
        </p:nvSpPr>
        <p:spPr>
          <a:xfrm>
            <a:off x="1114425" y="733425"/>
            <a:ext cx="10572750" cy="5410200"/>
          </a:xfrm>
        </p:spPr>
        <p:txBody>
          <a:bodyPr>
            <a:normAutofit/>
          </a:bodyPr>
          <a:lstStyle/>
          <a:p>
            <a:r>
              <a:rPr lang="en-US" sz="2400" b="1" dirty="0" err="1">
                <a:solidFill>
                  <a:srgbClr val="0070C0"/>
                </a:solidFill>
              </a:rPr>
              <a:t>Matplotlib</a:t>
            </a:r>
            <a:r>
              <a:rPr lang="en-US" sz="2400" dirty="0"/>
              <a:t> is one of the most powerful tools for data visualization in Python.</a:t>
            </a:r>
          </a:p>
          <a:p>
            <a:r>
              <a:rPr lang="en-US" sz="2400" b="1" dirty="0" err="1">
                <a:solidFill>
                  <a:srgbClr val="0070C0"/>
                </a:solidFill>
              </a:rPr>
              <a:t>Matplotlib</a:t>
            </a:r>
            <a:r>
              <a:rPr lang="en-US" sz="2400" dirty="0"/>
              <a:t> is an incredibly powerful (and beautiful!) </a:t>
            </a:r>
            <a:r>
              <a:rPr lang="en-US" sz="2400" dirty="0">
                <a:solidFill>
                  <a:srgbClr val="FF0000"/>
                </a:solidFill>
              </a:rPr>
              <a:t>2-D</a:t>
            </a:r>
            <a:r>
              <a:rPr lang="en-US" sz="2400" dirty="0"/>
              <a:t> plotting library. </a:t>
            </a:r>
          </a:p>
          <a:p>
            <a:pPr lvl="1"/>
            <a:r>
              <a:rPr lang="en-US" sz="2000" dirty="0"/>
              <a:t>It is easy to use and provides a huge number of examples for tackling unique problems </a:t>
            </a:r>
          </a:p>
          <a:p>
            <a:r>
              <a:rPr lang="en-US" dirty="0"/>
              <a:t>In order to get </a:t>
            </a:r>
            <a:r>
              <a:rPr lang="en-US" b="1" dirty="0" err="1">
                <a:solidFill>
                  <a:srgbClr val="0070C0"/>
                </a:solidFill>
                <a:latin typeface="Courier New" panose="02070309020205020404" pitchFamily="49" charset="0"/>
                <a:cs typeface="Courier New" panose="02070309020205020404" pitchFamily="49" charset="0"/>
              </a:rPr>
              <a:t>matplotlib</a:t>
            </a:r>
            <a:r>
              <a:rPr lang="en-US" dirty="0"/>
              <a:t> into your script, </a:t>
            </a:r>
          </a:p>
          <a:p>
            <a:pPr lvl="1"/>
            <a:r>
              <a:rPr lang="en-US" sz="1600" dirty="0"/>
              <a:t>first you need to import it, for example:</a:t>
            </a:r>
          </a:p>
          <a:p>
            <a:pPr marL="457200" lvl="1" indent="0">
              <a:spcBef>
                <a:spcPts val="600"/>
              </a:spcBef>
              <a:spcAft>
                <a:spcPts val="600"/>
              </a:spcAft>
              <a:buNone/>
            </a:pPr>
            <a:r>
              <a:rPr lang="en-US" b="1" dirty="0">
                <a:solidFill>
                  <a:srgbClr val="0070C0"/>
                </a:solidFill>
                <a:latin typeface="Courier New" panose="02070309020205020404" pitchFamily="49" charset="0"/>
                <a:cs typeface="Courier New" panose="02070309020205020404" pitchFamily="49" charset="0"/>
              </a:rPr>
              <a:t>			import</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matplotlib.pyplot</a:t>
            </a:r>
            <a:r>
              <a:rPr lang="en-US" b="1" dirty="0">
                <a:latin typeface="Courier New" panose="02070309020205020404" pitchFamily="49" charset="0"/>
                <a:cs typeface="Courier New" panose="02070309020205020404" pitchFamily="49" charset="0"/>
              </a:rPr>
              <a:t> </a:t>
            </a:r>
            <a:r>
              <a:rPr lang="en-US" b="1" dirty="0">
                <a:solidFill>
                  <a:srgbClr val="0070C0"/>
                </a:solidFill>
                <a:latin typeface="Courier New" panose="02070309020205020404" pitchFamily="49" charset="0"/>
                <a:cs typeface="Courier New" panose="02070309020205020404" pitchFamily="49" charset="0"/>
              </a:rPr>
              <a:t>as</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plt</a:t>
            </a:r>
            <a:endParaRPr lang="en-US" b="1" dirty="0">
              <a:latin typeface="Courier New" panose="02070309020205020404" pitchFamily="49" charset="0"/>
              <a:cs typeface="Courier New" panose="02070309020205020404" pitchFamily="49" charset="0"/>
            </a:endParaRPr>
          </a:p>
          <a:p>
            <a:r>
              <a:rPr lang="en-US" sz="2400" dirty="0"/>
              <a:t>However, if it is not installed, you may need to install it:</a:t>
            </a:r>
          </a:p>
          <a:p>
            <a:pPr lvl="1"/>
            <a:r>
              <a:rPr lang="en-US" sz="2000" dirty="0"/>
              <a:t>Easiest way to install </a:t>
            </a:r>
            <a:r>
              <a:rPr lang="en-US" sz="2000" b="1" dirty="0" err="1">
                <a:solidFill>
                  <a:srgbClr val="0070C0"/>
                </a:solidFill>
              </a:rPr>
              <a:t>matplotlib</a:t>
            </a:r>
            <a:r>
              <a:rPr lang="en-US" sz="2000" dirty="0"/>
              <a:t> is using </a:t>
            </a:r>
            <a:r>
              <a:rPr lang="en-US" sz="2000" b="1" dirty="0">
                <a:solidFill>
                  <a:srgbClr val="FF0000"/>
                </a:solidFill>
                <a:latin typeface="Courier New" panose="02070309020205020404" pitchFamily="49" charset="0"/>
                <a:cs typeface="Courier New" panose="02070309020205020404" pitchFamily="49" charset="0"/>
              </a:rPr>
              <a:t>pip</a:t>
            </a:r>
            <a:r>
              <a:rPr lang="en-US" sz="2000" dirty="0"/>
              <a:t>. </a:t>
            </a:r>
          </a:p>
          <a:p>
            <a:pPr lvl="1"/>
            <a:r>
              <a:rPr lang="en-US" sz="2000" dirty="0"/>
              <a:t>Type the following command in the command prompt (</a:t>
            </a:r>
            <a:r>
              <a:rPr lang="en-US" sz="2000" dirty="0" err="1"/>
              <a:t>cmd</a:t>
            </a:r>
            <a:r>
              <a:rPr lang="en-US" sz="2000" dirty="0"/>
              <a:t>) or your Linux shell; </a:t>
            </a:r>
          </a:p>
          <a:p>
            <a:pPr lvl="2"/>
            <a:r>
              <a:rPr lang="en-US" sz="2000" b="1" dirty="0">
                <a:solidFill>
                  <a:srgbClr val="0070C0"/>
                </a:solidFill>
                <a:latin typeface="Courier New" panose="02070309020205020404" pitchFamily="49" charset="0"/>
                <a:cs typeface="Courier New" panose="02070309020205020404" pitchFamily="49" charset="0"/>
              </a:rPr>
              <a:t>pip install </a:t>
            </a:r>
            <a:r>
              <a:rPr lang="en-US" sz="2000" b="1" dirty="0" err="1">
                <a:solidFill>
                  <a:srgbClr val="0070C0"/>
                </a:solidFill>
                <a:latin typeface="Courier New" panose="02070309020205020404" pitchFamily="49" charset="0"/>
                <a:cs typeface="Courier New" panose="02070309020205020404" pitchFamily="49" charset="0"/>
              </a:rPr>
              <a:t>matplotlib</a:t>
            </a:r>
            <a:endParaRPr lang="en-US" sz="2000" b="1" dirty="0">
              <a:solidFill>
                <a:srgbClr val="0070C0"/>
              </a:solidFill>
              <a:latin typeface="Courier New" panose="02070309020205020404" pitchFamily="49" charset="0"/>
              <a:cs typeface="Courier New" panose="02070309020205020404" pitchFamily="49" charset="0"/>
            </a:endParaRPr>
          </a:p>
          <a:p>
            <a:pPr lvl="2"/>
            <a:r>
              <a:rPr lang="en-US" sz="2000" i="1" dirty="0">
                <a:solidFill>
                  <a:srgbClr val="FF0000"/>
                </a:solidFill>
              </a:rPr>
              <a:t>Note</a:t>
            </a:r>
            <a:r>
              <a:rPr lang="en-US" sz="2000" i="1" dirty="0"/>
              <a:t> that you may need to run the above </a:t>
            </a:r>
            <a:r>
              <a:rPr lang="en-US" sz="2000" i="1" dirty="0" err="1"/>
              <a:t>cmd</a:t>
            </a:r>
            <a:r>
              <a:rPr lang="en-US" sz="2000" i="1" dirty="0"/>
              <a:t> as an administrator</a:t>
            </a:r>
          </a:p>
          <a:p>
            <a:pPr marL="0" indent="0">
              <a:buNone/>
            </a:pPr>
            <a:endParaRPr lang="en-US" sz="2400" dirty="0"/>
          </a:p>
        </p:txBody>
      </p:sp>
    </p:spTree>
    <p:extLst>
      <p:ext uri="{BB962C8B-B14F-4D97-AF65-F5344CB8AC3E}">
        <p14:creationId xmlns:p14="http://schemas.microsoft.com/office/powerpoint/2010/main" val="1644877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52600" y="109773"/>
            <a:ext cx="8229600" cy="648942"/>
          </a:xfrm>
        </p:spPr>
        <p:txBody>
          <a:bodyPr/>
          <a:lstStyle/>
          <a:p>
            <a:r>
              <a:rPr lang="en-US" dirty="0" err="1"/>
              <a:t>matplotlib</a:t>
            </a:r>
            <a:endParaRPr lang="en-US" dirty="0"/>
          </a:p>
        </p:txBody>
      </p:sp>
      <p:sp>
        <p:nvSpPr>
          <p:cNvPr id="5" name="Content Placeholder 4"/>
          <p:cNvSpPr>
            <a:spLocks noGrp="1"/>
          </p:cNvSpPr>
          <p:nvPr>
            <p:ph idx="1"/>
          </p:nvPr>
        </p:nvSpPr>
        <p:spPr>
          <a:xfrm>
            <a:off x="1209675" y="673335"/>
            <a:ext cx="10706100" cy="5413140"/>
          </a:xfrm>
        </p:spPr>
        <p:txBody>
          <a:bodyPr>
            <a:noAutofit/>
          </a:bodyPr>
          <a:lstStyle/>
          <a:p>
            <a:pPr algn="just"/>
            <a:r>
              <a:rPr lang="en-US" dirty="0"/>
              <a:t>Strives to emulate MATLAB</a:t>
            </a:r>
          </a:p>
          <a:p>
            <a:pPr lvl="1" algn="just"/>
            <a:r>
              <a:rPr lang="en-US" b="1" dirty="0" err="1">
                <a:solidFill>
                  <a:srgbClr val="0070C0"/>
                </a:solidFill>
                <a:latin typeface="Courier New" panose="02070309020205020404" pitchFamily="49" charset="0"/>
                <a:cs typeface="Courier New" panose="02070309020205020404" pitchFamily="49" charset="0"/>
              </a:rPr>
              <a:t>matplotlib.pyplot</a:t>
            </a:r>
            <a:r>
              <a:rPr lang="en-US" dirty="0"/>
              <a:t> is a collection of command style functions that make </a:t>
            </a:r>
            <a:r>
              <a:rPr lang="en-US" b="1" dirty="0" err="1">
                <a:solidFill>
                  <a:srgbClr val="0070C0"/>
                </a:solidFill>
                <a:latin typeface="Courier New" panose="02070309020205020404" pitchFamily="49" charset="0"/>
                <a:cs typeface="Courier New" panose="02070309020205020404" pitchFamily="49" charset="0"/>
              </a:rPr>
              <a:t>matplotlib</a:t>
            </a:r>
            <a:r>
              <a:rPr lang="en-US" dirty="0"/>
              <a:t> work like </a:t>
            </a:r>
            <a:r>
              <a:rPr lang="en-US" b="1" dirty="0"/>
              <a:t>MATLAB</a:t>
            </a:r>
            <a:r>
              <a:rPr lang="en-US" dirty="0"/>
              <a:t>.</a:t>
            </a:r>
          </a:p>
          <a:p>
            <a:pPr algn="just"/>
            <a:r>
              <a:rPr lang="en-US" dirty="0"/>
              <a:t>Each </a:t>
            </a:r>
            <a:r>
              <a:rPr lang="en-US" b="1" dirty="0" err="1">
                <a:solidFill>
                  <a:srgbClr val="0070C0"/>
                </a:solidFill>
                <a:latin typeface="Courier New" panose="02070309020205020404" pitchFamily="49" charset="0"/>
                <a:cs typeface="Courier New" panose="02070309020205020404" pitchFamily="49" charset="0"/>
              </a:rPr>
              <a:t>pyplot</a:t>
            </a:r>
            <a:r>
              <a:rPr lang="en-US" dirty="0"/>
              <a:t> function makes some change to the figure:</a:t>
            </a:r>
          </a:p>
          <a:p>
            <a:pPr algn="just"/>
            <a:r>
              <a:rPr lang="en-US" sz="2000" dirty="0"/>
              <a:t>Example</a:t>
            </a:r>
            <a:r>
              <a:rPr lang="en-US" dirty="0"/>
              <a:t>:  </a:t>
            </a:r>
            <a:r>
              <a:rPr lang="en-US" sz="1800" dirty="0"/>
              <a:t>creates a figure, </a:t>
            </a:r>
          </a:p>
          <a:p>
            <a:pPr lvl="2" algn="just"/>
            <a:r>
              <a:rPr lang="en-US" sz="1800" dirty="0"/>
              <a:t>creates a plotting area in the figure, </a:t>
            </a:r>
          </a:p>
          <a:p>
            <a:pPr lvl="2" algn="just"/>
            <a:r>
              <a:rPr lang="en-US" sz="1800" dirty="0"/>
              <a:t>plots some lines in the plotting area, </a:t>
            </a:r>
          </a:p>
          <a:p>
            <a:pPr lvl="2" algn="just"/>
            <a:r>
              <a:rPr lang="en-US" sz="1800" dirty="0"/>
              <a:t>decorates the plot with labels, etc.</a:t>
            </a:r>
          </a:p>
          <a:p>
            <a:pPr lvl="2" algn="just"/>
            <a:r>
              <a:rPr lang="en-US" sz="1800" b="1" dirty="0">
                <a:solidFill>
                  <a:srgbClr val="FF0000"/>
                </a:solidFill>
              </a:rPr>
              <a:t>Note</a:t>
            </a:r>
            <a:r>
              <a:rPr lang="en-US" sz="1800" dirty="0"/>
              <a:t> that </a:t>
            </a:r>
            <a:r>
              <a:rPr lang="en-US" sz="1800" b="1" u="sng" dirty="0"/>
              <a:t>various states</a:t>
            </a:r>
            <a:r>
              <a:rPr lang="en-US" sz="1800" b="1" dirty="0"/>
              <a:t> </a:t>
            </a:r>
            <a:r>
              <a:rPr lang="en-US" sz="1800" dirty="0"/>
              <a:t>are preserved </a:t>
            </a:r>
            <a:r>
              <a:rPr lang="en-US" sz="1800" b="1" u="sng" dirty="0"/>
              <a:t>across function calls</a:t>
            </a:r>
          </a:p>
          <a:p>
            <a:pPr lvl="2" algn="just"/>
            <a:endParaRPr lang="en-US" sz="1800" dirty="0"/>
          </a:p>
          <a:p>
            <a:pPr lvl="2" algn="just"/>
            <a:endParaRPr lang="en-US" sz="1800" dirty="0"/>
          </a:p>
          <a:p>
            <a:pPr algn="just"/>
            <a:endParaRPr lang="en-US" dirty="0"/>
          </a:p>
        </p:txBody>
      </p:sp>
      <p:sp>
        <p:nvSpPr>
          <p:cNvPr id="6" name="Content Placeholder 2"/>
          <p:cNvSpPr txBox="1">
            <a:spLocks/>
          </p:cNvSpPr>
          <p:nvPr/>
        </p:nvSpPr>
        <p:spPr>
          <a:xfrm>
            <a:off x="1209675" y="4323674"/>
            <a:ext cx="9229725" cy="176280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800" dirty="0"/>
              <a:t>Whenever you plot with </a:t>
            </a:r>
            <a:r>
              <a:rPr lang="en-US" sz="1800" b="1" dirty="0" err="1">
                <a:solidFill>
                  <a:srgbClr val="0070C0"/>
                </a:solidFill>
                <a:latin typeface="Courier New" panose="02070309020205020404" pitchFamily="49" charset="0"/>
                <a:cs typeface="Courier New" panose="02070309020205020404" pitchFamily="49" charset="0"/>
              </a:rPr>
              <a:t>matplotlib</a:t>
            </a:r>
            <a:r>
              <a:rPr lang="en-US" sz="1800" dirty="0"/>
              <a:t>, the two main code lines should be considered:</a:t>
            </a:r>
          </a:p>
          <a:p>
            <a:pPr lvl="1"/>
            <a:r>
              <a:rPr lang="en-US" sz="1800" dirty="0"/>
              <a:t>Type of graph</a:t>
            </a:r>
          </a:p>
          <a:p>
            <a:pPr lvl="2"/>
            <a:r>
              <a:rPr lang="en-US" sz="1800" dirty="0"/>
              <a:t>this is where you </a:t>
            </a:r>
            <a:r>
              <a:rPr lang="en-US" sz="1800" dirty="0">
                <a:solidFill>
                  <a:srgbClr val="FF0000"/>
                </a:solidFill>
              </a:rPr>
              <a:t>define</a:t>
            </a:r>
            <a:r>
              <a:rPr lang="en-US" sz="1800" dirty="0"/>
              <a:t> a </a:t>
            </a:r>
            <a:r>
              <a:rPr lang="en-US" sz="1800" dirty="0">
                <a:solidFill>
                  <a:srgbClr val="FF0000"/>
                </a:solidFill>
              </a:rPr>
              <a:t>bar</a:t>
            </a:r>
            <a:r>
              <a:rPr lang="en-US" sz="1800" dirty="0"/>
              <a:t> chart, </a:t>
            </a:r>
            <a:r>
              <a:rPr lang="en-US" sz="1800" dirty="0">
                <a:solidFill>
                  <a:srgbClr val="FF0000"/>
                </a:solidFill>
              </a:rPr>
              <a:t>line</a:t>
            </a:r>
            <a:r>
              <a:rPr lang="en-US" sz="1800" dirty="0"/>
              <a:t> chart, </a:t>
            </a:r>
            <a:r>
              <a:rPr lang="en-US" sz="1800" dirty="0">
                <a:solidFill>
                  <a:srgbClr val="FF0000"/>
                </a:solidFill>
              </a:rPr>
              <a:t>etc</a:t>
            </a:r>
            <a:r>
              <a:rPr lang="en-US" sz="1800" dirty="0"/>
              <a:t>.</a:t>
            </a:r>
          </a:p>
          <a:p>
            <a:pPr lvl="1"/>
            <a:r>
              <a:rPr lang="en-US" sz="1800" dirty="0"/>
              <a:t>Show the graph</a:t>
            </a:r>
          </a:p>
          <a:p>
            <a:pPr lvl="2"/>
            <a:r>
              <a:rPr lang="en-US" sz="1800" dirty="0"/>
              <a:t>this is to </a:t>
            </a:r>
            <a:r>
              <a:rPr lang="en-US" sz="1800" dirty="0">
                <a:solidFill>
                  <a:srgbClr val="FF0000"/>
                </a:solidFill>
              </a:rPr>
              <a:t>display</a:t>
            </a:r>
            <a:r>
              <a:rPr lang="en-US" sz="1800" dirty="0"/>
              <a:t> the graph</a:t>
            </a:r>
          </a:p>
        </p:txBody>
      </p:sp>
    </p:spTree>
    <p:extLst>
      <p:ext uri="{BB962C8B-B14F-4D97-AF65-F5344CB8AC3E}">
        <p14:creationId xmlns:p14="http://schemas.microsoft.com/office/powerpoint/2010/main" val="3838878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3366" y="39288"/>
            <a:ext cx="8229600" cy="877824"/>
          </a:xfrm>
        </p:spPr>
        <p:txBody>
          <a:bodyPr>
            <a:noAutofit/>
          </a:bodyPr>
          <a:lstStyle/>
          <a:p>
            <a:r>
              <a:rPr lang="en-US" sz="5400" dirty="0"/>
              <a:t> </a:t>
            </a:r>
            <a:r>
              <a:rPr lang="en-US" sz="4500" dirty="0"/>
              <a:t>Matplotlib</a:t>
            </a:r>
          </a:p>
        </p:txBody>
      </p:sp>
      <p:pic>
        <p:nvPicPr>
          <p:cNvPr id="4" name="Picture 3"/>
          <p:cNvPicPr>
            <a:picLocks noChangeAspect="1"/>
          </p:cNvPicPr>
          <p:nvPr/>
        </p:nvPicPr>
        <p:blipFill>
          <a:blip r:embed="rId3"/>
          <a:stretch>
            <a:fillRect/>
          </a:stretch>
        </p:blipFill>
        <p:spPr>
          <a:xfrm>
            <a:off x="1663978" y="2724286"/>
            <a:ext cx="2895600" cy="2181671"/>
          </a:xfrm>
          <a:prstGeom prst="rect">
            <a:avLst/>
          </a:prstGeom>
        </p:spPr>
      </p:pic>
      <p:pic>
        <p:nvPicPr>
          <p:cNvPr id="3" name="Picture 2"/>
          <p:cNvPicPr>
            <a:picLocks noChangeAspect="1"/>
          </p:cNvPicPr>
          <p:nvPr/>
        </p:nvPicPr>
        <p:blipFill>
          <a:blip r:embed="rId4"/>
          <a:stretch>
            <a:fillRect/>
          </a:stretch>
        </p:blipFill>
        <p:spPr>
          <a:xfrm>
            <a:off x="8267326" y="917112"/>
            <a:ext cx="2379339" cy="1689676"/>
          </a:xfrm>
          <a:prstGeom prst="rect">
            <a:avLst/>
          </a:prstGeom>
        </p:spPr>
      </p:pic>
      <p:pic>
        <p:nvPicPr>
          <p:cNvPr id="6" name="Picture 2" descr="mp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29349" y="4893764"/>
            <a:ext cx="2522846" cy="178998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mp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87094" y="4845748"/>
            <a:ext cx="2451652" cy="178067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mp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02976" y="2693805"/>
            <a:ext cx="2961640" cy="211765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mp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59495" y="2827788"/>
            <a:ext cx="2370736" cy="172190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mp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91494" y="4883355"/>
            <a:ext cx="2558808" cy="182961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423367" y="917113"/>
            <a:ext cx="6843960" cy="1569660"/>
          </a:xfrm>
          <a:prstGeom prst="rect">
            <a:avLst/>
          </a:prstGeom>
        </p:spPr>
        <p:txBody>
          <a:bodyPr wrap="square">
            <a:spAutoFit/>
          </a:bodyPr>
          <a:lstStyle/>
          <a:p>
            <a:pPr marL="342900" indent="-342900">
              <a:buFont typeface="Arial" panose="020B0604020202020204" pitchFamily="34" charset="0"/>
              <a:buChar char="•"/>
            </a:pPr>
            <a:r>
              <a:rPr lang="en-US" sz="2400" b="1" dirty="0" err="1">
                <a:solidFill>
                  <a:srgbClr val="0070C0"/>
                </a:solidFill>
                <a:latin typeface="Courier New" panose="02070309020205020404" pitchFamily="49" charset="0"/>
                <a:cs typeface="Courier New" panose="02070309020205020404" pitchFamily="49" charset="0"/>
              </a:rPr>
              <a:t>Matplotlib</a:t>
            </a:r>
            <a:r>
              <a:rPr lang="en-US" sz="2400" dirty="0"/>
              <a:t> allows you to make easy things </a:t>
            </a:r>
          </a:p>
          <a:p>
            <a:pPr marL="342900" indent="-342900">
              <a:buFont typeface="Arial" panose="020B0604020202020204" pitchFamily="34" charset="0"/>
              <a:buChar char="•"/>
            </a:pPr>
            <a:r>
              <a:rPr lang="en-US" sz="2400" dirty="0"/>
              <a:t>You can generate </a:t>
            </a:r>
            <a:r>
              <a:rPr lang="en-US" sz="2400" b="1" dirty="0"/>
              <a:t>plots</a:t>
            </a:r>
            <a:r>
              <a:rPr lang="en-US" sz="2400" dirty="0"/>
              <a:t>, </a:t>
            </a:r>
            <a:r>
              <a:rPr lang="en-US" sz="2400" b="1" dirty="0"/>
              <a:t>histograms</a:t>
            </a:r>
            <a:r>
              <a:rPr lang="en-US" sz="2400" dirty="0"/>
              <a:t>, </a:t>
            </a:r>
            <a:r>
              <a:rPr lang="en-US" sz="2400" b="1" dirty="0"/>
              <a:t>power spectra</a:t>
            </a:r>
            <a:r>
              <a:rPr lang="en-US" sz="2400" dirty="0"/>
              <a:t>, </a:t>
            </a:r>
            <a:r>
              <a:rPr lang="en-US" sz="2400" b="1" dirty="0"/>
              <a:t>bar charts</a:t>
            </a:r>
            <a:r>
              <a:rPr lang="en-US" sz="2400" dirty="0"/>
              <a:t>, </a:t>
            </a:r>
            <a:r>
              <a:rPr lang="en-US" sz="2400" b="1" dirty="0" err="1"/>
              <a:t>errorcharts</a:t>
            </a:r>
            <a:r>
              <a:rPr lang="en-US" sz="2400" dirty="0"/>
              <a:t>, </a:t>
            </a:r>
            <a:r>
              <a:rPr lang="en-US" sz="2400" b="1" dirty="0"/>
              <a:t>scatterplots</a:t>
            </a:r>
            <a:r>
              <a:rPr lang="en-US" sz="2400" dirty="0"/>
              <a:t>, etc., with just a few lines of code.</a:t>
            </a:r>
          </a:p>
        </p:txBody>
      </p:sp>
    </p:spTree>
    <p:extLst>
      <p:ext uri="{BB962C8B-B14F-4D97-AF65-F5344CB8AC3E}">
        <p14:creationId xmlns:p14="http://schemas.microsoft.com/office/powerpoint/2010/main" val="25642367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1A802-4E04-DEDA-F4A8-8111DBD2A9A0}"/>
              </a:ext>
            </a:extLst>
          </p:cNvPr>
          <p:cNvSpPr>
            <a:spLocks noGrp="1"/>
          </p:cNvSpPr>
          <p:nvPr>
            <p:ph type="title"/>
          </p:nvPr>
        </p:nvSpPr>
        <p:spPr>
          <a:xfrm>
            <a:off x="838200" y="365125"/>
            <a:ext cx="10515600" cy="1080217"/>
          </a:xfrm>
        </p:spPr>
        <p:txBody>
          <a:bodyPr>
            <a:noAutofit/>
          </a:bodyPr>
          <a:lstStyle/>
          <a:p>
            <a:pPr algn="l"/>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r>
              <a:rPr lang="en-US" sz="3200" b="1" i="0" dirty="0">
                <a:solidFill>
                  <a:srgbClr val="222222"/>
                </a:solidFill>
                <a:effectLst/>
                <a:latin typeface="Lato" panose="020F0502020204030203" pitchFamily="34" charset="0"/>
              </a:rPr>
              <a:t>What is Data Visualization?</a:t>
            </a:r>
            <a:br>
              <a:rPr lang="en-US" sz="3200" b="1" i="0" dirty="0">
                <a:solidFill>
                  <a:srgbClr val="222222"/>
                </a:solidFill>
                <a:effectLst/>
                <a:latin typeface="Lato" panose="020F0502020204030203" pitchFamily="34" charset="0"/>
              </a:rPr>
            </a:br>
            <a:br>
              <a:rPr lang="en-US" sz="3200" b="1"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br>
              <a:rPr lang="en-US" sz="3200" b="1" i="0" dirty="0">
                <a:solidFill>
                  <a:srgbClr val="222222"/>
                </a:solidFill>
                <a:effectLst/>
                <a:latin typeface="Lato" panose="020F0502020204030203" pitchFamily="34" charset="0"/>
              </a:rPr>
            </a:br>
            <a:br>
              <a:rPr lang="en-US" sz="3200" b="0" i="0" dirty="0">
                <a:solidFill>
                  <a:srgbClr val="222222"/>
                </a:solidFill>
                <a:effectLst/>
                <a:latin typeface="Lato" panose="020F0502020204030203" pitchFamily="34" charset="0"/>
              </a:rPr>
            </a:br>
            <a:endParaRPr lang="en-IN" sz="3200" dirty="0"/>
          </a:p>
        </p:txBody>
      </p:sp>
      <p:sp>
        <p:nvSpPr>
          <p:cNvPr id="4" name="Content Placeholder 3">
            <a:extLst>
              <a:ext uri="{FF2B5EF4-FFF2-40B4-BE49-F238E27FC236}">
                <a16:creationId xmlns:a16="http://schemas.microsoft.com/office/drawing/2014/main" id="{9418220D-AC47-0665-7857-9FD4C787B706}"/>
              </a:ext>
            </a:extLst>
          </p:cNvPr>
          <p:cNvSpPr>
            <a:spLocks noGrp="1"/>
          </p:cNvSpPr>
          <p:nvPr>
            <p:ph idx="1"/>
          </p:nvPr>
        </p:nvSpPr>
        <p:spPr>
          <a:xfrm>
            <a:off x="838200" y="1352549"/>
            <a:ext cx="10515600" cy="5324475"/>
          </a:xfrm>
        </p:spPr>
        <p:txBody>
          <a:bodyPr>
            <a:normAutofit/>
          </a:bodyPr>
          <a:lstStyle/>
          <a:p>
            <a:pPr algn="just"/>
            <a:r>
              <a:rPr lang="en-US" b="0" i="0" dirty="0">
                <a:solidFill>
                  <a:srgbClr val="222222"/>
                </a:solidFill>
                <a:effectLst/>
                <a:latin typeface="Lato" panose="020F0502020204030203" pitchFamily="34" charset="0"/>
              </a:rPr>
              <a:t>Data visualization is the practice of translating data into visual contexts, such as a map or graph, to make data easier for the human brain to understand and to draw comprehension from. The main goal of data viewing is to make it easier to identify patterns, styles, and vendors in large data sets. </a:t>
            </a:r>
          </a:p>
          <a:p>
            <a:r>
              <a:rPr lang="en-US" dirty="0"/>
              <a:t>Data visualization </a:t>
            </a:r>
            <a:r>
              <a:rPr lang="en-US" dirty="0">
                <a:solidFill>
                  <a:srgbClr val="FF0000"/>
                </a:solidFill>
              </a:rPr>
              <a:t>tools</a:t>
            </a:r>
            <a:r>
              <a:rPr lang="en-US" dirty="0"/>
              <a:t> provide a way to present these figures and graphs.</a:t>
            </a:r>
          </a:p>
          <a:p>
            <a:r>
              <a:rPr lang="en-US" dirty="0"/>
              <a:t>Often, it is essential to </a:t>
            </a:r>
            <a:r>
              <a:rPr lang="en-US" dirty="0">
                <a:solidFill>
                  <a:srgbClr val="FF0000"/>
                </a:solidFill>
              </a:rPr>
              <a:t>analyze massive amounts </a:t>
            </a:r>
            <a:r>
              <a:rPr lang="en-US" dirty="0"/>
              <a:t>of information and make </a:t>
            </a:r>
            <a:r>
              <a:rPr lang="en-US" dirty="0">
                <a:solidFill>
                  <a:srgbClr val="FF0000"/>
                </a:solidFill>
              </a:rPr>
              <a:t>data-driven decisions</a:t>
            </a:r>
            <a:r>
              <a:rPr lang="en-US" dirty="0"/>
              <a:t>.</a:t>
            </a:r>
          </a:p>
          <a:p>
            <a:pPr lvl="1"/>
            <a:r>
              <a:rPr lang="en-US" sz="2800" dirty="0"/>
              <a:t>converting complex data into an easy to understand representation</a:t>
            </a:r>
            <a:endParaRPr lang="en-US" sz="2800" b="1" i="0" dirty="0">
              <a:solidFill>
                <a:srgbClr val="222222"/>
              </a:solidFill>
              <a:effectLst/>
              <a:latin typeface="Lato" panose="020F0502020204030203" pitchFamily="34" charset="0"/>
            </a:endParaRPr>
          </a:p>
        </p:txBody>
      </p:sp>
    </p:spTree>
    <p:extLst>
      <p:ext uri="{BB962C8B-B14F-4D97-AF65-F5344CB8AC3E}">
        <p14:creationId xmlns:p14="http://schemas.microsoft.com/office/powerpoint/2010/main" val="1368242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7457-C60E-9F1E-35DA-E10DA4D177CA}"/>
              </a:ext>
            </a:extLst>
          </p:cNvPr>
          <p:cNvSpPr>
            <a:spLocks noGrp="1"/>
          </p:cNvSpPr>
          <p:nvPr>
            <p:ph type="title"/>
          </p:nvPr>
        </p:nvSpPr>
        <p:spPr>
          <a:xfrm>
            <a:off x="838200" y="365126"/>
            <a:ext cx="10515600" cy="972062"/>
          </a:xfrm>
        </p:spPr>
        <p:txBody>
          <a:bodyPr>
            <a:normAutofit/>
          </a:bodyPr>
          <a:lstStyle/>
          <a:p>
            <a:r>
              <a:rPr lang="en-IN" b="0" i="0" dirty="0">
                <a:solidFill>
                  <a:srgbClr val="222222"/>
                </a:solidFill>
                <a:effectLst/>
                <a:latin typeface="Lato" panose="020F0502020204030203" pitchFamily="34" charset="0"/>
              </a:rPr>
              <a:t>Data visualization formats</a:t>
            </a:r>
            <a:br>
              <a:rPr lang="en-IN" b="0" i="0" dirty="0">
                <a:solidFill>
                  <a:srgbClr val="222222"/>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F80AC319-E41E-6521-4170-0E54FF08BC59}"/>
              </a:ext>
            </a:extLst>
          </p:cNvPr>
          <p:cNvSpPr>
            <a:spLocks noGrp="1"/>
          </p:cNvSpPr>
          <p:nvPr>
            <p:ph idx="1"/>
          </p:nvPr>
        </p:nvSpPr>
        <p:spPr>
          <a:xfrm>
            <a:off x="956279" y="1337188"/>
            <a:ext cx="9603275" cy="4130162"/>
          </a:xfrm>
        </p:spPr>
        <p:txBody>
          <a:bodyPr>
            <a:normAutofit/>
          </a:bodyPr>
          <a:lstStyle/>
          <a:p>
            <a:r>
              <a:rPr lang="en-IN" sz="2400" b="1" i="0" dirty="0">
                <a:solidFill>
                  <a:srgbClr val="222222"/>
                </a:solidFill>
                <a:effectLst/>
                <a:latin typeface="Lato" panose="020F0502020204030203" pitchFamily="34" charset="0"/>
              </a:rPr>
              <a:t>1. Bar Charts</a:t>
            </a:r>
            <a:endParaRPr lang="en-IN" sz="2400" b="0" i="0" dirty="0">
              <a:solidFill>
                <a:srgbClr val="222222"/>
              </a:solidFill>
              <a:effectLst/>
              <a:latin typeface="Lato" panose="020F0502020204030203" pitchFamily="34" charset="0"/>
            </a:endParaRPr>
          </a:p>
          <a:p>
            <a:r>
              <a:rPr lang="en-IN" sz="2400" b="1" i="0" dirty="0">
                <a:solidFill>
                  <a:srgbClr val="222222"/>
                </a:solidFill>
                <a:effectLst/>
                <a:latin typeface="Lato" panose="020F0502020204030203" pitchFamily="34" charset="0"/>
              </a:rPr>
              <a:t>2. Histograms</a:t>
            </a:r>
            <a:endParaRPr lang="en-IN" sz="2400" b="0" i="0" dirty="0">
              <a:solidFill>
                <a:srgbClr val="222222"/>
              </a:solidFill>
              <a:effectLst/>
              <a:latin typeface="Lato" panose="020F0502020204030203" pitchFamily="34" charset="0"/>
            </a:endParaRPr>
          </a:p>
          <a:p>
            <a:r>
              <a:rPr lang="en-IN" sz="2400" b="1" i="0" dirty="0">
                <a:solidFill>
                  <a:srgbClr val="222222"/>
                </a:solidFill>
                <a:effectLst/>
                <a:latin typeface="Lato" panose="020F0502020204030203" pitchFamily="34" charset="0"/>
              </a:rPr>
              <a:t>3. Pie charts</a:t>
            </a:r>
            <a:endParaRPr lang="en-IN" sz="2400" b="0" i="0" dirty="0">
              <a:solidFill>
                <a:srgbClr val="222222"/>
              </a:solidFill>
              <a:effectLst/>
              <a:latin typeface="Lato" panose="020F0502020204030203" pitchFamily="34" charset="0"/>
            </a:endParaRPr>
          </a:p>
          <a:p>
            <a:r>
              <a:rPr lang="en-IN" sz="2400" b="1" i="0" dirty="0">
                <a:solidFill>
                  <a:srgbClr val="222222"/>
                </a:solidFill>
                <a:effectLst/>
                <a:latin typeface="Lato" panose="020F0502020204030203" pitchFamily="34" charset="0"/>
              </a:rPr>
              <a:t>4. Scatter Plot</a:t>
            </a:r>
          </a:p>
          <a:p>
            <a:r>
              <a:rPr lang="en-IN" sz="2400" b="1" dirty="0">
                <a:solidFill>
                  <a:srgbClr val="222222"/>
                </a:solidFill>
                <a:latin typeface="Lato" panose="020F0502020204030203" pitchFamily="34" charset="0"/>
              </a:rPr>
              <a:t>5. Area Plot</a:t>
            </a:r>
            <a:endParaRPr lang="en-IN" sz="2400" b="0" i="0" dirty="0">
              <a:solidFill>
                <a:srgbClr val="222222"/>
              </a:solidFill>
              <a:effectLst/>
              <a:latin typeface="Lato" panose="020F0502020204030203" pitchFamily="34" charset="0"/>
            </a:endParaRPr>
          </a:p>
          <a:p>
            <a:r>
              <a:rPr lang="en-IN" sz="2400" b="1" dirty="0">
                <a:solidFill>
                  <a:srgbClr val="222222"/>
                </a:solidFill>
                <a:latin typeface="Lato" panose="020F0502020204030203" pitchFamily="34" charset="0"/>
              </a:rPr>
              <a:t>6</a:t>
            </a:r>
            <a:r>
              <a:rPr lang="en-IN" sz="2400" b="1" i="0" dirty="0">
                <a:solidFill>
                  <a:srgbClr val="222222"/>
                </a:solidFill>
                <a:effectLst/>
                <a:latin typeface="Lato" panose="020F0502020204030203" pitchFamily="34" charset="0"/>
              </a:rPr>
              <a:t>. Heat Maps</a:t>
            </a:r>
            <a:endParaRPr lang="en-IN" sz="2400" b="0" i="0" dirty="0">
              <a:solidFill>
                <a:srgbClr val="222222"/>
              </a:solidFill>
              <a:effectLst/>
              <a:latin typeface="Lato" panose="020F0502020204030203" pitchFamily="34" charset="0"/>
            </a:endParaRPr>
          </a:p>
          <a:p>
            <a:r>
              <a:rPr lang="en-IN" sz="2400" b="1" dirty="0">
                <a:solidFill>
                  <a:srgbClr val="222222"/>
                </a:solidFill>
                <a:latin typeface="Lato" panose="020F0502020204030203" pitchFamily="34" charset="0"/>
              </a:rPr>
              <a:t>7</a:t>
            </a:r>
            <a:r>
              <a:rPr lang="en-IN" sz="2400" b="1" i="0" dirty="0">
                <a:solidFill>
                  <a:srgbClr val="222222"/>
                </a:solidFill>
                <a:effectLst/>
                <a:latin typeface="Lato" panose="020F0502020204030203" pitchFamily="34" charset="0"/>
              </a:rPr>
              <a:t>. Line Plot</a:t>
            </a:r>
            <a:endParaRPr lang="en-IN" sz="2400" b="0" i="0" dirty="0">
              <a:solidFill>
                <a:srgbClr val="222222"/>
              </a:solidFill>
              <a:effectLst/>
              <a:latin typeface="Lato" panose="020F0502020204030203" pitchFamily="34" charset="0"/>
            </a:endParaRPr>
          </a:p>
          <a:p>
            <a:endParaRPr lang="en-IN" sz="2400" dirty="0"/>
          </a:p>
        </p:txBody>
      </p:sp>
    </p:spTree>
    <p:extLst>
      <p:ext uri="{BB962C8B-B14F-4D97-AF65-F5344CB8AC3E}">
        <p14:creationId xmlns:p14="http://schemas.microsoft.com/office/powerpoint/2010/main" val="296380889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144EC-67EC-2FDF-E04D-2FEAC659C7E6}"/>
              </a:ext>
            </a:extLst>
          </p:cNvPr>
          <p:cNvSpPr>
            <a:spLocks noGrp="1"/>
          </p:cNvSpPr>
          <p:nvPr>
            <p:ph type="title"/>
          </p:nvPr>
        </p:nvSpPr>
        <p:spPr>
          <a:xfrm>
            <a:off x="838200" y="365126"/>
            <a:ext cx="10515600" cy="962230"/>
          </a:xfrm>
        </p:spPr>
        <p:txBody>
          <a:bodyPr>
            <a:noAutofit/>
          </a:bodyPr>
          <a:lstStyle/>
          <a:p>
            <a:r>
              <a:rPr lang="en-US" sz="3200" b="0" i="0" dirty="0">
                <a:solidFill>
                  <a:srgbClr val="333333"/>
                </a:solidFill>
                <a:effectLst/>
                <a:latin typeface="inter-regular"/>
              </a:rPr>
              <a:t>There are five phases which are essential to make the decision for the organization:</a:t>
            </a:r>
            <a:endParaRPr lang="en-IN" sz="3200" dirty="0"/>
          </a:p>
        </p:txBody>
      </p:sp>
      <p:pic>
        <p:nvPicPr>
          <p:cNvPr id="5" name="Content Placeholder 4">
            <a:extLst>
              <a:ext uri="{FF2B5EF4-FFF2-40B4-BE49-F238E27FC236}">
                <a16:creationId xmlns:a16="http://schemas.microsoft.com/office/drawing/2014/main" id="{9A83A5D5-767E-B1FD-6C0B-3E19E3BAF3DD}"/>
              </a:ext>
            </a:extLst>
          </p:cNvPr>
          <p:cNvPicPr>
            <a:picLocks noGrp="1" noChangeAspect="1"/>
          </p:cNvPicPr>
          <p:nvPr>
            <p:ph idx="1"/>
          </p:nvPr>
        </p:nvPicPr>
        <p:blipFill>
          <a:blip r:embed="rId3"/>
          <a:stretch>
            <a:fillRect/>
          </a:stretch>
        </p:blipFill>
        <p:spPr>
          <a:xfrm>
            <a:off x="2310581" y="1327356"/>
            <a:ext cx="8229600" cy="5043947"/>
          </a:xfrm>
        </p:spPr>
      </p:pic>
    </p:spTree>
    <p:extLst>
      <p:ext uri="{BB962C8B-B14F-4D97-AF65-F5344CB8AC3E}">
        <p14:creationId xmlns:p14="http://schemas.microsoft.com/office/powerpoint/2010/main" val="402601038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C8787C-385D-F4E5-60FD-656011AD10E8}"/>
              </a:ext>
            </a:extLst>
          </p:cNvPr>
          <p:cNvSpPr>
            <a:spLocks noGrp="1"/>
          </p:cNvSpPr>
          <p:nvPr>
            <p:ph idx="1"/>
          </p:nvPr>
        </p:nvSpPr>
        <p:spPr>
          <a:xfrm>
            <a:off x="838200" y="523568"/>
            <a:ext cx="10515600" cy="5581957"/>
          </a:xfrm>
        </p:spPr>
        <p:txBody>
          <a:bodyPr>
            <a:normAutofit/>
          </a:bodyPr>
          <a:lstStyle/>
          <a:p>
            <a:pPr algn="just">
              <a:buFont typeface="Arial" panose="020B0604020202020204" pitchFamily="34" charset="0"/>
              <a:buChar char="•"/>
            </a:pPr>
            <a:r>
              <a:rPr lang="en-US" sz="2200" b="1" i="0" dirty="0">
                <a:solidFill>
                  <a:srgbClr val="000000"/>
                </a:solidFill>
                <a:effectLst/>
                <a:latin typeface="inter-bold"/>
              </a:rPr>
              <a:t>Visualize:</a:t>
            </a:r>
            <a:r>
              <a:rPr lang="en-US" sz="2200" b="0" i="0" dirty="0">
                <a:solidFill>
                  <a:srgbClr val="000000"/>
                </a:solidFill>
                <a:effectLst/>
                <a:latin typeface="inter-regular"/>
              </a:rPr>
              <a:t> We analyze the raw data, which means it makes complex data more accessible, understandable, and more usable. Tabular data representation is used where the user will look up a specific measurement, while the chart of several types is used to show patterns or relationships in the data for one or more variables.</a:t>
            </a:r>
          </a:p>
          <a:p>
            <a:pPr algn="just">
              <a:buFont typeface="Arial" panose="020B0604020202020204" pitchFamily="34" charset="0"/>
              <a:buChar char="•"/>
            </a:pPr>
            <a:r>
              <a:rPr lang="en-US" sz="2200" b="1" i="0" dirty="0">
                <a:solidFill>
                  <a:srgbClr val="000000"/>
                </a:solidFill>
                <a:effectLst/>
                <a:latin typeface="inter-bold"/>
              </a:rPr>
              <a:t>Analysis:</a:t>
            </a:r>
            <a:r>
              <a:rPr lang="en-US" sz="2200" b="0" i="0" dirty="0">
                <a:solidFill>
                  <a:srgbClr val="000000"/>
                </a:solidFill>
                <a:effectLst/>
                <a:latin typeface="inter-regular"/>
              </a:rPr>
              <a:t> Data analysis is defined as cleaning, inspecting, transforming, and modeling data to derive useful information. Whenever we make a decision for the business or in daily life, is by past experience. </a:t>
            </a:r>
            <a:r>
              <a:rPr lang="en-US" sz="2200" b="1" i="0" dirty="0">
                <a:solidFill>
                  <a:srgbClr val="000000"/>
                </a:solidFill>
                <a:effectLst/>
                <a:latin typeface="inter-bold"/>
              </a:rPr>
              <a:t>What will happen to choose a particular decision</a:t>
            </a:r>
            <a:r>
              <a:rPr lang="en-US" sz="2200" b="0" i="0" dirty="0">
                <a:solidFill>
                  <a:srgbClr val="000000"/>
                </a:solidFill>
                <a:effectLst/>
                <a:latin typeface="inter-regular"/>
              </a:rPr>
              <a:t>, it is nothing but analyzing our past. That may be affected in the future, so the proper analysis is necessary for better decisions for any business or organization.</a:t>
            </a:r>
          </a:p>
          <a:p>
            <a:pPr algn="just">
              <a:buFont typeface="Arial" panose="020B0604020202020204" pitchFamily="34" charset="0"/>
              <a:buChar char="•"/>
            </a:pPr>
            <a:r>
              <a:rPr lang="en-US" sz="2200" b="1" i="0" dirty="0">
                <a:solidFill>
                  <a:srgbClr val="000000"/>
                </a:solidFill>
                <a:effectLst/>
                <a:latin typeface="inter-bold"/>
              </a:rPr>
              <a:t>Document Insight:</a:t>
            </a:r>
            <a:r>
              <a:rPr lang="en-US" sz="2200" b="0" i="0" dirty="0">
                <a:solidFill>
                  <a:srgbClr val="000000"/>
                </a:solidFill>
                <a:effectLst/>
                <a:latin typeface="inter-regular"/>
              </a:rPr>
              <a:t> Document insight is the process where the useful data or information is organized in the document in the standard format.</a:t>
            </a:r>
          </a:p>
          <a:p>
            <a:pPr algn="just">
              <a:buFont typeface="Arial" panose="020B0604020202020204" pitchFamily="34" charset="0"/>
              <a:buChar char="•"/>
            </a:pPr>
            <a:r>
              <a:rPr lang="en-US" sz="2200" b="1" i="0" dirty="0">
                <a:solidFill>
                  <a:srgbClr val="000000"/>
                </a:solidFill>
                <a:effectLst/>
                <a:latin typeface="inter-bold"/>
              </a:rPr>
              <a:t>Transform Data Set:</a:t>
            </a:r>
            <a:r>
              <a:rPr lang="en-US" sz="2200" b="0" i="0" dirty="0">
                <a:solidFill>
                  <a:srgbClr val="000000"/>
                </a:solidFill>
                <a:effectLst/>
                <a:latin typeface="inter-regular"/>
              </a:rPr>
              <a:t> Standard data is used to make the decision more effectively.</a:t>
            </a:r>
          </a:p>
          <a:p>
            <a:endParaRPr lang="en-IN" sz="2200" dirty="0"/>
          </a:p>
        </p:txBody>
      </p:sp>
    </p:spTree>
    <p:extLst>
      <p:ext uri="{BB962C8B-B14F-4D97-AF65-F5344CB8AC3E}">
        <p14:creationId xmlns:p14="http://schemas.microsoft.com/office/powerpoint/2010/main" val="3106804359"/>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2D8D-F83D-311C-B915-5C14DAD2BBCC}"/>
              </a:ext>
            </a:extLst>
          </p:cNvPr>
          <p:cNvSpPr>
            <a:spLocks noGrp="1"/>
          </p:cNvSpPr>
          <p:nvPr>
            <p:ph type="title"/>
          </p:nvPr>
        </p:nvSpPr>
        <p:spPr>
          <a:xfrm>
            <a:off x="838200" y="365126"/>
            <a:ext cx="10515600" cy="814746"/>
          </a:xfrm>
        </p:spPr>
        <p:txBody>
          <a:bodyPr>
            <a:normAutofit fontScale="90000"/>
          </a:bodyPr>
          <a:lstStyle/>
          <a:p>
            <a:r>
              <a:rPr lang="en-US" b="0" i="0" dirty="0">
                <a:solidFill>
                  <a:srgbClr val="222222"/>
                </a:solidFill>
                <a:effectLst/>
                <a:latin typeface="Lato" panose="020F0502020204030203" pitchFamily="34" charset="0"/>
              </a:rPr>
              <a:t>Data Visualization in Python using Matplotlib</a:t>
            </a:r>
            <a:br>
              <a:rPr lang="en-US" b="0" i="0" dirty="0">
                <a:solidFill>
                  <a:srgbClr val="222222"/>
                </a:solidFill>
                <a:effectLst/>
                <a:latin typeface="Lato" panose="020F0502020204030203" pitchFamily="34" charset="0"/>
              </a:rPr>
            </a:br>
            <a:endParaRPr lang="en-IN" dirty="0"/>
          </a:p>
        </p:txBody>
      </p:sp>
      <p:sp>
        <p:nvSpPr>
          <p:cNvPr id="3" name="Content Placeholder 2">
            <a:extLst>
              <a:ext uri="{FF2B5EF4-FFF2-40B4-BE49-F238E27FC236}">
                <a16:creationId xmlns:a16="http://schemas.microsoft.com/office/drawing/2014/main" id="{8CE6EB75-9A66-503C-FDA8-6FC45E2A0764}"/>
              </a:ext>
            </a:extLst>
          </p:cNvPr>
          <p:cNvSpPr>
            <a:spLocks noGrp="1"/>
          </p:cNvSpPr>
          <p:nvPr>
            <p:ph idx="1"/>
          </p:nvPr>
        </p:nvSpPr>
        <p:spPr>
          <a:xfrm>
            <a:off x="838200" y="939979"/>
            <a:ext cx="10515600" cy="5117921"/>
          </a:xfrm>
        </p:spPr>
        <p:txBody>
          <a:bodyPr>
            <a:normAutofit fontScale="70000" lnSpcReduction="20000"/>
          </a:bodyPr>
          <a:lstStyle/>
          <a:p>
            <a:pPr marL="0" indent="0">
              <a:buNone/>
            </a:pPr>
            <a:r>
              <a:rPr lang="en-US" b="0" i="0" dirty="0">
                <a:solidFill>
                  <a:srgbClr val="222222"/>
                </a:solidFill>
                <a:effectLst/>
                <a:latin typeface="Lato" panose="020F0502020204030203" pitchFamily="34" charset="0"/>
              </a:rPr>
              <a:t>Matplotlib is the most basic library built on </a:t>
            </a:r>
            <a:r>
              <a:rPr lang="en-US" b="0" i="0" dirty="0" err="1">
                <a:solidFill>
                  <a:srgbClr val="222222"/>
                </a:solidFill>
                <a:effectLst/>
                <a:latin typeface="Lato" panose="020F0502020204030203" pitchFamily="34" charset="0"/>
              </a:rPr>
              <a:t>numpy</a:t>
            </a:r>
            <a:r>
              <a:rPr lang="en-US" b="0" i="0" dirty="0">
                <a:solidFill>
                  <a:srgbClr val="222222"/>
                </a:solidFill>
                <a:effectLst/>
                <a:latin typeface="Lato" panose="020F0502020204030203" pitchFamily="34" charset="0"/>
              </a:rPr>
              <a:t> array for viewing information about drawings.</a:t>
            </a:r>
          </a:p>
          <a:p>
            <a:pPr marL="0" indent="0" algn="just">
              <a:buNone/>
            </a:pPr>
            <a:r>
              <a:rPr lang="en-US" b="0" i="0" dirty="0">
                <a:solidFill>
                  <a:srgbClr val="610B38"/>
                </a:solidFill>
                <a:effectLst/>
                <a:latin typeface="erdana"/>
              </a:rPr>
              <a:t>Matplotlib Architecture</a:t>
            </a:r>
          </a:p>
          <a:p>
            <a:pPr marL="0" indent="0" algn="just">
              <a:buNone/>
            </a:pPr>
            <a:r>
              <a:rPr lang="en-US" b="0" i="0" dirty="0">
                <a:solidFill>
                  <a:srgbClr val="333333"/>
                </a:solidFill>
                <a:effectLst/>
                <a:latin typeface="inter-regular"/>
              </a:rPr>
              <a:t>There are three different layers in the architecture of the matplotlib which are the following:</a:t>
            </a:r>
          </a:p>
          <a:p>
            <a:pPr marL="514350" indent="-514350" algn="just">
              <a:buFont typeface="+mj-lt"/>
              <a:buAutoNum type="arabicPeriod"/>
            </a:pPr>
            <a:r>
              <a:rPr lang="en-US" b="0" i="0" dirty="0">
                <a:solidFill>
                  <a:srgbClr val="000000"/>
                </a:solidFill>
                <a:effectLst/>
                <a:latin typeface="inter-regular"/>
              </a:rPr>
              <a:t>Backend Layer</a:t>
            </a:r>
          </a:p>
          <a:p>
            <a:pPr marL="514350" indent="-514350" algn="just">
              <a:buFont typeface="+mj-lt"/>
              <a:buAutoNum type="arabicPeriod"/>
            </a:pPr>
            <a:r>
              <a:rPr lang="en-US" b="0" i="0" dirty="0">
                <a:solidFill>
                  <a:srgbClr val="000000"/>
                </a:solidFill>
                <a:effectLst/>
                <a:latin typeface="inter-regular"/>
              </a:rPr>
              <a:t>Artist layer</a:t>
            </a:r>
          </a:p>
          <a:p>
            <a:pPr marL="514350" indent="-514350" algn="just">
              <a:buFont typeface="+mj-lt"/>
              <a:buAutoNum type="arabicPeriod"/>
            </a:pPr>
            <a:r>
              <a:rPr lang="en-US" b="0" i="0" dirty="0">
                <a:solidFill>
                  <a:srgbClr val="000000"/>
                </a:solidFill>
                <a:effectLst/>
                <a:latin typeface="inter-regular"/>
              </a:rPr>
              <a:t>Scripting layer</a:t>
            </a:r>
          </a:p>
          <a:p>
            <a:pPr algn="just"/>
            <a:r>
              <a:rPr lang="en-US" b="1" i="0" dirty="0">
                <a:solidFill>
                  <a:srgbClr val="333333"/>
                </a:solidFill>
                <a:effectLst/>
                <a:latin typeface="inter-bold"/>
              </a:rPr>
              <a:t>Backend layer</a:t>
            </a:r>
            <a:endParaRPr lang="en-US" b="0" i="0" dirty="0">
              <a:solidFill>
                <a:srgbClr val="333333"/>
              </a:solidFill>
              <a:effectLst/>
              <a:latin typeface="inter-regular"/>
            </a:endParaRPr>
          </a:p>
          <a:p>
            <a:pPr algn="just"/>
            <a:r>
              <a:rPr lang="en-US" b="0" i="0" dirty="0">
                <a:solidFill>
                  <a:srgbClr val="333333"/>
                </a:solidFill>
                <a:effectLst/>
                <a:latin typeface="inter-regular"/>
              </a:rPr>
              <a:t>The backend layer is the bottom layer of the figure, which consists of the implementation of the various functions that are necessary for plotting. There are three essential classes from the backend layer </a:t>
            </a:r>
            <a:r>
              <a:rPr lang="en-US" b="1" i="0" dirty="0" err="1">
                <a:solidFill>
                  <a:srgbClr val="333333"/>
                </a:solidFill>
                <a:effectLst/>
                <a:latin typeface="inter-bold"/>
              </a:rPr>
              <a:t>FigureCanvas</a:t>
            </a:r>
            <a:r>
              <a:rPr lang="en-US" b="0" i="0" dirty="0">
                <a:solidFill>
                  <a:srgbClr val="333333"/>
                </a:solidFill>
                <a:effectLst/>
                <a:latin typeface="inter-regular"/>
              </a:rPr>
              <a:t>(The surface on which the figure will be drawn), </a:t>
            </a:r>
            <a:r>
              <a:rPr lang="en-US" b="1" i="0" dirty="0">
                <a:solidFill>
                  <a:srgbClr val="333333"/>
                </a:solidFill>
                <a:effectLst/>
                <a:latin typeface="inter-bold"/>
              </a:rPr>
              <a:t>Renderer</a:t>
            </a:r>
            <a:r>
              <a:rPr lang="en-US" b="0" i="0" dirty="0">
                <a:solidFill>
                  <a:srgbClr val="333333"/>
                </a:solidFill>
                <a:effectLst/>
                <a:latin typeface="inter-regular"/>
              </a:rPr>
              <a:t>(The class that takes care of the drawing on the surface), and </a:t>
            </a:r>
            <a:r>
              <a:rPr lang="en-US" b="1" i="0" dirty="0">
                <a:solidFill>
                  <a:srgbClr val="333333"/>
                </a:solidFill>
                <a:effectLst/>
                <a:latin typeface="inter-bold"/>
              </a:rPr>
              <a:t>Event</a:t>
            </a:r>
            <a:r>
              <a:rPr lang="en-US" b="0" i="0" dirty="0">
                <a:solidFill>
                  <a:srgbClr val="333333"/>
                </a:solidFill>
                <a:effectLst/>
                <a:latin typeface="inter-regular"/>
              </a:rPr>
              <a:t>(It handle the mouse and keyboard events).</a:t>
            </a:r>
          </a:p>
          <a:p>
            <a:pPr algn="just"/>
            <a:r>
              <a:rPr lang="en-US" b="1" i="0" dirty="0">
                <a:solidFill>
                  <a:srgbClr val="333333"/>
                </a:solidFill>
                <a:effectLst/>
                <a:latin typeface="inter-bold"/>
              </a:rPr>
              <a:t>Artist Layer</a:t>
            </a:r>
            <a:endParaRPr lang="en-US" b="0" i="0" dirty="0">
              <a:solidFill>
                <a:srgbClr val="333333"/>
              </a:solidFill>
              <a:effectLst/>
              <a:latin typeface="inter-regular"/>
            </a:endParaRPr>
          </a:p>
          <a:p>
            <a:pPr algn="just"/>
            <a:r>
              <a:rPr lang="en-US" b="0" i="0" dirty="0">
                <a:solidFill>
                  <a:srgbClr val="333333"/>
                </a:solidFill>
                <a:effectLst/>
                <a:latin typeface="inter-regular"/>
              </a:rPr>
              <a:t>The artist layer is the second layer in the architecture. It is responsible for the various plotting functions, like axis, which coordinates on how to use the renderer on the figure canvas.</a:t>
            </a:r>
          </a:p>
          <a:p>
            <a:pPr algn="just"/>
            <a:r>
              <a:rPr lang="en-US" b="1" i="0" dirty="0">
                <a:solidFill>
                  <a:srgbClr val="333333"/>
                </a:solidFill>
                <a:effectLst/>
                <a:latin typeface="inter-bold"/>
              </a:rPr>
              <a:t>Scripting layer</a:t>
            </a:r>
            <a:endParaRPr lang="en-US" b="0" i="0" dirty="0">
              <a:solidFill>
                <a:srgbClr val="333333"/>
              </a:solidFill>
              <a:effectLst/>
              <a:latin typeface="inter-regular"/>
            </a:endParaRPr>
          </a:p>
          <a:p>
            <a:pPr algn="just"/>
            <a:r>
              <a:rPr lang="en-US" b="0" i="0" dirty="0">
                <a:solidFill>
                  <a:srgbClr val="333333"/>
                </a:solidFill>
                <a:effectLst/>
                <a:latin typeface="inter-regular"/>
              </a:rPr>
              <a:t>The scripting layer is the topmost layer on which most of our code will run. The methods in the scripting layer, almost automatically take care of the other layers, and all we need to care about is the current state (figure &amp; subplot).</a:t>
            </a:r>
          </a:p>
          <a:p>
            <a:pPr marL="514350" indent="-514350" algn="just">
              <a:buFont typeface="+mj-lt"/>
              <a:buAutoNum type="arabicPeriod"/>
            </a:pPr>
            <a:endParaRPr lang="en-US" b="0" i="0" dirty="0">
              <a:solidFill>
                <a:srgbClr val="222222"/>
              </a:solidFill>
              <a:effectLst/>
              <a:latin typeface="Lato" panose="020F0502020204030203" pitchFamily="34" charset="0"/>
            </a:endParaRPr>
          </a:p>
          <a:p>
            <a:endParaRPr lang="en-US" b="0" i="0" dirty="0">
              <a:solidFill>
                <a:srgbClr val="222222"/>
              </a:solidFill>
              <a:effectLst/>
              <a:latin typeface="Lato" panose="020F0502020204030203" pitchFamily="34" charset="0"/>
            </a:endParaRPr>
          </a:p>
          <a:p>
            <a:endParaRPr lang="en-IN" dirty="0"/>
          </a:p>
        </p:txBody>
      </p:sp>
    </p:spTree>
    <p:extLst>
      <p:ext uri="{BB962C8B-B14F-4D97-AF65-F5344CB8AC3E}">
        <p14:creationId xmlns:p14="http://schemas.microsoft.com/office/powerpoint/2010/main" val="168337788"/>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B2988A-86A7-136B-EE63-BC3EC298A5CF}"/>
              </a:ext>
            </a:extLst>
          </p:cNvPr>
          <p:cNvPicPr>
            <a:picLocks noGrp="1" noChangeAspect="1"/>
          </p:cNvPicPr>
          <p:nvPr>
            <p:ph idx="1"/>
          </p:nvPr>
        </p:nvPicPr>
        <p:blipFill>
          <a:blip r:embed="rId3"/>
          <a:stretch>
            <a:fillRect/>
          </a:stretch>
        </p:blipFill>
        <p:spPr>
          <a:xfrm>
            <a:off x="2659226" y="298581"/>
            <a:ext cx="7175240" cy="3629608"/>
          </a:xfrm>
        </p:spPr>
      </p:pic>
      <p:sp>
        <p:nvSpPr>
          <p:cNvPr id="4" name="TextBox 3">
            <a:extLst>
              <a:ext uri="{FF2B5EF4-FFF2-40B4-BE49-F238E27FC236}">
                <a16:creationId xmlns:a16="http://schemas.microsoft.com/office/drawing/2014/main" id="{2D4960DA-A847-72C3-E92B-8BBBFEC95034}"/>
              </a:ext>
            </a:extLst>
          </p:cNvPr>
          <p:cNvSpPr txBox="1"/>
          <p:nvPr/>
        </p:nvSpPr>
        <p:spPr>
          <a:xfrm>
            <a:off x="1182656" y="3993503"/>
            <a:ext cx="10060732" cy="3416320"/>
          </a:xfrm>
          <a:prstGeom prst="rect">
            <a:avLst/>
          </a:prstGeom>
          <a:noFill/>
        </p:spPr>
        <p:txBody>
          <a:bodyPr wrap="square">
            <a:spAutoFit/>
          </a:bodyPr>
          <a:lstStyle/>
          <a:p>
            <a:r>
              <a:rPr lang="en-US" sz="2400" b="1" dirty="0">
                <a:effectLst/>
                <a:latin typeface="inter-bold"/>
              </a:rPr>
              <a:t>Figure:</a:t>
            </a:r>
            <a:r>
              <a:rPr lang="en-US" sz="2400" dirty="0"/>
              <a:t> It is a whole figure which may hold one or more axes (plots). We can think of a Figure as a canvas that holds plots.</a:t>
            </a:r>
          </a:p>
          <a:p>
            <a:r>
              <a:rPr lang="en-US" sz="2400" b="1" dirty="0">
                <a:effectLst/>
                <a:latin typeface="inter-bold"/>
              </a:rPr>
              <a:t>Axes:</a:t>
            </a:r>
            <a:r>
              <a:rPr lang="en-US" sz="2400" dirty="0"/>
              <a:t> A Figure can contain several Axes. It consists of two or three (in the case of 3D) Axis objects. Each Axes is comprised of a title, an x-label, and a y-label.</a:t>
            </a:r>
          </a:p>
          <a:p>
            <a:r>
              <a:rPr lang="en-US" sz="2400" b="1" dirty="0">
                <a:effectLst/>
                <a:latin typeface="inter-bold"/>
              </a:rPr>
              <a:t>Axis:</a:t>
            </a:r>
            <a:r>
              <a:rPr lang="en-US" sz="2400" dirty="0"/>
              <a:t> </a:t>
            </a:r>
            <a:r>
              <a:rPr lang="en-US" sz="2400" dirty="0" err="1"/>
              <a:t>Axises</a:t>
            </a:r>
            <a:r>
              <a:rPr lang="en-US" sz="2400" dirty="0"/>
              <a:t> are the number of line like objects and responsible for generating the graph limits.</a:t>
            </a:r>
          </a:p>
          <a:p>
            <a:r>
              <a:rPr lang="en-US" sz="2400" b="1" i="0" dirty="0">
                <a:solidFill>
                  <a:srgbClr val="333333"/>
                </a:solidFill>
                <a:effectLst/>
                <a:latin typeface="inter-bold"/>
              </a:rPr>
              <a:t>Artist:</a:t>
            </a:r>
            <a:r>
              <a:rPr lang="en-US" sz="2400" b="0" i="0" dirty="0">
                <a:solidFill>
                  <a:srgbClr val="333333"/>
                </a:solidFill>
                <a:effectLst/>
                <a:latin typeface="inter-regular"/>
              </a:rPr>
              <a:t> An artist is the all which we see on the graph like Text objects, Line2D objects, and collection objects. Most Artists are tied to Axes.</a:t>
            </a:r>
            <a:br>
              <a:rPr lang="en-US" sz="2400" dirty="0"/>
            </a:br>
            <a:endParaRPr lang="en-IN" sz="2400" dirty="0"/>
          </a:p>
        </p:txBody>
      </p:sp>
    </p:spTree>
    <p:extLst>
      <p:ext uri="{BB962C8B-B14F-4D97-AF65-F5344CB8AC3E}">
        <p14:creationId xmlns:p14="http://schemas.microsoft.com/office/powerpoint/2010/main" val="2179263171"/>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3F1EDF-32C7-FDFE-475A-3B1927836C22}"/>
              </a:ext>
            </a:extLst>
          </p:cNvPr>
          <p:cNvSpPr>
            <a:spLocks noGrp="1"/>
          </p:cNvSpPr>
          <p:nvPr>
            <p:ph idx="1"/>
          </p:nvPr>
        </p:nvSpPr>
        <p:spPr>
          <a:xfrm>
            <a:off x="582561" y="292756"/>
            <a:ext cx="10515600" cy="4351338"/>
          </a:xfrm>
        </p:spPr>
        <p:txBody>
          <a:bodyPr/>
          <a:lstStyle/>
          <a:p>
            <a:r>
              <a:rPr lang="en-US" b="0" i="0" dirty="0">
                <a:solidFill>
                  <a:srgbClr val="222222"/>
                </a:solidFill>
                <a:effectLst/>
                <a:latin typeface="Lato" panose="020F0502020204030203" pitchFamily="34" charset="0"/>
              </a:rPr>
              <a:t>Matplotlib charts are made up of two main elements, axes (lines separating the chart area) and a number (where we draw the X-axis and Y-axis). Now let’s build the simplest graph:</a:t>
            </a:r>
          </a:p>
          <a:p>
            <a:endParaRPr lang="en-IN" dirty="0"/>
          </a:p>
        </p:txBody>
      </p:sp>
      <p:pic>
        <p:nvPicPr>
          <p:cNvPr id="4" name="Picture 3">
            <a:extLst>
              <a:ext uri="{FF2B5EF4-FFF2-40B4-BE49-F238E27FC236}">
                <a16:creationId xmlns:a16="http://schemas.microsoft.com/office/drawing/2014/main" id="{9967506C-91D3-1C08-C9BF-1AAEDABC33E1}"/>
              </a:ext>
            </a:extLst>
          </p:cNvPr>
          <p:cNvPicPr>
            <a:picLocks noChangeAspect="1"/>
          </p:cNvPicPr>
          <p:nvPr/>
        </p:nvPicPr>
        <p:blipFill>
          <a:blip r:embed="rId3"/>
          <a:stretch>
            <a:fillRect/>
          </a:stretch>
        </p:blipFill>
        <p:spPr>
          <a:xfrm>
            <a:off x="1243792" y="1169988"/>
            <a:ext cx="7490633" cy="3554412"/>
          </a:xfrm>
          <a:prstGeom prst="rect">
            <a:avLst/>
          </a:prstGeom>
        </p:spPr>
      </p:pic>
      <p:pic>
        <p:nvPicPr>
          <p:cNvPr id="6" name="Picture 5">
            <a:extLst>
              <a:ext uri="{FF2B5EF4-FFF2-40B4-BE49-F238E27FC236}">
                <a16:creationId xmlns:a16="http://schemas.microsoft.com/office/drawing/2014/main" id="{3C31BF54-5121-1B85-F7AB-E0E98386BB39}"/>
              </a:ext>
            </a:extLst>
          </p:cNvPr>
          <p:cNvPicPr>
            <a:picLocks noChangeAspect="1"/>
          </p:cNvPicPr>
          <p:nvPr/>
        </p:nvPicPr>
        <p:blipFill>
          <a:blip r:embed="rId4"/>
          <a:stretch>
            <a:fillRect/>
          </a:stretch>
        </p:blipFill>
        <p:spPr>
          <a:xfrm>
            <a:off x="1243792" y="4917190"/>
            <a:ext cx="6495589" cy="1208272"/>
          </a:xfrm>
          <a:prstGeom prst="rect">
            <a:avLst/>
          </a:prstGeom>
        </p:spPr>
      </p:pic>
    </p:spTree>
    <p:extLst>
      <p:ext uri="{BB962C8B-B14F-4D97-AF65-F5344CB8AC3E}">
        <p14:creationId xmlns:p14="http://schemas.microsoft.com/office/powerpoint/2010/main" val="2205721733"/>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958009" y="76200"/>
            <a:ext cx="8229600" cy="1143000"/>
          </a:xfrm>
        </p:spPr>
        <p:txBody>
          <a:bodyPr/>
          <a:lstStyle/>
          <a:p>
            <a:r>
              <a:rPr lang="en-US" dirty="0" err="1"/>
              <a:t>pyplot</a:t>
            </a:r>
            <a:endParaRPr lang="en-US" dirty="0"/>
          </a:p>
        </p:txBody>
      </p:sp>
      <p:sp>
        <p:nvSpPr>
          <p:cNvPr id="3" name="Content Placeholder 2"/>
          <p:cNvSpPr>
            <a:spLocks noGrp="1"/>
          </p:cNvSpPr>
          <p:nvPr>
            <p:ph idx="1"/>
          </p:nvPr>
        </p:nvSpPr>
        <p:spPr>
          <a:xfrm>
            <a:off x="1958009" y="571500"/>
            <a:ext cx="8458200" cy="5202239"/>
          </a:xfrm>
        </p:spPr>
        <p:txBody>
          <a:bodyPr>
            <a:normAutofit/>
          </a:bodyPr>
          <a:lstStyle/>
          <a:p>
            <a:pPr>
              <a:buFont typeface="Arial" panose="020B0604020202020204" pitchFamily="34" charset="0"/>
              <a:buChar char="•"/>
            </a:pPr>
            <a:r>
              <a:rPr lang="en-US" sz="2000" b="1" dirty="0">
                <a:solidFill>
                  <a:srgbClr val="0070C0"/>
                </a:solidFill>
                <a:latin typeface="Courier New" panose="02070309020205020404" pitchFamily="49" charset="0"/>
                <a:cs typeface="Courier New" panose="02070309020205020404" pitchFamily="49" charset="0"/>
              </a:rPr>
              <a:t>text()  </a:t>
            </a:r>
            <a:r>
              <a:rPr lang="en-US" sz="2400" dirty="0"/>
              <a:t>: </a:t>
            </a:r>
            <a:r>
              <a:rPr lang="en-US" sz="2400" u="sng" dirty="0"/>
              <a:t>adds</a:t>
            </a:r>
            <a:r>
              <a:rPr lang="en-US" sz="2400" dirty="0"/>
              <a:t> text in an </a:t>
            </a:r>
            <a:r>
              <a:rPr lang="en-US" sz="2400" dirty="0">
                <a:solidFill>
                  <a:srgbClr val="FF0000"/>
                </a:solidFill>
              </a:rPr>
              <a:t>arbitrary</a:t>
            </a:r>
            <a:r>
              <a:rPr lang="en-US" sz="2400" dirty="0"/>
              <a:t> </a:t>
            </a:r>
            <a:r>
              <a:rPr lang="en-US" sz="2400" dirty="0">
                <a:solidFill>
                  <a:srgbClr val="FF0000"/>
                </a:solidFill>
              </a:rPr>
              <a:t>location</a:t>
            </a:r>
          </a:p>
          <a:p>
            <a:r>
              <a:rPr lang="en-US" sz="2000" b="1" dirty="0" err="1">
                <a:solidFill>
                  <a:srgbClr val="0070C0"/>
                </a:solidFill>
                <a:latin typeface="Courier New" panose="02070309020205020404" pitchFamily="49" charset="0"/>
                <a:cs typeface="Courier New" panose="02070309020205020404" pitchFamily="49" charset="0"/>
              </a:rPr>
              <a:t>xlabel</a:t>
            </a:r>
            <a:r>
              <a:rPr lang="en-US" sz="2000" b="1" dirty="0">
                <a:solidFill>
                  <a:srgbClr val="0070C0"/>
                </a:solidFill>
                <a:latin typeface="Courier New" panose="02070309020205020404" pitchFamily="49" charset="0"/>
                <a:cs typeface="Courier New" panose="02070309020205020404" pitchFamily="49" charset="0"/>
              </a:rPr>
              <a:t>()</a:t>
            </a:r>
            <a:r>
              <a:rPr lang="en-US" sz="2400" dirty="0"/>
              <a:t>: </a:t>
            </a:r>
            <a:r>
              <a:rPr lang="en-US" sz="2400" u="sng" dirty="0"/>
              <a:t>adds</a:t>
            </a:r>
            <a:r>
              <a:rPr lang="en-US" sz="2400" dirty="0"/>
              <a:t> text to the </a:t>
            </a:r>
            <a:r>
              <a:rPr lang="en-US" sz="2400" dirty="0">
                <a:solidFill>
                  <a:srgbClr val="FF0000"/>
                </a:solidFill>
              </a:rPr>
              <a:t>x-axis</a:t>
            </a:r>
            <a:endParaRPr lang="en-US" sz="2400" dirty="0"/>
          </a:p>
          <a:p>
            <a:r>
              <a:rPr lang="en-US" sz="2000" b="1" dirty="0" err="1">
                <a:solidFill>
                  <a:srgbClr val="0070C0"/>
                </a:solidFill>
                <a:latin typeface="Courier New" panose="02070309020205020404" pitchFamily="49" charset="0"/>
                <a:cs typeface="Courier New" panose="02070309020205020404" pitchFamily="49" charset="0"/>
              </a:rPr>
              <a:t>ylabel</a:t>
            </a:r>
            <a:r>
              <a:rPr lang="en-US" sz="2000" b="1" dirty="0">
                <a:solidFill>
                  <a:srgbClr val="0070C0"/>
                </a:solidFill>
                <a:latin typeface="Courier New" panose="02070309020205020404" pitchFamily="49" charset="0"/>
                <a:cs typeface="Courier New" panose="02070309020205020404" pitchFamily="49" charset="0"/>
              </a:rPr>
              <a:t>()</a:t>
            </a:r>
            <a:r>
              <a:rPr lang="en-US" sz="2400" dirty="0"/>
              <a:t>: </a:t>
            </a:r>
            <a:r>
              <a:rPr lang="en-US" sz="2400" u="sng" dirty="0"/>
              <a:t>adds</a:t>
            </a:r>
            <a:r>
              <a:rPr lang="en-US" sz="2400" dirty="0"/>
              <a:t> text to the </a:t>
            </a:r>
            <a:r>
              <a:rPr lang="en-US" sz="2400" dirty="0">
                <a:solidFill>
                  <a:srgbClr val="FF0000"/>
                </a:solidFill>
              </a:rPr>
              <a:t>y-axis</a:t>
            </a:r>
            <a:endParaRPr lang="en-US" sz="2400" dirty="0"/>
          </a:p>
          <a:p>
            <a:r>
              <a:rPr lang="en-US" sz="2000" b="1" dirty="0">
                <a:solidFill>
                  <a:srgbClr val="0070C0"/>
                </a:solidFill>
                <a:latin typeface="Courier New" panose="02070309020205020404" pitchFamily="49" charset="0"/>
                <a:cs typeface="Courier New" panose="02070309020205020404" pitchFamily="49" charset="0"/>
              </a:rPr>
              <a:t>title() </a:t>
            </a:r>
            <a:r>
              <a:rPr lang="en-US" sz="2400" dirty="0"/>
              <a:t>: </a:t>
            </a:r>
            <a:r>
              <a:rPr lang="en-US" sz="2400" u="sng" dirty="0"/>
              <a:t>adds</a:t>
            </a:r>
            <a:r>
              <a:rPr lang="en-US" sz="2400" dirty="0"/>
              <a:t> title to the </a:t>
            </a:r>
            <a:r>
              <a:rPr lang="en-US" sz="2400" dirty="0">
                <a:solidFill>
                  <a:srgbClr val="FF0000"/>
                </a:solidFill>
              </a:rPr>
              <a:t>plot</a:t>
            </a:r>
            <a:endParaRPr lang="en-US" sz="2400" dirty="0"/>
          </a:p>
          <a:p>
            <a:r>
              <a:rPr lang="en-US" sz="2000" b="1" dirty="0">
                <a:solidFill>
                  <a:srgbClr val="0070C0"/>
                </a:solidFill>
                <a:latin typeface="Courier New" panose="02070309020205020404" pitchFamily="49" charset="0"/>
                <a:cs typeface="Courier New" panose="02070309020205020404" pitchFamily="49" charset="0"/>
              </a:rPr>
              <a:t>clear() </a:t>
            </a:r>
            <a:r>
              <a:rPr lang="en-US" sz="2400" dirty="0"/>
              <a:t>: </a:t>
            </a:r>
            <a:r>
              <a:rPr lang="en-US" sz="2400" u="sng" dirty="0"/>
              <a:t>removes</a:t>
            </a:r>
            <a:r>
              <a:rPr lang="en-US" sz="2400" dirty="0"/>
              <a:t> all plots from the axes. </a:t>
            </a:r>
          </a:p>
          <a:p>
            <a:r>
              <a:rPr lang="en-US" sz="2000" b="1" dirty="0" err="1">
                <a:solidFill>
                  <a:srgbClr val="0070C0"/>
                </a:solidFill>
                <a:latin typeface="Courier New" panose="02070309020205020404" pitchFamily="49" charset="0"/>
                <a:cs typeface="Courier New" panose="02070309020205020404" pitchFamily="49" charset="0"/>
              </a:rPr>
              <a:t>savefig</a:t>
            </a:r>
            <a:r>
              <a:rPr lang="en-US" sz="2000" b="1" dirty="0">
                <a:solidFill>
                  <a:srgbClr val="0070C0"/>
                </a:solidFill>
                <a:latin typeface="Courier New" panose="02070309020205020404" pitchFamily="49" charset="0"/>
                <a:cs typeface="Courier New" panose="02070309020205020404" pitchFamily="49" charset="0"/>
              </a:rPr>
              <a:t>()</a:t>
            </a:r>
            <a:r>
              <a:rPr lang="en-US" sz="2400" dirty="0"/>
              <a:t>: saves your figure to a file</a:t>
            </a:r>
          </a:p>
          <a:p>
            <a:r>
              <a:rPr lang="en-US" sz="2000" b="1" dirty="0">
                <a:solidFill>
                  <a:srgbClr val="0070C0"/>
                </a:solidFill>
                <a:latin typeface="Courier New" panose="02070309020205020404" pitchFamily="49" charset="0"/>
                <a:cs typeface="Courier New" panose="02070309020205020404" pitchFamily="49" charset="0"/>
              </a:rPr>
              <a:t>legend() </a:t>
            </a:r>
            <a:r>
              <a:rPr lang="en-US" sz="2400" dirty="0"/>
              <a:t>: shows a legend on the plot </a:t>
            </a:r>
          </a:p>
          <a:p>
            <a:pPr marL="0" indent="0">
              <a:buNone/>
            </a:pPr>
            <a:r>
              <a:rPr lang="en-US" sz="2400" dirty="0"/>
              <a:t>All methods are available on </a:t>
            </a:r>
            <a:r>
              <a:rPr lang="en-US" sz="2000" b="1" dirty="0" err="1">
                <a:solidFill>
                  <a:srgbClr val="0070C0"/>
                </a:solidFill>
                <a:latin typeface="Courier New" panose="02070309020205020404" pitchFamily="49" charset="0"/>
                <a:cs typeface="Courier New" panose="02070309020205020404" pitchFamily="49" charset="0"/>
              </a:rPr>
              <a:t>pyplot</a:t>
            </a:r>
            <a:r>
              <a:rPr lang="en-US" sz="2400" dirty="0"/>
              <a:t> and on the axes instance generally. </a:t>
            </a:r>
          </a:p>
        </p:txBody>
      </p:sp>
    </p:spTree>
    <p:extLst>
      <p:ext uri="{BB962C8B-B14F-4D97-AF65-F5344CB8AC3E}">
        <p14:creationId xmlns:p14="http://schemas.microsoft.com/office/powerpoint/2010/main" val="317697612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5887" y="0"/>
            <a:ext cx="9420225" cy="6324600"/>
          </a:xfrm>
          <a:solidFill>
            <a:schemeClr val="accent6">
              <a:lumMod val="20000"/>
              <a:lumOff val="80000"/>
              <a:alpha val="25000"/>
            </a:schemeClr>
          </a:solidFill>
          <a:ln>
            <a:solidFill>
              <a:schemeClr val="accent1"/>
            </a:solidFill>
          </a:ln>
        </p:spPr>
        <p:txBody>
          <a:bodyPr>
            <a:noAutofit/>
          </a:bodyPr>
          <a:lstStyle/>
          <a:p>
            <a:pPr marL="0" indent="0">
              <a:buNone/>
            </a:pPr>
            <a:r>
              <a:rPr lang="en-US" sz="2000" b="1" dirty="0">
                <a:solidFill>
                  <a:srgbClr val="0070C0"/>
                </a:solidFill>
                <a:latin typeface="Courier New"/>
                <a:cs typeface="Courier New"/>
              </a:rPr>
              <a:t>import</a:t>
            </a:r>
            <a:r>
              <a:rPr lang="en-US" sz="2000" b="1" dirty="0">
                <a:solidFill>
                  <a:srgbClr val="A23A8A"/>
                </a:solidFill>
                <a:latin typeface="Courier New"/>
                <a:cs typeface="Courier New"/>
              </a:rPr>
              <a:t> </a:t>
            </a:r>
            <a:r>
              <a:rPr lang="en-US" sz="2000" b="1" dirty="0" err="1">
                <a:latin typeface="Courier New"/>
                <a:cs typeface="Courier New"/>
              </a:rPr>
              <a:t>matplotlib.pyplot</a:t>
            </a:r>
            <a:r>
              <a:rPr lang="en-US" sz="2000" b="1" dirty="0">
                <a:latin typeface="Courier New"/>
                <a:cs typeface="Courier New"/>
              </a:rPr>
              <a:t> </a:t>
            </a:r>
            <a:r>
              <a:rPr lang="en-US" sz="2000" b="1" dirty="0">
                <a:solidFill>
                  <a:srgbClr val="0070C0"/>
                </a:solidFill>
                <a:latin typeface="Courier New"/>
                <a:cs typeface="Courier New"/>
              </a:rPr>
              <a:t>as</a:t>
            </a:r>
            <a:r>
              <a:rPr lang="en-US" sz="2000" b="1" dirty="0">
                <a:latin typeface="Courier New"/>
                <a:cs typeface="Courier New"/>
              </a:rPr>
              <a:t> </a:t>
            </a:r>
            <a:r>
              <a:rPr lang="en-US" sz="2000" b="1" dirty="0" err="1">
                <a:latin typeface="Courier New"/>
                <a:cs typeface="Courier New"/>
              </a:rPr>
              <a:t>plt</a:t>
            </a:r>
            <a:endParaRPr lang="en-US" sz="2000" b="1" dirty="0">
              <a:latin typeface="Courier New"/>
              <a:cs typeface="Courier New"/>
            </a:endParaRPr>
          </a:p>
          <a:p>
            <a:pPr marL="0" indent="0">
              <a:buNone/>
            </a:pPr>
            <a:r>
              <a:rPr lang="en-US" sz="2000" b="1" dirty="0">
                <a:latin typeface="Courier New"/>
                <a:cs typeface="Courier New"/>
              </a:rPr>
              <a:t>y1 =[]</a:t>
            </a:r>
          </a:p>
          <a:p>
            <a:pPr marL="0" indent="0">
              <a:buNone/>
            </a:pPr>
            <a:r>
              <a:rPr lang="en-US" sz="2000" b="1" dirty="0">
                <a:latin typeface="Courier New"/>
                <a:cs typeface="Courier New"/>
              </a:rPr>
              <a:t>y2 =[]</a:t>
            </a:r>
          </a:p>
          <a:p>
            <a:pPr marL="0" indent="0">
              <a:buNone/>
            </a:pPr>
            <a:r>
              <a:rPr lang="en-US" sz="2000" b="1" dirty="0">
                <a:latin typeface="Courier New"/>
                <a:cs typeface="Courier New"/>
              </a:rPr>
              <a:t>x = range(-100,100,10)</a:t>
            </a:r>
          </a:p>
          <a:p>
            <a:pPr marL="0" indent="0">
              <a:buNone/>
            </a:pPr>
            <a:r>
              <a:rPr lang="en-US" sz="2000" b="1" dirty="0">
                <a:solidFill>
                  <a:srgbClr val="859040"/>
                </a:solidFill>
                <a:latin typeface="Courier New"/>
                <a:cs typeface="Courier New"/>
              </a:rPr>
              <a:t>for</a:t>
            </a:r>
            <a:r>
              <a:rPr lang="en-US" sz="2000" b="1" dirty="0">
                <a:latin typeface="Courier New"/>
                <a:cs typeface="Courier New"/>
              </a:rPr>
              <a:t> </a:t>
            </a:r>
            <a:r>
              <a:rPr lang="en-US" sz="2000" b="1" dirty="0" err="1">
                <a:latin typeface="Courier New"/>
                <a:cs typeface="Courier New"/>
              </a:rPr>
              <a:t>i</a:t>
            </a:r>
            <a:r>
              <a:rPr lang="en-US" sz="2000" b="1" dirty="0">
                <a:latin typeface="Courier New"/>
                <a:cs typeface="Courier New"/>
              </a:rPr>
              <a:t> </a:t>
            </a:r>
            <a:r>
              <a:rPr lang="en-US" sz="2000" b="1" dirty="0">
                <a:solidFill>
                  <a:srgbClr val="859040"/>
                </a:solidFill>
                <a:latin typeface="Courier New"/>
                <a:cs typeface="Courier New"/>
              </a:rPr>
              <a:t>in</a:t>
            </a:r>
            <a:r>
              <a:rPr lang="en-US" sz="2000" b="1" dirty="0">
                <a:latin typeface="Courier New"/>
                <a:cs typeface="Courier New"/>
              </a:rPr>
              <a:t> x: y1.append(</a:t>
            </a:r>
            <a:r>
              <a:rPr lang="en-US" sz="2000" b="1" dirty="0" err="1">
                <a:latin typeface="Courier New"/>
                <a:cs typeface="Courier New"/>
              </a:rPr>
              <a:t>i</a:t>
            </a:r>
            <a:r>
              <a:rPr lang="en-US" sz="2000" b="1" dirty="0">
                <a:latin typeface="Courier New"/>
                <a:cs typeface="Courier New"/>
              </a:rPr>
              <a:t>**2) </a:t>
            </a:r>
          </a:p>
          <a:p>
            <a:pPr marL="0" indent="0">
              <a:buNone/>
            </a:pPr>
            <a:r>
              <a:rPr lang="en-US" sz="2000" b="1" dirty="0">
                <a:solidFill>
                  <a:srgbClr val="859040"/>
                </a:solidFill>
                <a:latin typeface="Courier New"/>
                <a:cs typeface="Courier New"/>
              </a:rPr>
              <a:t>for</a:t>
            </a:r>
            <a:r>
              <a:rPr lang="en-US" sz="2000" b="1" dirty="0">
                <a:latin typeface="Courier New"/>
                <a:cs typeface="Courier New"/>
              </a:rPr>
              <a:t> i </a:t>
            </a:r>
            <a:r>
              <a:rPr lang="en-US" sz="2000" b="1" dirty="0">
                <a:solidFill>
                  <a:srgbClr val="859040"/>
                </a:solidFill>
                <a:latin typeface="Courier New"/>
                <a:cs typeface="Courier New"/>
              </a:rPr>
              <a:t>in</a:t>
            </a:r>
            <a:r>
              <a:rPr lang="en-US" sz="2000" b="1" dirty="0">
                <a:latin typeface="Courier New"/>
                <a:cs typeface="Courier New"/>
              </a:rPr>
              <a:t> x: y2.append(-i**2) </a:t>
            </a:r>
          </a:p>
          <a:p>
            <a:pPr marL="0" indent="0">
              <a:buNone/>
            </a:pPr>
            <a:endParaRPr lang="en-US" sz="1600" b="1" dirty="0">
              <a:latin typeface="Courier New"/>
              <a:cs typeface="Courier New"/>
            </a:endParaRPr>
          </a:p>
          <a:p>
            <a:pPr marL="0" indent="0">
              <a:buNone/>
            </a:pPr>
            <a:r>
              <a:rPr lang="en-US" sz="2000" b="1" dirty="0" err="1">
                <a:latin typeface="Courier New"/>
                <a:cs typeface="Courier New"/>
              </a:rPr>
              <a:t>plt.plot</a:t>
            </a:r>
            <a:r>
              <a:rPr lang="en-US" sz="2000" b="1" dirty="0">
                <a:latin typeface="Courier New"/>
                <a:cs typeface="Courier New"/>
              </a:rPr>
              <a:t>(x, y1)</a:t>
            </a:r>
          </a:p>
          <a:p>
            <a:pPr marL="0" indent="0">
              <a:buNone/>
            </a:pPr>
            <a:r>
              <a:rPr lang="en-US" sz="2000" b="1" dirty="0" err="1">
                <a:latin typeface="Courier New"/>
                <a:cs typeface="Courier New"/>
              </a:rPr>
              <a:t>plt.plot</a:t>
            </a:r>
            <a:r>
              <a:rPr lang="en-US" sz="2000" b="1" dirty="0">
                <a:latin typeface="Courier New"/>
                <a:cs typeface="Courier New"/>
              </a:rPr>
              <a:t>(x, y2)</a:t>
            </a:r>
          </a:p>
          <a:p>
            <a:pPr marL="0" indent="0">
              <a:buNone/>
            </a:pPr>
            <a:r>
              <a:rPr lang="en-US" sz="2000" b="1" dirty="0" err="1">
                <a:latin typeface="Courier New"/>
                <a:cs typeface="Courier New"/>
              </a:rPr>
              <a:t>plt.xlabel</a:t>
            </a:r>
            <a:r>
              <a:rPr lang="en-US" sz="2000" b="1" dirty="0">
                <a:latin typeface="Courier New"/>
                <a:cs typeface="Courier New"/>
              </a:rPr>
              <a:t>("</a:t>
            </a:r>
            <a:r>
              <a:rPr lang="en-US" sz="2000" b="1" dirty="0">
                <a:solidFill>
                  <a:srgbClr val="C00000"/>
                </a:solidFill>
                <a:latin typeface="Courier New"/>
                <a:cs typeface="Courier New"/>
              </a:rPr>
              <a:t>x</a:t>
            </a:r>
            <a:r>
              <a:rPr lang="en-US" sz="2000" b="1" dirty="0">
                <a:latin typeface="Courier New"/>
                <a:cs typeface="Courier New"/>
              </a:rPr>
              <a:t>")</a:t>
            </a:r>
          </a:p>
          <a:p>
            <a:pPr marL="0" indent="0">
              <a:buNone/>
            </a:pPr>
            <a:r>
              <a:rPr lang="en-US" sz="2000" b="1" dirty="0" err="1">
                <a:latin typeface="Courier New"/>
                <a:cs typeface="Courier New"/>
              </a:rPr>
              <a:t>plt.ylabel</a:t>
            </a:r>
            <a:r>
              <a:rPr lang="en-US" sz="2000" b="1" dirty="0">
                <a:latin typeface="Courier New"/>
                <a:cs typeface="Courier New"/>
              </a:rPr>
              <a:t>("</a:t>
            </a:r>
            <a:r>
              <a:rPr lang="en-US" sz="2000" b="1" dirty="0">
                <a:solidFill>
                  <a:srgbClr val="C00000"/>
                </a:solidFill>
                <a:latin typeface="Courier New"/>
                <a:cs typeface="Courier New"/>
              </a:rPr>
              <a:t>y</a:t>
            </a:r>
            <a:r>
              <a:rPr lang="en-US" sz="2000" b="1" dirty="0">
                <a:latin typeface="Courier New"/>
                <a:cs typeface="Courier New"/>
              </a:rPr>
              <a:t>")</a:t>
            </a:r>
          </a:p>
          <a:p>
            <a:pPr marL="0" indent="0">
              <a:buNone/>
            </a:pPr>
            <a:r>
              <a:rPr lang="en-US" sz="2000" b="1" dirty="0" err="1">
                <a:latin typeface="Courier New"/>
                <a:cs typeface="Courier New"/>
              </a:rPr>
              <a:t>plt.ylim</a:t>
            </a:r>
            <a:r>
              <a:rPr lang="en-US" sz="2000" b="1" dirty="0">
                <a:latin typeface="Courier New"/>
                <a:cs typeface="Courier New"/>
              </a:rPr>
              <a:t>(-2000, 2000)</a:t>
            </a:r>
          </a:p>
          <a:p>
            <a:pPr marL="0" indent="0">
              <a:buNone/>
            </a:pPr>
            <a:r>
              <a:rPr lang="en-US" sz="2000" b="1" dirty="0" err="1">
                <a:latin typeface="Courier New"/>
                <a:cs typeface="Courier New"/>
              </a:rPr>
              <a:t>plt.axhline</a:t>
            </a:r>
            <a:r>
              <a:rPr lang="en-US" sz="2000" b="1" dirty="0">
                <a:latin typeface="Courier New"/>
                <a:cs typeface="Courier New"/>
              </a:rPr>
              <a:t>(0) </a:t>
            </a:r>
            <a:r>
              <a:rPr lang="en-US" sz="2000" b="1" dirty="0">
                <a:solidFill>
                  <a:srgbClr val="0000FF"/>
                </a:solidFill>
                <a:latin typeface="Courier New"/>
                <a:cs typeface="Courier New"/>
              </a:rPr>
              <a:t># horizontal line</a:t>
            </a:r>
          </a:p>
          <a:p>
            <a:pPr marL="0" indent="0">
              <a:buNone/>
            </a:pPr>
            <a:r>
              <a:rPr lang="en-US" sz="2000" b="1" dirty="0" err="1">
                <a:latin typeface="Courier New"/>
                <a:cs typeface="Courier New"/>
              </a:rPr>
              <a:t>plt.axvline</a:t>
            </a:r>
            <a:r>
              <a:rPr lang="en-US" sz="2000" b="1" dirty="0">
                <a:latin typeface="Courier New"/>
                <a:cs typeface="Courier New"/>
              </a:rPr>
              <a:t>(0) </a:t>
            </a:r>
            <a:r>
              <a:rPr lang="en-US" sz="2000" b="1" dirty="0">
                <a:solidFill>
                  <a:srgbClr val="0000FF"/>
                </a:solidFill>
                <a:latin typeface="Courier New"/>
                <a:cs typeface="Courier New"/>
              </a:rPr>
              <a:t># vertical line</a:t>
            </a:r>
            <a:endParaRPr lang="en-US" sz="2000" b="1" dirty="0">
              <a:latin typeface="Courier New"/>
              <a:cs typeface="Courier New"/>
            </a:endParaRPr>
          </a:p>
          <a:p>
            <a:pPr marL="0" indent="0">
              <a:buNone/>
            </a:pPr>
            <a:endParaRPr lang="en-US" sz="2000" b="1" dirty="0">
              <a:latin typeface="Courier New"/>
              <a:cs typeface="Courier New"/>
            </a:endParaRPr>
          </a:p>
          <a:p>
            <a:pPr marL="0" indent="0">
              <a:buNone/>
            </a:pPr>
            <a:r>
              <a:rPr lang="en-US" sz="2000" b="1" dirty="0" err="1">
                <a:latin typeface="Courier New"/>
                <a:cs typeface="Courier New"/>
              </a:rPr>
              <a:t>plt.savefig</a:t>
            </a:r>
            <a:r>
              <a:rPr lang="en-US" sz="2000" b="1" dirty="0">
                <a:latin typeface="Courier New"/>
                <a:cs typeface="Courier New"/>
              </a:rPr>
              <a:t>("</a:t>
            </a:r>
            <a:r>
              <a:rPr lang="en-US" sz="2000" b="1" dirty="0">
                <a:solidFill>
                  <a:srgbClr val="C00000"/>
                </a:solidFill>
                <a:latin typeface="Courier New"/>
                <a:cs typeface="Courier New"/>
              </a:rPr>
              <a:t>quad.png</a:t>
            </a:r>
            <a:r>
              <a:rPr lang="en-US" sz="2000" b="1" dirty="0">
                <a:latin typeface="Courier New"/>
                <a:cs typeface="Courier New"/>
              </a:rPr>
              <a:t>")</a:t>
            </a:r>
          </a:p>
          <a:p>
            <a:pPr marL="0" indent="0">
              <a:buNone/>
            </a:pPr>
            <a:endParaRPr lang="en-US" sz="700" b="1" dirty="0">
              <a:latin typeface="Courier New"/>
              <a:cs typeface="Courier New"/>
            </a:endParaRPr>
          </a:p>
          <a:p>
            <a:pPr marL="0" indent="0">
              <a:buNone/>
            </a:pPr>
            <a:r>
              <a:rPr lang="en-US" sz="2000" b="1" dirty="0" err="1">
                <a:latin typeface="Courier New"/>
                <a:cs typeface="Courier New"/>
              </a:rPr>
              <a:t>plt.show</a:t>
            </a:r>
            <a:r>
              <a:rPr lang="en-US" sz="2000" b="1" dirty="0">
                <a:latin typeface="Courier New"/>
                <a:cs typeface="Courier New"/>
              </a:rPr>
              <a:t>()</a:t>
            </a:r>
          </a:p>
          <a:p>
            <a:pPr marL="0" indent="0">
              <a:buNone/>
            </a:pPr>
            <a:endParaRPr lang="en-US" sz="2000" b="1" dirty="0">
              <a:latin typeface="Courier New"/>
              <a:cs typeface="Courier New"/>
            </a:endParaRPr>
          </a:p>
        </p:txBody>
      </p:sp>
      <p:grpSp>
        <p:nvGrpSpPr>
          <p:cNvPr id="10" name="Group 9"/>
          <p:cNvGrpSpPr/>
          <p:nvPr/>
        </p:nvGrpSpPr>
        <p:grpSpPr>
          <a:xfrm>
            <a:off x="7010400" y="2971800"/>
            <a:ext cx="3505201" cy="3657600"/>
            <a:chOff x="5486399" y="2971800"/>
            <a:chExt cx="3505201" cy="3657600"/>
          </a:xfrm>
        </p:grpSpPr>
        <p:sp>
          <p:nvSpPr>
            <p:cNvPr id="4" name="TextBox 3"/>
            <p:cNvSpPr txBox="1"/>
            <p:nvPr/>
          </p:nvSpPr>
          <p:spPr>
            <a:xfrm>
              <a:off x="6019800" y="3893824"/>
              <a:ext cx="2209800" cy="707886"/>
            </a:xfrm>
            <a:prstGeom prst="rect">
              <a:avLst/>
            </a:prstGeom>
            <a:noFill/>
          </p:spPr>
          <p:txBody>
            <a:bodyPr wrap="square" rtlCol="0">
              <a:spAutoFit/>
            </a:bodyPr>
            <a:lstStyle/>
            <a:p>
              <a:r>
                <a:rPr lang="en-US" sz="2000" dirty="0">
                  <a:solidFill>
                    <a:schemeClr val="accent2"/>
                  </a:solidFill>
                </a:rPr>
                <a:t>Incrementally modify the figure.</a:t>
              </a:r>
            </a:p>
          </p:txBody>
        </p:sp>
        <p:sp>
          <p:nvSpPr>
            <p:cNvPr id="5" name="Right Brace 4"/>
            <p:cNvSpPr/>
            <p:nvPr/>
          </p:nvSpPr>
          <p:spPr>
            <a:xfrm>
              <a:off x="5486399" y="2971800"/>
              <a:ext cx="510823" cy="2514600"/>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p:cNvSpPr txBox="1"/>
            <p:nvPr/>
          </p:nvSpPr>
          <p:spPr>
            <a:xfrm>
              <a:off x="6019800" y="6229290"/>
              <a:ext cx="2971800" cy="400110"/>
            </a:xfrm>
            <a:prstGeom prst="rect">
              <a:avLst/>
            </a:prstGeom>
            <a:noFill/>
          </p:spPr>
          <p:txBody>
            <a:bodyPr wrap="square" rtlCol="0">
              <a:spAutoFit/>
            </a:bodyPr>
            <a:lstStyle/>
            <a:p>
              <a:r>
                <a:rPr lang="en-US" sz="2000" dirty="0">
                  <a:solidFill>
                    <a:schemeClr val="accent2"/>
                  </a:solidFill>
                </a:rPr>
                <a:t>Show it on the screen</a:t>
              </a:r>
            </a:p>
          </p:txBody>
        </p:sp>
        <p:sp>
          <p:nvSpPr>
            <p:cNvPr id="7" name="Right Brace 6"/>
            <p:cNvSpPr/>
            <p:nvPr/>
          </p:nvSpPr>
          <p:spPr>
            <a:xfrm>
              <a:off x="5486400" y="6280089"/>
              <a:ext cx="457200" cy="304800"/>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Right Brace 7"/>
            <p:cNvSpPr/>
            <p:nvPr/>
          </p:nvSpPr>
          <p:spPr>
            <a:xfrm>
              <a:off x="5486400" y="5910379"/>
              <a:ext cx="457200" cy="304800"/>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p:cNvSpPr txBox="1"/>
            <p:nvPr/>
          </p:nvSpPr>
          <p:spPr>
            <a:xfrm>
              <a:off x="5997223" y="5837000"/>
              <a:ext cx="2895600" cy="400110"/>
            </a:xfrm>
            <a:prstGeom prst="rect">
              <a:avLst/>
            </a:prstGeom>
            <a:noFill/>
          </p:spPr>
          <p:txBody>
            <a:bodyPr wrap="square" rtlCol="0">
              <a:spAutoFit/>
            </a:bodyPr>
            <a:lstStyle/>
            <a:p>
              <a:r>
                <a:rPr lang="en-US" sz="2000" dirty="0">
                  <a:solidFill>
                    <a:schemeClr val="accent2"/>
                  </a:solidFill>
                </a:rPr>
                <a:t>Save your figure to a file</a:t>
              </a:r>
            </a:p>
          </p:txBody>
        </p:sp>
      </p:gr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65810" y="550813"/>
            <a:ext cx="3067034" cy="2300276"/>
          </a:xfrm>
          <a:prstGeom prst="rect">
            <a:avLst/>
          </a:prstGeom>
        </p:spPr>
      </p:pic>
    </p:spTree>
    <p:extLst>
      <p:ext uri="{BB962C8B-B14F-4D97-AF65-F5344CB8AC3E}">
        <p14:creationId xmlns:p14="http://schemas.microsoft.com/office/powerpoint/2010/main" val="1506420451"/>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EA06C51-F9CE-448C-E312-F854DFACD693}"/>
              </a:ext>
            </a:extLst>
          </p:cNvPr>
          <p:cNvPicPr>
            <a:picLocks noChangeAspect="1"/>
          </p:cNvPicPr>
          <p:nvPr/>
        </p:nvPicPr>
        <p:blipFill>
          <a:blip r:embed="rId3"/>
          <a:stretch>
            <a:fillRect/>
          </a:stretch>
        </p:blipFill>
        <p:spPr>
          <a:xfrm>
            <a:off x="1043608" y="866774"/>
            <a:ext cx="9081467" cy="5572125"/>
          </a:xfrm>
          <a:prstGeom prst="rect">
            <a:avLst/>
          </a:prstGeom>
        </p:spPr>
      </p:pic>
      <p:sp>
        <p:nvSpPr>
          <p:cNvPr id="2" name="Content Placeholder 1">
            <a:extLst>
              <a:ext uri="{FF2B5EF4-FFF2-40B4-BE49-F238E27FC236}">
                <a16:creationId xmlns:a16="http://schemas.microsoft.com/office/drawing/2014/main" id="{48879FF2-25F3-1E60-AD06-F56525E442DD}"/>
              </a:ext>
            </a:extLst>
          </p:cNvPr>
          <p:cNvSpPr>
            <a:spLocks noGrp="1"/>
          </p:cNvSpPr>
          <p:nvPr>
            <p:ph idx="1"/>
          </p:nvPr>
        </p:nvSpPr>
        <p:spPr>
          <a:xfrm>
            <a:off x="632792" y="111331"/>
            <a:ext cx="10515600" cy="4351338"/>
          </a:xfrm>
        </p:spPr>
        <p:txBody>
          <a:bodyPr/>
          <a:lstStyle/>
          <a:p>
            <a:r>
              <a:rPr lang="en-US" b="0" i="0" dirty="0">
                <a:solidFill>
                  <a:srgbClr val="273239"/>
                </a:solidFill>
                <a:effectLst/>
                <a:latin typeface="Nunito" pitchFamily="2" charset="0"/>
              </a:rPr>
              <a:t> </a:t>
            </a:r>
            <a:r>
              <a:rPr lang="en-US" b="0" i="0" u="sng" dirty="0" err="1">
                <a:solidFill>
                  <a:srgbClr val="273239"/>
                </a:solidFill>
                <a:effectLst/>
                <a:latin typeface="Nunito" pitchFamily="2" charset="0"/>
                <a:hlinkClick r:id="rId4"/>
              </a:rPr>
              <a:t>Pyplot</a:t>
            </a:r>
            <a:r>
              <a:rPr lang="en-US" b="0" i="0" dirty="0">
                <a:solidFill>
                  <a:srgbClr val="273239"/>
                </a:solidFill>
                <a:effectLst/>
                <a:latin typeface="Nunito" pitchFamily="2" charset="0"/>
              </a:rPr>
              <a:t> is a state-based interface to a </a:t>
            </a:r>
            <a:r>
              <a:rPr lang="en-US" b="1" i="0" dirty="0">
                <a:solidFill>
                  <a:srgbClr val="273239"/>
                </a:solidFill>
                <a:effectLst/>
                <a:latin typeface="Nunito" pitchFamily="2" charset="0"/>
              </a:rPr>
              <a:t>Matplotlib</a:t>
            </a:r>
            <a:r>
              <a:rPr lang="en-US" b="0" i="0" dirty="0">
                <a:solidFill>
                  <a:srgbClr val="273239"/>
                </a:solidFill>
                <a:effectLst/>
                <a:latin typeface="Nunito" pitchFamily="2" charset="0"/>
              </a:rPr>
              <a:t> module which provides a MATLAB-like interface.</a:t>
            </a:r>
          </a:p>
          <a:p>
            <a:pPr marL="0" indent="0">
              <a:buNone/>
            </a:pPr>
            <a:endParaRPr lang="en-IN" dirty="0"/>
          </a:p>
        </p:txBody>
      </p:sp>
    </p:spTree>
    <p:extLst>
      <p:ext uri="{BB962C8B-B14F-4D97-AF65-F5344CB8AC3E}">
        <p14:creationId xmlns:p14="http://schemas.microsoft.com/office/powerpoint/2010/main" val="321202332"/>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2263698-3693-E4C7-D37D-01743F5669CB}"/>
              </a:ext>
            </a:extLst>
          </p:cNvPr>
          <p:cNvPicPr>
            <a:picLocks noGrp="1" noChangeAspect="1"/>
          </p:cNvPicPr>
          <p:nvPr>
            <p:ph idx="1"/>
          </p:nvPr>
        </p:nvPicPr>
        <p:blipFill>
          <a:blip r:embed="rId3"/>
          <a:stretch>
            <a:fillRect/>
          </a:stretch>
        </p:blipFill>
        <p:spPr>
          <a:xfrm>
            <a:off x="1262270" y="705678"/>
            <a:ext cx="8696739" cy="5471285"/>
          </a:xfrm>
        </p:spPr>
      </p:pic>
    </p:spTree>
    <p:extLst>
      <p:ext uri="{BB962C8B-B14F-4D97-AF65-F5344CB8AC3E}">
        <p14:creationId xmlns:p14="http://schemas.microsoft.com/office/powerpoint/2010/main" val="937689853"/>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FE6A44-B153-2B07-E068-A19B3CC70218}"/>
              </a:ext>
            </a:extLst>
          </p:cNvPr>
          <p:cNvPicPr>
            <a:picLocks noGrp="1" noChangeAspect="1"/>
          </p:cNvPicPr>
          <p:nvPr>
            <p:ph idx="1"/>
          </p:nvPr>
        </p:nvPicPr>
        <p:blipFill>
          <a:blip r:embed="rId3"/>
          <a:stretch>
            <a:fillRect/>
          </a:stretch>
        </p:blipFill>
        <p:spPr>
          <a:xfrm>
            <a:off x="838200" y="443898"/>
            <a:ext cx="10515600" cy="1860027"/>
          </a:xfrm>
        </p:spPr>
      </p:pic>
      <p:pic>
        <p:nvPicPr>
          <p:cNvPr id="7" name="Picture 6">
            <a:extLst>
              <a:ext uri="{FF2B5EF4-FFF2-40B4-BE49-F238E27FC236}">
                <a16:creationId xmlns:a16="http://schemas.microsoft.com/office/drawing/2014/main" id="{FA0D39CA-D1ED-FBF5-F95E-FD2F762894E1}"/>
              </a:ext>
            </a:extLst>
          </p:cNvPr>
          <p:cNvPicPr>
            <a:picLocks noChangeAspect="1"/>
          </p:cNvPicPr>
          <p:nvPr/>
        </p:nvPicPr>
        <p:blipFill>
          <a:blip r:embed="rId4"/>
          <a:stretch>
            <a:fillRect/>
          </a:stretch>
        </p:blipFill>
        <p:spPr>
          <a:xfrm>
            <a:off x="838200" y="2303925"/>
            <a:ext cx="8548895" cy="4554075"/>
          </a:xfrm>
          <a:prstGeom prst="rect">
            <a:avLst/>
          </a:prstGeom>
        </p:spPr>
      </p:pic>
    </p:spTree>
    <p:extLst>
      <p:ext uri="{BB962C8B-B14F-4D97-AF65-F5344CB8AC3E}">
        <p14:creationId xmlns:p14="http://schemas.microsoft.com/office/powerpoint/2010/main" val="1833522650"/>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66EF37-88F6-E8DA-2667-059E1320C61C}"/>
              </a:ext>
            </a:extLst>
          </p:cNvPr>
          <p:cNvSpPr>
            <a:spLocks noGrp="1"/>
          </p:cNvSpPr>
          <p:nvPr>
            <p:ph idx="1"/>
          </p:nvPr>
        </p:nvSpPr>
        <p:spPr>
          <a:xfrm>
            <a:off x="838200" y="318052"/>
            <a:ext cx="10515600" cy="6222707"/>
          </a:xfrm>
        </p:spPr>
        <p:txBody>
          <a:bodyPr>
            <a:normAutofit/>
          </a:bodyPr>
          <a:lstStyle/>
          <a:p>
            <a:pPr algn="l"/>
            <a:r>
              <a:rPr lang="en-US" b="0" i="0" dirty="0">
                <a:solidFill>
                  <a:srgbClr val="222222"/>
                </a:solidFill>
                <a:effectLst/>
                <a:latin typeface="Metrophobic"/>
              </a:rPr>
              <a:t>It is possible, to define explicit limits by using the following methods:</a:t>
            </a:r>
          </a:p>
          <a:p>
            <a:pPr algn="l">
              <a:buFont typeface="Arial" panose="020B0604020202020204" pitchFamily="34" charset="0"/>
              <a:buChar char="•"/>
            </a:pPr>
            <a:r>
              <a:rPr lang="en-US" b="0" i="0" dirty="0">
                <a:solidFill>
                  <a:srgbClr val="222222"/>
                </a:solidFill>
                <a:effectLst/>
                <a:latin typeface="Metrophobic"/>
              </a:rPr>
              <a:t>By using </a:t>
            </a:r>
            <a:r>
              <a:rPr lang="en-US" b="0" i="0" dirty="0" err="1">
                <a:solidFill>
                  <a:srgbClr val="222222"/>
                </a:solidFill>
                <a:effectLst/>
                <a:latin typeface="Metrophobic"/>
              </a:rPr>
              <a:t>xlim</a:t>
            </a:r>
            <a:r>
              <a:rPr lang="en-US" b="0" i="0" dirty="0">
                <a:solidFill>
                  <a:srgbClr val="222222"/>
                </a:solidFill>
                <a:effectLst/>
                <a:latin typeface="Metrophobic"/>
              </a:rPr>
              <a:t>() and </a:t>
            </a:r>
            <a:r>
              <a:rPr lang="en-US" b="0" i="0" dirty="0" err="1">
                <a:solidFill>
                  <a:srgbClr val="222222"/>
                </a:solidFill>
                <a:effectLst/>
                <a:latin typeface="Metrophobic"/>
              </a:rPr>
              <a:t>ylim</a:t>
            </a:r>
            <a:r>
              <a:rPr lang="en-US" b="0" i="0" dirty="0">
                <a:solidFill>
                  <a:srgbClr val="222222"/>
                </a:solidFill>
                <a:effectLst/>
                <a:latin typeface="Metrophobic"/>
              </a:rPr>
              <a:t>()</a:t>
            </a:r>
          </a:p>
          <a:p>
            <a:pPr algn="l">
              <a:buFont typeface="Arial" panose="020B0604020202020204" pitchFamily="34" charset="0"/>
              <a:buChar char="•"/>
            </a:pPr>
            <a:r>
              <a:rPr lang="en-US" b="0" i="0" dirty="0">
                <a:solidFill>
                  <a:srgbClr val="222222"/>
                </a:solidFill>
                <a:effectLst/>
                <a:latin typeface="Metrophobic"/>
              </a:rPr>
              <a:t>By using </a:t>
            </a:r>
            <a:r>
              <a:rPr lang="en-US" b="0" i="0" dirty="0" err="1">
                <a:solidFill>
                  <a:srgbClr val="222222"/>
                </a:solidFill>
                <a:effectLst/>
                <a:latin typeface="Metrophobic"/>
              </a:rPr>
              <a:t>set_xlim</a:t>
            </a:r>
            <a:r>
              <a:rPr lang="en-US" b="0" i="0" dirty="0">
                <a:solidFill>
                  <a:srgbClr val="222222"/>
                </a:solidFill>
                <a:effectLst/>
                <a:latin typeface="Metrophobic"/>
              </a:rPr>
              <a:t>() and </a:t>
            </a:r>
            <a:r>
              <a:rPr lang="en-US" b="0" i="0" dirty="0" err="1">
                <a:solidFill>
                  <a:srgbClr val="222222"/>
                </a:solidFill>
                <a:effectLst/>
                <a:latin typeface="Metrophobic"/>
              </a:rPr>
              <a:t>set_ylim</a:t>
            </a:r>
            <a:r>
              <a:rPr lang="en-US" b="0" i="0" dirty="0">
                <a:solidFill>
                  <a:srgbClr val="222222"/>
                </a:solidFill>
                <a:effectLst/>
                <a:latin typeface="Metrophobic"/>
              </a:rPr>
              <a:t>()</a:t>
            </a:r>
          </a:p>
          <a:p>
            <a:pPr algn="l">
              <a:buFont typeface="Arial" panose="020B0604020202020204" pitchFamily="34" charset="0"/>
              <a:buChar char="•"/>
            </a:pPr>
            <a:r>
              <a:rPr lang="en-US" b="0" i="0" dirty="0">
                <a:solidFill>
                  <a:srgbClr val="222222"/>
                </a:solidFill>
                <a:effectLst/>
                <a:latin typeface="Metrophobic"/>
              </a:rPr>
              <a:t>By using axis()</a:t>
            </a:r>
          </a:p>
          <a:p>
            <a:r>
              <a:rPr lang="en-US" b="0" i="0" dirty="0">
                <a:solidFill>
                  <a:srgbClr val="222222"/>
                </a:solidFill>
                <a:effectLst/>
                <a:latin typeface="Metrophobic"/>
              </a:rPr>
              <a:t>In matplotlib, to set or get X-axis and Y-axis limits, use </a:t>
            </a:r>
            <a:r>
              <a:rPr lang="en-US" b="1" i="0" dirty="0" err="1">
                <a:solidFill>
                  <a:srgbClr val="222222"/>
                </a:solidFill>
                <a:effectLst/>
                <a:latin typeface="Metrophobic"/>
              </a:rPr>
              <a:t>xlim</a:t>
            </a:r>
            <a:r>
              <a:rPr lang="en-US" b="1" i="0" dirty="0">
                <a:solidFill>
                  <a:srgbClr val="222222"/>
                </a:solidFill>
                <a:effectLst/>
                <a:latin typeface="Metrophobic"/>
              </a:rPr>
              <a:t>()</a:t>
            </a:r>
            <a:r>
              <a:rPr lang="en-US" b="0" i="0" dirty="0">
                <a:solidFill>
                  <a:srgbClr val="222222"/>
                </a:solidFill>
                <a:effectLst/>
                <a:latin typeface="Metrophobic"/>
              </a:rPr>
              <a:t> and </a:t>
            </a:r>
            <a:r>
              <a:rPr lang="en-US" b="1" i="0" dirty="0" err="1">
                <a:solidFill>
                  <a:srgbClr val="222222"/>
                </a:solidFill>
                <a:effectLst/>
                <a:latin typeface="Metrophobic"/>
              </a:rPr>
              <a:t>ylim</a:t>
            </a:r>
            <a:r>
              <a:rPr lang="en-US" b="1" i="0" dirty="0">
                <a:solidFill>
                  <a:srgbClr val="222222"/>
                </a:solidFill>
                <a:effectLst/>
                <a:latin typeface="Metrophobic"/>
              </a:rPr>
              <a:t>()</a:t>
            </a:r>
            <a:r>
              <a:rPr lang="en-US" b="0" i="0" dirty="0">
                <a:solidFill>
                  <a:srgbClr val="222222"/>
                </a:solidFill>
                <a:effectLst/>
                <a:latin typeface="Metrophobic"/>
              </a:rPr>
              <a:t> methods, accordingly. These methods define the limits for respective axes if arguments are passed, and if no arguments are passed, we obtain a range of the respective axes.</a:t>
            </a:r>
          </a:p>
          <a:p>
            <a:r>
              <a:rPr lang="en-US" dirty="0">
                <a:solidFill>
                  <a:srgbClr val="222222"/>
                </a:solidFill>
                <a:latin typeface="Metrophobic"/>
              </a:rPr>
              <a:t>Syntax:</a:t>
            </a:r>
          </a:p>
          <a:p>
            <a:r>
              <a:rPr lang="en-IN" b="1" i="0" dirty="0">
                <a:solidFill>
                  <a:srgbClr val="222222"/>
                </a:solidFill>
                <a:effectLst/>
                <a:latin typeface="Metrophobic"/>
              </a:rPr>
              <a:t># Set x-axis range</a:t>
            </a:r>
          </a:p>
          <a:p>
            <a:r>
              <a:rPr lang="en-IN" b="0" i="0" dirty="0">
                <a:solidFill>
                  <a:srgbClr val="222222"/>
                </a:solidFill>
                <a:effectLst/>
                <a:latin typeface="Metrophobic"/>
              </a:rPr>
              <a:t> </a:t>
            </a:r>
            <a:r>
              <a:rPr lang="en-IN" b="0" i="0" dirty="0" err="1">
                <a:solidFill>
                  <a:srgbClr val="222222"/>
                </a:solidFill>
                <a:effectLst/>
                <a:latin typeface="Metrophobic"/>
              </a:rPr>
              <a:t>matplotlib.pyplot.xlim</a:t>
            </a:r>
            <a:r>
              <a:rPr lang="en-IN" b="0" i="0" dirty="0">
                <a:solidFill>
                  <a:srgbClr val="222222"/>
                </a:solidFill>
                <a:effectLst/>
                <a:latin typeface="Metrophobic"/>
              </a:rPr>
              <a:t>()</a:t>
            </a:r>
          </a:p>
          <a:p>
            <a:r>
              <a:rPr lang="en-IN" b="0" i="0" dirty="0">
                <a:solidFill>
                  <a:srgbClr val="222222"/>
                </a:solidFill>
                <a:effectLst/>
                <a:latin typeface="Metrophobic"/>
              </a:rPr>
              <a:t> </a:t>
            </a:r>
            <a:r>
              <a:rPr lang="en-IN" b="1" i="0" dirty="0">
                <a:solidFill>
                  <a:srgbClr val="222222"/>
                </a:solidFill>
                <a:effectLst/>
                <a:latin typeface="Metrophobic"/>
              </a:rPr>
              <a:t># Set y-axis range</a:t>
            </a:r>
            <a:r>
              <a:rPr lang="en-IN" b="0" i="0" dirty="0">
                <a:solidFill>
                  <a:srgbClr val="222222"/>
                </a:solidFill>
                <a:effectLst/>
                <a:latin typeface="Metrophobic"/>
              </a:rPr>
              <a:t> </a:t>
            </a:r>
          </a:p>
          <a:p>
            <a:r>
              <a:rPr lang="en-IN" b="0" i="0" dirty="0" err="1">
                <a:solidFill>
                  <a:srgbClr val="222222"/>
                </a:solidFill>
                <a:effectLst/>
                <a:latin typeface="Metrophobic"/>
              </a:rPr>
              <a:t>matplotlib.pyplot.ylim</a:t>
            </a:r>
            <a:r>
              <a:rPr lang="en-IN" b="0" i="0" dirty="0">
                <a:solidFill>
                  <a:srgbClr val="222222"/>
                </a:solidFill>
                <a:effectLst/>
                <a:latin typeface="Metrophobic"/>
              </a:rPr>
              <a:t>()</a:t>
            </a:r>
            <a:endParaRPr lang="en-US" dirty="0">
              <a:solidFill>
                <a:srgbClr val="222222"/>
              </a:solidFill>
              <a:latin typeface="Metrophobic"/>
            </a:endParaRPr>
          </a:p>
          <a:p>
            <a:endParaRPr lang="en-IN" dirty="0"/>
          </a:p>
        </p:txBody>
      </p:sp>
      <p:sp>
        <p:nvSpPr>
          <p:cNvPr id="4" name="TextBox 3">
            <a:extLst>
              <a:ext uri="{FF2B5EF4-FFF2-40B4-BE49-F238E27FC236}">
                <a16:creationId xmlns:a16="http://schemas.microsoft.com/office/drawing/2014/main" id="{B1AEC2D5-3B40-9295-5AC7-8FBA46134F9B}"/>
              </a:ext>
            </a:extLst>
          </p:cNvPr>
          <p:cNvSpPr txBox="1"/>
          <p:nvPr/>
        </p:nvSpPr>
        <p:spPr>
          <a:xfrm>
            <a:off x="3048778" y="2413338"/>
            <a:ext cx="6097554" cy="646331"/>
          </a:xfrm>
          <a:prstGeom prst="rect">
            <a:avLst/>
          </a:prstGeom>
          <a:noFill/>
        </p:spPr>
        <p:txBody>
          <a:bodyPr wrap="square">
            <a:spAutoFit/>
          </a:bodyPr>
          <a:lstStyle/>
          <a:p>
            <a:br>
              <a:rPr lang="en-US" b="0" i="0" dirty="0">
                <a:solidFill>
                  <a:srgbClr val="222222"/>
                </a:solidFill>
                <a:effectLst/>
                <a:latin typeface="Metrophobic"/>
              </a:rPr>
            </a:br>
            <a:endParaRPr lang="en-IN" dirty="0"/>
          </a:p>
        </p:txBody>
      </p:sp>
    </p:spTree>
    <p:extLst>
      <p:ext uri="{BB962C8B-B14F-4D97-AF65-F5344CB8AC3E}">
        <p14:creationId xmlns:p14="http://schemas.microsoft.com/office/powerpoint/2010/main" val="554661548"/>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Gill Sans MT"/>
                <a:ea typeface="+mn-ea"/>
                <a:cs typeface="+mn-cs"/>
              </a:rPr>
              <a:t>REFERENCES FOR FURTHER LEARNING OF THE SESSION</a:t>
            </a:r>
            <a:endParaRPr kumimoji="0" lang="en-US" sz="1800" b="0" i="0" u="none" strike="noStrike" kern="1200" cap="none" spc="0" normalizeH="0" baseline="0" noProof="0" dirty="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9" name="TextBox 8"/>
          <p:cNvSpPr txBox="1"/>
          <p:nvPr/>
        </p:nvSpPr>
        <p:spPr>
          <a:xfrm>
            <a:off x="900331" y="1167618"/>
            <a:ext cx="10409819" cy="4060022"/>
          </a:xfrm>
          <a:prstGeom prst="rect">
            <a:avLst/>
          </a:prstGeom>
          <a:noFill/>
        </p:spPr>
        <p:txBody>
          <a:bodyPr wrap="square" rtlCol="0">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Text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Introduction to Data Science- A Structured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Methodology,Goran</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trajkovski</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from Scratch- Joel Grus - O’Reilly - 2015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Practical Statistics for Data Scientists - Peter Bruce, Andrew Bruce &amp; Peter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Gedeck</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 O’Reilly - 2020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Data Science and Machine Learning (Mathematical and Statistical Methods) - Dirk P. Kroese, Zdravko I. Botev, Thomas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Taimre</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Radislav Vaisman- Chapman and Hall/CRC - 2025 </a:t>
            </a:r>
          </a:p>
          <a:p>
            <a:pPr marL="514350" marR="0" lvl="0" indent="-514350" algn="just" defTabSz="457200" rtl="0" eaLnBrk="1" fontAlgn="auto" latinLnBrk="0" hangingPunct="1">
              <a:lnSpc>
                <a:spcPct val="100000"/>
              </a:lnSpc>
              <a:spcBef>
                <a:spcPts val="0"/>
              </a:spcBef>
              <a:spcAft>
                <a:spcPts val="0"/>
              </a:spcAft>
              <a:buClrTx/>
              <a:buSzTx/>
              <a:buFont typeface="Arial" panose="020B0604020202020204" pitchFamily="34" charset="0"/>
              <a:buAutoNum type="arabicPeriod"/>
              <a:tabLst/>
              <a:defRPr/>
            </a:pPr>
            <a:r>
              <a:rPr kumimoji="0" lang="en-IN" sz="1800" b="0" i="0" u="none" strike="noStrike" kern="1200" cap="none" spc="0" normalizeH="0" baseline="0" noProof="0" dirty="0">
                <a:ln>
                  <a:noFill/>
                </a:ln>
                <a:solidFill>
                  <a:prstClr val="black"/>
                </a:solidFill>
                <a:effectLst/>
                <a:uLnTx/>
                <a:uFillTx/>
                <a:latin typeface="Gill Sans MT"/>
                <a:ea typeface="+mn-ea"/>
                <a:cs typeface="+mn-cs"/>
              </a:rPr>
              <a:t>Foundations of Data Science - </a:t>
            </a:r>
            <a:r>
              <a:rPr kumimoji="0" lang="en-IN" sz="1800" b="0" i="0" u="none" strike="noStrike" kern="1200" cap="none" spc="0" normalizeH="0" baseline="0" noProof="0" dirty="0" err="1">
                <a:ln>
                  <a:noFill/>
                </a:ln>
                <a:solidFill>
                  <a:prstClr val="black"/>
                </a:solidFill>
                <a:effectLst/>
                <a:uLnTx/>
                <a:uFillTx/>
                <a:latin typeface="Gill Sans MT"/>
                <a:ea typeface="+mn-ea"/>
                <a:cs typeface="+mn-cs"/>
              </a:rPr>
              <a:t>Avrim</a:t>
            </a:r>
            <a:r>
              <a:rPr kumimoji="0" lang="en-IN" sz="1800" b="0" i="0" u="none" strike="noStrike" kern="1200" cap="none" spc="0" normalizeH="0" baseline="0" noProof="0" dirty="0">
                <a:ln>
                  <a:noFill/>
                </a:ln>
                <a:solidFill>
                  <a:prstClr val="black"/>
                </a:solidFill>
                <a:effectLst/>
                <a:uLnTx/>
                <a:uFillTx/>
                <a:latin typeface="Gill Sans MT"/>
                <a:ea typeface="+mn-ea"/>
                <a:cs typeface="+mn-cs"/>
              </a:rPr>
              <a:t> Blum, John Hopcroft, and Ravindran Kannan - Cambridge University Press – 2020</a:t>
            </a:r>
          </a:p>
          <a:p>
            <a:pPr marL="0" marR="0" lvl="0" indent="0" algn="l" defTabSz="4572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Gill Sans MT"/>
                <a:ea typeface="+mn-ea"/>
                <a:cs typeface="+mn-cs"/>
              </a:rPr>
              <a:t>Reference Books:</a:t>
            </a: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R1.Data Science and Its Applications by Aakanksha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Sharaff</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G. R. Sinha.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Gill Sans MT"/>
                <a:ea typeface="+mn-ea"/>
                <a:cs typeface="+mn-cs"/>
              </a:rPr>
              <a:t>R2. Introducing Data Science Big Data, Machine Learning, and more using Python tools. by Davy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cielen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Arno D.B. </a:t>
            </a:r>
            <a:r>
              <a:rPr kumimoji="0" lang="en-US" sz="1800" b="0" i="0" u="none" strike="noStrike" kern="1200" cap="none" spc="0" normalizeH="0" baseline="0" noProof="0" dirty="0" err="1">
                <a:ln>
                  <a:noFill/>
                </a:ln>
                <a:solidFill>
                  <a:prstClr val="black"/>
                </a:solidFill>
                <a:effectLst/>
                <a:uLnTx/>
                <a:uFillTx/>
                <a:latin typeface="Gill Sans MT"/>
                <a:ea typeface="+mn-ea"/>
                <a:cs typeface="+mn-cs"/>
              </a:rPr>
              <a:t>Meysman</a:t>
            </a:r>
            <a:r>
              <a:rPr kumimoji="0" lang="en-US" sz="1800" b="0" i="0" u="none" strike="noStrike" kern="1200" cap="none" spc="0" normalizeH="0" baseline="0" noProof="0" dirty="0">
                <a:ln>
                  <a:noFill/>
                </a:ln>
                <a:solidFill>
                  <a:prstClr val="black"/>
                </a:solidFill>
                <a:effectLst/>
                <a:uLnTx/>
                <a:uFillTx/>
                <a:latin typeface="Gill Sans MT"/>
                <a:ea typeface="+mn-ea"/>
                <a:cs typeface="+mn-cs"/>
              </a:rPr>
              <a:t> and Mohamed Ali.</a:t>
            </a:r>
            <a:endParaRPr kumimoji="0" lang="en-US" altLang="en-US" sz="1800" b="0" i="0" u="none" strike="noStrike" kern="1200" cap="none" spc="0" normalizeH="0" baseline="0" noProof="0" dirty="0">
              <a:ln>
                <a:noFill/>
              </a:ln>
              <a:solidFill>
                <a:prstClr val="black"/>
              </a:solidFill>
              <a:effectLst/>
              <a:uLnTx/>
              <a:uFillTx/>
              <a:latin typeface="Gill Sans MT"/>
              <a:ea typeface="+mn-ea"/>
              <a:cs typeface="+mn-cs"/>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Gill Sans MT"/>
              <a:ea typeface="+mn-ea"/>
              <a:cs typeface="+mn-cs"/>
            </a:endParaRPr>
          </a:p>
        </p:txBody>
      </p:sp>
    </p:spTree>
    <p:extLst>
      <p:ext uri="{BB962C8B-B14F-4D97-AF65-F5344CB8AC3E}">
        <p14:creationId xmlns:p14="http://schemas.microsoft.com/office/powerpoint/2010/main" val="1045272356"/>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THANK YOU</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Poppins" pitchFamily="2" charset="77"/>
                <a:ea typeface="+mn-ea"/>
                <a:cs typeface="Poppins" pitchFamily="2" charset="77"/>
              </a:rPr>
              <a:t>Team – DS</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Override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5.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6.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7.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8.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9.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0.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1.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2.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3.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ppt/theme/themeOverride14.xml><?xml version="1.0" encoding="utf-8"?>
<a:themeOverride xmlns:a="http://schemas.openxmlformats.org/drawingml/2006/main">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themeOverride>
</file>

<file path=docProps/app.xml><?xml version="1.0" encoding="utf-8"?>
<Properties xmlns="http://schemas.openxmlformats.org/officeDocument/2006/extended-properties" xmlns:vt="http://schemas.openxmlformats.org/officeDocument/2006/docPropsVTypes">
  <TotalTime>915</TotalTime>
  <Words>1567</Words>
  <Application>Microsoft Office PowerPoint</Application>
  <PresentationFormat>Widescreen</PresentationFormat>
  <Paragraphs>152</Paragraphs>
  <Slides>21</Slides>
  <Notes>0</Notes>
  <HiddenSlides>0</HiddenSlides>
  <MMClips>0</MMClips>
  <ScaleCrop>false</ScaleCrop>
  <HeadingPairs>
    <vt:vector size="6" baseType="variant">
      <vt:variant>
        <vt:lpstr>Fonts Used</vt:lpstr>
      </vt:variant>
      <vt:variant>
        <vt:i4>14</vt:i4>
      </vt:variant>
      <vt:variant>
        <vt:lpstr>Theme</vt:lpstr>
      </vt:variant>
      <vt:variant>
        <vt:i4>2</vt:i4>
      </vt:variant>
      <vt:variant>
        <vt:lpstr>Slide Titles</vt:lpstr>
      </vt:variant>
      <vt:variant>
        <vt:i4>21</vt:i4>
      </vt:variant>
    </vt:vector>
  </HeadingPairs>
  <TitlesOfParts>
    <vt:vector size="37" baseType="lpstr">
      <vt:lpstr>Arial</vt:lpstr>
      <vt:lpstr>Calibri</vt:lpstr>
      <vt:lpstr>Calibri Light</vt:lpstr>
      <vt:lpstr>Courier New</vt:lpstr>
      <vt:lpstr>erdana</vt:lpstr>
      <vt:lpstr>Gill Sans MT</vt:lpstr>
      <vt:lpstr>inter-bold</vt:lpstr>
      <vt:lpstr>inter-regular</vt:lpstr>
      <vt:lpstr>Lato</vt:lpstr>
      <vt:lpstr>Metrophobic</vt:lpstr>
      <vt:lpstr>Nunito</vt:lpstr>
      <vt:lpstr>Poppins</vt:lpstr>
      <vt:lpstr>Times New Roman</vt:lpstr>
      <vt:lpstr>Wingdings</vt:lpstr>
      <vt:lpstr>Office Theme</vt:lpstr>
      <vt:lpstr>Gallery</vt:lpstr>
      <vt:lpstr>PowerPoint Presentation</vt:lpstr>
      <vt:lpstr>PowerPoint Presentation</vt:lpstr>
      <vt:lpstr>      Key Concepts</vt:lpstr>
      <vt:lpstr>Matplotlib</vt:lpstr>
      <vt:lpstr>matplotlib</vt:lpstr>
      <vt:lpstr> Matplotlib</vt:lpstr>
      <vt:lpstr>      What is Data Visualization?      </vt:lpstr>
      <vt:lpstr>Data visualization formats </vt:lpstr>
      <vt:lpstr>There are five phases which are essential to make the decision for the organization:</vt:lpstr>
      <vt:lpstr>PowerPoint Presentation</vt:lpstr>
      <vt:lpstr>Data Visualization in Python using Matplotlib </vt:lpstr>
      <vt:lpstr>PowerPoint Presentation</vt:lpstr>
      <vt:lpstr>PowerPoint Presentation</vt:lpstr>
      <vt:lpstr>pyplot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Data Visualization?</dc:title>
  <dc:creator>N Sunanda</dc:creator>
  <cp:lastModifiedBy>sunanda nalajala</cp:lastModifiedBy>
  <cp:revision>22</cp:revision>
  <dcterms:created xsi:type="dcterms:W3CDTF">2023-11-08T08:15:22Z</dcterms:created>
  <dcterms:modified xsi:type="dcterms:W3CDTF">2026-06-02T04:25:25Z</dcterms:modified>
</cp:coreProperties>
</file>