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sldIdLst>
    <p:sldId id="364" r:id="rId3"/>
    <p:sldId id="365" r:id="rId4"/>
    <p:sldId id="369" r:id="rId5"/>
    <p:sldId id="256" r:id="rId6"/>
    <p:sldId id="403" r:id="rId7"/>
    <p:sldId id="404" r:id="rId8"/>
    <p:sldId id="314" r:id="rId9"/>
    <p:sldId id="372" r:id="rId10"/>
    <p:sldId id="269" r:id="rId11"/>
    <p:sldId id="270" r:id="rId12"/>
    <p:sldId id="271" r:id="rId13"/>
    <p:sldId id="312" r:id="rId14"/>
    <p:sldId id="313" r:id="rId15"/>
    <p:sldId id="373" r:id="rId16"/>
    <p:sldId id="272" r:id="rId17"/>
    <p:sldId id="274" r:id="rId18"/>
    <p:sldId id="400" r:id="rId19"/>
    <p:sldId id="40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71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4515B-B131-4A75-F62E-E1D410978F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76CA177-2430-C7D8-BB94-1F462EC39B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BCA81C8-52B5-9197-806E-4AEC435A4A35}"/>
              </a:ext>
            </a:extLst>
          </p:cNvPr>
          <p:cNvSpPr>
            <a:spLocks noGrp="1"/>
          </p:cNvSpPr>
          <p:nvPr>
            <p:ph type="dt" sz="half" idx="10"/>
          </p:nvPr>
        </p:nvSpPr>
        <p:spPr/>
        <p:txBody>
          <a:bodyPr/>
          <a:lstStyle/>
          <a:p>
            <a:fld id="{DE33AF74-332B-41A3-A0D0-3711E00283B6}" type="datetimeFigureOut">
              <a:rPr lang="en-IN" smtClean="0"/>
              <a:t>31-08-2026</a:t>
            </a:fld>
            <a:endParaRPr lang="en-IN"/>
          </a:p>
        </p:txBody>
      </p:sp>
      <p:sp>
        <p:nvSpPr>
          <p:cNvPr id="5" name="Footer Placeholder 4">
            <a:extLst>
              <a:ext uri="{FF2B5EF4-FFF2-40B4-BE49-F238E27FC236}">
                <a16:creationId xmlns:a16="http://schemas.microsoft.com/office/drawing/2014/main" id="{F1634E45-448B-CDC9-5D23-16C905D92D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57C9BB-6BC8-4A4C-2705-AA8616BCD077}"/>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1108428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F22AC-0288-0CB4-8360-3B132D5A70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DB3CF6-3DFB-D641-3FA1-BC70E87652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3EE850-3B11-39E7-5764-EF525C539450}"/>
              </a:ext>
            </a:extLst>
          </p:cNvPr>
          <p:cNvSpPr>
            <a:spLocks noGrp="1"/>
          </p:cNvSpPr>
          <p:nvPr>
            <p:ph type="dt" sz="half" idx="10"/>
          </p:nvPr>
        </p:nvSpPr>
        <p:spPr/>
        <p:txBody>
          <a:bodyPr/>
          <a:lstStyle/>
          <a:p>
            <a:fld id="{DE33AF74-332B-41A3-A0D0-3711E00283B6}" type="datetimeFigureOut">
              <a:rPr lang="en-IN" smtClean="0"/>
              <a:t>31-08-2026</a:t>
            </a:fld>
            <a:endParaRPr lang="en-IN"/>
          </a:p>
        </p:txBody>
      </p:sp>
      <p:sp>
        <p:nvSpPr>
          <p:cNvPr id="5" name="Footer Placeholder 4">
            <a:extLst>
              <a:ext uri="{FF2B5EF4-FFF2-40B4-BE49-F238E27FC236}">
                <a16:creationId xmlns:a16="http://schemas.microsoft.com/office/drawing/2014/main" id="{D670DAE7-2165-36E6-6275-2B21EA5767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0F16A2-1C64-847C-16BB-AA4E0A1B8F87}"/>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4096857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D8DCF-C424-CAA0-0E14-0B01441B34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0BAC50D-2D1C-4C87-AF09-2BEF72444E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952B52-A284-4BCA-699C-7BBECC157129}"/>
              </a:ext>
            </a:extLst>
          </p:cNvPr>
          <p:cNvSpPr>
            <a:spLocks noGrp="1"/>
          </p:cNvSpPr>
          <p:nvPr>
            <p:ph type="dt" sz="half" idx="10"/>
          </p:nvPr>
        </p:nvSpPr>
        <p:spPr/>
        <p:txBody>
          <a:bodyPr/>
          <a:lstStyle/>
          <a:p>
            <a:fld id="{DE33AF74-332B-41A3-A0D0-3711E00283B6}" type="datetimeFigureOut">
              <a:rPr lang="en-IN" smtClean="0"/>
              <a:t>31-08-2026</a:t>
            </a:fld>
            <a:endParaRPr lang="en-IN"/>
          </a:p>
        </p:txBody>
      </p:sp>
      <p:sp>
        <p:nvSpPr>
          <p:cNvPr id="5" name="Footer Placeholder 4">
            <a:extLst>
              <a:ext uri="{FF2B5EF4-FFF2-40B4-BE49-F238E27FC236}">
                <a16:creationId xmlns:a16="http://schemas.microsoft.com/office/drawing/2014/main" id="{1920E10B-FB0D-8DA7-F368-983944A869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C158AC-A7BD-9D44-28CA-B6D734538E46}"/>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1136270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BA46D-050E-8072-4548-7722A96AF5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AE5E42-F3A1-3D4A-6367-8C2C514419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91197CB-D2BF-E030-A96A-C180A980DF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3D49C99-1BE3-FFA7-DCFD-E6F2DE9683F7}"/>
              </a:ext>
            </a:extLst>
          </p:cNvPr>
          <p:cNvSpPr>
            <a:spLocks noGrp="1"/>
          </p:cNvSpPr>
          <p:nvPr>
            <p:ph type="dt" sz="half" idx="10"/>
          </p:nvPr>
        </p:nvSpPr>
        <p:spPr/>
        <p:txBody>
          <a:bodyPr/>
          <a:lstStyle/>
          <a:p>
            <a:fld id="{DE33AF74-332B-41A3-A0D0-3711E00283B6}" type="datetimeFigureOut">
              <a:rPr lang="en-IN" smtClean="0"/>
              <a:t>31-08-2026</a:t>
            </a:fld>
            <a:endParaRPr lang="en-IN"/>
          </a:p>
        </p:txBody>
      </p:sp>
      <p:sp>
        <p:nvSpPr>
          <p:cNvPr id="6" name="Footer Placeholder 5">
            <a:extLst>
              <a:ext uri="{FF2B5EF4-FFF2-40B4-BE49-F238E27FC236}">
                <a16:creationId xmlns:a16="http://schemas.microsoft.com/office/drawing/2014/main" id="{F8804BE4-ED1F-C388-647F-DEAC1C0C7B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C9A5AE-AAFF-A65C-4EBB-73D4609F57B8}"/>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3771776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8E49B-D550-5A6F-8510-4CEFEB53153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FFAFBF-D535-C004-96D4-C0F85080CE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E20A7B-1CCF-8B07-41C0-B79E74EC2E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585CCBD-1CB7-264C-BD24-FFAEF6D425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92587B-2E0D-D6DB-1EA3-0D950A3ACF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40AD369-2C36-0B61-2294-42FE52555E5D}"/>
              </a:ext>
            </a:extLst>
          </p:cNvPr>
          <p:cNvSpPr>
            <a:spLocks noGrp="1"/>
          </p:cNvSpPr>
          <p:nvPr>
            <p:ph type="dt" sz="half" idx="10"/>
          </p:nvPr>
        </p:nvSpPr>
        <p:spPr/>
        <p:txBody>
          <a:bodyPr/>
          <a:lstStyle/>
          <a:p>
            <a:fld id="{DE33AF74-332B-41A3-A0D0-3711E00283B6}" type="datetimeFigureOut">
              <a:rPr lang="en-IN" smtClean="0"/>
              <a:t>31-08-2026</a:t>
            </a:fld>
            <a:endParaRPr lang="en-IN"/>
          </a:p>
        </p:txBody>
      </p:sp>
      <p:sp>
        <p:nvSpPr>
          <p:cNvPr id="8" name="Footer Placeholder 7">
            <a:extLst>
              <a:ext uri="{FF2B5EF4-FFF2-40B4-BE49-F238E27FC236}">
                <a16:creationId xmlns:a16="http://schemas.microsoft.com/office/drawing/2014/main" id="{28AF661E-F55A-44F0-5FB8-D89ABD609A2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BB556F5-F38C-36A4-3D38-3225C333985D}"/>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417824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F7599-77C0-F19A-149A-180E0B70BCD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6AC27D6-CBDE-181C-3642-211373DE5895}"/>
              </a:ext>
            </a:extLst>
          </p:cNvPr>
          <p:cNvSpPr>
            <a:spLocks noGrp="1"/>
          </p:cNvSpPr>
          <p:nvPr>
            <p:ph type="dt" sz="half" idx="10"/>
          </p:nvPr>
        </p:nvSpPr>
        <p:spPr/>
        <p:txBody>
          <a:bodyPr/>
          <a:lstStyle/>
          <a:p>
            <a:fld id="{DE33AF74-332B-41A3-A0D0-3711E00283B6}" type="datetimeFigureOut">
              <a:rPr lang="en-IN" smtClean="0"/>
              <a:t>31-08-2026</a:t>
            </a:fld>
            <a:endParaRPr lang="en-IN"/>
          </a:p>
        </p:txBody>
      </p:sp>
      <p:sp>
        <p:nvSpPr>
          <p:cNvPr id="4" name="Footer Placeholder 3">
            <a:extLst>
              <a:ext uri="{FF2B5EF4-FFF2-40B4-BE49-F238E27FC236}">
                <a16:creationId xmlns:a16="http://schemas.microsoft.com/office/drawing/2014/main" id="{07555444-DBFF-CC0E-AD51-956B65C4ADC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0CB027A-1C45-04ED-2158-F9AD4EEA2068}"/>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2124353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45C7B4-BE50-F30B-F023-5A234BD1A8C4}"/>
              </a:ext>
            </a:extLst>
          </p:cNvPr>
          <p:cNvSpPr>
            <a:spLocks noGrp="1"/>
          </p:cNvSpPr>
          <p:nvPr>
            <p:ph type="dt" sz="half" idx="10"/>
          </p:nvPr>
        </p:nvSpPr>
        <p:spPr/>
        <p:txBody>
          <a:bodyPr/>
          <a:lstStyle/>
          <a:p>
            <a:fld id="{DE33AF74-332B-41A3-A0D0-3711E00283B6}" type="datetimeFigureOut">
              <a:rPr lang="en-IN" smtClean="0"/>
              <a:t>31-08-2026</a:t>
            </a:fld>
            <a:endParaRPr lang="en-IN"/>
          </a:p>
        </p:txBody>
      </p:sp>
      <p:sp>
        <p:nvSpPr>
          <p:cNvPr id="3" name="Footer Placeholder 2">
            <a:extLst>
              <a:ext uri="{FF2B5EF4-FFF2-40B4-BE49-F238E27FC236}">
                <a16:creationId xmlns:a16="http://schemas.microsoft.com/office/drawing/2014/main" id="{994A942A-6C49-6DB4-7230-3A2700BB9EF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6ED7316-34C2-30AB-3089-C18D44539EEC}"/>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2920940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4B0C3-960A-E782-4687-883A9974D5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45D840-177B-A95D-8900-967EC1B276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8ED8B6B-A097-5F69-56C9-04038CA7C3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63613C-F386-EA57-5685-15E3AEFC611D}"/>
              </a:ext>
            </a:extLst>
          </p:cNvPr>
          <p:cNvSpPr>
            <a:spLocks noGrp="1"/>
          </p:cNvSpPr>
          <p:nvPr>
            <p:ph type="dt" sz="half" idx="10"/>
          </p:nvPr>
        </p:nvSpPr>
        <p:spPr/>
        <p:txBody>
          <a:bodyPr/>
          <a:lstStyle/>
          <a:p>
            <a:fld id="{DE33AF74-332B-41A3-A0D0-3711E00283B6}" type="datetimeFigureOut">
              <a:rPr lang="en-IN" smtClean="0"/>
              <a:t>31-08-2026</a:t>
            </a:fld>
            <a:endParaRPr lang="en-IN"/>
          </a:p>
        </p:txBody>
      </p:sp>
      <p:sp>
        <p:nvSpPr>
          <p:cNvPr id="6" name="Footer Placeholder 5">
            <a:extLst>
              <a:ext uri="{FF2B5EF4-FFF2-40B4-BE49-F238E27FC236}">
                <a16:creationId xmlns:a16="http://schemas.microsoft.com/office/drawing/2014/main" id="{5C213E3E-CC9B-BFAA-102F-C5099F6D5E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867AE3-3BDE-D36E-673E-F7514358D3DC}"/>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2153480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86541-303C-8586-601A-A3BECB0C3C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77B7545-CBF5-9A56-D0C2-957DC7A347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322B536-141A-0C47-DAF7-8E634029F5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DD9DF7-408D-E672-087D-4C98A2A67CF1}"/>
              </a:ext>
            </a:extLst>
          </p:cNvPr>
          <p:cNvSpPr>
            <a:spLocks noGrp="1"/>
          </p:cNvSpPr>
          <p:nvPr>
            <p:ph type="dt" sz="half" idx="10"/>
          </p:nvPr>
        </p:nvSpPr>
        <p:spPr/>
        <p:txBody>
          <a:bodyPr/>
          <a:lstStyle/>
          <a:p>
            <a:fld id="{DE33AF74-332B-41A3-A0D0-3711E00283B6}" type="datetimeFigureOut">
              <a:rPr lang="en-IN" smtClean="0"/>
              <a:t>31-08-2026</a:t>
            </a:fld>
            <a:endParaRPr lang="en-IN"/>
          </a:p>
        </p:txBody>
      </p:sp>
      <p:sp>
        <p:nvSpPr>
          <p:cNvPr id="6" name="Footer Placeholder 5">
            <a:extLst>
              <a:ext uri="{FF2B5EF4-FFF2-40B4-BE49-F238E27FC236}">
                <a16:creationId xmlns:a16="http://schemas.microsoft.com/office/drawing/2014/main" id="{30ADD476-8765-5FDB-4A1A-BFA41C1F42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3111D6-B538-2C06-BE5F-2494E150095E}"/>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578343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129B5-E1A3-590A-78E7-79BACA02E4B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D6C960-D62F-7FE6-A389-1A2A40A543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3B4C79-B4F6-B729-EBCF-0CB8CD5DBB93}"/>
              </a:ext>
            </a:extLst>
          </p:cNvPr>
          <p:cNvSpPr>
            <a:spLocks noGrp="1"/>
          </p:cNvSpPr>
          <p:nvPr>
            <p:ph type="dt" sz="half" idx="10"/>
          </p:nvPr>
        </p:nvSpPr>
        <p:spPr/>
        <p:txBody>
          <a:bodyPr/>
          <a:lstStyle/>
          <a:p>
            <a:fld id="{DE33AF74-332B-41A3-A0D0-3711E00283B6}" type="datetimeFigureOut">
              <a:rPr lang="en-IN" smtClean="0"/>
              <a:t>31-08-2026</a:t>
            </a:fld>
            <a:endParaRPr lang="en-IN"/>
          </a:p>
        </p:txBody>
      </p:sp>
      <p:sp>
        <p:nvSpPr>
          <p:cNvPr id="5" name="Footer Placeholder 4">
            <a:extLst>
              <a:ext uri="{FF2B5EF4-FFF2-40B4-BE49-F238E27FC236}">
                <a16:creationId xmlns:a16="http://schemas.microsoft.com/office/drawing/2014/main" id="{3A8D278F-4592-C43C-0D7F-8DE83E3108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83545F-323E-4EA3-E1F7-DF691FF58A4D}"/>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1336232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711149-BBA9-BAD4-F430-23FFC6B5ED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F042B2-7CAF-20D6-85FA-80CD27CCBB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0A2AD0-E38F-001A-DEFE-DF47C13585A4}"/>
              </a:ext>
            </a:extLst>
          </p:cNvPr>
          <p:cNvSpPr>
            <a:spLocks noGrp="1"/>
          </p:cNvSpPr>
          <p:nvPr>
            <p:ph type="dt" sz="half" idx="10"/>
          </p:nvPr>
        </p:nvSpPr>
        <p:spPr/>
        <p:txBody>
          <a:bodyPr/>
          <a:lstStyle/>
          <a:p>
            <a:fld id="{DE33AF74-332B-41A3-A0D0-3711E00283B6}" type="datetimeFigureOut">
              <a:rPr lang="en-IN" smtClean="0"/>
              <a:t>31-08-2026</a:t>
            </a:fld>
            <a:endParaRPr lang="en-IN"/>
          </a:p>
        </p:txBody>
      </p:sp>
      <p:sp>
        <p:nvSpPr>
          <p:cNvPr id="5" name="Footer Placeholder 4">
            <a:extLst>
              <a:ext uri="{FF2B5EF4-FFF2-40B4-BE49-F238E27FC236}">
                <a16:creationId xmlns:a16="http://schemas.microsoft.com/office/drawing/2014/main" id="{E14F1493-9514-632F-2BBF-588E5D8206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FB825F-9087-7598-B1B7-5AB352D17082}"/>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2959985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a:xfrm>
            <a:off x="1437664" y="798973"/>
            <a:ext cx="811019" cy="503578"/>
          </a:xfrm>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3113884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1600648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5913355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305879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8/31/2026</a:t>
            </a:fld>
            <a:endParaRPr lang="en-US"/>
          </a:p>
        </p:txBody>
      </p:sp>
      <p:sp>
        <p:nvSpPr>
          <p:cNvPr id="9" name="Slide Number Placeholder 8"/>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416053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Slide Number Placeholder 4"/>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41230396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8/31/2026</a:t>
            </a:fld>
            <a:endParaRPr lang="en-US"/>
          </a:p>
        </p:txBody>
      </p:sp>
      <p:sp>
        <p:nvSpPr>
          <p:cNvPr id="4" name="Slide Number Placeholder 3"/>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41722202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211797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D8BD707-D9CF-40AE-B4C6-C98DA3205C09}" type="datetimeFigureOut">
              <a:rPr lang="en-US" smtClean="0"/>
              <a:pPr/>
              <a:t>8/31/2026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123226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2980898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16420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Click icon to add picture</a:t>
            </a:r>
            <a:endParaRPr/>
          </a:p>
        </p:txBody>
      </p:sp>
    </p:spTree>
    <p:extLst>
      <p:ext uri="{BB962C8B-B14F-4D97-AF65-F5344CB8AC3E}">
        <p14:creationId xmlns:p14="http://schemas.microsoft.com/office/powerpoint/2010/main" val="2362687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22219B-6BB6-580D-C44D-8DD309F2F5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BD7C54-6B5A-2DBB-DDCA-3BADC12D45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A21FF4-4976-E2FB-5F9C-EA088E7F5F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33AF74-332B-41A3-A0D0-3711E00283B6}" type="datetimeFigureOut">
              <a:rPr lang="en-IN" smtClean="0"/>
              <a:t>31-08-2026</a:t>
            </a:fld>
            <a:endParaRPr lang="en-IN"/>
          </a:p>
        </p:txBody>
      </p:sp>
      <p:sp>
        <p:nvSpPr>
          <p:cNvPr id="5" name="Footer Placeholder 4">
            <a:extLst>
              <a:ext uri="{FF2B5EF4-FFF2-40B4-BE49-F238E27FC236}">
                <a16:creationId xmlns:a16="http://schemas.microsoft.com/office/drawing/2014/main" id="{92A872A6-AA34-F6E6-E6C1-398D7E1E73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71B392F-B23E-199A-C714-A2A9FBEC2B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387508-7952-4C4E-B9A2-4A365DC43B5E}" type="slidenum">
              <a:rPr lang="en-IN" smtClean="0"/>
              <a:t>‹#›</a:t>
            </a:fld>
            <a:endParaRPr lang="en-IN"/>
          </a:p>
        </p:txBody>
      </p:sp>
    </p:spTree>
    <p:extLst>
      <p:ext uri="{BB962C8B-B14F-4D97-AF65-F5344CB8AC3E}">
        <p14:creationId xmlns:p14="http://schemas.microsoft.com/office/powerpoint/2010/main" val="133053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pPr/>
              <a:t>8/31/2026</a:t>
            </a:fld>
            <a:endParaRPr lang="en-US"/>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pPr marL="109855">
              <a:lnSpc>
                <a:spcPts val="1070"/>
              </a:lnSpc>
            </a:pPr>
            <a:fld id="{81D60167-4931-47E6-BA6A-407CBD079E47}" type="slidenum">
              <a:rPr lang="en-IN" smtClean="0"/>
              <a:pPr marL="109855">
                <a:lnSpc>
                  <a:spcPts val="1070"/>
                </a:lnSpc>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201169384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23.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slideLayout" Target="../slideLayouts/slideLayout13.xml"/><Relationship Id="rId1" Type="http://schemas.openxmlformats.org/officeDocument/2006/relationships/themeOverride" Target="../theme/themeOverride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3.xml"/><Relationship Id="rId1" Type="http://schemas.openxmlformats.org/officeDocument/2006/relationships/themeOverride" Target="../theme/themeOverride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13.xml"/><Relationship Id="rId1" Type="http://schemas.openxmlformats.org/officeDocument/2006/relationships/themeOverride" Target="../theme/themeOverride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13.xml"/><Relationship Id="rId1" Type="http://schemas.openxmlformats.org/officeDocument/2006/relationships/themeOverride" Target="../theme/themeOverride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3.xml"/><Relationship Id="rId1" Type="http://schemas.openxmlformats.org/officeDocument/2006/relationships/themeOverride" Target="../theme/themeOverride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6.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3.xml"/><Relationship Id="rId1" Type="http://schemas.openxmlformats.org/officeDocument/2006/relationships/themeOverride" Target="../theme/themeOverride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13.xml"/><Relationship Id="rId1" Type="http://schemas.openxmlformats.org/officeDocument/2006/relationships/themeOverride" Target="../theme/themeOverride8.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13.xml"/><Relationship Id="rId1" Type="http://schemas.openxmlformats.org/officeDocument/2006/relationships/themeOverride" Target="../theme/themeOverride9.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13.xml"/><Relationship Id="rId1" Type="http://schemas.openxmlformats.org/officeDocument/2006/relationships/themeOverride" Target="../theme/themeOverride10.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13.xml"/><Relationship Id="rId1" Type="http://schemas.openxmlformats.org/officeDocument/2006/relationships/themeOverride" Target="../theme/themeOverride1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3.xml"/><Relationship Id="rId1" Type="http://schemas.openxmlformats.org/officeDocument/2006/relationships/themeOverride" Target="../theme/themeOverride1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13.xml"/><Relationship Id="rId1" Type="http://schemas.openxmlformats.org/officeDocument/2006/relationships/themeOverride" Target="../theme/themeOverride13.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75;p16">
            <a:extLst>
              <a:ext uri="{FF2B5EF4-FFF2-40B4-BE49-F238E27FC236}">
                <a16:creationId xmlns:a16="http://schemas.microsoft.com/office/drawing/2014/main" id="{CB69EC99-FFAF-B3A6-842B-B510C0EAB741}"/>
              </a:ext>
            </a:extLst>
          </p:cNvPr>
          <p:cNvSpPr txBox="1"/>
          <p:nvPr/>
        </p:nvSpPr>
        <p:spPr>
          <a:xfrm>
            <a:off x="2971800" y="762000"/>
            <a:ext cx="5650523" cy="707846"/>
          </a:xfrm>
          <a:prstGeom prst="rect">
            <a:avLst/>
          </a:prstGeom>
          <a:noFill/>
          <a:ln>
            <a:noFill/>
          </a:ln>
          <a:effectLst/>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B0F0"/>
                </a:solidFill>
                <a:effectLst/>
                <a:uLnTx/>
                <a:uFillTx/>
                <a:latin typeface="Gill Sans MT"/>
                <a:ea typeface="+mn-ea"/>
                <a:cs typeface="Poppins" pitchFamily="2" charset="77"/>
              </a:rPr>
              <a:t>Department of </a:t>
            </a:r>
            <a:r>
              <a:rPr lang="en-US" sz="4000" dirty="0">
                <a:solidFill>
                  <a:srgbClr val="00B0F0"/>
                </a:solidFill>
                <a:latin typeface="Gill Sans MT"/>
                <a:cs typeface="Poppins" pitchFamily="2" charset="77"/>
              </a:rPr>
              <a:t>CSE </a:t>
            </a:r>
            <a:endParaRPr kumimoji="0" lang="en-US" sz="4000" b="0" i="0" u="none" strike="noStrike" kern="1200" cap="none" spc="0" normalizeH="0" baseline="0" noProof="0" dirty="0">
              <a:ln>
                <a:noFill/>
              </a:ln>
              <a:solidFill>
                <a:srgbClr val="00B0F0"/>
              </a:solidFill>
              <a:effectLst/>
              <a:uLnTx/>
              <a:uFillTx/>
              <a:latin typeface="Gill Sans MT"/>
              <a:ea typeface="+mn-ea"/>
              <a:cs typeface="Poppins" pitchFamily="2" charset="77"/>
            </a:endParaRPr>
          </a:p>
        </p:txBody>
      </p:sp>
      <p:sp>
        <p:nvSpPr>
          <p:cNvPr id="6" name="Google Shape;476;p16">
            <a:extLst>
              <a:ext uri="{FF2B5EF4-FFF2-40B4-BE49-F238E27FC236}">
                <a16:creationId xmlns:a16="http://schemas.microsoft.com/office/drawing/2014/main" id="{84A891A9-D46F-5E9B-65D6-C64F832A0362}"/>
              </a:ext>
            </a:extLst>
          </p:cNvPr>
          <p:cNvSpPr txBox="1"/>
          <p:nvPr/>
        </p:nvSpPr>
        <p:spPr>
          <a:xfrm>
            <a:off x="1447800" y="2090192"/>
            <a:ext cx="8218565" cy="3170058"/>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rPr>
              <a:t>COURSE NAME: Data science</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all" spc="0" normalizeH="0" baseline="0" noProof="0" dirty="0">
                <a:ln/>
                <a:solidFill>
                  <a:srgbClr val="00B0F0"/>
                </a:solidFill>
                <a:effectLst/>
                <a:uLnTx/>
                <a:uFillTx/>
                <a:latin typeface="Gill Sans MT"/>
                <a:ea typeface="+mn-ea"/>
                <a:cs typeface="Poppins" panose="00000500000000000000" pitchFamily="2" charset="0"/>
                <a:sym typeface="BioRhyme ExtraBold"/>
              </a:rPr>
              <a:t>COURSE CODE: 24AD3107</a:t>
            </a:r>
            <a:r>
              <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rPr>
              <a:t>	</a:t>
            </a:r>
            <a:endPar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rPr>
              <a:t>Topic: </a:t>
            </a:r>
          </a:p>
          <a:p>
            <a:pPr lvl="0" algn="ctr" defTabSz="457200"/>
            <a:r>
              <a:rPr kumimoji="0" lang="en-US" sz="3200" b="0" i="0" u="none" strike="noStrike" kern="1200" cap="none" spc="0" normalizeH="0" baseline="0" noProof="0" dirty="0">
                <a:ln>
                  <a:noFill/>
                </a:ln>
                <a:solidFill>
                  <a:prstClr val="black"/>
                </a:solidFill>
                <a:effectLst/>
                <a:uLnTx/>
                <a:uFillTx/>
                <a:latin typeface="Gill Sans MT"/>
                <a:ea typeface="+mn-ea"/>
                <a:cs typeface="+mn-cs"/>
              </a:rPr>
              <a:t>Line Plot , </a:t>
            </a:r>
            <a:r>
              <a:rPr kumimoji="0" lang="en-US" sz="3200" b="0" i="0" u="none" strike="noStrike" kern="1200" cap="none" spc="0" normalizeH="0" baseline="0" noProof="0" dirty="0" err="1">
                <a:ln>
                  <a:noFill/>
                </a:ln>
                <a:solidFill>
                  <a:prstClr val="black"/>
                </a:solidFill>
                <a:effectLst/>
                <a:uLnTx/>
                <a:uFillTx/>
                <a:latin typeface="Gill Sans MT"/>
                <a:ea typeface="+mn-ea"/>
                <a:cs typeface="+mn-cs"/>
              </a:rPr>
              <a:t>Barchart</a:t>
            </a:r>
            <a:r>
              <a:rPr kumimoji="0" lang="en-US" sz="3200" b="0" i="0" u="none" strike="noStrike" kern="1200" cap="none" spc="0" normalizeH="0" baseline="0" noProof="0" dirty="0">
                <a:ln>
                  <a:noFill/>
                </a:ln>
                <a:solidFill>
                  <a:prstClr val="black"/>
                </a:solidFill>
                <a:effectLst/>
                <a:uLnTx/>
                <a:uFillTx/>
                <a:latin typeface="Gill Sans MT"/>
                <a:ea typeface="+mn-ea"/>
                <a:cs typeface="+mn-cs"/>
              </a:rPr>
              <a:t> and Scatter plot </a:t>
            </a:r>
            <a:r>
              <a:rPr lang="en-IN" sz="3200" dirty="0"/>
              <a:t>using </a:t>
            </a:r>
            <a:r>
              <a:rPr lang="en-IN" sz="3200" dirty="0" err="1"/>
              <a:t>Pyhton</a:t>
            </a:r>
            <a:r>
              <a:rPr lang="en-IN" sz="3200" dirty="0"/>
              <a:t> Matplotlib</a:t>
            </a:r>
            <a:endPar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endParaRPr>
          </a:p>
        </p:txBody>
      </p:sp>
      <p:sp>
        <p:nvSpPr>
          <p:cNvPr id="7" name="Google Shape;502;p17">
            <a:extLst>
              <a:ext uri="{FF2B5EF4-FFF2-40B4-BE49-F238E27FC236}">
                <a16:creationId xmlns:a16="http://schemas.microsoft.com/office/drawing/2014/main" id="{A5120A7A-ED85-153C-EE7C-2FEB2D482089}"/>
              </a:ext>
            </a:extLst>
          </p:cNvPr>
          <p:cNvSpPr/>
          <p:nvPr/>
        </p:nvSpPr>
        <p:spPr>
          <a:xfrm>
            <a:off x="4876800" y="541020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Gill Sans MT"/>
                <a:ea typeface="Calibri"/>
                <a:cs typeface="Poppins" panose="00000500000000000000" pitchFamily="2" charset="0"/>
                <a:sym typeface="Calibri"/>
              </a:rPr>
              <a:t>Session - 4</a:t>
            </a:r>
            <a:endParaRPr kumimoji="0" sz="2800" b="1" i="0" u="none" strike="noStrike" kern="1200" cap="none" spc="0" normalizeH="0" baseline="0" noProof="0" dirty="0">
              <a:ln>
                <a:noFill/>
              </a:ln>
              <a:solidFill>
                <a:prstClr val="white"/>
              </a:solidFill>
              <a:effectLst/>
              <a:uLnTx/>
              <a:uFillTx/>
              <a:latin typeface="Gill Sans MT"/>
              <a:ea typeface="Calibri"/>
              <a:cs typeface="Poppins" panose="00000500000000000000" pitchFamily="2" charset="0"/>
              <a:sym typeface="Calibri"/>
            </a:endParaRPr>
          </a:p>
        </p:txBody>
      </p:sp>
    </p:spTree>
    <p:extLst>
      <p:ext uri="{BB962C8B-B14F-4D97-AF65-F5344CB8AC3E}">
        <p14:creationId xmlns:p14="http://schemas.microsoft.com/office/powerpoint/2010/main" val="469216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37648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110343" y="689854"/>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Poppins"/>
                <a:ea typeface="+mn-ea"/>
                <a:cs typeface="Poppins"/>
              </a:rPr>
              <a:t>To familiarize students with the basic concept of  plotting like</a:t>
            </a:r>
            <a:r>
              <a:rPr kumimoji="0" lang="en-US" sz="1600" b="0" i="0" u="none" strike="noStrike" kern="1200" cap="none" spc="0" normalizeH="0" noProof="0" dirty="0">
                <a:ln>
                  <a:noFill/>
                </a:ln>
                <a:solidFill>
                  <a:prstClr val="black"/>
                </a:solidFill>
                <a:effectLst/>
                <a:uLnTx/>
                <a:uFillTx/>
                <a:latin typeface="Poppins"/>
                <a:ea typeface="+mn-ea"/>
                <a:cs typeface="Poppins"/>
              </a:rPr>
              <a:t> Line, Bar, Scatter plots </a:t>
            </a:r>
            <a:r>
              <a:rPr kumimoji="0" lang="en-US" sz="1600" b="0" i="0" u="none" strike="noStrike" kern="1200" cap="none" spc="0" normalizeH="0" baseline="0" noProof="0" dirty="0">
                <a:ln>
                  <a:noFill/>
                </a:ln>
                <a:solidFill>
                  <a:prstClr val="black"/>
                </a:solidFill>
                <a:effectLst/>
                <a:uLnTx/>
                <a:uFillTx/>
                <a:latin typeface="Poppins"/>
                <a:ea typeface="+mn-ea"/>
                <a:cs typeface="Poppins"/>
              </a:rPr>
              <a:t>using </a:t>
            </a:r>
            <a:r>
              <a:rPr kumimoji="0" lang="en-US" sz="1600" b="0" i="0" u="none" strike="noStrike" kern="1200" cap="none" spc="0" normalizeH="0" baseline="0" noProof="0" dirty="0" err="1">
                <a:ln>
                  <a:noFill/>
                </a:ln>
                <a:solidFill>
                  <a:prstClr val="black"/>
                </a:solidFill>
                <a:effectLst/>
                <a:uLnTx/>
                <a:uFillTx/>
                <a:latin typeface="Poppins"/>
                <a:ea typeface="+mn-ea"/>
                <a:cs typeface="Poppins"/>
              </a:rPr>
              <a:t>Matplot</a:t>
            </a:r>
            <a:r>
              <a:rPr lang="en-US" sz="1600" dirty="0">
                <a:solidFill>
                  <a:prstClr val="black"/>
                </a:solidFill>
                <a:latin typeface="Poppins"/>
                <a:cs typeface="Poppins"/>
              </a:rPr>
              <a:t>lib in </a:t>
            </a:r>
            <a:r>
              <a:rPr kumimoji="0" lang="en-US" sz="1600" b="0" i="0" u="none" strike="noStrike" kern="1200" cap="none" spc="0" normalizeH="0" baseline="0" noProof="0" dirty="0">
                <a:ln>
                  <a:noFill/>
                </a:ln>
                <a:solidFill>
                  <a:prstClr val="black"/>
                </a:solidFill>
                <a:effectLst/>
                <a:uLnTx/>
                <a:uFillTx/>
                <a:latin typeface="Poppins"/>
                <a:ea typeface="+mn-ea"/>
                <a:cs typeface="Poppins"/>
              </a:rPr>
              <a:t> Python.</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449514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9982200" cy="100963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lvl="0" defTabSz="457200">
              <a:lnSpc>
                <a:spcPct val="200000"/>
              </a:lnSpc>
            </a:pPr>
            <a:r>
              <a:rPr kumimoji="0" lang="en-US" sz="1600" b="0" i="0" u="none" strike="noStrike" kern="1200" cap="none" spc="0" normalizeH="0" baseline="0" noProof="0" dirty="0">
                <a:ln>
                  <a:noFill/>
                </a:ln>
                <a:solidFill>
                  <a:prstClr val="black"/>
                </a:solidFill>
                <a:effectLst/>
                <a:uLnTx/>
                <a:uFillTx/>
                <a:latin typeface="Poppins"/>
                <a:ea typeface="+mn-ea"/>
                <a:cs typeface="Poppins"/>
              </a:rPr>
              <a:t>This Session is designed to: </a:t>
            </a:r>
            <a:r>
              <a:rPr lang="en-US" sz="1600" dirty="0">
                <a:solidFill>
                  <a:prstClr val="black"/>
                </a:solidFill>
                <a:latin typeface="Poppins"/>
                <a:cs typeface="Poppins"/>
              </a:rPr>
              <a:t>Introduction to different plots line , bar, Scatter using Matplotlib in  Python.</a:t>
            </a:r>
            <a:endParaRPr kumimoji="0" lang="en-US" sz="1600" b="0" i="0" u="none" strike="noStrike" kern="1200" cap="none" spc="0" normalizeH="0" baseline="0" noProof="0" dirty="0">
              <a:ln>
                <a:noFill/>
              </a:ln>
              <a:solidFill>
                <a:prstClr val="black"/>
              </a:solidFill>
              <a:effectLst/>
              <a:uLnTx/>
              <a:uFillTx/>
              <a:latin typeface="Poppins"/>
              <a:ea typeface="+mn-ea"/>
              <a:cs typeface="Poppins"/>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47684" y="4863626"/>
            <a:ext cx="9906000" cy="508344"/>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marL="0" marR="0" lvl="0" indent="0" algn="l" defTabSz="457200" rtl="0" eaLnBrk="1" fontAlgn="auto" latinLnBrk="0" hangingPunct="1">
              <a:lnSpc>
                <a:spcPct val="2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a:ea typeface="+mn-ea"/>
                <a:cs typeface="Arial"/>
              </a:rPr>
              <a:t>At the end of this session, you should be able to: plot Line Bar and Scatter plots using </a:t>
            </a:r>
            <a:r>
              <a:rPr kumimoji="0" lang="en-US" sz="1600" b="0" i="0" u="none" strike="noStrike" kern="1200" cap="none" spc="0" normalizeH="0" baseline="0" noProof="0" dirty="0" err="1">
                <a:ln>
                  <a:noFill/>
                </a:ln>
                <a:solidFill>
                  <a:prstClr val="black"/>
                </a:solidFill>
                <a:effectLst/>
                <a:uLnTx/>
                <a:uFillTx/>
                <a:latin typeface="Arial"/>
                <a:ea typeface="+mn-ea"/>
                <a:cs typeface="Arial"/>
              </a:rPr>
              <a:t>Maatplotlib</a:t>
            </a:r>
            <a:endParaRPr kumimoji="0" lang="en-US" sz="1600" b="0" i="0" u="none" strike="noStrike" kern="1200" cap="none" spc="0" normalizeH="0" baseline="0" noProof="0" dirty="0">
              <a:ln>
                <a:noFill/>
              </a:ln>
              <a:solidFill>
                <a:prstClr val="black"/>
              </a:solidFill>
              <a:effectLst/>
              <a:uLnTx/>
              <a:uFillTx/>
              <a:latin typeface="Arial"/>
              <a:ea typeface="+mn-ea"/>
              <a:cs typeface="Arial"/>
            </a:endParaRPr>
          </a:p>
        </p:txBody>
      </p:sp>
    </p:spTree>
    <p:extLst>
      <p:ext uri="{BB962C8B-B14F-4D97-AF65-F5344CB8AC3E}">
        <p14:creationId xmlns:p14="http://schemas.microsoft.com/office/powerpoint/2010/main" val="134585469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423366" y="39288"/>
            <a:ext cx="8229600" cy="877824"/>
          </a:xfrm>
        </p:spPr>
        <p:txBody>
          <a:bodyPr>
            <a:noAutofit/>
          </a:bodyPr>
          <a:lstStyle/>
          <a:p>
            <a:r>
              <a:rPr lang="en-US" sz="5400" dirty="0"/>
              <a:t> Matplotlib</a:t>
            </a:r>
          </a:p>
        </p:txBody>
      </p:sp>
      <p:pic>
        <p:nvPicPr>
          <p:cNvPr id="4" name="Picture 3"/>
          <p:cNvPicPr>
            <a:picLocks noChangeAspect="1"/>
          </p:cNvPicPr>
          <p:nvPr/>
        </p:nvPicPr>
        <p:blipFill>
          <a:blip r:embed="rId3"/>
          <a:stretch>
            <a:fillRect/>
          </a:stretch>
        </p:blipFill>
        <p:spPr>
          <a:xfrm>
            <a:off x="1663978" y="2724286"/>
            <a:ext cx="2895600" cy="2181671"/>
          </a:xfrm>
          <a:prstGeom prst="rect">
            <a:avLst/>
          </a:prstGeom>
        </p:spPr>
      </p:pic>
      <p:pic>
        <p:nvPicPr>
          <p:cNvPr id="3" name="Picture 2"/>
          <p:cNvPicPr>
            <a:picLocks noChangeAspect="1"/>
          </p:cNvPicPr>
          <p:nvPr/>
        </p:nvPicPr>
        <p:blipFill>
          <a:blip r:embed="rId4"/>
          <a:stretch>
            <a:fillRect/>
          </a:stretch>
        </p:blipFill>
        <p:spPr>
          <a:xfrm>
            <a:off x="8381626" y="2724286"/>
            <a:ext cx="2379339" cy="1689676"/>
          </a:xfrm>
          <a:prstGeom prst="rect">
            <a:avLst/>
          </a:prstGeom>
        </p:spPr>
      </p:pic>
      <p:pic>
        <p:nvPicPr>
          <p:cNvPr id="6" name="Picture 2" descr="mp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29349" y="4893764"/>
            <a:ext cx="2522846" cy="178998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mp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87094" y="4845748"/>
            <a:ext cx="2451652" cy="178067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mp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02976" y="2693805"/>
            <a:ext cx="2961640" cy="21176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mp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91494" y="4883355"/>
            <a:ext cx="2558808" cy="182961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891495" y="917113"/>
            <a:ext cx="6375831" cy="1200329"/>
          </a:xfrm>
          <a:prstGeom prst="rect">
            <a:avLst/>
          </a:prstGeom>
        </p:spPr>
        <p:txBody>
          <a:bodyPr wrap="square">
            <a:spAutoFit/>
          </a:bodyPr>
          <a:lstStyle/>
          <a:p>
            <a:pPr marL="342900" indent="-342900">
              <a:buFont typeface="Arial" panose="020B0604020202020204" pitchFamily="34" charset="0"/>
              <a:buChar char="•"/>
            </a:pPr>
            <a:r>
              <a:rPr lang="en-US" sz="2400" b="1" dirty="0" err="1">
                <a:solidFill>
                  <a:srgbClr val="0070C0"/>
                </a:solidFill>
                <a:latin typeface="Courier New" panose="02070309020205020404" pitchFamily="49" charset="0"/>
                <a:cs typeface="Courier New" panose="02070309020205020404" pitchFamily="49" charset="0"/>
              </a:rPr>
              <a:t>Matplotlib</a:t>
            </a:r>
            <a:r>
              <a:rPr lang="en-US" sz="2400" dirty="0"/>
              <a:t> allows you to make easy things </a:t>
            </a:r>
          </a:p>
          <a:p>
            <a:pPr marL="342900" indent="-342900">
              <a:buFont typeface="Arial" panose="020B0604020202020204" pitchFamily="34" charset="0"/>
              <a:buChar char="•"/>
            </a:pPr>
            <a:r>
              <a:rPr lang="en-US" sz="2400" dirty="0"/>
              <a:t>You can generate </a:t>
            </a:r>
            <a:r>
              <a:rPr lang="en-US" sz="2400" b="1" dirty="0"/>
              <a:t>line</a:t>
            </a:r>
            <a:r>
              <a:rPr lang="en-US" sz="2400" dirty="0"/>
              <a:t> </a:t>
            </a:r>
            <a:r>
              <a:rPr lang="en-US" sz="2400" b="1" dirty="0"/>
              <a:t>plots</a:t>
            </a:r>
            <a:r>
              <a:rPr lang="en-US" sz="2400" dirty="0"/>
              <a:t>, </a:t>
            </a:r>
            <a:r>
              <a:rPr lang="en-US" sz="2400" b="1" dirty="0"/>
              <a:t>bar charts</a:t>
            </a:r>
            <a:r>
              <a:rPr lang="en-US" sz="2400" dirty="0"/>
              <a:t>, </a:t>
            </a:r>
            <a:r>
              <a:rPr lang="en-US" sz="2400" b="1" dirty="0"/>
              <a:t>scatterplots</a:t>
            </a:r>
            <a:r>
              <a:rPr lang="en-US" sz="2400" dirty="0"/>
              <a:t>, etc., with just a few lines of code.</a:t>
            </a:r>
          </a:p>
        </p:txBody>
      </p:sp>
    </p:spTree>
    <p:extLst>
      <p:ext uri="{BB962C8B-B14F-4D97-AF65-F5344CB8AC3E}">
        <p14:creationId xmlns:p14="http://schemas.microsoft.com/office/powerpoint/2010/main" val="256423673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1A802-4E04-DEDA-F4A8-8111DBD2A9A0}"/>
              </a:ext>
            </a:extLst>
          </p:cNvPr>
          <p:cNvSpPr>
            <a:spLocks noGrp="1"/>
          </p:cNvSpPr>
          <p:nvPr>
            <p:ph type="title"/>
          </p:nvPr>
        </p:nvSpPr>
        <p:spPr>
          <a:xfrm>
            <a:off x="838200" y="365125"/>
            <a:ext cx="10515600" cy="1080217"/>
          </a:xfrm>
        </p:spPr>
        <p:txBody>
          <a:bodyPr>
            <a:noAutofit/>
          </a:bodyPr>
          <a:lstStyle/>
          <a:p>
            <a:pPr algn="l"/>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r>
              <a:rPr lang="en-US" sz="3200" b="1" i="0" dirty="0">
                <a:solidFill>
                  <a:srgbClr val="222222"/>
                </a:solidFill>
                <a:effectLst/>
                <a:latin typeface="Lato" panose="020F0502020204030203" pitchFamily="34" charset="0"/>
              </a:rPr>
              <a:t>What is Data Visualization?</a:t>
            </a:r>
            <a:br>
              <a:rPr lang="en-US" sz="3200" b="1" i="0" dirty="0">
                <a:solidFill>
                  <a:srgbClr val="222222"/>
                </a:solidFill>
                <a:effectLst/>
                <a:latin typeface="Lato" panose="020F0502020204030203" pitchFamily="34" charset="0"/>
              </a:rPr>
            </a:br>
            <a:br>
              <a:rPr lang="en-US" sz="3200" b="1"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1"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endParaRPr lang="en-IN" sz="3200" dirty="0"/>
          </a:p>
        </p:txBody>
      </p:sp>
      <p:sp>
        <p:nvSpPr>
          <p:cNvPr id="4" name="Content Placeholder 3">
            <a:extLst>
              <a:ext uri="{FF2B5EF4-FFF2-40B4-BE49-F238E27FC236}">
                <a16:creationId xmlns:a16="http://schemas.microsoft.com/office/drawing/2014/main" id="{9418220D-AC47-0665-7857-9FD4C787B706}"/>
              </a:ext>
            </a:extLst>
          </p:cNvPr>
          <p:cNvSpPr>
            <a:spLocks noGrp="1"/>
          </p:cNvSpPr>
          <p:nvPr>
            <p:ph idx="1"/>
          </p:nvPr>
        </p:nvSpPr>
        <p:spPr>
          <a:xfrm>
            <a:off x="838200" y="1352550"/>
            <a:ext cx="10515600" cy="4833744"/>
          </a:xfrm>
        </p:spPr>
        <p:txBody>
          <a:bodyPr>
            <a:normAutofit/>
          </a:bodyPr>
          <a:lstStyle/>
          <a:p>
            <a:pPr algn="just"/>
            <a:r>
              <a:rPr lang="en-US" b="0" i="0" dirty="0">
                <a:solidFill>
                  <a:srgbClr val="222222"/>
                </a:solidFill>
                <a:effectLst/>
                <a:latin typeface="Lato" panose="020F0502020204030203" pitchFamily="34" charset="0"/>
              </a:rPr>
              <a:t>Data visualization is the practice of translating data into visual contexts, such as a map or graph, to make data easier for the human brain to understand and to draw comprehension from. The main goal of data viewing is to make it easier to identify patterns, styles, and vendors in large data sets. </a:t>
            </a:r>
          </a:p>
          <a:p>
            <a:r>
              <a:rPr lang="en-US" dirty="0"/>
              <a:t>Data visualization </a:t>
            </a:r>
            <a:r>
              <a:rPr lang="en-US" dirty="0">
                <a:solidFill>
                  <a:srgbClr val="FF0000"/>
                </a:solidFill>
              </a:rPr>
              <a:t>tools</a:t>
            </a:r>
            <a:r>
              <a:rPr lang="en-US" dirty="0"/>
              <a:t> provide a way to present these figures and graphs.</a:t>
            </a:r>
          </a:p>
          <a:p>
            <a:r>
              <a:rPr lang="en-US" dirty="0"/>
              <a:t>Often, it is essential to </a:t>
            </a:r>
            <a:r>
              <a:rPr lang="en-US" dirty="0">
                <a:solidFill>
                  <a:srgbClr val="FF0000"/>
                </a:solidFill>
              </a:rPr>
              <a:t>analyze massive amounts </a:t>
            </a:r>
            <a:r>
              <a:rPr lang="en-US" dirty="0"/>
              <a:t>of information and make </a:t>
            </a:r>
            <a:r>
              <a:rPr lang="en-US" dirty="0">
                <a:solidFill>
                  <a:srgbClr val="FF0000"/>
                </a:solidFill>
              </a:rPr>
              <a:t>data-driven decisions</a:t>
            </a:r>
            <a:r>
              <a:rPr lang="en-US" dirty="0"/>
              <a:t>.</a:t>
            </a:r>
          </a:p>
          <a:p>
            <a:pPr lvl="1"/>
            <a:r>
              <a:rPr lang="en-US" sz="2800" dirty="0"/>
              <a:t>converting complex data into an easy to understand representation</a:t>
            </a:r>
            <a:endParaRPr lang="en-US" sz="2800" b="1" i="0" dirty="0">
              <a:solidFill>
                <a:srgbClr val="222222"/>
              </a:solidFill>
              <a:effectLst/>
              <a:latin typeface="Lato" panose="020F0502020204030203" pitchFamily="34" charset="0"/>
            </a:endParaRPr>
          </a:p>
        </p:txBody>
      </p:sp>
    </p:spTree>
    <p:extLst>
      <p:ext uri="{BB962C8B-B14F-4D97-AF65-F5344CB8AC3E}">
        <p14:creationId xmlns:p14="http://schemas.microsoft.com/office/powerpoint/2010/main" val="1368242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353301" y="342898"/>
            <a:ext cx="4838699" cy="3086101"/>
          </a:xfrm>
        </p:spPr>
        <p:txBody>
          <a:bodyPr>
            <a:noAutofit/>
          </a:bodyPr>
          <a:lstStyle/>
          <a:p>
            <a:pPr algn="just"/>
            <a:r>
              <a:rPr lang="en-US" sz="1600" cap="none" dirty="0"/>
              <a:t>A </a:t>
            </a:r>
            <a:r>
              <a:rPr lang="en-US" sz="1600" b="1" cap="none" dirty="0"/>
              <a:t>line graph</a:t>
            </a:r>
            <a:r>
              <a:rPr lang="en-US" sz="1600" cap="none" dirty="0"/>
              <a:t> is a type of chart used to display information that changes over time or to show the relationship between two variables. It’s one of the simplest and most widely used visualization tools in statistics, science, and everyday data analysis.</a:t>
            </a:r>
            <a:br>
              <a:rPr lang="en-US" sz="1600" cap="none" dirty="0"/>
            </a:br>
            <a:r>
              <a:rPr lang="en-US" sz="1600" cap="none" dirty="0" err="1"/>
              <a:t>Axes:the</a:t>
            </a:r>
            <a:r>
              <a:rPr lang="en-US" sz="1600" cap="none" dirty="0"/>
              <a:t> x-axis (horizontal) usually represents time or categories.</a:t>
            </a:r>
            <a:br>
              <a:rPr lang="en-US" sz="1600" cap="none" dirty="0"/>
            </a:br>
            <a:r>
              <a:rPr lang="en-US" sz="1600" cap="none" dirty="0"/>
              <a:t>The y-axis (vertical) represents the values being measured.</a:t>
            </a:r>
            <a:br>
              <a:rPr lang="en-US" sz="1600" cap="none" dirty="0"/>
            </a:br>
            <a:r>
              <a:rPr lang="en-US" sz="1600" cap="none" dirty="0"/>
              <a:t>Data points: each value is plotted as a point on the graph.</a:t>
            </a:r>
            <a:br>
              <a:rPr lang="en-US" sz="1600" cap="none" dirty="0"/>
            </a:br>
            <a:r>
              <a:rPr lang="en-US" sz="1600" cap="none" dirty="0"/>
              <a:t>Lines: points are connected with straight lines to show trends or patterns.</a:t>
            </a:r>
            <a:br>
              <a:rPr lang="en-US" sz="1600" cap="none" dirty="0"/>
            </a:br>
            <a:r>
              <a:rPr lang="en-US" sz="1600" cap="none" dirty="0"/>
              <a:t>Multiple lines: you can plot more than one dataset on the same graph to compare them.</a:t>
            </a:r>
          </a:p>
        </p:txBody>
      </p:sp>
      <p:sp>
        <p:nvSpPr>
          <p:cNvPr id="4" name="Rectangle 1"/>
          <p:cNvSpPr>
            <a:spLocks noChangeArrowheads="1"/>
          </p:cNvSpPr>
          <p:nvPr/>
        </p:nvSpPr>
        <p:spPr bwMode="auto">
          <a:xfrm>
            <a:off x="142874" y="982176"/>
            <a:ext cx="6753225" cy="4893647"/>
          </a:xfrm>
          <a:prstGeom prst="rect">
            <a:avLst/>
          </a:prstGeom>
          <a:solidFill>
            <a:schemeClr val="accent6">
              <a:lumMod val="20000"/>
              <a:lumOff val="80000"/>
              <a:alpha val="25000"/>
            </a:schemeClr>
          </a:solidFill>
          <a:ln>
            <a:solidFill>
              <a:schemeClr val="accent1"/>
            </a:solidFill>
          </a:ln>
          <a:effectLst/>
        </p:spPr>
        <p:txBody>
          <a:bodyPr vert="horz" wrap="square" lIns="0" tIns="91440" rIns="0" bIns="0" numCol="1" anchor="ctr" anchorCtr="0" compatLnSpc="1">
            <a:prstTxWarp prst="textNoShape">
              <a:avLst/>
            </a:prstTxWarp>
            <a:spAutoFit/>
          </a:bodyPr>
          <a:lstStyle/>
          <a:p>
            <a:pPr eaLnBrk="0" fontAlgn="base" hangingPunct="0">
              <a:spcBef>
                <a:spcPct val="0"/>
              </a:spcBef>
              <a:spcAft>
                <a:spcPct val="0"/>
              </a:spcAft>
            </a:pPr>
            <a:r>
              <a:rPr lang="en-US" sz="2400" b="1" dirty="0">
                <a:solidFill>
                  <a:srgbClr val="0070C0"/>
                </a:solidFill>
                <a:latin typeface="Courier New"/>
                <a:cs typeface="Courier New"/>
              </a:rPr>
              <a:t>import</a:t>
            </a:r>
            <a:r>
              <a:rPr lang="en-US" sz="2400" b="1" dirty="0">
                <a:solidFill>
                  <a:srgbClr val="A23A8A"/>
                </a:solidFill>
                <a:latin typeface="Courier New"/>
                <a:cs typeface="Courier New"/>
              </a:rPr>
              <a:t> </a:t>
            </a:r>
            <a:r>
              <a:rPr lang="en-US" sz="2400" b="1" dirty="0" err="1">
                <a:latin typeface="Courier New"/>
                <a:cs typeface="Courier New"/>
              </a:rPr>
              <a:t>matplotlib.pyplot</a:t>
            </a:r>
            <a:r>
              <a:rPr lang="en-US" sz="2400" b="1" dirty="0">
                <a:latin typeface="Courier New"/>
                <a:cs typeface="Courier New"/>
              </a:rPr>
              <a:t> </a:t>
            </a:r>
            <a:r>
              <a:rPr lang="en-US" sz="2400" b="1" dirty="0">
                <a:solidFill>
                  <a:srgbClr val="0070C0"/>
                </a:solidFill>
                <a:latin typeface="Courier New"/>
                <a:cs typeface="Courier New"/>
              </a:rPr>
              <a:t>as</a:t>
            </a:r>
            <a:r>
              <a:rPr lang="en-US" sz="2400" b="1" dirty="0">
                <a:latin typeface="Courier New"/>
                <a:cs typeface="Courier New"/>
              </a:rPr>
              <a:t> </a:t>
            </a:r>
            <a:r>
              <a:rPr lang="en-US" sz="2400" b="1" dirty="0" err="1">
                <a:latin typeface="Courier New"/>
                <a:cs typeface="Courier New"/>
              </a:rPr>
              <a:t>plt</a:t>
            </a:r>
            <a:endParaRPr lang="en-US" sz="2400" b="1" dirty="0">
              <a:latin typeface="Courier New"/>
              <a:cs typeface="Courier New"/>
            </a:endParaRPr>
          </a:p>
          <a:p>
            <a:pPr eaLnBrk="0" fontAlgn="base" hangingPunct="0">
              <a:spcBef>
                <a:spcPct val="0"/>
              </a:spcBef>
              <a:spcAft>
                <a:spcPct val="0"/>
              </a:spcAft>
            </a:pPr>
            <a:endParaRPr lang="en-US" altLang="en-US" sz="2400" b="1" dirty="0">
              <a:solidFill>
                <a:srgbClr val="00B05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pPr>
            <a:r>
              <a:rPr lang="en-US" altLang="en-US" sz="2400" b="1" dirty="0">
                <a:solidFill>
                  <a:srgbClr val="00B050"/>
                </a:solidFill>
                <a:latin typeface="Courier New" panose="02070309020205020404" pitchFamily="49" charset="0"/>
                <a:cs typeface="Courier New" panose="02070309020205020404" pitchFamily="49" charset="0"/>
              </a:rPr>
              <a:t>#create data for plotting</a:t>
            </a:r>
            <a:br>
              <a:rPr lang="en-US" altLang="en-US" sz="2400" b="1" dirty="0">
                <a:latin typeface="Courier New" panose="02070309020205020404" pitchFamily="49" charset="0"/>
                <a:cs typeface="Courier New" panose="02070309020205020404" pitchFamily="49" charset="0"/>
              </a:rPr>
            </a:br>
            <a:r>
              <a:rPr lang="en-US" altLang="en-US" sz="2400" b="1" dirty="0" err="1">
                <a:latin typeface="Courier New" panose="02070309020205020404" pitchFamily="49" charset="0"/>
                <a:cs typeface="Courier New" panose="02070309020205020404" pitchFamily="49" charset="0"/>
              </a:rPr>
              <a:t>x_values</a:t>
            </a:r>
            <a:r>
              <a:rPr lang="en-US" altLang="en-US" sz="2400" b="1" dirty="0">
                <a:latin typeface="Courier New" panose="02070309020205020404" pitchFamily="49" charset="0"/>
                <a:cs typeface="Courier New" panose="02070309020205020404" pitchFamily="49" charset="0"/>
              </a:rPr>
              <a:t> = [0, 1, 2, 3, 4, 5 ]</a:t>
            </a:r>
            <a:br>
              <a:rPr lang="en-US" altLang="en-US" sz="2400" b="1" dirty="0">
                <a:latin typeface="Courier New" panose="02070309020205020404" pitchFamily="49" charset="0"/>
                <a:cs typeface="Courier New" panose="02070309020205020404" pitchFamily="49" charset="0"/>
              </a:rPr>
            </a:br>
            <a:r>
              <a:rPr lang="en-US" altLang="en-US" sz="2400" b="1" dirty="0" err="1">
                <a:latin typeface="Courier New" panose="02070309020205020404" pitchFamily="49" charset="0"/>
                <a:cs typeface="Courier New" panose="02070309020205020404" pitchFamily="49" charset="0"/>
              </a:rPr>
              <a:t>y_values</a:t>
            </a:r>
            <a:r>
              <a:rPr lang="en-US" altLang="en-US" sz="2400" b="1" dirty="0">
                <a:latin typeface="Courier New" panose="02070309020205020404" pitchFamily="49" charset="0"/>
                <a:cs typeface="Courier New" panose="02070309020205020404" pitchFamily="49" charset="0"/>
              </a:rPr>
              <a:t> = [0, 1, 4, 9, 16,25]</a:t>
            </a:r>
          </a:p>
          <a:p>
            <a:pPr eaLnBrk="0" fontAlgn="base" hangingPunct="0">
              <a:spcBef>
                <a:spcPct val="0"/>
              </a:spcBef>
              <a:spcAft>
                <a:spcPct val="0"/>
              </a:spcAft>
            </a:pPr>
            <a:endParaRPr lang="en-US" altLang="en-US" sz="2400"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en-US" altLang="en-US" sz="2400" b="1" dirty="0">
                <a:solidFill>
                  <a:srgbClr val="00B050"/>
                </a:solidFill>
                <a:latin typeface="Courier New" panose="02070309020205020404" pitchFamily="49" charset="0"/>
                <a:cs typeface="Courier New" panose="02070309020205020404" pitchFamily="49" charset="0"/>
              </a:rPr>
              <a:t>#the default graph style for plot is a line</a:t>
            </a:r>
            <a:br>
              <a:rPr lang="en-US" altLang="en-US" sz="2400" b="1" dirty="0">
                <a:latin typeface="Courier New" panose="02070309020205020404" pitchFamily="49" charset="0"/>
                <a:cs typeface="Courier New" panose="02070309020205020404" pitchFamily="49" charset="0"/>
              </a:rPr>
            </a:br>
            <a:r>
              <a:rPr lang="en-US" altLang="en-US" sz="2400" b="1" dirty="0" err="1">
                <a:latin typeface="Courier New" panose="02070309020205020404" pitchFamily="49" charset="0"/>
                <a:cs typeface="Courier New" panose="02070309020205020404" pitchFamily="49" charset="0"/>
              </a:rPr>
              <a:t>plt.plot</a:t>
            </a:r>
            <a:r>
              <a:rPr lang="en-US" altLang="en-US" sz="2400" b="1" dirty="0">
                <a:latin typeface="Courier New" panose="02070309020205020404" pitchFamily="49" charset="0"/>
                <a:cs typeface="Courier New" panose="02070309020205020404" pitchFamily="49" charset="0"/>
              </a:rPr>
              <a:t>(</a:t>
            </a:r>
            <a:r>
              <a:rPr lang="en-US" altLang="en-US" sz="2400" b="1" dirty="0" err="1">
                <a:latin typeface="Courier New" panose="02070309020205020404" pitchFamily="49" charset="0"/>
                <a:cs typeface="Courier New" panose="02070309020205020404" pitchFamily="49" charset="0"/>
              </a:rPr>
              <a:t>x_values</a:t>
            </a:r>
            <a:r>
              <a:rPr lang="en-US" altLang="en-US" sz="2400" b="1" dirty="0">
                <a:latin typeface="Courier New" panose="02070309020205020404" pitchFamily="49" charset="0"/>
                <a:cs typeface="Courier New" panose="02070309020205020404" pitchFamily="49" charset="0"/>
              </a:rPr>
              <a:t>, </a:t>
            </a:r>
            <a:r>
              <a:rPr lang="en-US" altLang="en-US" sz="2400" b="1" dirty="0" err="1">
                <a:latin typeface="Courier New" panose="02070309020205020404" pitchFamily="49" charset="0"/>
                <a:cs typeface="Courier New" panose="02070309020205020404" pitchFamily="49" charset="0"/>
              </a:rPr>
              <a:t>y_values</a:t>
            </a:r>
            <a:r>
              <a:rPr lang="en-US" altLang="en-US" sz="2400" b="1" dirty="0">
                <a:latin typeface="Courier New" panose="02070309020205020404" pitchFamily="49" charset="0"/>
                <a:cs typeface="Courier New" panose="02070309020205020404" pitchFamily="49" charset="0"/>
              </a:rPr>
              <a:t>)</a:t>
            </a:r>
          </a:p>
          <a:p>
            <a:pPr eaLnBrk="0" fontAlgn="base" hangingPunct="0">
              <a:spcBef>
                <a:spcPct val="0"/>
              </a:spcBef>
              <a:spcAft>
                <a:spcPct val="0"/>
              </a:spcAft>
            </a:pPr>
            <a:endParaRPr lang="en-US" altLang="en-US" sz="2400" b="1" dirty="0">
              <a:latin typeface="Courier New" panose="02070309020205020404" pitchFamily="49" charset="0"/>
              <a:cs typeface="Courier New" panose="02070309020205020404" pitchFamily="49" charset="0"/>
            </a:endParaRPr>
          </a:p>
          <a:p>
            <a:pPr eaLnBrk="0" fontAlgn="base" hangingPunct="0">
              <a:spcBef>
                <a:spcPct val="0"/>
              </a:spcBef>
              <a:spcAft>
                <a:spcPct val="0"/>
              </a:spcAft>
            </a:pPr>
            <a:r>
              <a:rPr lang="en-US" altLang="en-US" sz="2400" b="1" dirty="0">
                <a:solidFill>
                  <a:srgbClr val="00B050"/>
                </a:solidFill>
                <a:latin typeface="Courier New" panose="02070309020205020404" pitchFamily="49" charset="0"/>
                <a:cs typeface="Courier New" panose="02070309020205020404" pitchFamily="49" charset="0"/>
              </a:rPr>
              <a:t>#display the graph</a:t>
            </a:r>
            <a:br>
              <a:rPr lang="en-US" altLang="en-US" sz="2400" b="1" dirty="0">
                <a:latin typeface="Courier New" panose="02070309020205020404" pitchFamily="49" charset="0"/>
                <a:cs typeface="Courier New" panose="02070309020205020404" pitchFamily="49" charset="0"/>
              </a:rPr>
            </a:br>
            <a:r>
              <a:rPr lang="en-US" altLang="en-US" sz="2400" b="1" dirty="0" err="1">
                <a:latin typeface="Courier New" panose="02070309020205020404" pitchFamily="49" charset="0"/>
                <a:cs typeface="Courier New" panose="02070309020205020404" pitchFamily="49" charset="0"/>
              </a:rPr>
              <a:t>plt.show</a:t>
            </a:r>
            <a:r>
              <a:rPr lang="en-US" altLang="en-US" sz="2400" b="1" dirty="0">
                <a:latin typeface="Courier New" panose="02070309020205020404" pitchFamily="49" charset="0"/>
                <a:cs typeface="Courier New" panose="02070309020205020404" pitchFamily="49" charset="0"/>
              </a:rPr>
              <a:t>() </a:t>
            </a:r>
          </a:p>
          <a:p>
            <a:pPr eaLnBrk="0" fontAlgn="base" hangingPunct="0">
              <a:spcBef>
                <a:spcPct val="0"/>
              </a:spcBef>
              <a:spcAft>
                <a:spcPct val="0"/>
              </a:spcAft>
            </a:pPr>
            <a:endParaRPr lang="en-US" altLang="en-US" sz="2400" b="1" dirty="0">
              <a:latin typeface="Courier New" panose="02070309020205020404" pitchFamily="49" charset="0"/>
              <a:cs typeface="Courier New" panose="02070309020205020404" pitchFamily="49" charset="0"/>
            </a:endParaRPr>
          </a:p>
        </p:txBody>
      </p:sp>
      <p:pic>
        <p:nvPicPr>
          <p:cNvPr id="2051" name="Picture 3" descr="https://miro.medium.com/max/368/1*jO_SGH86FknOlNwwNuD9d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7575" y="3691319"/>
            <a:ext cx="3505200"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9021136"/>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087472"/>
          </a:xfrm>
        </p:spPr>
        <p:txBody>
          <a:bodyPr>
            <a:normAutofit/>
          </a:bodyPr>
          <a:lstStyle/>
          <a:p>
            <a:r>
              <a:rPr lang="en-US" dirty="0"/>
              <a:t>More on Line Graph</a:t>
            </a:r>
          </a:p>
        </p:txBody>
      </p:sp>
      <p:sp>
        <p:nvSpPr>
          <p:cNvPr id="3" name="Content Placeholder 2"/>
          <p:cNvSpPr>
            <a:spLocks noGrp="1"/>
          </p:cNvSpPr>
          <p:nvPr>
            <p:ph idx="1"/>
          </p:nvPr>
        </p:nvSpPr>
        <p:spPr>
          <a:xfrm>
            <a:off x="1625600" y="1009651"/>
            <a:ext cx="4343400" cy="4601817"/>
          </a:xfrm>
        </p:spPr>
        <p:txBody>
          <a:bodyPr>
            <a:normAutofit lnSpcReduction="10000"/>
          </a:bodyPr>
          <a:lstStyle/>
          <a:p>
            <a:r>
              <a:rPr lang="en-US" sz="2000" dirty="0">
                <a:solidFill>
                  <a:srgbClr val="FF0000"/>
                </a:solidFill>
              </a:rPr>
              <a:t>Note</a:t>
            </a:r>
            <a:r>
              <a:rPr lang="en-US" sz="2000" dirty="0"/>
              <a:t>: if you provide a single list or array to the </a:t>
            </a:r>
            <a:r>
              <a:rPr lang="en-US" sz="2000" b="1" dirty="0">
                <a:solidFill>
                  <a:srgbClr val="0070C0"/>
                </a:solidFill>
                <a:latin typeface="Courier New" panose="02070309020205020404" pitchFamily="49" charset="0"/>
                <a:cs typeface="Courier New" panose="02070309020205020404" pitchFamily="49" charset="0"/>
              </a:rPr>
              <a:t>plot()</a:t>
            </a:r>
            <a:r>
              <a:rPr lang="en-US" sz="2000" b="1" dirty="0">
                <a:solidFill>
                  <a:srgbClr val="0070C0"/>
                </a:solidFill>
                <a:latin typeface="Arial" panose="020B0604020202020204" pitchFamily="34" charset="0"/>
                <a:cs typeface="Arial" panose="020B0604020202020204" pitchFamily="34" charset="0"/>
              </a:rPr>
              <a:t> </a:t>
            </a:r>
            <a:r>
              <a:rPr lang="en-US" sz="2000" dirty="0"/>
              <a:t>command, </a:t>
            </a:r>
          </a:p>
          <a:p>
            <a:pPr lvl="1"/>
            <a:endParaRPr lang="en-US" sz="1000" dirty="0"/>
          </a:p>
          <a:p>
            <a:pPr lvl="1"/>
            <a:r>
              <a:rPr lang="en-US" sz="1600" dirty="0"/>
              <a:t>then </a:t>
            </a:r>
            <a:r>
              <a:rPr lang="en-US" sz="1600" b="1" dirty="0" err="1">
                <a:solidFill>
                  <a:srgbClr val="0070C0"/>
                </a:solidFill>
                <a:latin typeface="Courier New" panose="02070309020205020404" pitchFamily="49" charset="0"/>
                <a:cs typeface="Courier New" panose="02070309020205020404" pitchFamily="49" charset="0"/>
              </a:rPr>
              <a:t>matplotlib</a:t>
            </a:r>
            <a:r>
              <a:rPr lang="en-US" sz="1600" dirty="0"/>
              <a:t> assumes it is a sequence of </a:t>
            </a:r>
            <a:r>
              <a:rPr lang="en-US" sz="1600" b="1" dirty="0">
                <a:solidFill>
                  <a:srgbClr val="0070C0"/>
                </a:solidFill>
                <a:latin typeface="Courier New" panose="02070309020205020404" pitchFamily="49" charset="0"/>
                <a:cs typeface="Courier New" panose="02070309020205020404" pitchFamily="49" charset="0"/>
              </a:rPr>
              <a:t>y values</a:t>
            </a:r>
            <a:r>
              <a:rPr lang="en-US" sz="1600" dirty="0"/>
              <a:t>, and </a:t>
            </a:r>
          </a:p>
          <a:p>
            <a:pPr lvl="1"/>
            <a:endParaRPr lang="en-US" sz="1000" dirty="0"/>
          </a:p>
          <a:p>
            <a:pPr lvl="1"/>
            <a:r>
              <a:rPr lang="en-US" sz="1600" dirty="0"/>
              <a:t>automatically generates the</a:t>
            </a:r>
            <a:br>
              <a:rPr lang="en-US" sz="1600" dirty="0"/>
            </a:br>
            <a:r>
              <a:rPr lang="en-US" sz="1600" b="1" dirty="0">
                <a:solidFill>
                  <a:srgbClr val="0070C0"/>
                </a:solidFill>
                <a:latin typeface="Courier New" panose="02070309020205020404" pitchFamily="49" charset="0"/>
                <a:cs typeface="Courier New" panose="02070309020205020404" pitchFamily="49" charset="0"/>
              </a:rPr>
              <a:t>x values </a:t>
            </a:r>
            <a:r>
              <a:rPr lang="en-US" sz="1600" dirty="0"/>
              <a:t>for you. </a:t>
            </a:r>
          </a:p>
          <a:p>
            <a:endParaRPr lang="en-US" sz="1050" dirty="0"/>
          </a:p>
          <a:p>
            <a:r>
              <a:rPr lang="en-US" sz="2000" dirty="0"/>
              <a:t>Since python ranges start with </a:t>
            </a:r>
            <a:r>
              <a:rPr lang="en-US" sz="2000" b="1" dirty="0">
                <a:solidFill>
                  <a:srgbClr val="0070C0"/>
                </a:solidFill>
                <a:latin typeface="Courier New" panose="02070309020205020404" pitchFamily="49" charset="0"/>
                <a:cs typeface="Courier New" panose="02070309020205020404" pitchFamily="49" charset="0"/>
              </a:rPr>
              <a:t>0</a:t>
            </a:r>
            <a:r>
              <a:rPr lang="en-US" sz="2000" dirty="0"/>
              <a:t>,</a:t>
            </a:r>
            <a:br>
              <a:rPr lang="en-US" sz="2000" dirty="0"/>
            </a:br>
            <a:r>
              <a:rPr lang="en-US" sz="2000" dirty="0"/>
              <a:t>the default </a:t>
            </a:r>
            <a:r>
              <a:rPr lang="en-US" sz="2000" b="1" dirty="0">
                <a:solidFill>
                  <a:srgbClr val="0070C0"/>
                </a:solidFill>
                <a:latin typeface="Courier New" panose="02070309020205020404" pitchFamily="49" charset="0"/>
                <a:cs typeface="Courier New" panose="02070309020205020404" pitchFamily="49" charset="0"/>
              </a:rPr>
              <a:t>x</a:t>
            </a:r>
            <a:r>
              <a:rPr lang="en-US" sz="2000" dirty="0"/>
              <a:t> vector has the same length as </a:t>
            </a:r>
            <a:r>
              <a:rPr lang="en-US" sz="2000" b="1" dirty="0">
                <a:solidFill>
                  <a:srgbClr val="0070C0"/>
                </a:solidFill>
                <a:latin typeface="Courier New" panose="02070309020205020404" pitchFamily="49" charset="0"/>
                <a:cs typeface="Courier New" panose="02070309020205020404" pitchFamily="49" charset="0"/>
              </a:rPr>
              <a:t>y</a:t>
            </a:r>
            <a:r>
              <a:rPr lang="en-US" sz="2000" dirty="0"/>
              <a:t> but starts with </a:t>
            </a:r>
            <a:r>
              <a:rPr lang="en-US" sz="2000" b="1" dirty="0">
                <a:solidFill>
                  <a:srgbClr val="0070C0"/>
                </a:solidFill>
                <a:latin typeface="Courier New" panose="02070309020205020404" pitchFamily="49" charset="0"/>
                <a:cs typeface="Courier New" panose="02070309020205020404" pitchFamily="49" charset="0"/>
              </a:rPr>
              <a:t>0</a:t>
            </a:r>
            <a:r>
              <a:rPr lang="en-US" sz="2000" dirty="0"/>
              <a:t>. </a:t>
            </a:r>
          </a:p>
          <a:p>
            <a:endParaRPr lang="en-US" sz="1000" dirty="0"/>
          </a:p>
          <a:p>
            <a:pPr lvl="1"/>
            <a:r>
              <a:rPr lang="en-US" sz="1600" dirty="0"/>
              <a:t>Hence the </a:t>
            </a:r>
            <a:r>
              <a:rPr lang="en-US" sz="2000" b="1" dirty="0">
                <a:solidFill>
                  <a:srgbClr val="0070C0"/>
                </a:solidFill>
                <a:latin typeface="Courier New" panose="02070309020205020404" pitchFamily="49" charset="0"/>
                <a:cs typeface="Courier New" panose="02070309020205020404" pitchFamily="49" charset="0"/>
              </a:rPr>
              <a:t>x</a:t>
            </a:r>
            <a:r>
              <a:rPr lang="en-US" sz="1600" dirty="0"/>
              <a:t> data are</a:t>
            </a:r>
            <a:r>
              <a:rPr lang="en-US" sz="1600" b="1" dirty="0">
                <a:solidFill>
                  <a:srgbClr val="0070C0"/>
                </a:solidFill>
                <a:latin typeface="Courier New" panose="02070309020205020404" pitchFamily="49" charset="0"/>
                <a:cs typeface="Courier New" panose="02070309020205020404" pitchFamily="49" charset="0"/>
              </a:rPr>
              <a:t>[0, 1, 2, 3]</a:t>
            </a:r>
            <a:r>
              <a:rPr lang="en-US" sz="1600" dirty="0">
                <a:latin typeface="Courier New" panose="02070309020205020404" pitchFamily="49" charset="0"/>
                <a:cs typeface="Courier New" panose="02070309020205020404" pitchFamily="49" charset="0"/>
              </a:rPr>
              <a:t>.</a:t>
            </a:r>
          </a:p>
        </p:txBody>
      </p:sp>
      <p:sp>
        <p:nvSpPr>
          <p:cNvPr id="7" name="Rectangle 6"/>
          <p:cNvSpPr/>
          <p:nvPr/>
        </p:nvSpPr>
        <p:spPr>
          <a:xfrm>
            <a:off x="6172200" y="1122973"/>
            <a:ext cx="4038600" cy="1077218"/>
          </a:xfrm>
          <a:prstGeom prst="rect">
            <a:avLst/>
          </a:prstGeom>
          <a:solidFill>
            <a:schemeClr val="accent6">
              <a:lumMod val="20000"/>
              <a:lumOff val="80000"/>
              <a:alpha val="25000"/>
            </a:schemeClr>
          </a:solidFill>
          <a:ln>
            <a:solidFill>
              <a:schemeClr val="accent1"/>
            </a:solidFill>
          </a:ln>
        </p:spPr>
        <p:txBody>
          <a:bodyPr wrap="square">
            <a:spAutoFit/>
          </a:bodyPr>
          <a:lstStyle/>
          <a:p>
            <a:r>
              <a:rPr lang="en-US" sz="1600" b="1" dirty="0">
                <a:solidFill>
                  <a:srgbClr val="0070C0"/>
                </a:solidFill>
                <a:latin typeface="Courier New" panose="02070309020205020404" pitchFamily="49" charset="0"/>
                <a:cs typeface="Courier New" panose="02070309020205020404" pitchFamily="49" charset="0"/>
              </a:rPr>
              <a:t>import</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matplotlib.pyplot</a:t>
            </a:r>
            <a:r>
              <a:rPr lang="en-US" sz="1600" b="1" dirty="0">
                <a:latin typeface="Courier New" panose="02070309020205020404" pitchFamily="49" charset="0"/>
                <a:cs typeface="Courier New" panose="02070309020205020404" pitchFamily="49" charset="0"/>
              </a:rPr>
              <a:t> </a:t>
            </a:r>
            <a:r>
              <a:rPr lang="en-US" sz="1600" b="1" dirty="0">
                <a:solidFill>
                  <a:srgbClr val="0070C0"/>
                </a:solidFill>
                <a:latin typeface="Courier New" panose="02070309020205020404" pitchFamily="49" charset="0"/>
                <a:cs typeface="Courier New" panose="02070309020205020404" pitchFamily="49" charset="0"/>
              </a:rPr>
              <a:t>as</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plt</a:t>
            </a:r>
            <a:endParaRPr lang="en-US" sz="1600" b="1" dirty="0">
              <a:latin typeface="Courier New" panose="02070309020205020404" pitchFamily="49" charset="0"/>
              <a:cs typeface="Courier New" panose="02070309020205020404" pitchFamily="49" charset="0"/>
            </a:endParaRPr>
          </a:p>
          <a:p>
            <a:r>
              <a:rPr lang="en-US" sz="1600" b="1" dirty="0" err="1">
                <a:latin typeface="Courier New" panose="02070309020205020404" pitchFamily="49" charset="0"/>
                <a:cs typeface="Courier New" panose="02070309020205020404" pitchFamily="49" charset="0"/>
              </a:rPr>
              <a:t>plt.plot</a:t>
            </a:r>
            <a:r>
              <a:rPr lang="en-US" sz="1600" b="1" dirty="0">
                <a:latin typeface="Courier New" panose="02070309020205020404" pitchFamily="49" charset="0"/>
                <a:cs typeface="Courier New" panose="02070309020205020404" pitchFamily="49" charset="0"/>
              </a:rPr>
              <a:t>([1, 2, 3, 4])</a:t>
            </a:r>
          </a:p>
          <a:p>
            <a:r>
              <a:rPr lang="en-US" sz="1600" b="1" dirty="0" err="1">
                <a:latin typeface="Courier New" panose="02070309020205020404" pitchFamily="49" charset="0"/>
                <a:cs typeface="Courier New" panose="02070309020205020404" pitchFamily="49" charset="0"/>
              </a:rPr>
              <a:t>plt.ylabel</a:t>
            </a:r>
            <a:r>
              <a:rPr lang="en-US" sz="1600" b="1" dirty="0">
                <a:latin typeface="Courier New" panose="02070309020205020404" pitchFamily="49" charset="0"/>
                <a:cs typeface="Courier New" panose="02070309020205020404" pitchFamily="49" charset="0"/>
              </a:rPr>
              <a:t>('</a:t>
            </a:r>
            <a:r>
              <a:rPr lang="en-US" sz="1600" b="1" dirty="0">
                <a:solidFill>
                  <a:srgbClr val="C00000"/>
                </a:solidFill>
                <a:latin typeface="Courier New" panose="02070309020205020404" pitchFamily="49" charset="0"/>
                <a:cs typeface="Courier New" panose="02070309020205020404" pitchFamily="49" charset="0"/>
              </a:rPr>
              <a:t>some numbers</a:t>
            </a:r>
            <a:r>
              <a:rPr lang="en-US" sz="1600" b="1" dirty="0">
                <a:latin typeface="Courier New" panose="02070309020205020404" pitchFamily="49" charset="0"/>
                <a:cs typeface="Courier New" panose="02070309020205020404" pitchFamily="49" charset="0"/>
              </a:rPr>
              <a:t>')</a:t>
            </a:r>
          </a:p>
          <a:p>
            <a:r>
              <a:rPr lang="en-US" sz="1600" b="1" dirty="0" err="1">
                <a:latin typeface="Courier New" panose="02070309020205020404" pitchFamily="49" charset="0"/>
                <a:cs typeface="Courier New" panose="02070309020205020404" pitchFamily="49" charset="0"/>
              </a:rPr>
              <a:t>plt.show</a:t>
            </a:r>
            <a:r>
              <a:rPr lang="en-US" sz="1600" b="1" dirty="0">
                <a:latin typeface="Courier New" panose="02070309020205020404" pitchFamily="49" charset="0"/>
                <a:cs typeface="Courier New" panose="02070309020205020404" pitchFamily="49" charset="0"/>
              </a:rPr>
              <a:t>()</a:t>
            </a:r>
          </a:p>
        </p:txBody>
      </p:sp>
      <p:pic>
        <p:nvPicPr>
          <p:cNvPr id="8" name="Picture 7"/>
          <p:cNvPicPr>
            <a:picLocks noChangeAspect="1"/>
          </p:cNvPicPr>
          <p:nvPr/>
        </p:nvPicPr>
        <p:blipFill>
          <a:blip r:embed="rId3"/>
          <a:stretch>
            <a:fillRect/>
          </a:stretch>
        </p:blipFill>
        <p:spPr>
          <a:xfrm>
            <a:off x="6223002" y="2552498"/>
            <a:ext cx="4394200" cy="3295650"/>
          </a:xfrm>
          <a:prstGeom prst="rect">
            <a:avLst/>
          </a:prstGeom>
        </p:spPr>
      </p:pic>
    </p:spTree>
    <p:extLst>
      <p:ext uri="{BB962C8B-B14F-4D97-AF65-F5344CB8AC3E}">
        <p14:creationId xmlns:p14="http://schemas.microsoft.com/office/powerpoint/2010/main" val="756041111"/>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837508" y="274638"/>
            <a:ext cx="8373292" cy="702852"/>
          </a:xfrm>
        </p:spPr>
        <p:txBody>
          <a:bodyPr>
            <a:normAutofit/>
          </a:bodyPr>
          <a:lstStyle/>
          <a:p>
            <a:r>
              <a:rPr lang="en-US" dirty="0"/>
              <a:t>Scatter Plots</a:t>
            </a:r>
          </a:p>
        </p:txBody>
      </p:sp>
      <p:sp>
        <p:nvSpPr>
          <p:cNvPr id="4" name="Rectangle 1"/>
          <p:cNvSpPr>
            <a:spLocks noChangeArrowheads="1"/>
          </p:cNvSpPr>
          <p:nvPr/>
        </p:nvSpPr>
        <p:spPr bwMode="auto">
          <a:xfrm>
            <a:off x="1828800" y="1161896"/>
            <a:ext cx="8382000" cy="2616101"/>
          </a:xfrm>
          <a:prstGeom prst="rect">
            <a:avLst/>
          </a:prstGeom>
          <a:solidFill>
            <a:schemeClr val="accent6">
              <a:lumMod val="20000"/>
              <a:lumOff val="80000"/>
              <a:alpha val="25000"/>
            </a:schemeClr>
          </a:solidFill>
          <a:ln>
            <a:solidFill>
              <a:schemeClr val="accent1"/>
            </a:solidFill>
          </a:ln>
          <a:effectLst/>
        </p:spPr>
        <p:txBody>
          <a:bodyPr vert="horz" wrap="square" lIns="91440" tIns="91440" rIns="0" bIns="0" numCol="1" anchor="ctr" anchorCtr="0" compatLnSpc="1">
            <a:prstTxWarp prst="textNoShape">
              <a:avLst/>
            </a:prstTxWarp>
            <a:spAutoFit/>
          </a:bodyPr>
          <a:lstStyle/>
          <a:p>
            <a:pPr eaLnBrk="0" fontAlgn="base" hangingPunct="0">
              <a:spcBef>
                <a:spcPct val="0"/>
              </a:spcBef>
              <a:spcAft>
                <a:spcPct val="0"/>
              </a:spcAft>
            </a:pPr>
            <a:r>
              <a:rPr lang="en-US" b="1" dirty="0">
                <a:solidFill>
                  <a:srgbClr val="0070C0"/>
                </a:solidFill>
                <a:latin typeface="Courier New"/>
                <a:cs typeface="Courier New"/>
              </a:rPr>
              <a:t>import</a:t>
            </a:r>
            <a:r>
              <a:rPr lang="en-US" b="1" dirty="0">
                <a:solidFill>
                  <a:srgbClr val="A23A8A"/>
                </a:solidFill>
                <a:latin typeface="Courier New"/>
                <a:cs typeface="Courier New"/>
              </a:rPr>
              <a:t> </a:t>
            </a:r>
            <a:r>
              <a:rPr lang="en-US" b="1" dirty="0" err="1">
                <a:latin typeface="Courier New"/>
                <a:cs typeface="Courier New"/>
              </a:rPr>
              <a:t>matplotlib.pyplot</a:t>
            </a:r>
            <a:r>
              <a:rPr lang="en-US" b="1" dirty="0">
                <a:latin typeface="Courier New"/>
                <a:cs typeface="Courier New"/>
              </a:rPr>
              <a:t> </a:t>
            </a:r>
            <a:r>
              <a:rPr lang="en-US" b="1" dirty="0">
                <a:solidFill>
                  <a:srgbClr val="0070C0"/>
                </a:solidFill>
                <a:latin typeface="Courier New"/>
                <a:cs typeface="Courier New"/>
              </a:rPr>
              <a:t>as</a:t>
            </a:r>
            <a:r>
              <a:rPr lang="en-US" b="1" dirty="0">
                <a:latin typeface="Courier New"/>
                <a:cs typeface="Courier New"/>
              </a:rPr>
              <a:t> </a:t>
            </a:r>
            <a:r>
              <a:rPr lang="en-US" b="1" dirty="0" err="1">
                <a:latin typeface="Courier New"/>
                <a:cs typeface="Courier New"/>
              </a:rPr>
              <a:t>plt</a:t>
            </a:r>
            <a:endParaRPr lang="en-US" b="1" dirty="0">
              <a:latin typeface="Courier New"/>
              <a:cs typeface="Courier New"/>
            </a:endParaRPr>
          </a:p>
          <a:p>
            <a:pPr eaLnBrk="0" fontAlgn="base" hangingPunct="0">
              <a:spcBef>
                <a:spcPct val="0"/>
              </a:spcBef>
              <a:spcAft>
                <a:spcPct val="0"/>
              </a:spcAft>
            </a:pPr>
            <a:endParaRPr lang="en-US" altLang="en-US" b="1" dirty="0">
              <a:latin typeface="Courier New" panose="02070309020205020404" pitchFamily="49" charset="0"/>
              <a:cs typeface="Courier New" panose="02070309020205020404" pitchFamily="49" charset="0"/>
            </a:endParaRPr>
          </a:p>
          <a:p>
            <a:pPr eaLnBrk="0" fontAlgn="base" hangingPunct="0">
              <a:spcBef>
                <a:spcPct val="0"/>
              </a:spcBef>
              <a:spcAft>
                <a:spcPct val="0"/>
              </a:spcAft>
            </a:pPr>
            <a:r>
              <a:rPr lang="en-US" altLang="en-US" sz="1600" b="1" dirty="0">
                <a:solidFill>
                  <a:srgbClr val="00B050"/>
                </a:solidFill>
                <a:latin typeface="Courier New" panose="02070309020205020404" pitchFamily="49" charset="0"/>
                <a:cs typeface="Courier New" panose="02070309020205020404" pitchFamily="49" charset="0"/>
              </a:rPr>
              <a:t>#create data for plotting</a:t>
            </a:r>
            <a:br>
              <a:rPr lang="en-US" altLang="en-US" b="1" dirty="0">
                <a:latin typeface="Courier New" panose="02070309020205020404" pitchFamily="49" charset="0"/>
                <a:cs typeface="Courier New" panose="02070309020205020404" pitchFamily="49" charset="0"/>
              </a:rPr>
            </a:br>
            <a:endParaRPr lang="en-US" altLang="en-US"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en-US" altLang="en-US" b="1" dirty="0" err="1">
                <a:latin typeface="Courier New" panose="02070309020205020404" pitchFamily="49" charset="0"/>
                <a:cs typeface="Courier New" panose="02070309020205020404" pitchFamily="49" charset="0"/>
              </a:rPr>
              <a:t>x_values</a:t>
            </a:r>
            <a:r>
              <a:rPr lang="en-US" altLang="en-US" b="1" dirty="0">
                <a:latin typeface="Courier New" panose="02070309020205020404" pitchFamily="49" charset="0"/>
                <a:cs typeface="Courier New" panose="02070309020205020404" pitchFamily="49" charset="0"/>
              </a:rPr>
              <a:t> = [0,1,2,3,4,5]</a:t>
            </a:r>
            <a:br>
              <a:rPr lang="en-US" altLang="en-US" b="1" dirty="0">
                <a:latin typeface="Courier New" panose="02070309020205020404" pitchFamily="49" charset="0"/>
                <a:cs typeface="Courier New" panose="02070309020205020404" pitchFamily="49" charset="0"/>
              </a:rPr>
            </a:br>
            <a:r>
              <a:rPr lang="en-US" altLang="en-US" b="1" dirty="0" err="1">
                <a:latin typeface="Courier New" panose="02070309020205020404" pitchFamily="49" charset="0"/>
                <a:cs typeface="Courier New" panose="02070309020205020404" pitchFamily="49" charset="0"/>
              </a:rPr>
              <a:t>y_values</a:t>
            </a:r>
            <a:r>
              <a:rPr lang="en-US" altLang="en-US" b="1" dirty="0">
                <a:latin typeface="Courier New" panose="02070309020205020404" pitchFamily="49" charset="0"/>
                <a:cs typeface="Courier New" panose="02070309020205020404" pitchFamily="49" charset="0"/>
              </a:rPr>
              <a:t> = [0,1,4,9,16,25]</a:t>
            </a:r>
          </a:p>
          <a:p>
            <a:pPr eaLnBrk="0" fontAlgn="base" hangingPunct="0">
              <a:spcBef>
                <a:spcPct val="0"/>
              </a:spcBef>
              <a:spcAft>
                <a:spcPct val="0"/>
              </a:spcAft>
            </a:pPr>
            <a:endParaRPr lang="en-US" altLang="en-US"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en-US" altLang="en-US" b="1" dirty="0" err="1">
                <a:latin typeface="Courier New" panose="02070309020205020404" pitchFamily="49" charset="0"/>
                <a:cs typeface="Courier New" panose="02070309020205020404" pitchFamily="49" charset="0"/>
              </a:rPr>
              <a:t>plt.scatter</a:t>
            </a:r>
            <a:r>
              <a:rPr lang="en-US" altLang="en-US" b="1" dirty="0">
                <a:latin typeface="Courier New" panose="02070309020205020404" pitchFamily="49" charset="0"/>
                <a:cs typeface="Courier New" panose="02070309020205020404" pitchFamily="49" charset="0"/>
              </a:rPr>
              <a:t>(</a:t>
            </a:r>
            <a:r>
              <a:rPr lang="en-US" altLang="en-US" b="1" dirty="0" err="1">
                <a:latin typeface="Courier New" panose="02070309020205020404" pitchFamily="49" charset="0"/>
                <a:cs typeface="Courier New" panose="02070309020205020404" pitchFamily="49" charset="0"/>
              </a:rPr>
              <a:t>x_values</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y_values</a:t>
            </a:r>
            <a:r>
              <a:rPr lang="en-US" altLang="en-US" b="1" dirty="0">
                <a:latin typeface="Courier New" panose="02070309020205020404" pitchFamily="49" charset="0"/>
                <a:cs typeface="Courier New" panose="02070309020205020404" pitchFamily="49" charset="0"/>
              </a:rPr>
              <a:t>, s=30, color=“</a:t>
            </a:r>
            <a:r>
              <a:rPr lang="en-US" altLang="en-US" b="1" dirty="0">
                <a:solidFill>
                  <a:srgbClr val="C00000"/>
                </a:solidFill>
                <a:latin typeface="Courier New" panose="02070309020205020404" pitchFamily="49" charset="0"/>
                <a:cs typeface="Courier New" panose="02070309020205020404" pitchFamily="49" charset="0"/>
              </a:rPr>
              <a:t>blue</a:t>
            </a:r>
            <a:r>
              <a:rPr lang="en-US" altLang="en-US" b="1" dirty="0">
                <a:latin typeface="Courier New" panose="02070309020205020404" pitchFamily="49" charset="0"/>
                <a:cs typeface="Courier New" panose="02070309020205020404" pitchFamily="49" charset="0"/>
              </a:rPr>
              <a:t>")</a:t>
            </a:r>
            <a:br>
              <a:rPr lang="en-US" altLang="en-US" b="1" dirty="0">
                <a:latin typeface="Courier New" panose="02070309020205020404" pitchFamily="49" charset="0"/>
                <a:cs typeface="Courier New" panose="02070309020205020404" pitchFamily="49" charset="0"/>
              </a:rPr>
            </a:br>
            <a:r>
              <a:rPr lang="en-US" altLang="en-US" b="1" dirty="0" err="1">
                <a:latin typeface="Courier New" panose="02070309020205020404" pitchFamily="49" charset="0"/>
                <a:cs typeface="Courier New" panose="02070309020205020404" pitchFamily="49" charset="0"/>
              </a:rPr>
              <a:t>plt.show</a:t>
            </a:r>
            <a:r>
              <a:rPr lang="en-US" altLang="en-US" b="1" dirty="0">
                <a:latin typeface="Courier New" panose="02070309020205020404" pitchFamily="49" charset="0"/>
                <a:cs typeface="Courier New" panose="02070309020205020404" pitchFamily="49" charset="0"/>
              </a:rPr>
              <a:t>() </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1916" y="3813165"/>
            <a:ext cx="3738885" cy="2804164"/>
          </a:xfrm>
          <a:prstGeom prst="rect">
            <a:avLst/>
          </a:prstGeom>
        </p:spPr>
      </p:pic>
    </p:spTree>
    <p:extLst>
      <p:ext uri="{BB962C8B-B14F-4D97-AF65-F5344CB8AC3E}">
        <p14:creationId xmlns:p14="http://schemas.microsoft.com/office/powerpoint/2010/main" val="1870788275"/>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828800" y="12192"/>
            <a:ext cx="8597918" cy="1143000"/>
          </a:xfrm>
        </p:spPr>
        <p:txBody>
          <a:bodyPr>
            <a:normAutofit/>
          </a:bodyPr>
          <a:lstStyle/>
          <a:p>
            <a:r>
              <a:rPr lang="en-US" dirty="0"/>
              <a:t>Scatter plot</a:t>
            </a:r>
          </a:p>
        </p:txBody>
      </p:sp>
      <p:sp>
        <p:nvSpPr>
          <p:cNvPr id="4" name="Rectangle 3"/>
          <p:cNvSpPr/>
          <p:nvPr/>
        </p:nvSpPr>
        <p:spPr>
          <a:xfrm>
            <a:off x="1219201" y="474345"/>
            <a:ext cx="10353674" cy="5632311"/>
          </a:xfrm>
          <a:prstGeom prst="rect">
            <a:avLst/>
          </a:prstGeom>
          <a:solidFill>
            <a:schemeClr val="accent6">
              <a:lumMod val="20000"/>
              <a:lumOff val="80000"/>
              <a:alpha val="25000"/>
            </a:schemeClr>
          </a:solidFill>
          <a:ln>
            <a:solidFill>
              <a:schemeClr val="accent1"/>
            </a:solidFill>
          </a:ln>
        </p:spPr>
        <p:txBody>
          <a:bodyPr wrap="square">
            <a:spAutoFit/>
          </a:bodyPr>
          <a:lstStyle/>
          <a:p>
            <a:r>
              <a:rPr lang="en-US" b="1" dirty="0">
                <a:solidFill>
                  <a:srgbClr val="0070C0"/>
                </a:solidFill>
                <a:latin typeface="Courier New"/>
                <a:cs typeface="Courier New"/>
              </a:rPr>
              <a:t>import</a:t>
            </a:r>
            <a:r>
              <a:rPr lang="en-US" b="1" dirty="0">
                <a:solidFill>
                  <a:srgbClr val="A23A8A"/>
                </a:solidFill>
                <a:latin typeface="Courier New"/>
                <a:cs typeface="Courier New"/>
              </a:rPr>
              <a:t> </a:t>
            </a:r>
            <a:r>
              <a:rPr lang="en-US" b="1" dirty="0" err="1">
                <a:latin typeface="Courier New"/>
                <a:cs typeface="Courier New"/>
              </a:rPr>
              <a:t>matplotlib.pyplot</a:t>
            </a:r>
            <a:r>
              <a:rPr lang="en-US" b="1" dirty="0">
                <a:latin typeface="Courier New"/>
                <a:cs typeface="Courier New"/>
              </a:rPr>
              <a:t> </a:t>
            </a:r>
            <a:r>
              <a:rPr lang="en-US" b="1" dirty="0">
                <a:solidFill>
                  <a:srgbClr val="0070C0"/>
                </a:solidFill>
                <a:latin typeface="Courier New"/>
                <a:cs typeface="Courier New"/>
              </a:rPr>
              <a:t>as</a:t>
            </a:r>
            <a:r>
              <a:rPr lang="en-US" b="1" dirty="0">
                <a:latin typeface="Courier New"/>
                <a:cs typeface="Courier New"/>
              </a:rPr>
              <a:t> </a:t>
            </a:r>
            <a:r>
              <a:rPr lang="en-US" b="1" dirty="0" err="1">
                <a:latin typeface="Courier New"/>
                <a:cs typeface="Courier New"/>
              </a:rPr>
              <a:t>plt</a:t>
            </a:r>
            <a:endParaRPr lang="en-US" b="1" dirty="0">
              <a:latin typeface="Courier New"/>
              <a:cs typeface="Courier New"/>
            </a:endParaRPr>
          </a:p>
          <a:p>
            <a:r>
              <a:rPr lang="en-US" b="1" dirty="0">
                <a:solidFill>
                  <a:srgbClr val="00B050"/>
                </a:solidFill>
                <a:latin typeface="Courier New" panose="02070309020205020404" pitchFamily="49" charset="0"/>
                <a:cs typeface="Courier New" panose="02070309020205020404" pitchFamily="49" charset="0"/>
              </a:rPr>
              <a:t># x-axis values </a:t>
            </a:r>
          </a:p>
          <a:p>
            <a:r>
              <a:rPr lang="en-US" b="1" dirty="0">
                <a:latin typeface="Courier New" panose="02070309020205020404" pitchFamily="49" charset="0"/>
                <a:cs typeface="Courier New" panose="02070309020205020404" pitchFamily="49" charset="0"/>
              </a:rPr>
              <a:t>x = [1,2,3,4,5,6,7,8,9,10] </a:t>
            </a:r>
          </a:p>
          <a:p>
            <a:r>
              <a:rPr lang="en-US" b="1" dirty="0">
                <a:solidFill>
                  <a:srgbClr val="00B050"/>
                </a:solidFill>
                <a:latin typeface="Courier New" panose="02070309020205020404" pitchFamily="49" charset="0"/>
                <a:cs typeface="Courier New" panose="02070309020205020404" pitchFamily="49" charset="0"/>
              </a:rPr>
              <a:t># y-axis values </a:t>
            </a:r>
          </a:p>
          <a:p>
            <a:r>
              <a:rPr lang="en-US" b="1" dirty="0">
                <a:latin typeface="Courier New" panose="02070309020205020404" pitchFamily="49" charset="0"/>
                <a:cs typeface="Courier New" panose="02070309020205020404" pitchFamily="49" charset="0"/>
              </a:rPr>
              <a:t>y = [2,4,5,7,6,8,9,11,12,12] </a:t>
            </a:r>
          </a:p>
          <a:p>
            <a:r>
              <a:rPr lang="en-US" b="1" dirty="0">
                <a:latin typeface="Courier New" panose="02070309020205020404" pitchFamily="49" charset="0"/>
                <a:cs typeface="Courier New" panose="02070309020205020404" pitchFamily="49" charset="0"/>
              </a:rPr>
              <a:t>  </a:t>
            </a:r>
          </a:p>
          <a:p>
            <a:r>
              <a:rPr lang="en-US" b="1" dirty="0">
                <a:solidFill>
                  <a:srgbClr val="00B050"/>
                </a:solidFill>
                <a:latin typeface="Courier New" panose="02070309020205020404" pitchFamily="49" charset="0"/>
                <a:cs typeface="Courier New" panose="02070309020205020404" pitchFamily="49" charset="0"/>
              </a:rPr>
              <a:t># plotting points as a scatter plot </a:t>
            </a:r>
          </a:p>
          <a:p>
            <a:r>
              <a:rPr lang="en-US" b="1" dirty="0" err="1">
                <a:latin typeface="Courier New" panose="02070309020205020404" pitchFamily="49" charset="0"/>
                <a:cs typeface="Courier New" panose="02070309020205020404" pitchFamily="49" charset="0"/>
              </a:rPr>
              <a:t>plt.scatter</a:t>
            </a:r>
            <a:r>
              <a:rPr lang="en-US" b="1" dirty="0">
                <a:latin typeface="Courier New" panose="02070309020205020404" pitchFamily="49" charset="0"/>
                <a:cs typeface="Courier New" panose="02070309020205020404" pitchFamily="49" charset="0"/>
              </a:rPr>
              <a:t>(x, y, label= "</a:t>
            </a:r>
            <a:r>
              <a:rPr lang="en-US" b="1" dirty="0">
                <a:solidFill>
                  <a:srgbClr val="C00000"/>
                </a:solidFill>
                <a:latin typeface="Courier New" panose="02070309020205020404" pitchFamily="49" charset="0"/>
                <a:cs typeface="Courier New" panose="02070309020205020404" pitchFamily="49" charset="0"/>
              </a:rPr>
              <a:t>stars</a:t>
            </a:r>
            <a:r>
              <a:rPr lang="en-US" b="1" dirty="0">
                <a:latin typeface="Courier New" panose="02070309020205020404" pitchFamily="49" charset="0"/>
                <a:cs typeface="Courier New" panose="02070309020205020404" pitchFamily="49" charset="0"/>
              </a:rPr>
              <a:t>", color="</a:t>
            </a:r>
            <a:r>
              <a:rPr lang="en-US" b="1" dirty="0">
                <a:solidFill>
                  <a:srgbClr val="C00000"/>
                </a:solidFill>
                <a:latin typeface="Courier New" panose="02070309020205020404" pitchFamily="49" charset="0"/>
                <a:cs typeface="Courier New" panose="02070309020205020404" pitchFamily="49" charset="0"/>
              </a:rPr>
              <a:t>green</a:t>
            </a:r>
            <a:r>
              <a:rPr lang="en-US" b="1" dirty="0">
                <a:latin typeface="Courier New" panose="02070309020205020404" pitchFamily="49" charset="0"/>
                <a:cs typeface="Courier New" panose="02070309020205020404" pitchFamily="49" charset="0"/>
              </a:rPr>
              <a:t>", marker="</a:t>
            </a:r>
            <a:r>
              <a:rPr lang="en-US" b="1" dirty="0">
                <a:solidFill>
                  <a:srgbClr val="C00000"/>
                </a:solidFill>
                <a:latin typeface="Courier New" panose="02070309020205020404" pitchFamily="49" charset="0"/>
                <a:cs typeface="Courier New" panose="02070309020205020404" pitchFamily="49" charset="0"/>
              </a:rPr>
              <a:t>*</a:t>
            </a:r>
            <a:r>
              <a:rPr lang="en-US" b="1" dirty="0">
                <a:latin typeface="Courier New" panose="02070309020205020404" pitchFamily="49" charset="0"/>
                <a:cs typeface="Courier New" panose="02070309020205020404" pitchFamily="49" charset="0"/>
              </a:rPr>
              <a:t>", s=30) </a:t>
            </a:r>
          </a:p>
          <a:p>
            <a:r>
              <a:rPr lang="en-US" b="1" dirty="0">
                <a:latin typeface="Courier New" panose="02070309020205020404" pitchFamily="49" charset="0"/>
                <a:cs typeface="Courier New" panose="02070309020205020404" pitchFamily="49" charset="0"/>
              </a:rPr>
              <a:t>  </a:t>
            </a:r>
          </a:p>
          <a:p>
            <a:r>
              <a:rPr lang="en-US" b="1" dirty="0">
                <a:solidFill>
                  <a:srgbClr val="00B050"/>
                </a:solidFill>
                <a:latin typeface="Courier New" panose="02070309020205020404" pitchFamily="49" charset="0"/>
                <a:cs typeface="Courier New" panose="02070309020205020404" pitchFamily="49" charset="0"/>
              </a:rPr>
              <a:t># x-axis label </a:t>
            </a:r>
          </a:p>
          <a:p>
            <a:r>
              <a:rPr lang="en-US" b="1" dirty="0" err="1">
                <a:latin typeface="Courier New" panose="02070309020205020404" pitchFamily="49" charset="0"/>
                <a:cs typeface="Courier New" panose="02070309020205020404" pitchFamily="49" charset="0"/>
              </a:rPr>
              <a:t>plt.xlabel</a:t>
            </a:r>
            <a:r>
              <a:rPr lang="en-US" b="1" dirty="0">
                <a:latin typeface="Courier New" panose="02070309020205020404" pitchFamily="49" charset="0"/>
                <a:cs typeface="Courier New" panose="02070309020205020404" pitchFamily="49" charset="0"/>
              </a:rPr>
              <a:t>('</a:t>
            </a:r>
            <a:r>
              <a:rPr lang="en-US" b="1" dirty="0">
                <a:solidFill>
                  <a:srgbClr val="C00000"/>
                </a:solidFill>
                <a:latin typeface="Courier New" panose="02070309020205020404" pitchFamily="49" charset="0"/>
                <a:cs typeface="Courier New" panose="02070309020205020404" pitchFamily="49" charset="0"/>
              </a:rPr>
              <a:t>x - axis</a:t>
            </a:r>
            <a:r>
              <a:rPr lang="en-US" b="1" dirty="0">
                <a:latin typeface="Courier New" panose="02070309020205020404" pitchFamily="49" charset="0"/>
                <a:cs typeface="Courier New" panose="02070309020205020404" pitchFamily="49" charset="0"/>
              </a:rPr>
              <a:t>') </a:t>
            </a:r>
          </a:p>
          <a:p>
            <a:r>
              <a:rPr lang="en-US" b="1" dirty="0">
                <a:solidFill>
                  <a:srgbClr val="00B050"/>
                </a:solidFill>
                <a:latin typeface="Courier New" panose="02070309020205020404" pitchFamily="49" charset="0"/>
                <a:cs typeface="Courier New" panose="02070309020205020404" pitchFamily="49" charset="0"/>
              </a:rPr>
              <a:t># frequency label </a:t>
            </a:r>
          </a:p>
          <a:p>
            <a:r>
              <a:rPr lang="en-US" b="1" dirty="0" err="1">
                <a:latin typeface="Courier New" panose="02070309020205020404" pitchFamily="49" charset="0"/>
                <a:cs typeface="Courier New" panose="02070309020205020404" pitchFamily="49" charset="0"/>
              </a:rPr>
              <a:t>plt.ylabel</a:t>
            </a:r>
            <a:r>
              <a:rPr lang="en-US" b="1" dirty="0">
                <a:latin typeface="Courier New" panose="02070309020205020404" pitchFamily="49" charset="0"/>
                <a:cs typeface="Courier New" panose="02070309020205020404" pitchFamily="49" charset="0"/>
              </a:rPr>
              <a:t>('</a:t>
            </a:r>
            <a:r>
              <a:rPr lang="en-US" b="1" dirty="0">
                <a:solidFill>
                  <a:srgbClr val="C00000"/>
                </a:solidFill>
                <a:latin typeface="Courier New" panose="02070309020205020404" pitchFamily="49" charset="0"/>
                <a:cs typeface="Courier New" panose="02070309020205020404" pitchFamily="49" charset="0"/>
              </a:rPr>
              <a:t>y - axis</a:t>
            </a:r>
            <a:r>
              <a:rPr lang="en-US" b="1" dirty="0">
                <a:latin typeface="Courier New" panose="02070309020205020404" pitchFamily="49" charset="0"/>
                <a:cs typeface="Courier New" panose="02070309020205020404" pitchFamily="49" charset="0"/>
              </a:rPr>
              <a:t>') </a:t>
            </a:r>
          </a:p>
          <a:p>
            <a:r>
              <a:rPr lang="en-US" b="1" dirty="0">
                <a:solidFill>
                  <a:srgbClr val="00B050"/>
                </a:solidFill>
                <a:latin typeface="Courier New" panose="02070309020205020404" pitchFamily="49" charset="0"/>
                <a:cs typeface="Courier New" panose="02070309020205020404" pitchFamily="49" charset="0"/>
              </a:rPr>
              <a:t># plot title </a:t>
            </a:r>
          </a:p>
          <a:p>
            <a:r>
              <a:rPr lang="en-US" b="1" dirty="0" err="1">
                <a:latin typeface="Courier New" panose="02070309020205020404" pitchFamily="49" charset="0"/>
                <a:cs typeface="Courier New" panose="02070309020205020404" pitchFamily="49" charset="0"/>
              </a:rPr>
              <a:t>plt.title</a:t>
            </a:r>
            <a:r>
              <a:rPr lang="en-US" b="1" dirty="0">
                <a:latin typeface="Courier New" panose="02070309020205020404" pitchFamily="49" charset="0"/>
                <a:cs typeface="Courier New" panose="02070309020205020404" pitchFamily="49" charset="0"/>
              </a:rPr>
              <a:t>('</a:t>
            </a:r>
            <a:r>
              <a:rPr lang="en-US" b="1" dirty="0">
                <a:solidFill>
                  <a:srgbClr val="C00000"/>
                </a:solidFill>
                <a:latin typeface="Courier New" panose="02070309020205020404" pitchFamily="49" charset="0"/>
                <a:cs typeface="Courier New" panose="02070309020205020404" pitchFamily="49" charset="0"/>
              </a:rPr>
              <a:t>My scatter plot!</a:t>
            </a:r>
            <a:r>
              <a:rPr lang="en-US" b="1" dirty="0">
                <a:latin typeface="Courier New" panose="02070309020205020404" pitchFamily="49" charset="0"/>
                <a:cs typeface="Courier New" panose="02070309020205020404" pitchFamily="49" charset="0"/>
              </a:rPr>
              <a:t>') </a:t>
            </a:r>
          </a:p>
          <a:p>
            <a:r>
              <a:rPr lang="en-US" b="1" dirty="0">
                <a:solidFill>
                  <a:srgbClr val="00B050"/>
                </a:solidFill>
                <a:latin typeface="Courier New" panose="02070309020205020404" pitchFamily="49" charset="0"/>
                <a:cs typeface="Courier New" panose="02070309020205020404" pitchFamily="49" charset="0"/>
              </a:rPr>
              <a:t># showing legend </a:t>
            </a:r>
          </a:p>
          <a:p>
            <a:r>
              <a:rPr lang="en-US" b="1" dirty="0" err="1">
                <a:latin typeface="Courier New" panose="02070309020205020404" pitchFamily="49" charset="0"/>
                <a:cs typeface="Courier New" panose="02070309020205020404" pitchFamily="49" charset="0"/>
              </a:rPr>
              <a:t>plt.legend</a:t>
            </a:r>
            <a:r>
              <a:rPr lang="en-US" b="1" dirty="0">
                <a:latin typeface="Courier New" panose="02070309020205020404" pitchFamily="49" charset="0"/>
                <a:cs typeface="Courier New" panose="02070309020205020404" pitchFamily="49" charset="0"/>
              </a:rPr>
              <a:t>() </a:t>
            </a:r>
          </a:p>
          <a:p>
            <a:r>
              <a:rPr lang="en-US" b="1" dirty="0">
                <a:latin typeface="Courier New" panose="02070309020205020404" pitchFamily="49" charset="0"/>
                <a:cs typeface="Courier New" panose="02070309020205020404" pitchFamily="49" charset="0"/>
              </a:rPr>
              <a:t>  </a:t>
            </a:r>
          </a:p>
          <a:p>
            <a:r>
              <a:rPr lang="en-US" b="1" dirty="0">
                <a:solidFill>
                  <a:srgbClr val="00B050"/>
                </a:solidFill>
                <a:latin typeface="Courier New" panose="02070309020205020404" pitchFamily="49" charset="0"/>
                <a:cs typeface="Courier New" panose="02070309020205020404" pitchFamily="49" charset="0"/>
              </a:rPr>
              <a:t># function to show the plot </a:t>
            </a:r>
          </a:p>
          <a:p>
            <a:r>
              <a:rPr lang="en-US" b="1" dirty="0" err="1">
                <a:latin typeface="Courier New" panose="02070309020205020404" pitchFamily="49" charset="0"/>
                <a:cs typeface="Courier New" panose="02070309020205020404" pitchFamily="49" charset="0"/>
              </a:rPr>
              <a:t>plt.show</a:t>
            </a:r>
            <a:r>
              <a:rPr lang="en-US" b="1" dirty="0">
                <a:latin typeface="Courier New" panose="02070309020205020404" pitchFamily="49" charset="0"/>
                <a:cs typeface="Courier New" panose="02070309020205020404" pitchFamily="49" charset="0"/>
              </a:rPr>
              <a:t>() </a:t>
            </a:r>
          </a:p>
        </p:txBody>
      </p:sp>
      <p:pic>
        <p:nvPicPr>
          <p:cNvPr id="8194" name="Picture 2" descr="mp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9950" y="3248025"/>
            <a:ext cx="3676650" cy="2628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58448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BA1381-B4C7-DEF5-4F37-114252196A7B}"/>
              </a:ext>
            </a:extLst>
          </p:cNvPr>
          <p:cNvSpPr>
            <a:spLocks noGrp="1"/>
          </p:cNvSpPr>
          <p:nvPr>
            <p:ph idx="1"/>
          </p:nvPr>
        </p:nvSpPr>
        <p:spPr>
          <a:xfrm>
            <a:off x="838199" y="1"/>
            <a:ext cx="11239501" cy="6134100"/>
          </a:xfrm>
        </p:spPr>
        <p:txBody>
          <a:bodyPr>
            <a:normAutofit lnSpcReduction="10000"/>
          </a:bodyPr>
          <a:lstStyle/>
          <a:p>
            <a:pPr algn="just"/>
            <a:r>
              <a:rPr lang="en-US" sz="3200" b="0" i="0" dirty="0">
                <a:solidFill>
                  <a:srgbClr val="610B4B"/>
                </a:solidFill>
                <a:effectLst/>
                <a:latin typeface="erdana"/>
              </a:rPr>
              <a:t>Scatter plot</a:t>
            </a:r>
          </a:p>
          <a:p>
            <a:pPr algn="just"/>
            <a:r>
              <a:rPr lang="en-US" b="0" i="0" dirty="0">
                <a:solidFill>
                  <a:srgbClr val="333333"/>
                </a:solidFill>
                <a:effectLst/>
                <a:latin typeface="inter-regular"/>
              </a:rPr>
              <a:t>The scatter plots are mostly used for comparing variables when we need to define how much one variable is affected by another variable. The data is displayed as a collection of points. Each point has the value of one variable, which defines the position on the horizontal axes, and the value of other variable represents the position on the vertical axis.</a:t>
            </a:r>
          </a:p>
          <a:p>
            <a:pPr algn="just"/>
            <a:r>
              <a:rPr lang="en-US" dirty="0">
                <a:solidFill>
                  <a:srgbClr val="333333"/>
                </a:solidFill>
                <a:latin typeface="inter-regular"/>
              </a:rPr>
              <a:t>Syntax:</a:t>
            </a:r>
            <a:endParaRPr lang="en-US" b="0" i="0" dirty="0">
              <a:solidFill>
                <a:srgbClr val="333333"/>
              </a:solidFill>
              <a:effectLst/>
              <a:latin typeface="inter-regular"/>
            </a:endParaRPr>
          </a:p>
          <a:p>
            <a:pPr algn="just"/>
            <a:r>
              <a:rPr lang="en-IN" b="0" i="1" dirty="0" err="1">
                <a:solidFill>
                  <a:srgbClr val="273239"/>
                </a:solidFill>
                <a:effectLst/>
                <a:latin typeface="Nunito" pitchFamily="2" charset="0"/>
              </a:rPr>
              <a:t>matplotlib.pyplot.scatter</a:t>
            </a:r>
            <a:r>
              <a:rPr lang="en-IN" b="0" i="1" dirty="0">
                <a:solidFill>
                  <a:srgbClr val="273239"/>
                </a:solidFill>
                <a:effectLst/>
                <a:latin typeface="Nunito" pitchFamily="2" charset="0"/>
              </a:rPr>
              <a:t>(</a:t>
            </a:r>
            <a:r>
              <a:rPr lang="en-IN" b="0" i="1" dirty="0" err="1">
                <a:solidFill>
                  <a:srgbClr val="273239"/>
                </a:solidFill>
                <a:effectLst/>
                <a:latin typeface="Nunito" pitchFamily="2" charset="0"/>
              </a:rPr>
              <a:t>x_axis_data</a:t>
            </a:r>
            <a:r>
              <a:rPr lang="en-IN" b="0" i="1" dirty="0">
                <a:solidFill>
                  <a:srgbClr val="273239"/>
                </a:solidFill>
                <a:effectLst/>
                <a:latin typeface="Nunito" pitchFamily="2" charset="0"/>
              </a:rPr>
              <a:t>, </a:t>
            </a:r>
            <a:r>
              <a:rPr lang="en-IN" b="0" i="1" dirty="0" err="1">
                <a:solidFill>
                  <a:srgbClr val="273239"/>
                </a:solidFill>
                <a:effectLst/>
                <a:latin typeface="Nunito" pitchFamily="2" charset="0"/>
              </a:rPr>
              <a:t>y_axis_data</a:t>
            </a:r>
            <a:r>
              <a:rPr lang="en-IN" b="0" i="1" dirty="0">
                <a:solidFill>
                  <a:srgbClr val="273239"/>
                </a:solidFill>
                <a:effectLst/>
                <a:latin typeface="Nunito" pitchFamily="2" charset="0"/>
              </a:rPr>
              <a:t>, s=None, c=None, marker=None, </a:t>
            </a:r>
            <a:r>
              <a:rPr lang="en-IN" b="0" i="1" dirty="0" err="1">
                <a:solidFill>
                  <a:srgbClr val="273239"/>
                </a:solidFill>
                <a:effectLst/>
                <a:latin typeface="Nunito" pitchFamily="2" charset="0"/>
              </a:rPr>
              <a:t>cmap</a:t>
            </a:r>
            <a:r>
              <a:rPr lang="en-IN" b="0" i="1" dirty="0">
                <a:solidFill>
                  <a:srgbClr val="273239"/>
                </a:solidFill>
                <a:effectLst/>
                <a:latin typeface="Nunito" pitchFamily="2" charset="0"/>
              </a:rPr>
              <a:t>=None, </a:t>
            </a:r>
            <a:r>
              <a:rPr lang="en-IN" b="0" i="1" dirty="0" err="1">
                <a:solidFill>
                  <a:srgbClr val="273239"/>
                </a:solidFill>
                <a:effectLst/>
                <a:latin typeface="Nunito" pitchFamily="2" charset="0"/>
              </a:rPr>
              <a:t>vmin</a:t>
            </a:r>
            <a:r>
              <a:rPr lang="en-IN" b="0" i="1" dirty="0">
                <a:solidFill>
                  <a:srgbClr val="273239"/>
                </a:solidFill>
                <a:effectLst/>
                <a:latin typeface="Nunito" pitchFamily="2" charset="0"/>
              </a:rPr>
              <a:t>=None, </a:t>
            </a:r>
            <a:r>
              <a:rPr lang="en-IN" b="0" i="1" dirty="0" err="1">
                <a:solidFill>
                  <a:srgbClr val="273239"/>
                </a:solidFill>
                <a:effectLst/>
                <a:latin typeface="Nunito" pitchFamily="2" charset="0"/>
              </a:rPr>
              <a:t>vmax</a:t>
            </a:r>
            <a:r>
              <a:rPr lang="en-IN" b="0" i="1" dirty="0">
                <a:solidFill>
                  <a:srgbClr val="273239"/>
                </a:solidFill>
                <a:effectLst/>
                <a:latin typeface="Nunito" pitchFamily="2" charset="0"/>
              </a:rPr>
              <a:t>=None, alpha=None, linewidths=None, </a:t>
            </a:r>
            <a:r>
              <a:rPr lang="en-IN" b="0" i="1" dirty="0" err="1">
                <a:solidFill>
                  <a:srgbClr val="273239"/>
                </a:solidFill>
                <a:effectLst/>
                <a:latin typeface="Nunito" pitchFamily="2" charset="0"/>
              </a:rPr>
              <a:t>edgecolors</a:t>
            </a:r>
            <a:r>
              <a:rPr lang="en-IN" b="0" i="1" dirty="0">
                <a:solidFill>
                  <a:srgbClr val="273239"/>
                </a:solidFill>
                <a:effectLst/>
                <a:latin typeface="Nunito" pitchFamily="2" charset="0"/>
              </a:rPr>
              <a:t>=None)</a:t>
            </a:r>
          </a:p>
          <a:p>
            <a:pPr algn="l" fontAlgn="base">
              <a:buFont typeface="Arial" panose="020B0604020202020204" pitchFamily="34" charset="0"/>
              <a:buChar char="•"/>
            </a:pPr>
            <a:r>
              <a:rPr lang="en-US" sz="2800" b="1" i="0" dirty="0" err="1">
                <a:solidFill>
                  <a:srgbClr val="273239"/>
                </a:solidFill>
                <a:effectLst/>
                <a:latin typeface="Nunito" pitchFamily="2" charset="0"/>
              </a:rPr>
              <a:t>x_axis_data</a:t>
            </a:r>
            <a:r>
              <a:rPr lang="en-US" sz="2800" b="1" i="0" dirty="0">
                <a:solidFill>
                  <a:srgbClr val="273239"/>
                </a:solidFill>
                <a:effectLst/>
                <a:latin typeface="Nunito" pitchFamily="2" charset="0"/>
              </a:rPr>
              <a:t>-</a:t>
            </a:r>
            <a:r>
              <a:rPr lang="en-US" sz="2800" b="0" i="0" dirty="0">
                <a:solidFill>
                  <a:srgbClr val="273239"/>
                </a:solidFill>
                <a:effectLst/>
                <a:latin typeface="Nunito" pitchFamily="2" charset="0"/>
              </a:rPr>
              <a:t> An array containing x-axis data</a:t>
            </a:r>
          </a:p>
          <a:p>
            <a:pPr algn="l" fontAlgn="base">
              <a:buFont typeface="Arial" panose="020B0604020202020204" pitchFamily="34" charset="0"/>
              <a:buChar char="•"/>
            </a:pPr>
            <a:r>
              <a:rPr lang="en-US" sz="2800" b="1" i="0" dirty="0" err="1">
                <a:solidFill>
                  <a:srgbClr val="273239"/>
                </a:solidFill>
                <a:effectLst/>
                <a:latin typeface="Nunito" pitchFamily="2" charset="0"/>
              </a:rPr>
              <a:t>y_axis_data</a:t>
            </a:r>
            <a:r>
              <a:rPr lang="en-US" sz="2800" b="1" i="0" dirty="0">
                <a:solidFill>
                  <a:srgbClr val="273239"/>
                </a:solidFill>
                <a:effectLst/>
                <a:latin typeface="Nunito" pitchFamily="2" charset="0"/>
              </a:rPr>
              <a:t>-</a:t>
            </a:r>
            <a:r>
              <a:rPr lang="en-US" sz="2800" b="0" i="0" dirty="0">
                <a:solidFill>
                  <a:srgbClr val="273239"/>
                </a:solidFill>
                <a:effectLst/>
                <a:latin typeface="Nunito" pitchFamily="2" charset="0"/>
              </a:rPr>
              <a:t> An array containing y-axis data</a:t>
            </a:r>
          </a:p>
          <a:p>
            <a:pPr algn="l" fontAlgn="base">
              <a:buFont typeface="Arial" panose="020B0604020202020204" pitchFamily="34" charset="0"/>
              <a:buChar char="•"/>
            </a:pPr>
            <a:r>
              <a:rPr lang="en-US" sz="2800" b="1" i="0" dirty="0">
                <a:solidFill>
                  <a:srgbClr val="273239"/>
                </a:solidFill>
                <a:effectLst/>
                <a:latin typeface="Nunito" pitchFamily="2" charset="0"/>
              </a:rPr>
              <a:t>s-</a:t>
            </a:r>
            <a:r>
              <a:rPr lang="en-US" sz="2800" b="0" i="0" dirty="0">
                <a:solidFill>
                  <a:srgbClr val="273239"/>
                </a:solidFill>
                <a:effectLst/>
                <a:latin typeface="Nunito" pitchFamily="2" charset="0"/>
              </a:rPr>
              <a:t> marker size (can be scalar or array of size equal to size of x or y)</a:t>
            </a:r>
          </a:p>
          <a:p>
            <a:pPr algn="l" fontAlgn="base">
              <a:buFont typeface="Arial" panose="020B0604020202020204" pitchFamily="34" charset="0"/>
              <a:buChar char="•"/>
            </a:pPr>
            <a:r>
              <a:rPr lang="en-US" sz="2800" b="1" i="0" dirty="0">
                <a:solidFill>
                  <a:srgbClr val="273239"/>
                </a:solidFill>
                <a:effectLst/>
                <a:latin typeface="Nunito" pitchFamily="2" charset="0"/>
              </a:rPr>
              <a:t>c-</a:t>
            </a:r>
            <a:r>
              <a:rPr lang="en-US" sz="2800" b="0" i="0" dirty="0">
                <a:solidFill>
                  <a:srgbClr val="273239"/>
                </a:solidFill>
                <a:effectLst/>
                <a:latin typeface="Nunito" pitchFamily="2" charset="0"/>
              </a:rPr>
              <a:t> color of sequence of colors for markers</a:t>
            </a:r>
            <a:r>
              <a:rPr lang="en-IN" b="0" i="1" dirty="0">
                <a:solidFill>
                  <a:srgbClr val="273239"/>
                </a:solidFill>
                <a:effectLst/>
                <a:latin typeface="Nunito" pitchFamily="2" charset="0"/>
              </a:rPr>
              <a:t> </a:t>
            </a:r>
            <a:endParaRPr lang="en-IN" dirty="0"/>
          </a:p>
        </p:txBody>
      </p:sp>
    </p:spTree>
    <p:extLst>
      <p:ext uri="{BB962C8B-B14F-4D97-AF65-F5344CB8AC3E}">
        <p14:creationId xmlns:p14="http://schemas.microsoft.com/office/powerpoint/2010/main" val="2332159592"/>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E075E6-F87B-646A-90F7-7DCC2291F10C}"/>
              </a:ext>
            </a:extLst>
          </p:cNvPr>
          <p:cNvSpPr>
            <a:spLocks noGrp="1"/>
          </p:cNvSpPr>
          <p:nvPr>
            <p:ph idx="1"/>
          </p:nvPr>
        </p:nvSpPr>
        <p:spPr>
          <a:xfrm>
            <a:off x="838200" y="233654"/>
            <a:ext cx="10515600" cy="5962359"/>
          </a:xfrm>
        </p:spPr>
        <p:txBody>
          <a:bodyPr>
            <a:normAutofit/>
          </a:bodyPr>
          <a:lstStyle/>
          <a:p>
            <a:pPr marL="457200" lvl="1" indent="0" fontAlgn="base">
              <a:buNone/>
            </a:pPr>
            <a:r>
              <a:rPr lang="en-US" sz="1600" b="0" i="0" dirty="0">
                <a:solidFill>
                  <a:srgbClr val="273239"/>
                </a:solidFill>
                <a:effectLst/>
                <a:latin typeface="Nunito" pitchFamily="2" charset="0"/>
              </a:rPr>
              <a:t>marker- marker style</a:t>
            </a:r>
          </a:p>
          <a:p>
            <a:pPr algn="l" fontAlgn="base">
              <a:buFont typeface="Arial" panose="020B0604020202020204" pitchFamily="34" charset="0"/>
              <a:buChar char="•"/>
            </a:pPr>
            <a:r>
              <a:rPr lang="en-US" sz="1800" b="1" i="0" dirty="0" err="1">
                <a:solidFill>
                  <a:srgbClr val="273239"/>
                </a:solidFill>
                <a:effectLst/>
                <a:latin typeface="Nunito" pitchFamily="2" charset="0"/>
              </a:rPr>
              <a:t>cmap</a:t>
            </a:r>
            <a:r>
              <a:rPr lang="en-US" sz="1800" b="1" i="0" dirty="0">
                <a:solidFill>
                  <a:srgbClr val="273239"/>
                </a:solidFill>
                <a:effectLst/>
                <a:latin typeface="Nunito" pitchFamily="2" charset="0"/>
              </a:rPr>
              <a:t>-</a:t>
            </a:r>
            <a:r>
              <a:rPr lang="en-US" sz="1800" b="0" i="0" dirty="0">
                <a:solidFill>
                  <a:srgbClr val="273239"/>
                </a:solidFill>
                <a:effectLst/>
                <a:latin typeface="Nunito" pitchFamily="2" charset="0"/>
              </a:rPr>
              <a:t> </a:t>
            </a:r>
            <a:r>
              <a:rPr lang="en-US" sz="1800" b="0" i="0" dirty="0" err="1">
                <a:solidFill>
                  <a:srgbClr val="273239"/>
                </a:solidFill>
                <a:effectLst/>
                <a:latin typeface="Nunito" pitchFamily="2" charset="0"/>
              </a:rPr>
              <a:t>cmap</a:t>
            </a:r>
            <a:r>
              <a:rPr lang="en-US" sz="1800" b="0" i="0" dirty="0">
                <a:solidFill>
                  <a:srgbClr val="273239"/>
                </a:solidFill>
                <a:effectLst/>
                <a:latin typeface="Nunito" pitchFamily="2" charset="0"/>
              </a:rPr>
              <a:t> name</a:t>
            </a:r>
          </a:p>
          <a:p>
            <a:pPr algn="l" fontAlgn="base">
              <a:buFont typeface="Arial" panose="020B0604020202020204" pitchFamily="34" charset="0"/>
              <a:buChar char="•"/>
            </a:pPr>
            <a:r>
              <a:rPr lang="en-US" sz="1800" b="1" i="0" dirty="0">
                <a:solidFill>
                  <a:srgbClr val="273239"/>
                </a:solidFill>
                <a:effectLst/>
                <a:latin typeface="Nunito" pitchFamily="2" charset="0"/>
              </a:rPr>
              <a:t>linewidths-</a:t>
            </a:r>
            <a:r>
              <a:rPr lang="en-US" sz="1800" b="0" i="0" dirty="0">
                <a:solidFill>
                  <a:srgbClr val="273239"/>
                </a:solidFill>
                <a:effectLst/>
                <a:latin typeface="Nunito" pitchFamily="2" charset="0"/>
              </a:rPr>
              <a:t> width of marker border</a:t>
            </a:r>
          </a:p>
          <a:p>
            <a:pPr algn="l" fontAlgn="base">
              <a:buFont typeface="Arial" panose="020B0604020202020204" pitchFamily="34" charset="0"/>
              <a:buChar char="•"/>
            </a:pPr>
            <a:r>
              <a:rPr lang="en-US" sz="1800" b="1" i="0" dirty="0" err="1">
                <a:solidFill>
                  <a:srgbClr val="273239"/>
                </a:solidFill>
                <a:effectLst/>
                <a:latin typeface="Nunito" pitchFamily="2" charset="0"/>
              </a:rPr>
              <a:t>edgecolor</a:t>
            </a:r>
            <a:r>
              <a:rPr lang="en-US" sz="1800" b="1" i="0" dirty="0">
                <a:solidFill>
                  <a:srgbClr val="273239"/>
                </a:solidFill>
                <a:effectLst/>
                <a:latin typeface="Nunito" pitchFamily="2" charset="0"/>
              </a:rPr>
              <a:t>-</a:t>
            </a:r>
            <a:r>
              <a:rPr lang="en-US" sz="1800" b="0" i="0" dirty="0">
                <a:solidFill>
                  <a:srgbClr val="273239"/>
                </a:solidFill>
                <a:effectLst/>
                <a:latin typeface="Nunito" pitchFamily="2" charset="0"/>
              </a:rPr>
              <a:t> marker border color</a:t>
            </a:r>
          </a:p>
          <a:p>
            <a:pPr algn="l" fontAlgn="base">
              <a:buFont typeface="Arial" panose="020B0604020202020204" pitchFamily="34" charset="0"/>
              <a:buChar char="•"/>
            </a:pPr>
            <a:r>
              <a:rPr lang="en-US" sz="1800" b="1" i="0" dirty="0">
                <a:solidFill>
                  <a:srgbClr val="273239"/>
                </a:solidFill>
                <a:effectLst/>
                <a:latin typeface="Nunito" pitchFamily="2" charset="0"/>
              </a:rPr>
              <a:t>alpha-</a:t>
            </a:r>
            <a:r>
              <a:rPr lang="en-US" sz="1800" b="0" i="0" dirty="0">
                <a:solidFill>
                  <a:srgbClr val="273239"/>
                </a:solidFill>
                <a:effectLst/>
                <a:latin typeface="Nunito" pitchFamily="2" charset="0"/>
              </a:rPr>
              <a:t> blending value, between 0 (transparent) and 1 (opaque)</a:t>
            </a:r>
          </a:p>
          <a:p>
            <a:pPr algn="l" fontAlgn="base"/>
            <a:r>
              <a:rPr lang="en-US" sz="1800" b="0" i="0" dirty="0">
                <a:solidFill>
                  <a:srgbClr val="273239"/>
                </a:solidFill>
                <a:effectLst/>
                <a:latin typeface="Nunito" pitchFamily="2" charset="0"/>
              </a:rPr>
              <a:t>Except </a:t>
            </a:r>
            <a:r>
              <a:rPr lang="en-US" sz="1800" b="0" i="0" dirty="0" err="1">
                <a:solidFill>
                  <a:srgbClr val="273239"/>
                </a:solidFill>
                <a:effectLst/>
                <a:latin typeface="Nunito" pitchFamily="2" charset="0"/>
              </a:rPr>
              <a:t>x_axis_data</a:t>
            </a:r>
            <a:r>
              <a:rPr lang="en-US" sz="1800" b="0" i="0" dirty="0">
                <a:solidFill>
                  <a:srgbClr val="273239"/>
                </a:solidFill>
                <a:effectLst/>
                <a:latin typeface="Nunito" pitchFamily="2" charset="0"/>
              </a:rPr>
              <a:t> and </a:t>
            </a:r>
            <a:r>
              <a:rPr lang="en-US" sz="1800" b="0" i="0" dirty="0" err="1">
                <a:solidFill>
                  <a:srgbClr val="273239"/>
                </a:solidFill>
                <a:effectLst/>
                <a:latin typeface="Nunito" pitchFamily="2" charset="0"/>
              </a:rPr>
              <a:t>y_axis_data</a:t>
            </a:r>
            <a:r>
              <a:rPr lang="en-US" sz="1800" b="0" i="0" dirty="0">
                <a:solidFill>
                  <a:srgbClr val="273239"/>
                </a:solidFill>
                <a:effectLst/>
                <a:latin typeface="Nunito" pitchFamily="2" charset="0"/>
              </a:rPr>
              <a:t> all other parameters are optional and their default value is None. </a:t>
            </a:r>
          </a:p>
          <a:p>
            <a:endParaRPr lang="en-IN" sz="1800" dirty="0"/>
          </a:p>
        </p:txBody>
      </p:sp>
      <p:pic>
        <p:nvPicPr>
          <p:cNvPr id="4" name="Picture 3">
            <a:extLst>
              <a:ext uri="{FF2B5EF4-FFF2-40B4-BE49-F238E27FC236}">
                <a16:creationId xmlns:a16="http://schemas.microsoft.com/office/drawing/2014/main" id="{E8531FE3-666B-1375-53AD-57CBBD464C8B}"/>
              </a:ext>
            </a:extLst>
          </p:cNvPr>
          <p:cNvPicPr>
            <a:picLocks noChangeAspect="1"/>
          </p:cNvPicPr>
          <p:nvPr/>
        </p:nvPicPr>
        <p:blipFill>
          <a:blip r:embed="rId3"/>
          <a:stretch>
            <a:fillRect/>
          </a:stretch>
        </p:blipFill>
        <p:spPr>
          <a:xfrm>
            <a:off x="3874732" y="2762249"/>
            <a:ext cx="7080476" cy="3566885"/>
          </a:xfrm>
          <a:prstGeom prst="rect">
            <a:avLst/>
          </a:prstGeom>
        </p:spPr>
      </p:pic>
    </p:spTree>
    <p:extLst>
      <p:ext uri="{BB962C8B-B14F-4D97-AF65-F5344CB8AC3E}">
        <p14:creationId xmlns:p14="http://schemas.microsoft.com/office/powerpoint/2010/main" val="315172077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2683B60-9780-0444-8A2F-965E35C698A1}"/>
              </a:ext>
            </a:extLst>
          </p:cNvPr>
          <p:cNvPicPr>
            <a:picLocks noGrp="1" noChangeAspect="1"/>
          </p:cNvPicPr>
          <p:nvPr>
            <p:ph idx="1"/>
          </p:nvPr>
        </p:nvPicPr>
        <p:blipFill>
          <a:blip r:embed="rId3"/>
          <a:stretch>
            <a:fillRect/>
          </a:stretch>
        </p:blipFill>
        <p:spPr>
          <a:xfrm>
            <a:off x="3490452" y="412955"/>
            <a:ext cx="6707662" cy="5695182"/>
          </a:xfrm>
        </p:spPr>
      </p:pic>
    </p:spTree>
    <p:extLst>
      <p:ext uri="{BB962C8B-B14F-4D97-AF65-F5344CB8AC3E}">
        <p14:creationId xmlns:p14="http://schemas.microsoft.com/office/powerpoint/2010/main" val="3745572411"/>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914400"/>
          </a:xfrm>
        </p:spPr>
        <p:txBody>
          <a:bodyPr>
            <a:normAutofit/>
          </a:bodyPr>
          <a:lstStyle/>
          <a:p>
            <a:r>
              <a:rPr lang="en-US" dirty="0"/>
              <a:t>Bar graphs</a:t>
            </a:r>
          </a:p>
        </p:txBody>
      </p:sp>
      <p:sp>
        <p:nvSpPr>
          <p:cNvPr id="3" name="Content Placeholder 2"/>
          <p:cNvSpPr>
            <a:spLocks noGrp="1"/>
          </p:cNvSpPr>
          <p:nvPr>
            <p:ph idx="1"/>
          </p:nvPr>
        </p:nvSpPr>
        <p:spPr>
          <a:xfrm>
            <a:off x="257175" y="3552071"/>
            <a:ext cx="5981700" cy="761999"/>
          </a:xfrm>
        </p:spPr>
        <p:txBody>
          <a:bodyPr>
            <a:normAutofit/>
          </a:bodyPr>
          <a:lstStyle/>
          <a:p>
            <a:r>
              <a:rPr lang="en-US" sz="1800" dirty="0"/>
              <a:t>When using a bar graph, the change in code will be from</a:t>
            </a:r>
            <a:br>
              <a:rPr lang="en-US" sz="1800" dirty="0"/>
            </a:br>
            <a:r>
              <a:rPr lang="en-US" sz="1800" b="1" dirty="0" err="1">
                <a:solidFill>
                  <a:srgbClr val="0070C0"/>
                </a:solidFill>
                <a:latin typeface="Courier New" panose="02070309020205020404" pitchFamily="49" charset="0"/>
                <a:cs typeface="Courier New" panose="02070309020205020404" pitchFamily="49" charset="0"/>
              </a:rPr>
              <a:t>plt.plot</a:t>
            </a:r>
            <a:r>
              <a:rPr lang="en-US" sz="1800" b="1" dirty="0">
                <a:solidFill>
                  <a:srgbClr val="0070C0"/>
                </a:solidFill>
                <a:latin typeface="Courier New" panose="02070309020205020404" pitchFamily="49" charset="0"/>
                <a:cs typeface="Courier New" panose="02070309020205020404" pitchFamily="49" charset="0"/>
              </a:rPr>
              <a:t>()</a:t>
            </a:r>
            <a:r>
              <a:rPr lang="en-US" sz="1800" b="1" dirty="0">
                <a:solidFill>
                  <a:srgbClr val="0070C0"/>
                </a:solidFill>
                <a:latin typeface="+mj-lt"/>
                <a:cs typeface="Courier New" panose="02070309020205020404" pitchFamily="49" charset="0"/>
              </a:rPr>
              <a:t> </a:t>
            </a:r>
            <a:r>
              <a:rPr lang="en-US" sz="1800" dirty="0"/>
              <a:t>to </a:t>
            </a:r>
            <a:r>
              <a:rPr lang="en-US" sz="1800" b="1" dirty="0" err="1">
                <a:solidFill>
                  <a:srgbClr val="0070C0"/>
                </a:solidFill>
                <a:latin typeface="Courier New" panose="02070309020205020404" pitchFamily="49" charset="0"/>
                <a:cs typeface="Courier New" panose="02070309020205020404" pitchFamily="49" charset="0"/>
              </a:rPr>
              <a:t>plt.bar</a:t>
            </a:r>
            <a:r>
              <a:rPr lang="en-US" sz="1800" b="1" dirty="0">
                <a:solidFill>
                  <a:srgbClr val="0070C0"/>
                </a:solidFill>
                <a:latin typeface="Courier New" panose="02070309020205020404" pitchFamily="49" charset="0"/>
                <a:cs typeface="Courier New" panose="02070309020205020404" pitchFamily="49" charset="0"/>
              </a:rPr>
              <a:t>() </a:t>
            </a:r>
            <a:r>
              <a:rPr lang="en-US" sz="1800" dirty="0"/>
              <a:t>changes it into a bar chart. </a:t>
            </a:r>
          </a:p>
        </p:txBody>
      </p:sp>
      <p:sp>
        <p:nvSpPr>
          <p:cNvPr id="4" name="Rectangle 1"/>
          <p:cNvSpPr>
            <a:spLocks noChangeArrowheads="1"/>
          </p:cNvSpPr>
          <p:nvPr/>
        </p:nvSpPr>
        <p:spPr bwMode="auto">
          <a:xfrm>
            <a:off x="1828800" y="997606"/>
            <a:ext cx="8001000" cy="2308324"/>
          </a:xfrm>
          <a:prstGeom prst="rect">
            <a:avLst/>
          </a:prstGeom>
          <a:solidFill>
            <a:schemeClr val="accent6">
              <a:lumMod val="20000"/>
              <a:lumOff val="80000"/>
              <a:alpha val="25000"/>
            </a:schemeClr>
          </a:solidFill>
          <a:ln>
            <a:solidFill>
              <a:schemeClr val="accent1"/>
            </a:solidFill>
          </a:ln>
          <a:effectLst/>
        </p:spPr>
        <p:txBody>
          <a:bodyPr vert="horz" wrap="square" lIns="91440" tIns="91440" rIns="0" bIns="0" numCol="1" anchor="ctr" anchorCtr="0" compatLnSpc="1">
            <a:prstTxWarp prst="textNoShape">
              <a:avLst/>
            </a:prstTxWarp>
            <a:spAutoFit/>
          </a:bodyPr>
          <a:lstStyle/>
          <a:p>
            <a:pPr eaLnBrk="0" fontAlgn="base" hangingPunct="0">
              <a:spcBef>
                <a:spcPct val="0"/>
              </a:spcBef>
              <a:spcAft>
                <a:spcPct val="0"/>
              </a:spcAft>
            </a:pPr>
            <a:r>
              <a:rPr lang="en-US" b="1" dirty="0">
                <a:solidFill>
                  <a:srgbClr val="0070C0"/>
                </a:solidFill>
                <a:latin typeface="Courier New"/>
                <a:cs typeface="Courier New"/>
              </a:rPr>
              <a:t>import</a:t>
            </a:r>
            <a:r>
              <a:rPr lang="en-US" b="1" dirty="0">
                <a:latin typeface="Courier New"/>
                <a:cs typeface="Courier New"/>
              </a:rPr>
              <a:t> </a:t>
            </a:r>
            <a:r>
              <a:rPr lang="en-US" b="1" dirty="0" err="1">
                <a:latin typeface="Courier New"/>
                <a:cs typeface="Courier New"/>
              </a:rPr>
              <a:t>matplotlib.pyplot</a:t>
            </a:r>
            <a:r>
              <a:rPr lang="en-US" b="1" dirty="0">
                <a:latin typeface="Courier New"/>
                <a:cs typeface="Courier New"/>
              </a:rPr>
              <a:t> </a:t>
            </a:r>
            <a:r>
              <a:rPr lang="en-US" b="1" dirty="0">
                <a:solidFill>
                  <a:srgbClr val="0070C0"/>
                </a:solidFill>
                <a:latin typeface="Courier New"/>
                <a:cs typeface="Courier New"/>
              </a:rPr>
              <a:t>as</a:t>
            </a:r>
            <a:r>
              <a:rPr lang="en-US" b="1" dirty="0">
                <a:latin typeface="Courier New"/>
                <a:cs typeface="Courier New"/>
              </a:rPr>
              <a:t> </a:t>
            </a:r>
            <a:r>
              <a:rPr lang="en-US" b="1" dirty="0" err="1">
                <a:latin typeface="Courier New"/>
                <a:cs typeface="Courier New"/>
              </a:rPr>
              <a:t>plt</a:t>
            </a:r>
            <a:endParaRPr lang="en-US" b="1" dirty="0">
              <a:latin typeface="Courier New"/>
              <a:cs typeface="Courier New"/>
            </a:endParaRPr>
          </a:p>
          <a:p>
            <a:pPr eaLnBrk="0" fontAlgn="base" hangingPunct="0">
              <a:spcBef>
                <a:spcPct val="0"/>
              </a:spcBef>
              <a:spcAft>
                <a:spcPct val="0"/>
              </a:spcAft>
            </a:pPr>
            <a:endParaRPr lang="en-US" b="1" dirty="0">
              <a:latin typeface="Courier New"/>
              <a:cs typeface="Courier New"/>
            </a:endParaRPr>
          </a:p>
          <a:p>
            <a:pPr eaLnBrk="0" fontAlgn="base" hangingPunct="0">
              <a:spcBef>
                <a:spcPct val="0"/>
              </a:spcBef>
              <a:spcAft>
                <a:spcPct val="0"/>
              </a:spcAft>
            </a:pPr>
            <a:r>
              <a:rPr lang="en-US" b="1" dirty="0">
                <a:solidFill>
                  <a:srgbClr val="00B050"/>
                </a:solidFill>
                <a:latin typeface="Courier New"/>
                <a:cs typeface="Courier New"/>
              </a:rPr>
              <a:t>#Create data for plotting</a:t>
            </a:r>
          </a:p>
          <a:p>
            <a:pPr eaLnBrk="0" fontAlgn="base" hangingPunct="0">
              <a:spcBef>
                <a:spcPct val="0"/>
              </a:spcBef>
              <a:spcAft>
                <a:spcPct val="0"/>
              </a:spcAft>
            </a:pPr>
            <a:r>
              <a:rPr lang="en-US" b="1" dirty="0">
                <a:latin typeface="Courier New"/>
                <a:cs typeface="Courier New"/>
              </a:rPr>
              <a:t>values = [5, 6, 3, 7, 2]</a:t>
            </a:r>
          </a:p>
          <a:p>
            <a:pPr eaLnBrk="0" fontAlgn="base" hangingPunct="0">
              <a:spcBef>
                <a:spcPct val="0"/>
              </a:spcBef>
              <a:spcAft>
                <a:spcPct val="0"/>
              </a:spcAft>
            </a:pPr>
            <a:r>
              <a:rPr lang="en-US" b="1" dirty="0">
                <a:latin typeface="Courier New"/>
                <a:cs typeface="Courier New"/>
              </a:rPr>
              <a:t>names  = ["</a:t>
            </a:r>
            <a:r>
              <a:rPr lang="en-US" b="1" dirty="0">
                <a:solidFill>
                  <a:srgbClr val="C00000"/>
                </a:solidFill>
                <a:latin typeface="Courier New"/>
                <a:cs typeface="Courier New"/>
              </a:rPr>
              <a:t>A</a:t>
            </a:r>
            <a:r>
              <a:rPr lang="en-US" b="1" dirty="0">
                <a:latin typeface="Courier New"/>
                <a:cs typeface="Courier New"/>
              </a:rPr>
              <a:t>", "</a:t>
            </a:r>
            <a:r>
              <a:rPr lang="en-US" b="1" dirty="0">
                <a:solidFill>
                  <a:srgbClr val="C00000"/>
                </a:solidFill>
                <a:latin typeface="Courier New"/>
                <a:cs typeface="Courier New"/>
              </a:rPr>
              <a:t>B</a:t>
            </a:r>
            <a:r>
              <a:rPr lang="en-US" b="1" dirty="0">
                <a:latin typeface="Courier New"/>
                <a:cs typeface="Courier New"/>
              </a:rPr>
              <a:t>", "</a:t>
            </a:r>
            <a:r>
              <a:rPr lang="en-US" b="1" dirty="0">
                <a:solidFill>
                  <a:srgbClr val="C00000"/>
                </a:solidFill>
                <a:latin typeface="Courier New"/>
                <a:cs typeface="Courier New"/>
              </a:rPr>
              <a:t>C</a:t>
            </a:r>
            <a:r>
              <a:rPr lang="en-US" b="1" dirty="0">
                <a:latin typeface="Courier New"/>
                <a:cs typeface="Courier New"/>
              </a:rPr>
              <a:t>", "</a:t>
            </a:r>
            <a:r>
              <a:rPr lang="en-US" b="1" dirty="0">
                <a:solidFill>
                  <a:srgbClr val="C00000"/>
                </a:solidFill>
                <a:latin typeface="Courier New"/>
                <a:cs typeface="Courier New"/>
              </a:rPr>
              <a:t>D</a:t>
            </a:r>
            <a:r>
              <a:rPr lang="en-US" b="1" dirty="0">
                <a:latin typeface="Courier New"/>
                <a:cs typeface="Courier New"/>
              </a:rPr>
              <a:t>", "</a:t>
            </a:r>
            <a:r>
              <a:rPr lang="en-US" b="1" dirty="0">
                <a:solidFill>
                  <a:srgbClr val="C00000"/>
                </a:solidFill>
                <a:latin typeface="Courier New"/>
                <a:cs typeface="Courier New"/>
              </a:rPr>
              <a:t>E</a:t>
            </a:r>
            <a:r>
              <a:rPr lang="en-US" b="1" dirty="0">
                <a:latin typeface="Courier New"/>
                <a:cs typeface="Courier New"/>
              </a:rPr>
              <a:t>"]</a:t>
            </a:r>
          </a:p>
          <a:p>
            <a:pPr eaLnBrk="0" fontAlgn="base" hangingPunct="0">
              <a:spcBef>
                <a:spcPct val="0"/>
              </a:spcBef>
              <a:spcAft>
                <a:spcPct val="0"/>
              </a:spcAft>
            </a:pPr>
            <a:endParaRPr lang="en-US" b="1" dirty="0">
              <a:latin typeface="Courier New"/>
              <a:cs typeface="Courier New"/>
            </a:endParaRPr>
          </a:p>
          <a:p>
            <a:pPr eaLnBrk="0" fontAlgn="base" hangingPunct="0">
              <a:spcBef>
                <a:spcPct val="0"/>
              </a:spcBef>
              <a:spcAft>
                <a:spcPct val="0"/>
              </a:spcAft>
            </a:pPr>
            <a:r>
              <a:rPr lang="en-US" b="1" dirty="0" err="1">
                <a:latin typeface="Courier New"/>
                <a:cs typeface="Courier New"/>
              </a:rPr>
              <a:t>plt.bar</a:t>
            </a:r>
            <a:r>
              <a:rPr lang="en-US" b="1" dirty="0">
                <a:latin typeface="Courier New"/>
                <a:cs typeface="Courier New"/>
              </a:rPr>
              <a:t>(names, values, color="green")</a:t>
            </a:r>
          </a:p>
          <a:p>
            <a:pPr eaLnBrk="0" fontAlgn="base" hangingPunct="0">
              <a:spcBef>
                <a:spcPct val="0"/>
              </a:spcBef>
              <a:spcAft>
                <a:spcPct val="0"/>
              </a:spcAft>
            </a:pPr>
            <a:r>
              <a:rPr lang="en-US" b="1" dirty="0" err="1">
                <a:latin typeface="Courier New"/>
                <a:cs typeface="Courier New"/>
              </a:rPr>
              <a:t>plt.show</a:t>
            </a:r>
            <a:r>
              <a:rPr lang="en-US" b="1" dirty="0">
                <a:latin typeface="Courier New"/>
                <a:cs typeface="Courier New"/>
              </a:rPr>
              <a:t>() </a:t>
            </a:r>
            <a:endParaRPr lang="en-US" altLang="en-US" b="1" dirty="0">
              <a:latin typeface="Courier New" panose="02070309020205020404" pitchFamily="49" charset="0"/>
              <a:cs typeface="Courier New" panose="02070309020205020404" pitchFamily="49" charset="0"/>
            </a:endParaRPr>
          </a:p>
        </p:txBody>
      </p:sp>
      <p:pic>
        <p:nvPicPr>
          <p:cNvPr id="3075" name="Picture 3" descr="https://miro.medium.com/max/362/1*gEa8NOcEz7uaUEC2A7qDD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3505200"/>
            <a:ext cx="3448050"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78216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lstStyle/>
          <a:p>
            <a:r>
              <a:rPr lang="en-US" dirty="0"/>
              <a:t>Bar graphs</a:t>
            </a:r>
          </a:p>
        </p:txBody>
      </p:sp>
      <p:sp>
        <p:nvSpPr>
          <p:cNvPr id="3" name="Content Placeholder 2"/>
          <p:cNvSpPr>
            <a:spLocks noGrp="1"/>
          </p:cNvSpPr>
          <p:nvPr>
            <p:ph idx="1"/>
          </p:nvPr>
        </p:nvSpPr>
        <p:spPr>
          <a:xfrm>
            <a:off x="2133600" y="1066800"/>
            <a:ext cx="7889966" cy="533400"/>
          </a:xfrm>
        </p:spPr>
        <p:txBody>
          <a:bodyPr>
            <a:normAutofit/>
          </a:bodyPr>
          <a:lstStyle/>
          <a:p>
            <a:pPr marL="0" indent="0">
              <a:buNone/>
            </a:pPr>
            <a:r>
              <a:rPr lang="en-US" sz="2400" dirty="0"/>
              <a:t>We can also flip the bar graph horizontally with the following</a:t>
            </a:r>
          </a:p>
          <a:p>
            <a:endParaRPr lang="en-US" sz="2400" dirty="0"/>
          </a:p>
        </p:txBody>
      </p:sp>
      <p:sp>
        <p:nvSpPr>
          <p:cNvPr id="4" name="Rectangle 1"/>
          <p:cNvSpPr>
            <a:spLocks noChangeArrowheads="1"/>
          </p:cNvSpPr>
          <p:nvPr/>
        </p:nvSpPr>
        <p:spPr bwMode="auto">
          <a:xfrm>
            <a:off x="2209800" y="1683345"/>
            <a:ext cx="8001000" cy="2616101"/>
          </a:xfrm>
          <a:prstGeom prst="rect">
            <a:avLst/>
          </a:prstGeom>
          <a:solidFill>
            <a:schemeClr val="accent6">
              <a:lumMod val="20000"/>
              <a:lumOff val="80000"/>
              <a:alpha val="25000"/>
            </a:schemeClr>
          </a:solidFill>
          <a:ln>
            <a:solidFill>
              <a:schemeClr val="accent1"/>
            </a:solidFill>
          </a:ln>
          <a:effectLst/>
        </p:spPr>
        <p:txBody>
          <a:bodyPr vert="horz" wrap="square" lIns="91440" tIns="91440" rIns="0" bIns="0" numCol="1" anchor="ctr" anchorCtr="0" compatLnSpc="1">
            <a:prstTxWarp prst="textNoShape">
              <a:avLst/>
            </a:prstTxWarp>
            <a:spAutoFit/>
          </a:bodyPr>
          <a:lstStyle/>
          <a:p>
            <a:pPr eaLnBrk="0" fontAlgn="base" hangingPunct="0">
              <a:spcBef>
                <a:spcPct val="0"/>
              </a:spcBef>
              <a:spcAft>
                <a:spcPct val="0"/>
              </a:spcAft>
            </a:pPr>
            <a:r>
              <a:rPr lang="en-US" b="1" dirty="0">
                <a:solidFill>
                  <a:srgbClr val="0070C0"/>
                </a:solidFill>
                <a:latin typeface="Courier New"/>
                <a:cs typeface="Courier New"/>
              </a:rPr>
              <a:t>import</a:t>
            </a:r>
            <a:r>
              <a:rPr lang="en-US" b="1" dirty="0">
                <a:solidFill>
                  <a:srgbClr val="A23A8A"/>
                </a:solidFill>
                <a:latin typeface="Courier New"/>
                <a:cs typeface="Courier New"/>
              </a:rPr>
              <a:t> </a:t>
            </a:r>
            <a:r>
              <a:rPr lang="en-US" b="1" dirty="0" err="1">
                <a:latin typeface="Courier New"/>
                <a:cs typeface="Courier New"/>
              </a:rPr>
              <a:t>matplotlib.pyplot</a:t>
            </a:r>
            <a:r>
              <a:rPr lang="en-US" b="1" dirty="0">
                <a:latin typeface="Courier New"/>
                <a:cs typeface="Courier New"/>
              </a:rPr>
              <a:t> </a:t>
            </a:r>
            <a:r>
              <a:rPr lang="en-US" b="1" dirty="0">
                <a:solidFill>
                  <a:srgbClr val="0070C0"/>
                </a:solidFill>
                <a:latin typeface="Courier New"/>
                <a:cs typeface="Courier New"/>
              </a:rPr>
              <a:t>as</a:t>
            </a:r>
            <a:r>
              <a:rPr lang="en-US" b="1" dirty="0">
                <a:latin typeface="Courier New"/>
                <a:cs typeface="Courier New"/>
              </a:rPr>
              <a:t> </a:t>
            </a:r>
            <a:r>
              <a:rPr lang="en-US" b="1" dirty="0" err="1">
                <a:latin typeface="Courier New"/>
                <a:cs typeface="Courier New"/>
              </a:rPr>
              <a:t>plt</a:t>
            </a:r>
            <a:endParaRPr lang="en-US" b="1" dirty="0">
              <a:latin typeface="Courier New"/>
              <a:cs typeface="Courier New"/>
            </a:endParaRPr>
          </a:p>
          <a:p>
            <a:pPr eaLnBrk="0" fontAlgn="base" hangingPunct="0">
              <a:spcBef>
                <a:spcPct val="0"/>
              </a:spcBef>
              <a:spcAft>
                <a:spcPct val="0"/>
              </a:spcAft>
            </a:pPr>
            <a:endParaRPr lang="en-US" altLang="en-US"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en-US" altLang="en-US" sz="1600" b="1" dirty="0">
                <a:solidFill>
                  <a:srgbClr val="00B050"/>
                </a:solidFill>
                <a:latin typeface="Courier New" panose="02070309020205020404" pitchFamily="49" charset="0"/>
                <a:cs typeface="Courier New" panose="02070309020205020404" pitchFamily="49" charset="0"/>
              </a:rPr>
              <a:t>#Create data for plotting</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values = [5,6,3,7,2]</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names  = ["</a:t>
            </a:r>
            <a:r>
              <a:rPr lang="en-US" altLang="en-US" b="1" dirty="0">
                <a:solidFill>
                  <a:srgbClr val="C00000"/>
                </a:solidFill>
                <a:latin typeface="Courier New" panose="02070309020205020404" pitchFamily="49" charset="0"/>
                <a:cs typeface="Courier New" panose="02070309020205020404" pitchFamily="49" charset="0"/>
              </a:rPr>
              <a:t>A</a:t>
            </a:r>
            <a:r>
              <a:rPr lang="en-US" altLang="en-US" b="1" dirty="0">
                <a:latin typeface="Courier New" panose="02070309020205020404" pitchFamily="49" charset="0"/>
                <a:cs typeface="Courier New" panose="02070309020205020404" pitchFamily="49" charset="0"/>
              </a:rPr>
              <a:t>", "</a:t>
            </a:r>
            <a:r>
              <a:rPr lang="en-US" altLang="en-US" b="1" dirty="0">
                <a:solidFill>
                  <a:srgbClr val="C00000"/>
                </a:solidFill>
                <a:latin typeface="Courier New" panose="02070309020205020404" pitchFamily="49" charset="0"/>
                <a:cs typeface="Courier New" panose="02070309020205020404" pitchFamily="49" charset="0"/>
              </a:rPr>
              <a:t>B</a:t>
            </a:r>
            <a:r>
              <a:rPr lang="en-US" altLang="en-US" b="1" dirty="0">
                <a:latin typeface="Courier New" panose="02070309020205020404" pitchFamily="49" charset="0"/>
                <a:cs typeface="Courier New" panose="02070309020205020404" pitchFamily="49" charset="0"/>
              </a:rPr>
              <a:t>", "</a:t>
            </a:r>
            <a:r>
              <a:rPr lang="en-US" altLang="en-US" b="1" dirty="0">
                <a:solidFill>
                  <a:srgbClr val="C00000"/>
                </a:solidFill>
                <a:latin typeface="Courier New" panose="02070309020205020404" pitchFamily="49" charset="0"/>
                <a:cs typeface="Courier New" panose="02070309020205020404" pitchFamily="49" charset="0"/>
              </a:rPr>
              <a:t>C</a:t>
            </a:r>
            <a:r>
              <a:rPr lang="en-US" altLang="en-US" b="1" dirty="0">
                <a:latin typeface="Courier New" panose="02070309020205020404" pitchFamily="49" charset="0"/>
                <a:cs typeface="Courier New" panose="02070309020205020404" pitchFamily="49" charset="0"/>
              </a:rPr>
              <a:t>", "</a:t>
            </a:r>
            <a:r>
              <a:rPr lang="en-US" altLang="en-US" b="1" dirty="0">
                <a:solidFill>
                  <a:srgbClr val="C00000"/>
                </a:solidFill>
                <a:latin typeface="Courier New" panose="02070309020205020404" pitchFamily="49" charset="0"/>
                <a:cs typeface="Courier New" panose="02070309020205020404" pitchFamily="49" charset="0"/>
              </a:rPr>
              <a:t>D</a:t>
            </a:r>
            <a:r>
              <a:rPr lang="en-US" altLang="en-US" b="1" dirty="0">
                <a:latin typeface="Courier New" panose="02070309020205020404" pitchFamily="49" charset="0"/>
                <a:cs typeface="Courier New" panose="02070309020205020404" pitchFamily="49" charset="0"/>
              </a:rPr>
              <a:t>", "</a:t>
            </a:r>
            <a:r>
              <a:rPr lang="en-US" altLang="en-US" b="1" dirty="0">
                <a:solidFill>
                  <a:srgbClr val="C00000"/>
                </a:solidFill>
                <a:latin typeface="Courier New" panose="02070309020205020404" pitchFamily="49" charset="0"/>
                <a:cs typeface="Courier New" panose="02070309020205020404" pitchFamily="49" charset="0"/>
              </a:rPr>
              <a:t>E</a:t>
            </a:r>
            <a:r>
              <a:rPr lang="en-US" altLang="en-US" b="1" dirty="0">
                <a:latin typeface="Courier New" panose="02070309020205020404" pitchFamily="49" charset="0"/>
                <a:cs typeface="Courier New" panose="02070309020205020404" pitchFamily="49" charset="0"/>
              </a:rPr>
              <a:t>"]</a:t>
            </a:r>
          </a:p>
          <a:p>
            <a:pPr eaLnBrk="0" fontAlgn="base" hangingPunct="0">
              <a:spcBef>
                <a:spcPct val="0"/>
              </a:spcBef>
              <a:spcAft>
                <a:spcPct val="0"/>
              </a:spcAft>
            </a:pPr>
            <a:endParaRPr lang="en-US" altLang="en-US"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en-US" altLang="en-US" sz="1600" b="1" dirty="0">
                <a:solidFill>
                  <a:srgbClr val="00B050"/>
                </a:solidFill>
                <a:latin typeface="Courier New" panose="02070309020205020404" pitchFamily="49" charset="0"/>
                <a:cs typeface="Courier New" panose="02070309020205020404" pitchFamily="49" charset="0"/>
              </a:rPr>
              <a:t># Adding an "h" after bar will flip the graph</a:t>
            </a:r>
            <a:br>
              <a:rPr lang="en-US" altLang="en-US" b="1" dirty="0">
                <a:latin typeface="Courier New" panose="02070309020205020404" pitchFamily="49" charset="0"/>
                <a:cs typeface="Courier New" panose="02070309020205020404" pitchFamily="49" charset="0"/>
              </a:rPr>
            </a:br>
            <a:r>
              <a:rPr lang="en-US" altLang="en-US" b="1" dirty="0" err="1">
                <a:latin typeface="Courier New" panose="02070309020205020404" pitchFamily="49" charset="0"/>
                <a:cs typeface="Courier New" panose="02070309020205020404" pitchFamily="49" charset="0"/>
              </a:rPr>
              <a:t>plt.barh</a:t>
            </a:r>
            <a:r>
              <a:rPr lang="en-US" altLang="en-US" b="1" dirty="0">
                <a:latin typeface="Courier New" panose="02070309020205020404" pitchFamily="49" charset="0"/>
                <a:cs typeface="Courier New" panose="02070309020205020404" pitchFamily="49" charset="0"/>
              </a:rPr>
              <a:t>(names, values, color="</a:t>
            </a:r>
            <a:r>
              <a:rPr lang="en-US" altLang="en-US" b="1" dirty="0" err="1">
                <a:solidFill>
                  <a:srgbClr val="C00000"/>
                </a:solidFill>
                <a:latin typeface="Courier New" panose="02070309020205020404" pitchFamily="49" charset="0"/>
                <a:cs typeface="Courier New" panose="02070309020205020404" pitchFamily="49" charset="0"/>
              </a:rPr>
              <a:t>yellowgreen</a:t>
            </a:r>
            <a:r>
              <a:rPr lang="en-US" altLang="en-US" b="1" dirty="0">
                <a:latin typeface="Courier New" panose="02070309020205020404" pitchFamily="49" charset="0"/>
                <a:cs typeface="Courier New" panose="02070309020205020404" pitchFamily="49" charset="0"/>
              </a:rPr>
              <a:t>")</a:t>
            </a:r>
            <a:br>
              <a:rPr lang="en-US" altLang="en-US" b="1" dirty="0">
                <a:latin typeface="Courier New" panose="02070309020205020404" pitchFamily="49" charset="0"/>
                <a:cs typeface="Courier New" panose="02070309020205020404" pitchFamily="49" charset="0"/>
              </a:rPr>
            </a:br>
            <a:r>
              <a:rPr lang="en-US" altLang="en-US" b="1" dirty="0" err="1">
                <a:latin typeface="Courier New" panose="02070309020205020404" pitchFamily="49" charset="0"/>
                <a:cs typeface="Courier New" panose="02070309020205020404" pitchFamily="49" charset="0"/>
              </a:rPr>
              <a:t>plt.show</a:t>
            </a:r>
            <a:r>
              <a:rPr lang="en-US" altLang="en-US" b="1" dirty="0">
                <a:latin typeface="Courier New" panose="02070309020205020404" pitchFamily="49" charset="0"/>
                <a:cs typeface="Courier New" panose="02070309020205020404" pitchFamily="49" charset="0"/>
              </a:rPr>
              <a:t>() </a:t>
            </a:r>
          </a:p>
        </p:txBody>
      </p:sp>
      <p:pic>
        <p:nvPicPr>
          <p:cNvPr id="4099" name="Picture 3" descr="https://miro.medium.com/max/363/1*rCwDtlsbqnEJBRyRLulKQ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8767" y="4327748"/>
            <a:ext cx="3457575"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427601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905000" y="12193"/>
            <a:ext cx="8382000" cy="648553"/>
          </a:xfrm>
        </p:spPr>
        <p:txBody>
          <a:bodyPr>
            <a:normAutofit/>
          </a:bodyPr>
          <a:lstStyle/>
          <a:p>
            <a:r>
              <a:rPr lang="en-US" dirty="0"/>
              <a:t>Bar Chart</a:t>
            </a:r>
          </a:p>
        </p:txBody>
      </p:sp>
      <p:sp>
        <p:nvSpPr>
          <p:cNvPr id="4" name="Rectangle 3"/>
          <p:cNvSpPr/>
          <p:nvPr/>
        </p:nvSpPr>
        <p:spPr>
          <a:xfrm>
            <a:off x="1905000" y="858589"/>
            <a:ext cx="8382000" cy="5501506"/>
          </a:xfrm>
          <a:prstGeom prst="rect">
            <a:avLst/>
          </a:prstGeom>
          <a:solidFill>
            <a:schemeClr val="accent6">
              <a:lumMod val="20000"/>
              <a:lumOff val="80000"/>
              <a:alpha val="25000"/>
            </a:schemeClr>
          </a:solidFill>
          <a:ln>
            <a:solidFill>
              <a:schemeClr val="accent1"/>
            </a:solidFill>
          </a:ln>
        </p:spPr>
        <p:txBody>
          <a:bodyPr wrap="square">
            <a:spAutoFit/>
          </a:bodyPr>
          <a:lstStyle/>
          <a:p>
            <a:r>
              <a:rPr lang="en-US" sz="1600" b="1" dirty="0">
                <a:solidFill>
                  <a:srgbClr val="0070C0"/>
                </a:solidFill>
                <a:latin typeface="Courier New" panose="02070309020205020404" pitchFamily="49" charset="0"/>
                <a:cs typeface="Courier New" panose="02070309020205020404" pitchFamily="49" charset="0"/>
              </a:rPr>
              <a:t>import</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matplotlib.pyplot</a:t>
            </a:r>
            <a:r>
              <a:rPr lang="en-US" sz="1600" b="1" dirty="0">
                <a:latin typeface="Courier New" panose="02070309020205020404" pitchFamily="49" charset="0"/>
                <a:cs typeface="Courier New" panose="02070309020205020404" pitchFamily="49" charset="0"/>
              </a:rPr>
              <a:t> </a:t>
            </a:r>
            <a:r>
              <a:rPr lang="en-US" sz="1600" b="1" dirty="0">
                <a:solidFill>
                  <a:srgbClr val="0070C0"/>
                </a:solidFill>
                <a:latin typeface="Courier New" panose="02070309020205020404" pitchFamily="49" charset="0"/>
                <a:cs typeface="Courier New" panose="02070309020205020404" pitchFamily="49" charset="0"/>
              </a:rPr>
              <a:t>as</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plt</a:t>
            </a:r>
            <a:r>
              <a:rPr lang="en-US" sz="1600" b="1" dirty="0">
                <a:latin typeface="Courier New" panose="02070309020205020404" pitchFamily="49" charset="0"/>
                <a:cs typeface="Courier New" panose="02070309020205020404" pitchFamily="49" charset="0"/>
              </a:rPr>
              <a:t> </a:t>
            </a:r>
          </a:p>
          <a:p>
            <a:r>
              <a:rPr lang="en-US" sz="1050" b="1" dirty="0">
                <a:latin typeface="Courier New" panose="02070309020205020404" pitchFamily="49" charset="0"/>
                <a:cs typeface="Courier New" panose="02070309020205020404" pitchFamily="49" charset="0"/>
              </a:rPr>
              <a:t>  </a:t>
            </a:r>
          </a:p>
          <a:p>
            <a:r>
              <a:rPr lang="en-US" sz="1050" b="1" dirty="0">
                <a:latin typeface="Courier New" panose="02070309020205020404" pitchFamily="49" charset="0"/>
                <a:cs typeface="Courier New" panose="02070309020205020404" pitchFamily="49" charset="0"/>
              </a:rPr>
              <a:t> </a:t>
            </a:r>
          </a:p>
          <a:p>
            <a:r>
              <a:rPr lang="en-US" sz="1600" b="1" dirty="0">
                <a:solidFill>
                  <a:srgbClr val="00B050"/>
                </a:solidFill>
                <a:latin typeface="Courier New" panose="02070309020205020404" pitchFamily="49" charset="0"/>
                <a:cs typeface="Courier New" panose="02070309020205020404" pitchFamily="49" charset="0"/>
              </a:rPr>
              <a:t># heights of bars </a:t>
            </a:r>
          </a:p>
          <a:p>
            <a:r>
              <a:rPr lang="en-US" sz="1600" b="1" dirty="0">
                <a:latin typeface="Courier New" panose="02070309020205020404" pitchFamily="49" charset="0"/>
                <a:cs typeface="Courier New" panose="02070309020205020404" pitchFamily="49" charset="0"/>
              </a:rPr>
              <a:t>height = [10, 24, 36, 40, 5] </a:t>
            </a:r>
          </a:p>
          <a:p>
            <a:r>
              <a:rPr lang="en-US" sz="1050" b="1" dirty="0">
                <a:latin typeface="Courier New" panose="02070309020205020404" pitchFamily="49" charset="0"/>
                <a:cs typeface="Courier New" panose="02070309020205020404" pitchFamily="49" charset="0"/>
              </a:rPr>
              <a:t>  </a:t>
            </a:r>
          </a:p>
          <a:p>
            <a:r>
              <a:rPr lang="en-US" sz="1600" b="1" dirty="0">
                <a:solidFill>
                  <a:srgbClr val="00B050"/>
                </a:solidFill>
                <a:latin typeface="Courier New" panose="02070309020205020404" pitchFamily="49" charset="0"/>
                <a:cs typeface="Courier New" panose="02070309020205020404" pitchFamily="49" charset="0"/>
              </a:rPr>
              <a:t># labels for bars </a:t>
            </a:r>
          </a:p>
          <a:p>
            <a:r>
              <a:rPr lang="en-US" sz="1600" b="1" dirty="0">
                <a:latin typeface="Courier New" panose="02070309020205020404" pitchFamily="49" charset="0"/>
                <a:cs typeface="Courier New" panose="02070309020205020404" pitchFamily="49" charset="0"/>
              </a:rPr>
              <a:t>names = ['</a:t>
            </a:r>
            <a:r>
              <a:rPr lang="en-US" sz="1600" b="1" dirty="0" err="1">
                <a:solidFill>
                  <a:srgbClr val="C00000"/>
                </a:solidFill>
                <a:latin typeface="Courier New" panose="02070309020205020404" pitchFamily="49" charset="0"/>
                <a:cs typeface="Courier New" panose="02070309020205020404" pitchFamily="49" charset="0"/>
              </a:rPr>
              <a:t>one</a:t>
            </a:r>
            <a:r>
              <a:rPr lang="en-US" sz="1600" b="1" dirty="0" err="1">
                <a:latin typeface="Courier New" panose="02070309020205020404" pitchFamily="49" charset="0"/>
                <a:cs typeface="Courier New" panose="02070309020205020404" pitchFamily="49" charset="0"/>
              </a:rPr>
              <a:t>','</a:t>
            </a:r>
            <a:r>
              <a:rPr lang="en-US" sz="1600" b="1" dirty="0" err="1">
                <a:solidFill>
                  <a:srgbClr val="C00000"/>
                </a:solidFill>
                <a:latin typeface="Courier New" panose="02070309020205020404" pitchFamily="49" charset="0"/>
                <a:cs typeface="Courier New" panose="02070309020205020404" pitchFamily="49" charset="0"/>
              </a:rPr>
              <a:t>two</a:t>
            </a:r>
            <a:r>
              <a:rPr lang="en-US" sz="1600" b="1" dirty="0" err="1">
                <a:latin typeface="Courier New" panose="02070309020205020404" pitchFamily="49" charset="0"/>
                <a:cs typeface="Courier New" panose="02070309020205020404" pitchFamily="49" charset="0"/>
              </a:rPr>
              <a:t>','</a:t>
            </a:r>
            <a:r>
              <a:rPr lang="en-US" sz="1600" b="1" dirty="0" err="1">
                <a:solidFill>
                  <a:srgbClr val="C00000"/>
                </a:solidFill>
                <a:latin typeface="Courier New" panose="02070309020205020404" pitchFamily="49" charset="0"/>
                <a:cs typeface="Courier New" panose="02070309020205020404" pitchFamily="49" charset="0"/>
              </a:rPr>
              <a:t>three</a:t>
            </a:r>
            <a:r>
              <a:rPr lang="en-US" sz="1600" b="1" dirty="0" err="1">
                <a:latin typeface="Courier New" panose="02070309020205020404" pitchFamily="49" charset="0"/>
                <a:cs typeface="Courier New" panose="02070309020205020404" pitchFamily="49" charset="0"/>
              </a:rPr>
              <a:t>','</a:t>
            </a:r>
            <a:r>
              <a:rPr lang="en-US" sz="1600" b="1" dirty="0" err="1">
                <a:solidFill>
                  <a:srgbClr val="C00000"/>
                </a:solidFill>
                <a:latin typeface="Courier New" panose="02070309020205020404" pitchFamily="49" charset="0"/>
                <a:cs typeface="Courier New" panose="02070309020205020404" pitchFamily="49" charset="0"/>
              </a:rPr>
              <a:t>four</a:t>
            </a:r>
            <a:r>
              <a:rPr lang="en-US" sz="1600" b="1" dirty="0" err="1">
                <a:latin typeface="Courier New" panose="02070309020205020404" pitchFamily="49" charset="0"/>
                <a:cs typeface="Courier New" panose="02070309020205020404" pitchFamily="49" charset="0"/>
              </a:rPr>
              <a:t>','</a:t>
            </a:r>
            <a:r>
              <a:rPr lang="en-US" sz="1600" b="1" dirty="0" err="1">
                <a:solidFill>
                  <a:srgbClr val="C00000"/>
                </a:solidFill>
                <a:latin typeface="Courier New" panose="02070309020205020404" pitchFamily="49" charset="0"/>
                <a:cs typeface="Courier New" panose="02070309020205020404" pitchFamily="49" charset="0"/>
              </a:rPr>
              <a:t>five</a:t>
            </a:r>
            <a:r>
              <a:rPr lang="en-US" sz="1600" b="1" dirty="0">
                <a:latin typeface="Courier New" panose="02070309020205020404" pitchFamily="49" charset="0"/>
                <a:cs typeface="Courier New" panose="02070309020205020404" pitchFamily="49" charset="0"/>
              </a:rPr>
              <a:t>'] </a:t>
            </a:r>
          </a:p>
          <a:p>
            <a:r>
              <a:rPr lang="en-US" sz="1600" b="1" dirty="0">
                <a:latin typeface="Courier New" panose="02070309020205020404" pitchFamily="49" charset="0"/>
                <a:cs typeface="Courier New" panose="02070309020205020404" pitchFamily="49" charset="0"/>
              </a:rPr>
              <a:t>  </a:t>
            </a:r>
          </a:p>
          <a:p>
            <a:r>
              <a:rPr lang="en-US" sz="1600" b="1" dirty="0">
                <a:solidFill>
                  <a:srgbClr val="00B050"/>
                </a:solidFill>
                <a:latin typeface="Courier New" panose="02070309020205020404" pitchFamily="49" charset="0"/>
                <a:cs typeface="Courier New" panose="02070309020205020404" pitchFamily="49" charset="0"/>
              </a:rPr>
              <a:t># plotting a bar chart</a:t>
            </a:r>
          </a:p>
          <a:p>
            <a:r>
              <a:rPr lang="en-US" sz="1600" b="1" dirty="0">
                <a:latin typeface="Courier New" panose="02070309020205020404" pitchFamily="49" charset="0"/>
                <a:cs typeface="Courier New" panose="02070309020205020404" pitchFamily="49" charset="0"/>
              </a:rPr>
              <a:t>c1 =['red', 'green']</a:t>
            </a:r>
          </a:p>
          <a:p>
            <a:r>
              <a:rPr lang="en-US" sz="1600" b="1" dirty="0">
                <a:latin typeface="Courier New" panose="02070309020205020404" pitchFamily="49" charset="0"/>
                <a:cs typeface="Courier New" panose="02070309020205020404" pitchFamily="49" charset="0"/>
              </a:rPr>
              <a:t>c2 =['b', 'g'] </a:t>
            </a:r>
            <a:r>
              <a:rPr lang="en-US" sz="1600" b="1" dirty="0">
                <a:solidFill>
                  <a:srgbClr val="00B050"/>
                </a:solidFill>
                <a:latin typeface="Courier New" panose="02070309020205020404" pitchFamily="49" charset="0"/>
                <a:cs typeface="Courier New" panose="02070309020205020404" pitchFamily="49" charset="0"/>
              </a:rPr>
              <a:t># we can use this for color</a:t>
            </a:r>
          </a:p>
          <a:p>
            <a:r>
              <a:rPr lang="en-US" sz="1600" b="1" dirty="0" err="1">
                <a:latin typeface="Courier New" panose="02070309020205020404" pitchFamily="49" charset="0"/>
                <a:cs typeface="Courier New" panose="02070309020205020404" pitchFamily="49" charset="0"/>
              </a:rPr>
              <a:t>plt.bar</a:t>
            </a:r>
            <a:r>
              <a:rPr lang="en-US" sz="1600" b="1" dirty="0">
                <a:latin typeface="Courier New" panose="02070309020205020404" pitchFamily="49" charset="0"/>
                <a:cs typeface="Courier New" panose="02070309020205020404" pitchFamily="49" charset="0"/>
              </a:rPr>
              <a:t>(left, height, width=0.8, color=c1) </a:t>
            </a:r>
          </a:p>
          <a:p>
            <a:r>
              <a:rPr lang="en-US" sz="1600" b="1" dirty="0">
                <a:latin typeface="Courier New" panose="02070309020205020404" pitchFamily="49" charset="0"/>
                <a:cs typeface="Courier New" panose="02070309020205020404" pitchFamily="49" charset="0"/>
              </a:rPr>
              <a:t>  </a:t>
            </a:r>
          </a:p>
          <a:p>
            <a:r>
              <a:rPr lang="en-US" sz="1600" b="1" dirty="0">
                <a:solidFill>
                  <a:srgbClr val="00B050"/>
                </a:solidFill>
                <a:latin typeface="Courier New" panose="02070309020205020404" pitchFamily="49" charset="0"/>
                <a:cs typeface="Courier New" panose="02070309020205020404" pitchFamily="49" charset="0"/>
              </a:rPr>
              <a:t># naming the x-axis </a:t>
            </a:r>
          </a:p>
          <a:p>
            <a:r>
              <a:rPr lang="en-US" sz="1600" b="1" dirty="0" err="1">
                <a:latin typeface="Courier New" panose="02070309020205020404" pitchFamily="49" charset="0"/>
                <a:cs typeface="Courier New" panose="02070309020205020404" pitchFamily="49" charset="0"/>
              </a:rPr>
              <a:t>plt.xlabel</a:t>
            </a:r>
            <a:r>
              <a:rPr lang="en-US" sz="1600" b="1" dirty="0">
                <a:latin typeface="Courier New" panose="02070309020205020404" pitchFamily="49" charset="0"/>
                <a:cs typeface="Courier New" panose="02070309020205020404" pitchFamily="49" charset="0"/>
              </a:rPr>
              <a:t>('</a:t>
            </a:r>
            <a:r>
              <a:rPr lang="en-US" sz="1600" b="1" dirty="0">
                <a:solidFill>
                  <a:srgbClr val="C00000"/>
                </a:solidFill>
                <a:latin typeface="Courier New" panose="02070309020205020404" pitchFamily="49" charset="0"/>
                <a:cs typeface="Courier New" panose="02070309020205020404" pitchFamily="49" charset="0"/>
              </a:rPr>
              <a:t>x - axis</a:t>
            </a:r>
            <a:r>
              <a:rPr lang="en-US" sz="1600" b="1" dirty="0">
                <a:latin typeface="Courier New" panose="02070309020205020404" pitchFamily="49" charset="0"/>
                <a:cs typeface="Courier New" panose="02070309020205020404" pitchFamily="49" charset="0"/>
              </a:rPr>
              <a:t>') </a:t>
            </a:r>
          </a:p>
          <a:p>
            <a:r>
              <a:rPr lang="en-US" sz="1600" b="1" dirty="0">
                <a:solidFill>
                  <a:srgbClr val="00B050"/>
                </a:solidFill>
                <a:latin typeface="Courier New" panose="02070309020205020404" pitchFamily="49" charset="0"/>
                <a:cs typeface="Courier New" panose="02070309020205020404" pitchFamily="49" charset="0"/>
              </a:rPr>
              <a:t># naming the y-axis </a:t>
            </a:r>
          </a:p>
          <a:p>
            <a:r>
              <a:rPr lang="en-US" sz="1600" b="1" dirty="0" err="1">
                <a:latin typeface="Courier New" panose="02070309020205020404" pitchFamily="49" charset="0"/>
                <a:cs typeface="Courier New" panose="02070309020205020404" pitchFamily="49" charset="0"/>
              </a:rPr>
              <a:t>plt.ylabel</a:t>
            </a:r>
            <a:r>
              <a:rPr lang="en-US" sz="1600" b="1" dirty="0">
                <a:latin typeface="Courier New" panose="02070309020205020404" pitchFamily="49" charset="0"/>
                <a:cs typeface="Courier New" panose="02070309020205020404" pitchFamily="49" charset="0"/>
              </a:rPr>
              <a:t>('</a:t>
            </a:r>
            <a:r>
              <a:rPr lang="en-US" sz="1600" b="1" dirty="0">
                <a:solidFill>
                  <a:srgbClr val="C00000"/>
                </a:solidFill>
                <a:latin typeface="Courier New" panose="02070309020205020404" pitchFamily="49" charset="0"/>
                <a:cs typeface="Courier New" panose="02070309020205020404" pitchFamily="49" charset="0"/>
              </a:rPr>
              <a:t>y - axis</a:t>
            </a:r>
            <a:r>
              <a:rPr lang="en-US" sz="1600" b="1" dirty="0">
                <a:latin typeface="Courier New" panose="02070309020205020404" pitchFamily="49" charset="0"/>
                <a:cs typeface="Courier New" panose="02070309020205020404" pitchFamily="49" charset="0"/>
              </a:rPr>
              <a:t>') </a:t>
            </a:r>
          </a:p>
          <a:p>
            <a:r>
              <a:rPr lang="en-US" sz="1600" b="1" dirty="0">
                <a:solidFill>
                  <a:srgbClr val="00B050"/>
                </a:solidFill>
                <a:latin typeface="Courier New" panose="02070309020205020404" pitchFamily="49" charset="0"/>
                <a:cs typeface="Courier New" panose="02070309020205020404" pitchFamily="49" charset="0"/>
              </a:rPr>
              <a:t># plot title </a:t>
            </a:r>
          </a:p>
          <a:p>
            <a:r>
              <a:rPr lang="en-US" sz="1600" b="1" dirty="0" err="1">
                <a:latin typeface="Courier New" panose="02070309020205020404" pitchFamily="49" charset="0"/>
                <a:cs typeface="Courier New" panose="02070309020205020404" pitchFamily="49" charset="0"/>
              </a:rPr>
              <a:t>plt.title</a:t>
            </a:r>
            <a:r>
              <a:rPr lang="en-US" sz="1600" b="1" dirty="0">
                <a:latin typeface="Courier New" panose="02070309020205020404" pitchFamily="49" charset="0"/>
                <a:cs typeface="Courier New" panose="02070309020205020404" pitchFamily="49" charset="0"/>
              </a:rPr>
              <a:t>('</a:t>
            </a:r>
            <a:r>
              <a:rPr lang="en-US" sz="1600" b="1" dirty="0">
                <a:solidFill>
                  <a:srgbClr val="C00000"/>
                </a:solidFill>
                <a:latin typeface="Courier New" panose="02070309020205020404" pitchFamily="49" charset="0"/>
                <a:cs typeface="Courier New" panose="02070309020205020404" pitchFamily="49" charset="0"/>
              </a:rPr>
              <a:t>My bar chart!</a:t>
            </a:r>
            <a:r>
              <a:rPr lang="en-US" sz="1600" b="1" dirty="0">
                <a:latin typeface="Courier New" panose="02070309020205020404" pitchFamily="49" charset="0"/>
                <a:cs typeface="Courier New" panose="02070309020205020404" pitchFamily="49" charset="0"/>
              </a:rPr>
              <a:t>') </a:t>
            </a:r>
          </a:p>
          <a:p>
            <a:r>
              <a:rPr lang="en-US" sz="1600" b="1" dirty="0">
                <a:latin typeface="Courier New" panose="02070309020205020404" pitchFamily="49" charset="0"/>
                <a:cs typeface="Courier New" panose="02070309020205020404" pitchFamily="49" charset="0"/>
              </a:rPr>
              <a:t>  </a:t>
            </a:r>
          </a:p>
          <a:p>
            <a:r>
              <a:rPr lang="en-US" sz="1600" b="1" dirty="0">
                <a:solidFill>
                  <a:srgbClr val="00B050"/>
                </a:solidFill>
                <a:latin typeface="Courier New" panose="02070309020205020404" pitchFamily="49" charset="0"/>
                <a:cs typeface="Courier New" panose="02070309020205020404" pitchFamily="49" charset="0"/>
              </a:rPr>
              <a:t># function to show the plot </a:t>
            </a:r>
          </a:p>
          <a:p>
            <a:r>
              <a:rPr lang="en-US" sz="1600" b="1" dirty="0" err="1">
                <a:latin typeface="Courier New" panose="02070309020205020404" pitchFamily="49" charset="0"/>
                <a:cs typeface="Courier New" panose="02070309020205020404" pitchFamily="49" charset="0"/>
              </a:rPr>
              <a:t>plt.show</a:t>
            </a:r>
            <a:r>
              <a:rPr lang="en-US" sz="1600" b="1" dirty="0">
                <a:latin typeface="Courier New" panose="02070309020205020404" pitchFamily="49" charset="0"/>
                <a:cs typeface="Courier New" panose="02070309020205020404" pitchFamily="49" charset="0"/>
              </a:rPr>
              <a:t>() </a:t>
            </a:r>
          </a:p>
        </p:txBody>
      </p:sp>
      <p:pic>
        <p:nvPicPr>
          <p:cNvPr id="6146" name="Picture 2" descr="mp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63792" y="1066800"/>
            <a:ext cx="2770808" cy="19812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483096" y="4953000"/>
            <a:ext cx="3657600" cy="1077218"/>
          </a:xfrm>
          <a:prstGeom prst="rect">
            <a:avLst/>
          </a:prstGeom>
          <a:solidFill>
            <a:srgbClr val="FFC000">
              <a:alpha val="52000"/>
            </a:srgbClr>
          </a:solidFill>
          <a:ln>
            <a:solidFill>
              <a:schemeClr val="accent1"/>
            </a:solidFill>
          </a:ln>
        </p:spPr>
        <p:txBody>
          <a:bodyPr wrap="square">
            <a:spAutoFit/>
          </a:bodyPr>
          <a:lstStyle/>
          <a:p>
            <a:pPr marL="285750" indent="-285750">
              <a:buFont typeface="Arial" panose="020B0604020202020204" pitchFamily="34" charset="0"/>
              <a:buChar char="•"/>
            </a:pPr>
            <a:r>
              <a:rPr lang="en-US" sz="1600" dirty="0"/>
              <a:t>Here, we use </a:t>
            </a:r>
            <a:r>
              <a:rPr lang="en-US" sz="1600" dirty="0" err="1">
                <a:solidFill>
                  <a:srgbClr val="0070C0"/>
                </a:solidFill>
                <a:latin typeface="Courier New" panose="02070309020205020404" pitchFamily="49" charset="0"/>
                <a:cs typeface="Courier New" panose="02070309020205020404" pitchFamily="49" charset="0"/>
              </a:rPr>
              <a:t>plt.bar</a:t>
            </a:r>
            <a:r>
              <a:rPr lang="en-US" sz="1600" dirty="0">
                <a:solidFill>
                  <a:srgbClr val="0070C0"/>
                </a:solidFill>
                <a:latin typeface="Courier New" panose="02070309020205020404" pitchFamily="49" charset="0"/>
                <a:cs typeface="Courier New" panose="02070309020205020404" pitchFamily="49" charset="0"/>
              </a:rPr>
              <a:t>() </a:t>
            </a:r>
            <a:r>
              <a:rPr lang="en-US" sz="1600" dirty="0"/>
              <a:t>function to plot a bar chart.</a:t>
            </a:r>
          </a:p>
          <a:p>
            <a:pPr marL="285750" indent="-285750">
              <a:buFont typeface="Arial" panose="020B0604020202020204" pitchFamily="34" charset="0"/>
              <a:buChar char="•"/>
            </a:pPr>
            <a:r>
              <a:rPr lang="en-US" sz="1600" dirty="0"/>
              <a:t>you can also give some name to x-axis coordinates by defining </a:t>
            </a:r>
            <a:r>
              <a:rPr lang="en-US" sz="1600" dirty="0" err="1"/>
              <a:t>tick_labels</a:t>
            </a:r>
            <a:endParaRPr lang="en-US" sz="1600" dirty="0"/>
          </a:p>
        </p:txBody>
      </p:sp>
    </p:spTree>
    <p:extLst>
      <p:ext uri="{BB962C8B-B14F-4D97-AF65-F5344CB8AC3E}">
        <p14:creationId xmlns:p14="http://schemas.microsoft.com/office/powerpoint/2010/main" val="80502645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4693DF-FEA0-FF8B-2D73-F338DDA2F7EF}"/>
              </a:ext>
            </a:extLst>
          </p:cNvPr>
          <p:cNvSpPr>
            <a:spLocks noGrp="1"/>
          </p:cNvSpPr>
          <p:nvPr>
            <p:ph idx="1"/>
          </p:nvPr>
        </p:nvSpPr>
        <p:spPr>
          <a:xfrm>
            <a:off x="838200" y="265471"/>
            <a:ext cx="10515600" cy="5911492"/>
          </a:xfrm>
        </p:spPr>
        <p:txBody>
          <a:bodyPr/>
          <a:lstStyle/>
          <a:p>
            <a:r>
              <a:rPr lang="en-US" dirty="0"/>
              <a:t>Bar Plot:</a:t>
            </a:r>
          </a:p>
          <a:p>
            <a:r>
              <a:rPr lang="en-US" b="0" i="0" dirty="0">
                <a:solidFill>
                  <a:srgbClr val="333333"/>
                </a:solidFill>
                <a:effectLst/>
                <a:latin typeface="inter-regular"/>
              </a:rPr>
              <a:t>Bar graphs are one of the most common types of graphs and are used to show data associated with the categorical variables. Matplotlib provides a </a:t>
            </a:r>
            <a:r>
              <a:rPr lang="en-US" b="1" i="0" dirty="0">
                <a:solidFill>
                  <a:srgbClr val="333333"/>
                </a:solidFill>
                <a:effectLst/>
                <a:latin typeface="inter-bold"/>
              </a:rPr>
              <a:t>bar()</a:t>
            </a:r>
            <a:r>
              <a:rPr lang="en-US" b="0" i="0" dirty="0">
                <a:solidFill>
                  <a:srgbClr val="333333"/>
                </a:solidFill>
                <a:effectLst/>
                <a:latin typeface="inter-regular"/>
              </a:rPr>
              <a:t> to make bar graphs which accepts arguments such as: categorical variables, their value and color.</a:t>
            </a:r>
            <a:endParaRPr lang="en-IN" dirty="0"/>
          </a:p>
        </p:txBody>
      </p:sp>
      <p:pic>
        <p:nvPicPr>
          <p:cNvPr id="5" name="Picture 4">
            <a:extLst>
              <a:ext uri="{FF2B5EF4-FFF2-40B4-BE49-F238E27FC236}">
                <a16:creationId xmlns:a16="http://schemas.microsoft.com/office/drawing/2014/main" id="{F57E4A19-6288-29C0-9876-3FF77000A672}"/>
              </a:ext>
            </a:extLst>
          </p:cNvPr>
          <p:cNvPicPr>
            <a:picLocks noChangeAspect="1"/>
          </p:cNvPicPr>
          <p:nvPr/>
        </p:nvPicPr>
        <p:blipFill>
          <a:blip r:embed="rId3"/>
          <a:stretch>
            <a:fillRect/>
          </a:stretch>
        </p:blipFill>
        <p:spPr>
          <a:xfrm>
            <a:off x="1388997" y="2524125"/>
            <a:ext cx="5457825" cy="1450716"/>
          </a:xfrm>
          <a:prstGeom prst="rect">
            <a:avLst/>
          </a:prstGeom>
        </p:spPr>
      </p:pic>
      <p:pic>
        <p:nvPicPr>
          <p:cNvPr id="7" name="Picture 6">
            <a:extLst>
              <a:ext uri="{FF2B5EF4-FFF2-40B4-BE49-F238E27FC236}">
                <a16:creationId xmlns:a16="http://schemas.microsoft.com/office/drawing/2014/main" id="{826A36F3-B513-A686-4335-2482442CA152}"/>
              </a:ext>
            </a:extLst>
          </p:cNvPr>
          <p:cNvPicPr>
            <a:picLocks noChangeAspect="1"/>
          </p:cNvPicPr>
          <p:nvPr/>
        </p:nvPicPr>
        <p:blipFill>
          <a:blip r:embed="rId4"/>
          <a:stretch>
            <a:fillRect/>
          </a:stretch>
        </p:blipFill>
        <p:spPr>
          <a:xfrm>
            <a:off x="7836924" y="2039118"/>
            <a:ext cx="3695700" cy="4962525"/>
          </a:xfrm>
          <a:prstGeom prst="rect">
            <a:avLst/>
          </a:prstGeom>
        </p:spPr>
      </p:pic>
    </p:spTree>
    <p:extLst>
      <p:ext uri="{BB962C8B-B14F-4D97-AF65-F5344CB8AC3E}">
        <p14:creationId xmlns:p14="http://schemas.microsoft.com/office/powerpoint/2010/main" val="224177006"/>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8BF863-A127-741B-D87B-386B4B946576}"/>
              </a:ext>
            </a:extLst>
          </p:cNvPr>
          <p:cNvSpPr>
            <a:spLocks noGrp="1"/>
          </p:cNvSpPr>
          <p:nvPr>
            <p:ph idx="1"/>
          </p:nvPr>
        </p:nvSpPr>
        <p:spPr>
          <a:xfrm>
            <a:off x="838200" y="373224"/>
            <a:ext cx="10515600" cy="5803739"/>
          </a:xfrm>
        </p:spPr>
        <p:txBody>
          <a:bodyPr/>
          <a:lstStyle/>
          <a:p>
            <a:r>
              <a:rPr lang="en-US" b="0" i="0" dirty="0">
                <a:solidFill>
                  <a:srgbClr val="333333"/>
                </a:solidFill>
                <a:effectLst/>
                <a:latin typeface="inter-regular"/>
              </a:rPr>
              <a:t>Another function </a:t>
            </a:r>
            <a:r>
              <a:rPr lang="en-US" b="1" i="0" dirty="0" err="1">
                <a:solidFill>
                  <a:srgbClr val="333333"/>
                </a:solidFill>
                <a:effectLst/>
                <a:latin typeface="inter-bold"/>
              </a:rPr>
              <a:t>barh</a:t>
            </a:r>
            <a:r>
              <a:rPr lang="en-US" b="1" i="0" dirty="0">
                <a:solidFill>
                  <a:srgbClr val="333333"/>
                </a:solidFill>
                <a:effectLst/>
                <a:latin typeface="inter-bold"/>
              </a:rPr>
              <a:t>()</a:t>
            </a:r>
            <a:r>
              <a:rPr lang="en-US" b="0" i="0" dirty="0">
                <a:solidFill>
                  <a:srgbClr val="333333"/>
                </a:solidFill>
                <a:effectLst/>
                <a:latin typeface="inter-regular"/>
              </a:rPr>
              <a:t> is used to make horizontal bar graphs. It accepts </a:t>
            </a:r>
            <a:r>
              <a:rPr lang="en-US" b="1" i="0" dirty="0" err="1">
                <a:solidFill>
                  <a:srgbClr val="333333"/>
                </a:solidFill>
                <a:effectLst/>
                <a:latin typeface="inter-bold"/>
              </a:rPr>
              <a:t>xerr</a:t>
            </a:r>
            <a:r>
              <a:rPr lang="en-US" b="0" i="0" dirty="0">
                <a:solidFill>
                  <a:srgbClr val="333333"/>
                </a:solidFill>
                <a:effectLst/>
                <a:latin typeface="inter-regular"/>
              </a:rPr>
              <a:t> or </a:t>
            </a:r>
            <a:r>
              <a:rPr lang="en-US" b="1" i="0" dirty="0" err="1">
                <a:solidFill>
                  <a:srgbClr val="333333"/>
                </a:solidFill>
                <a:effectLst/>
                <a:latin typeface="inter-bold"/>
              </a:rPr>
              <a:t>yerr</a:t>
            </a:r>
            <a:r>
              <a:rPr lang="en-US" b="0" i="0" dirty="0">
                <a:solidFill>
                  <a:srgbClr val="333333"/>
                </a:solidFill>
                <a:effectLst/>
                <a:latin typeface="inter-regular"/>
              </a:rPr>
              <a:t> as arguments (in case of vertical graphs) to depict the variance in our data as follows:</a:t>
            </a:r>
            <a:endParaRPr lang="en-IN" dirty="0"/>
          </a:p>
        </p:txBody>
      </p:sp>
      <p:pic>
        <p:nvPicPr>
          <p:cNvPr id="5" name="Picture 4">
            <a:extLst>
              <a:ext uri="{FF2B5EF4-FFF2-40B4-BE49-F238E27FC236}">
                <a16:creationId xmlns:a16="http://schemas.microsoft.com/office/drawing/2014/main" id="{224DE019-8DD8-6B82-6B7B-F0C3F3AA0237}"/>
              </a:ext>
            </a:extLst>
          </p:cNvPr>
          <p:cNvPicPr>
            <a:picLocks noChangeAspect="1"/>
          </p:cNvPicPr>
          <p:nvPr/>
        </p:nvPicPr>
        <p:blipFill>
          <a:blip r:embed="rId3"/>
          <a:stretch>
            <a:fillRect/>
          </a:stretch>
        </p:blipFill>
        <p:spPr>
          <a:xfrm>
            <a:off x="7304411" y="1474626"/>
            <a:ext cx="3648075" cy="5010150"/>
          </a:xfrm>
          <a:prstGeom prst="rect">
            <a:avLst/>
          </a:prstGeom>
        </p:spPr>
      </p:pic>
      <p:pic>
        <p:nvPicPr>
          <p:cNvPr id="7" name="Picture 6">
            <a:extLst>
              <a:ext uri="{FF2B5EF4-FFF2-40B4-BE49-F238E27FC236}">
                <a16:creationId xmlns:a16="http://schemas.microsoft.com/office/drawing/2014/main" id="{CA651A92-5A0E-061B-27FB-66B1BCACD5C6}"/>
              </a:ext>
            </a:extLst>
          </p:cNvPr>
          <p:cNvPicPr>
            <a:picLocks noChangeAspect="1"/>
          </p:cNvPicPr>
          <p:nvPr/>
        </p:nvPicPr>
        <p:blipFill>
          <a:blip r:embed="rId4"/>
          <a:stretch>
            <a:fillRect/>
          </a:stretch>
        </p:blipFill>
        <p:spPr>
          <a:xfrm>
            <a:off x="926689" y="2284492"/>
            <a:ext cx="5976407" cy="1144507"/>
          </a:xfrm>
          <a:prstGeom prst="rect">
            <a:avLst/>
          </a:prstGeom>
        </p:spPr>
      </p:pic>
    </p:spTree>
    <p:extLst>
      <p:ext uri="{BB962C8B-B14F-4D97-AF65-F5344CB8AC3E}">
        <p14:creationId xmlns:p14="http://schemas.microsoft.com/office/powerpoint/2010/main" val="4124088132"/>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Gill Sans MT"/>
                <a:ea typeface="+mn-ea"/>
                <a:cs typeface="+mn-cs"/>
              </a:rPr>
              <a:t>REFERENCES FOR FURTHER LEARNING OF THE SESSION</a:t>
            </a:r>
            <a:endParaRPr kumimoji="0" lang="en-US" sz="1800" b="0" i="0" u="none" strike="noStrike" kern="1200" cap="none" spc="0" normalizeH="0" baseline="0" noProof="0" dirty="0">
              <a:ln>
                <a:noFill/>
              </a:ln>
              <a:solidFill>
                <a:prstClr val="white"/>
              </a:solidFill>
              <a:effectLst/>
              <a:uLnTx/>
              <a:uFillTx/>
              <a:latin typeface="Poppins" panose="00000500000000000000" pitchFamily="2" charset="0"/>
              <a:ea typeface="+mn-ea"/>
              <a:cs typeface="Poppins" panose="00000500000000000000" pitchFamily="2" charset="0"/>
            </a:endParaRPr>
          </a:p>
        </p:txBody>
      </p:sp>
      <p:sp>
        <p:nvSpPr>
          <p:cNvPr id="9" name="TextBox 8"/>
          <p:cNvSpPr txBox="1"/>
          <p:nvPr/>
        </p:nvSpPr>
        <p:spPr>
          <a:xfrm>
            <a:off x="900331" y="1167618"/>
            <a:ext cx="10409819" cy="406002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ill Sans MT"/>
                <a:ea typeface="+mn-ea"/>
                <a:cs typeface="+mn-cs"/>
              </a:rPr>
              <a:t>Text Books:</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Introduction to Data Science- A Structured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Methodology,Goran</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trajkovski</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Data Science from Scratch- Joel Grus - O’Reilly - 2015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Practical Statistics for Data Scientists - Peter Bruce, Andrew Bruce &amp; Peter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Gedeck</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 O’Reilly - 2020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Data Science and Machine Learning (Mathematical and Statistical Methods) - Dirk P. Kroese, Zdravko I. Botev, Thomas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Taimre</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Radislav Vaisman- Chapman and Hall/CRC - 2025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Foundations of Data Science -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Avrim</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Blum, John Hopcroft, and Ravindran Kannan - Cambridge University Press – 2020</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ill Sans MT"/>
                <a:ea typeface="+mn-ea"/>
                <a:cs typeface="+mn-cs"/>
              </a:rPr>
              <a:t>Reference Books:</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R1.Data Science and Its Applications by Aakanksha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Sharaff</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and G. R. Sinha. </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R2. Introducing Data Science Big Data, Machine Learning, and more using Python tools. by Davy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cielen</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Arno D.B.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Meysman</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and Mohamed Ali.</a:t>
            </a:r>
            <a:endParaRPr kumimoji="0" lang="en-US" altLang="en-US" sz="18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spTree>
    <p:extLst>
      <p:ext uri="{BB962C8B-B14F-4D97-AF65-F5344CB8AC3E}">
        <p14:creationId xmlns:p14="http://schemas.microsoft.com/office/powerpoint/2010/main" val="104527235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THANK YOU</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Team – DS</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Override1.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2.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3.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4.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5.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6.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7.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8.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9.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0.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1.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2.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3.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docProps/app.xml><?xml version="1.0" encoding="utf-8"?>
<Properties xmlns="http://schemas.openxmlformats.org/officeDocument/2006/extended-properties" xmlns:vt="http://schemas.openxmlformats.org/officeDocument/2006/docPropsVTypes">
  <TotalTime>1016</TotalTime>
  <Words>1505</Words>
  <Application>Microsoft Office PowerPoint</Application>
  <PresentationFormat>Widescreen</PresentationFormat>
  <Paragraphs>151</Paragraphs>
  <Slides>18</Slides>
  <Notes>0</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18</vt:i4>
      </vt:variant>
    </vt:vector>
  </HeadingPairs>
  <TitlesOfParts>
    <vt:vector size="31" baseType="lpstr">
      <vt:lpstr>Arial</vt:lpstr>
      <vt:lpstr>Calibri</vt:lpstr>
      <vt:lpstr>Calibri Light</vt:lpstr>
      <vt:lpstr>Courier New</vt:lpstr>
      <vt:lpstr>erdana</vt:lpstr>
      <vt:lpstr>Gill Sans MT</vt:lpstr>
      <vt:lpstr>inter-bold</vt:lpstr>
      <vt:lpstr>inter-regular</vt:lpstr>
      <vt:lpstr>Lato</vt:lpstr>
      <vt:lpstr>Nunito</vt:lpstr>
      <vt:lpstr>Poppins</vt:lpstr>
      <vt:lpstr>Office Theme</vt:lpstr>
      <vt:lpstr>Gallery</vt:lpstr>
      <vt:lpstr>PowerPoint Presentation</vt:lpstr>
      <vt:lpstr>PowerPoint Presentation</vt:lpstr>
      <vt:lpstr> Matplotlib</vt:lpstr>
      <vt:lpstr>      What is Data Visualization?      </vt:lpstr>
      <vt:lpstr>A line graph is a type of chart used to display information that changes over time or to show the relationship between two variables. It’s one of the simplest and most widely used visualization tools in statistics, science, and everyday data analysis. Axes:the x-axis (horizontal) usually represents time or categories. The y-axis (vertical) represents the values being measured. Data points: each value is plotted as a point on the graph. Lines: points are connected with straight lines to show trends or patterns. Multiple lines: you can plot more than one dataset on the same graph to compare them.</vt:lpstr>
      <vt:lpstr>More on Line Graph</vt:lpstr>
      <vt:lpstr>Scatter Plots</vt:lpstr>
      <vt:lpstr>Scatter plot</vt:lpstr>
      <vt:lpstr>PowerPoint Presentation</vt:lpstr>
      <vt:lpstr>PowerPoint Presentation</vt:lpstr>
      <vt:lpstr>PowerPoint Presentation</vt:lpstr>
      <vt:lpstr>Bar graphs</vt:lpstr>
      <vt:lpstr>Bar graphs</vt:lpstr>
      <vt:lpstr>Bar Chart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Data Visualization?</dc:title>
  <dc:creator>N Sunanda</dc:creator>
  <cp:lastModifiedBy>sunanda nalajala</cp:lastModifiedBy>
  <cp:revision>28</cp:revision>
  <dcterms:created xsi:type="dcterms:W3CDTF">2023-11-08T08:15:22Z</dcterms:created>
  <dcterms:modified xsi:type="dcterms:W3CDTF">2026-08-31T07:00:59Z</dcterms:modified>
</cp:coreProperties>
</file>