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59"/>
  </p:notesMasterIdLst>
  <p:sldIdLst>
    <p:sldId id="256" r:id="rId2"/>
    <p:sldId id="300" r:id="rId3"/>
    <p:sldId id="418" r:id="rId4"/>
    <p:sldId id="419" r:id="rId5"/>
    <p:sldId id="420" r:id="rId6"/>
    <p:sldId id="421" r:id="rId7"/>
    <p:sldId id="422" r:id="rId8"/>
    <p:sldId id="423" r:id="rId9"/>
    <p:sldId id="424" r:id="rId10"/>
    <p:sldId id="425" r:id="rId11"/>
    <p:sldId id="426" r:id="rId12"/>
    <p:sldId id="427" r:id="rId13"/>
    <p:sldId id="428" r:id="rId14"/>
    <p:sldId id="429" r:id="rId15"/>
    <p:sldId id="430" r:id="rId16"/>
    <p:sldId id="431" r:id="rId17"/>
    <p:sldId id="432" r:id="rId18"/>
    <p:sldId id="433" r:id="rId19"/>
    <p:sldId id="434" r:id="rId20"/>
    <p:sldId id="435" r:id="rId21"/>
    <p:sldId id="436" r:id="rId22"/>
    <p:sldId id="437" r:id="rId23"/>
    <p:sldId id="438" r:id="rId24"/>
    <p:sldId id="439" r:id="rId25"/>
    <p:sldId id="440" r:id="rId26"/>
    <p:sldId id="441" r:id="rId27"/>
    <p:sldId id="442" r:id="rId28"/>
    <p:sldId id="443" r:id="rId29"/>
    <p:sldId id="444" r:id="rId30"/>
    <p:sldId id="445" r:id="rId31"/>
    <p:sldId id="446" r:id="rId32"/>
    <p:sldId id="447" r:id="rId33"/>
    <p:sldId id="448" r:id="rId34"/>
    <p:sldId id="449" r:id="rId35"/>
    <p:sldId id="452" r:id="rId36"/>
    <p:sldId id="453" r:id="rId37"/>
    <p:sldId id="454" r:id="rId38"/>
    <p:sldId id="455" r:id="rId39"/>
    <p:sldId id="475" r:id="rId40"/>
    <p:sldId id="457" r:id="rId41"/>
    <p:sldId id="458" r:id="rId42"/>
    <p:sldId id="459" r:id="rId43"/>
    <p:sldId id="460" r:id="rId44"/>
    <p:sldId id="461" r:id="rId45"/>
    <p:sldId id="462" r:id="rId46"/>
    <p:sldId id="463" r:id="rId47"/>
    <p:sldId id="464" r:id="rId48"/>
    <p:sldId id="465" r:id="rId49"/>
    <p:sldId id="466" r:id="rId50"/>
    <p:sldId id="467" r:id="rId51"/>
    <p:sldId id="468" r:id="rId52"/>
    <p:sldId id="469" r:id="rId53"/>
    <p:sldId id="470" r:id="rId54"/>
    <p:sldId id="471" r:id="rId55"/>
    <p:sldId id="472" r:id="rId56"/>
    <p:sldId id="473" r:id="rId57"/>
    <p:sldId id="304" r:id="rId58"/>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8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2900"/>
          </a:xfrm>
          <a:prstGeom prst="rect">
            <a:avLst/>
          </a:prstGeom>
        </p:spPr>
        <p:txBody>
          <a:bodyPr vert="horz" lIns="91440" tIns="45720" rIns="91440" bIns="45720" rtlCol="0"/>
          <a:lstStyle>
            <a:lvl1pPr algn="r">
              <a:defRPr sz="1200"/>
            </a:lvl1pPr>
          </a:lstStyle>
          <a:p>
            <a:fld id="{4205A0D1-5C6C-4042-A40E-C8CE767494A7}" type="datetimeFigureOut">
              <a:rPr lang="en-US" smtClean="0"/>
              <a:t>8/5/2026</a:t>
            </a:fld>
            <a:endParaRPr lang="en-US"/>
          </a:p>
        </p:txBody>
      </p:sp>
      <p:sp>
        <p:nvSpPr>
          <p:cNvPr id="4" name="Slide Image Placeholder 3"/>
          <p:cNvSpPr>
            <a:spLocks noGrp="1" noRot="1" noChangeAspect="1"/>
          </p:cNvSpPr>
          <p:nvPr>
            <p:ph type="sldImg" idx="2"/>
          </p:nvPr>
        </p:nvSpPr>
        <p:spPr>
          <a:xfrm>
            <a:off x="3810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257550"/>
            <a:ext cx="97536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2900"/>
          </a:xfrm>
          <a:prstGeom prst="rect">
            <a:avLst/>
          </a:prstGeom>
        </p:spPr>
        <p:txBody>
          <a:bodyPr vert="horz" lIns="91440" tIns="45720" rIns="91440" bIns="45720" rtlCol="0" anchor="b"/>
          <a:lstStyle>
            <a:lvl1pPr algn="r">
              <a:defRPr sz="1200"/>
            </a:lvl1pPr>
          </a:lstStyle>
          <a:p>
            <a:fld id="{319024DF-EF09-4F69-9C05-4D2BBBBB13D2}" type="slidenum">
              <a:rPr lang="en-US" smtClean="0"/>
              <a:t>‹#›</a:t>
            </a:fld>
            <a:endParaRPr lang="en-US"/>
          </a:p>
        </p:txBody>
      </p:sp>
    </p:spTree>
    <p:extLst>
      <p:ext uri="{BB962C8B-B14F-4D97-AF65-F5344CB8AC3E}">
        <p14:creationId xmlns:p14="http://schemas.microsoft.com/office/powerpoint/2010/main" val="3683436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72246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187827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4282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8/5/2026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23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8/5/2026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892208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36283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20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8/5/2026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830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0410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8/5/2026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9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52930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8/5/2026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810765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python.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w3schools.com/python/ref_string_casefold.asp" TargetMode="External"/><Relationship Id="rId2" Type="http://schemas.openxmlformats.org/officeDocument/2006/relationships/hyperlink" Target="https://www.w3schools.com/python/ref_string_capitalize.asp" TargetMode="External"/><Relationship Id="rId1" Type="http://schemas.openxmlformats.org/officeDocument/2006/relationships/slideLayout" Target="../slideLayouts/slideLayout2.xml"/><Relationship Id="rId5" Type="http://schemas.openxmlformats.org/officeDocument/2006/relationships/hyperlink" Target="https://www.w3schools.com/python/ref_string_count.asp" TargetMode="External"/><Relationship Id="rId4" Type="http://schemas.openxmlformats.org/officeDocument/2006/relationships/hyperlink" Target="https://www.w3schools.com/python/ref_string_center.asp"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www.w3schools.com/python/ref_string_lower.asp" TargetMode="External"/><Relationship Id="rId13" Type="http://schemas.openxmlformats.org/officeDocument/2006/relationships/hyperlink" Target="https://www.w3schools.com/python/ref_string_zfill.asp" TargetMode="External"/><Relationship Id="rId3" Type="http://schemas.openxmlformats.org/officeDocument/2006/relationships/hyperlink" Target="https://www.w3schools.com/python/ref_string_index.asp" TargetMode="External"/><Relationship Id="rId7" Type="http://schemas.openxmlformats.org/officeDocument/2006/relationships/hyperlink" Target="https://www.w3schools.com/python/ref_string_join.asp" TargetMode="External"/><Relationship Id="rId12" Type="http://schemas.openxmlformats.org/officeDocument/2006/relationships/hyperlink" Target="https://www.w3schools.com/python/ref_string_upper.asp" TargetMode="External"/><Relationship Id="rId2" Type="http://schemas.openxmlformats.org/officeDocument/2006/relationships/hyperlink" Target="https://www.w3schools.com/python/ref_string_find.asp" TargetMode="External"/><Relationship Id="rId1" Type="http://schemas.openxmlformats.org/officeDocument/2006/relationships/slideLayout" Target="../slideLayouts/slideLayout2.xml"/><Relationship Id="rId6" Type="http://schemas.openxmlformats.org/officeDocument/2006/relationships/hyperlink" Target="https://www.w3schools.com/python/ref_string_isupper.asp" TargetMode="External"/><Relationship Id="rId11" Type="http://schemas.openxmlformats.org/officeDocument/2006/relationships/hyperlink" Target="https://www.w3schools.com/python/ref_string_title.asp" TargetMode="External"/><Relationship Id="rId5" Type="http://schemas.openxmlformats.org/officeDocument/2006/relationships/hyperlink" Target="https://www.w3schools.com/python/ref_string_islower.asp" TargetMode="External"/><Relationship Id="rId10" Type="http://schemas.openxmlformats.org/officeDocument/2006/relationships/hyperlink" Target="https://www.w3schools.com/python/ref_string_swapcase.asp" TargetMode="External"/><Relationship Id="rId4" Type="http://schemas.openxmlformats.org/officeDocument/2006/relationships/hyperlink" Target="https://www.w3schools.com/python/ref_string_isalnum.asp" TargetMode="External"/><Relationship Id="rId9" Type="http://schemas.openxmlformats.org/officeDocument/2006/relationships/hyperlink" Target="https://www.w3schools.com/python/ref_string_replace.asp"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00B0F0"/>
                </a:solidFill>
                <a:cs typeface="Poppins" pitchFamily="2" charset="77"/>
              </a:rPr>
              <a:t>Department </a:t>
            </a:r>
            <a:r>
              <a:rPr lang="en-US" sz="4000">
                <a:solidFill>
                  <a:srgbClr val="00B0F0"/>
                </a:solidFill>
                <a:cs typeface="Poppins" pitchFamily="2" charset="77"/>
              </a:rPr>
              <a:t>of CSE</a:t>
            </a:r>
            <a:endParaRPr lang="en-US" sz="4000" dirty="0">
              <a:solidFill>
                <a:srgbClr val="00B0F0"/>
              </a:solidFill>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752600" y="2208637"/>
            <a:ext cx="9377680" cy="249295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Data science</a:t>
            </a:r>
          </a:p>
          <a:p>
            <a:pPr marR="0" lvl="0" indent="0" algn="ctr">
              <a:spcBef>
                <a:spcPts val="0"/>
              </a:spcBef>
              <a:spcAft>
                <a:spcPts val="0"/>
              </a:spcAft>
              <a:buNone/>
            </a:pPr>
            <a:r>
              <a:rPr lang="en-US" sz="3200" b="1" cap="all" dirty="0">
                <a:ln/>
                <a:solidFill>
                  <a:srgbClr val="00B0F0"/>
                </a:solidFill>
                <a:cs typeface="Poppins" panose="00000500000000000000" pitchFamily="2" charset="0"/>
                <a:sym typeface="BioRhyme ExtraBold"/>
              </a:rPr>
              <a:t>COURSE CODE: 24AD3107</a:t>
            </a:r>
            <a:r>
              <a:rPr lang="en-US" sz="3200" b="1" cap="all" dirty="0">
                <a:ln/>
                <a:solidFill>
                  <a:srgbClr val="C00000"/>
                </a:solidFill>
                <a:cs typeface="Poppins" panose="00000500000000000000" pitchFamily="2" charset="0"/>
                <a:sym typeface="BioRhyme ExtraBold"/>
              </a:rPr>
              <a:t>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3200" b="1" cap="all" dirty="0">
              <a:ln/>
              <a:solidFill>
                <a:srgbClr val="C00000"/>
              </a:solidFill>
              <a:ea typeface="BioRhyme ExtraBold"/>
              <a:cs typeface="Poppins" panose="00000500000000000000" pitchFamily="2" charset="0"/>
              <a:sym typeface="BioRhyme ExtraBold"/>
            </a:endParaRPr>
          </a:p>
          <a:p>
            <a:pPr algn="ctr"/>
            <a:r>
              <a:rPr lang="en-US" sz="3200" b="1" dirty="0">
                <a:solidFill>
                  <a:srgbClr val="C00000"/>
                </a:solidFill>
              </a:rPr>
              <a:t>INTRODUCTION TO PYTHON AND NUMPY</a:t>
            </a:r>
            <a:endParaRPr lang="en-US" sz="3200" dirty="0"/>
          </a:p>
          <a:p>
            <a:pPr marR="0" lvl="0" indent="0" algn="ctr">
              <a:spcBef>
                <a:spcPts val="0"/>
              </a:spcBef>
              <a:spcAft>
                <a:spcPts val="0"/>
              </a:spcAft>
              <a:buNone/>
            </a:pPr>
            <a:endParaRPr lang="en-US" sz="2000" b="1" dirty="0">
              <a:solidFill>
                <a:srgbClr val="C00000"/>
              </a:solidFill>
              <a:ea typeface="BioRhyme ExtraBold"/>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514600" cy="522620"/>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ea typeface="Calibri"/>
                <a:cs typeface="Poppins" panose="00000500000000000000" pitchFamily="2" charset="0"/>
                <a:sym typeface="Calibri"/>
              </a:rPr>
              <a:t>Session – 7,8</a:t>
            </a:r>
            <a:endParaRPr sz="2800" b="1"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5"/>
            <a:ext cx="10731286" cy="41787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              To familiarize students with the basic concept of </a:t>
            </a:r>
            <a:r>
              <a:rPr lang="en-US" sz="1600" b="1" i="0" dirty="0">
                <a:effectLst/>
                <a:latin typeface="Poppins"/>
                <a:cs typeface="Poppins"/>
              </a:rPr>
              <a:t> </a:t>
            </a:r>
            <a:r>
              <a:rPr lang="en-US" sz="1600" b="1" dirty="0">
                <a:solidFill>
                  <a:srgbClr val="C00000"/>
                </a:solidFill>
              </a:rPr>
              <a:t>INTRODUCTION TO PYTHON AND NUMPY</a:t>
            </a:r>
            <a:endParaRPr lang="en-US" sz="1600" dirty="0"/>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51020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    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r>
              <a:rPr lang="en-US" sz="1600" dirty="0">
                <a:latin typeface="Poppins"/>
                <a:cs typeface="Poppins"/>
              </a:rPr>
              <a:t>Introduction about </a:t>
            </a:r>
            <a:r>
              <a:rPr lang="en-US" sz="1600" b="1" dirty="0">
                <a:solidFill>
                  <a:srgbClr val="C00000"/>
                </a:solidFill>
              </a:rPr>
              <a:t>INTRODUCTION TO PYTHON AND NUMPY</a:t>
            </a:r>
            <a:endParaRPr lang="en-US" sz="1600" dirty="0"/>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8477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gn="ct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 basic knowledge about </a:t>
            </a:r>
            <a:r>
              <a:rPr lang="en-US" sz="1600" b="1" dirty="0">
                <a:solidFill>
                  <a:srgbClr val="C00000"/>
                </a:solidFill>
              </a:rPr>
              <a:t>INTRODUCTION TO PYTHON AND NUMPY</a:t>
            </a:r>
            <a:endParaRPr lang="en-US" sz="1600" dirty="0"/>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838200"/>
            <a:ext cx="11125199" cy="5029200"/>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is a very popular general-purpose interpreted, interactive, object-oriented, and high-level programming language. Python is a dynamically-typed and garbage-collected programming language. It was created by </a:t>
            </a:r>
            <a:r>
              <a:rPr lang="en-US" b="1" dirty="0">
                <a:latin typeface="Times New Roman" panose="02020603050405020304" pitchFamily="18" charset="0"/>
                <a:cs typeface="Times New Roman" panose="02020603050405020304" pitchFamily="18" charset="0"/>
              </a:rPr>
              <a:t>Guido van </a:t>
            </a:r>
            <a:r>
              <a:rPr lang="en-US" b="1" dirty="0" err="1">
                <a:latin typeface="Times New Roman" panose="02020603050405020304" pitchFamily="18" charset="0"/>
                <a:cs typeface="Times New Roman" panose="02020603050405020304" pitchFamily="18" charset="0"/>
              </a:rPr>
              <a:t>Rossum</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during 1985- 1990. Like Perl, Python source code is also available under the GNU General Public License (GPL).It was released in the year 1991.</a:t>
            </a:r>
          </a:p>
          <a:p>
            <a:pPr algn="just"/>
            <a:r>
              <a:rPr lang="en-US" dirty="0">
                <a:latin typeface="Times New Roman" panose="02020603050405020304" pitchFamily="18" charset="0"/>
                <a:cs typeface="Times New Roman" panose="02020603050405020304" pitchFamily="18" charset="0"/>
              </a:rPr>
              <a:t>Python is consistently rated as one of the world's most popular programming languages. Python is easy to learn, so if you are starting to learn any programming language then Python could be your great choice. </a:t>
            </a:r>
          </a:p>
          <a:p>
            <a:pPr algn="just"/>
            <a:r>
              <a:rPr lang="en-US" dirty="0">
                <a:latin typeface="Times New Roman" panose="02020603050405020304" pitchFamily="18" charset="0"/>
                <a:cs typeface="Times New Roman" panose="02020603050405020304" pitchFamily="18" charset="0"/>
              </a:rPr>
              <a:t>Python is Open Source which means its available free of cost.</a:t>
            </a:r>
          </a:p>
          <a:p>
            <a:pPr algn="just"/>
            <a:r>
              <a:rPr lang="en-US" dirty="0">
                <a:latin typeface="Times New Roman" panose="02020603050405020304" pitchFamily="18" charset="0"/>
                <a:cs typeface="Times New Roman" panose="02020603050405020304" pitchFamily="18" charset="0"/>
              </a:rPr>
              <a:t>Python is simple and so easy to learn</a:t>
            </a:r>
          </a:p>
          <a:p>
            <a:pPr algn="just"/>
            <a:r>
              <a:rPr lang="en-US" dirty="0">
                <a:latin typeface="Times New Roman" panose="02020603050405020304" pitchFamily="18" charset="0"/>
                <a:cs typeface="Times New Roman" panose="02020603050405020304" pitchFamily="18" charset="0"/>
              </a:rPr>
              <a:t>Python is versatile and can be used to create many different things.</a:t>
            </a:r>
          </a:p>
          <a:p>
            <a:pPr algn="just"/>
            <a:r>
              <a:rPr lang="en-US" dirty="0">
                <a:latin typeface="Times New Roman" panose="02020603050405020304" pitchFamily="18" charset="0"/>
                <a:cs typeface="Times New Roman" panose="02020603050405020304" pitchFamily="18" charset="0"/>
              </a:rPr>
              <a:t>Python has powerful development libraries include AI, ML, etc.</a:t>
            </a:r>
          </a:p>
          <a:p>
            <a:pPr algn="just"/>
            <a:r>
              <a:rPr lang="en-US" dirty="0">
                <a:latin typeface="Times New Roman" panose="02020603050405020304" pitchFamily="18" charset="0"/>
                <a:cs typeface="Times New Roman" panose="02020603050405020304" pitchFamily="18" charset="0"/>
              </a:rPr>
              <a:t>Python is much in demand and ensures high salary</a:t>
            </a:r>
          </a:p>
          <a:p>
            <a:pPr algn="just"/>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TO PYTHON </a:t>
            </a:r>
          </a:p>
        </p:txBody>
      </p:sp>
    </p:spTree>
    <p:extLst>
      <p:ext uri="{BB962C8B-B14F-4D97-AF65-F5344CB8AC3E}">
        <p14:creationId xmlns:p14="http://schemas.microsoft.com/office/powerpoint/2010/main" val="87138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11506199" cy="5334000"/>
          </a:xfrm>
        </p:spPr>
        <p:txBody>
          <a:bodyPr>
            <a:normAutofit fontScale="85000" lnSpcReduction="20000"/>
          </a:bodyPr>
          <a:lstStyle/>
          <a:p>
            <a:r>
              <a:rPr lang="en-US" b="1" dirty="0">
                <a:latin typeface="Times New Roman" pitchFamily="18" charset="0"/>
                <a:cs typeface="Times New Roman" pitchFamily="18" charset="0"/>
              </a:rPr>
              <a:t>Some of the important features of Python:</a:t>
            </a:r>
          </a:p>
          <a:p>
            <a:r>
              <a:rPr lang="en-US" b="1" dirty="0">
                <a:latin typeface="Times New Roman" pitchFamily="18" charset="0"/>
                <a:cs typeface="Times New Roman" pitchFamily="18" charset="0"/>
              </a:rPr>
              <a:t>Python is open source:</a:t>
            </a:r>
            <a:r>
              <a:rPr lang="en-US" dirty="0">
                <a:latin typeface="Times New Roman" pitchFamily="18" charset="0"/>
                <a:cs typeface="Times New Roman" pitchFamily="18" charset="0"/>
              </a:rPr>
              <a:t> The Python implementation is under an open source license that makes it freely usable and distributable, even for commercial use.</a:t>
            </a:r>
          </a:p>
          <a:p>
            <a:r>
              <a:rPr lang="en-US" b="1" dirty="0">
                <a:latin typeface="Times New Roman" pitchFamily="18" charset="0"/>
                <a:cs typeface="Times New Roman" pitchFamily="18" charset="0"/>
              </a:rPr>
              <a:t>Python is interpreted:</a:t>
            </a:r>
            <a:r>
              <a:rPr lang="en-US" dirty="0">
                <a:latin typeface="Times New Roman" pitchFamily="18" charset="0"/>
                <a:cs typeface="Times New Roman" pitchFamily="18" charset="0"/>
              </a:rPr>
              <a:t> Python is a high level language which is interpreted by a Python interpreter.</a:t>
            </a:r>
          </a:p>
          <a:p>
            <a:r>
              <a:rPr lang="en-US" b="1" dirty="0">
                <a:latin typeface="Times New Roman" pitchFamily="18" charset="0"/>
                <a:cs typeface="Times New Roman" pitchFamily="18" charset="0"/>
              </a:rPr>
              <a:t>Python is cross platform compatible:</a:t>
            </a:r>
            <a:r>
              <a:rPr lang="en-US" dirty="0">
                <a:latin typeface="Times New Roman" pitchFamily="18" charset="0"/>
                <a:cs typeface="Times New Roman" pitchFamily="18" charset="0"/>
              </a:rPr>
              <a:t> Python can be executed on all major platforms like Windows, Linux/Unix, OS/2, Mac and others.</a:t>
            </a:r>
          </a:p>
          <a:p>
            <a:r>
              <a:rPr lang="en-US" b="1" dirty="0">
                <a:latin typeface="Times New Roman" pitchFamily="18" charset="0"/>
                <a:cs typeface="Times New Roman" pitchFamily="18" charset="0"/>
              </a:rPr>
              <a:t>Python is Object-Oriented: </a:t>
            </a:r>
            <a:r>
              <a:rPr lang="en-US" dirty="0">
                <a:latin typeface="Times New Roman" pitchFamily="18" charset="0"/>
                <a:cs typeface="Times New Roman" pitchFamily="18" charset="0"/>
              </a:rPr>
              <a:t>In Python, we encapsulate data within the objects as it supports the object-oriented style of programming.</a:t>
            </a:r>
          </a:p>
          <a:p>
            <a:r>
              <a:rPr lang="en-US" b="1" dirty="0">
                <a:latin typeface="Times New Roman" pitchFamily="18" charset="0"/>
                <a:cs typeface="Times New Roman" pitchFamily="18" charset="0"/>
              </a:rPr>
              <a:t>Python is a great choice for new learners:</a:t>
            </a:r>
            <a:r>
              <a:rPr lang="en-US" dirty="0">
                <a:latin typeface="Times New Roman" pitchFamily="18" charset="0"/>
                <a:cs typeface="Times New Roman" pitchFamily="18" charset="0"/>
              </a:rPr>
              <a:t> Python is easy to learn and follows a simple syntax, so it is a good choice for beginner programmers. Python also supports wide range of application development.</a:t>
            </a:r>
          </a:p>
          <a:p>
            <a:r>
              <a:rPr lang="en-US" b="1" dirty="0">
                <a:latin typeface="Times New Roman" pitchFamily="18" charset="0"/>
                <a:cs typeface="Times New Roman" pitchFamily="18" charset="0"/>
              </a:rPr>
              <a:t>Python is extensible:</a:t>
            </a:r>
            <a:r>
              <a:rPr lang="en-US" dirty="0">
                <a:latin typeface="Times New Roman" pitchFamily="18" charset="0"/>
                <a:cs typeface="Times New Roman" pitchFamily="18" charset="0"/>
              </a:rPr>
              <a:t> Python has a wide range of libraries and built-in functions which helps in easy and rapid development of applications.</a:t>
            </a:r>
          </a:p>
          <a:p>
            <a:r>
              <a:rPr lang="en-US" b="1" dirty="0">
                <a:latin typeface="Times New Roman" pitchFamily="18" charset="0"/>
                <a:cs typeface="Times New Roman" pitchFamily="18" charset="0"/>
              </a:rPr>
              <a:t>Python is interactive:</a:t>
            </a:r>
            <a:r>
              <a:rPr lang="en-US" dirty="0">
                <a:latin typeface="Times New Roman" pitchFamily="18" charset="0"/>
                <a:cs typeface="Times New Roman" pitchFamily="18" charset="0"/>
              </a:rPr>
              <a:t> Python users are provided a command prompt where they can interact directly with the interpreter to write programs.</a:t>
            </a:r>
          </a:p>
          <a:p>
            <a:r>
              <a:rPr lang="en-US" b="1" dirty="0">
                <a:latin typeface="Times New Roman" pitchFamily="18" charset="0"/>
                <a:cs typeface="Times New Roman" pitchFamily="18" charset="0"/>
              </a:rPr>
              <a:t>Database connectivity:</a:t>
            </a:r>
            <a:r>
              <a:rPr lang="en-US" dirty="0">
                <a:latin typeface="Times New Roman" pitchFamily="18" charset="0"/>
                <a:cs typeface="Times New Roman" pitchFamily="18" charset="0"/>
              </a:rPr>
              <a:t> Python provides interfaces required to connect to all major databases like Oracle, MySQL, </a:t>
            </a:r>
            <a:r>
              <a:rPr lang="en-US" dirty="0" err="1">
                <a:latin typeface="Times New Roman" pitchFamily="18" charset="0"/>
                <a:cs typeface="Times New Roman" pitchFamily="18" charset="0"/>
              </a:rPr>
              <a:t>PostgreSQL</a:t>
            </a:r>
            <a:r>
              <a:rPr lang="en-US" dirty="0">
                <a:latin typeface="Times New Roman" pitchFamily="18" charset="0"/>
                <a:cs typeface="Times New Roman" pitchFamily="18" charset="0"/>
              </a:rPr>
              <a:t> and others.</a:t>
            </a:r>
          </a:p>
          <a:p>
            <a:endParaRPr lang="en-IN" dirty="0"/>
          </a:p>
        </p:txBody>
      </p:sp>
      <p:sp>
        <p:nvSpPr>
          <p:cNvPr id="4"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TO PYTHON </a:t>
            </a:r>
          </a:p>
        </p:txBody>
      </p:sp>
    </p:spTree>
    <p:extLst>
      <p:ext uri="{BB962C8B-B14F-4D97-AF65-F5344CB8AC3E}">
        <p14:creationId xmlns:p14="http://schemas.microsoft.com/office/powerpoint/2010/main" val="449731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125199" cy="5105400"/>
          </a:xfrm>
        </p:spPr>
        <p:txBody>
          <a:bodyPr>
            <a:noAutofit/>
          </a:bodyPr>
          <a:lstStyle/>
          <a:p>
            <a:r>
              <a:rPr lang="en-US" sz="1400" b="1" dirty="0">
                <a:latin typeface="Times New Roman" panose="02020603050405020304" pitchFamily="18" charset="0"/>
                <a:cs typeface="Times New Roman" panose="02020603050405020304" pitchFamily="18" charset="0"/>
              </a:rPr>
              <a:t>Step 1</a:t>
            </a:r>
            <a:r>
              <a:rPr lang="en-US" sz="1400" dirty="0">
                <a:latin typeface="Times New Roman" panose="02020603050405020304" pitchFamily="18" charset="0"/>
                <a:cs typeface="Times New Roman" panose="02020603050405020304" pitchFamily="18" charset="0"/>
              </a:rPr>
              <a:t> − Select Version of Python to Install</a:t>
            </a:r>
          </a:p>
          <a:p>
            <a:r>
              <a:rPr lang="en-US" sz="1400" b="1" dirty="0">
                <a:latin typeface="Times New Roman" panose="02020603050405020304" pitchFamily="18" charset="0"/>
                <a:cs typeface="Times New Roman" panose="02020603050405020304" pitchFamily="18" charset="0"/>
              </a:rPr>
              <a:t>Step 2</a:t>
            </a:r>
            <a:r>
              <a:rPr lang="en-US" sz="1400" dirty="0">
                <a:latin typeface="Times New Roman" panose="02020603050405020304" pitchFamily="18" charset="0"/>
                <a:cs typeface="Times New Roman" panose="02020603050405020304" pitchFamily="18" charset="0"/>
              </a:rPr>
              <a:t> − Download Python Executable Installer</a:t>
            </a:r>
          </a:p>
          <a:p>
            <a:r>
              <a:rPr lang="en-US" sz="1400" dirty="0">
                <a:latin typeface="Times New Roman" panose="02020603050405020304" pitchFamily="18" charset="0"/>
                <a:cs typeface="Times New Roman" panose="02020603050405020304" pitchFamily="18" charset="0"/>
              </a:rPr>
              <a:t>On the web browser, on the official site of python (</a:t>
            </a:r>
            <a:r>
              <a:rPr lang="en-US" sz="1400" dirty="0">
                <a:latin typeface="Times New Roman" panose="02020603050405020304" pitchFamily="18" charset="0"/>
                <a:cs typeface="Times New Roman" panose="02020603050405020304" pitchFamily="18" charset="0"/>
                <a:hlinkClick r:id="rId2"/>
              </a:rPr>
              <a:t>www.python.org</a:t>
            </a:r>
            <a:r>
              <a:rPr lang="en-US" sz="1400" dirty="0">
                <a:latin typeface="Times New Roman" panose="02020603050405020304" pitchFamily="18" charset="0"/>
                <a:cs typeface="Times New Roman" panose="02020603050405020304" pitchFamily="18" charset="0"/>
              </a:rPr>
              <a:t>), move to the Download for Windows section.</a:t>
            </a:r>
          </a:p>
          <a:p>
            <a:r>
              <a:rPr lang="en-US" sz="1400" dirty="0">
                <a:latin typeface="Times New Roman" panose="02020603050405020304" pitchFamily="18" charset="0"/>
                <a:cs typeface="Times New Roman" panose="02020603050405020304" pitchFamily="18" charset="0"/>
              </a:rPr>
              <a:t>All the available versions of Python will be listed. Select the version required by you and click on Download. Let’s suppose, we chose the Python 3.9.1 version.</a:t>
            </a:r>
          </a:p>
          <a:p>
            <a:r>
              <a:rPr lang="en-US" sz="1400" b="1" dirty="0">
                <a:latin typeface="Times New Roman" panose="02020603050405020304" pitchFamily="18" charset="0"/>
                <a:cs typeface="Times New Roman" panose="02020603050405020304" pitchFamily="18" charset="0"/>
              </a:rPr>
              <a:t>Step 3</a:t>
            </a:r>
            <a:r>
              <a:rPr lang="en-US" sz="1400" dirty="0">
                <a:latin typeface="Times New Roman" panose="02020603050405020304" pitchFamily="18" charset="0"/>
                <a:cs typeface="Times New Roman" panose="02020603050405020304" pitchFamily="18" charset="0"/>
              </a:rPr>
              <a:t> − Run Executable Installer</a:t>
            </a:r>
          </a:p>
          <a:p>
            <a:r>
              <a:rPr lang="en-US" sz="1400" dirty="0">
                <a:latin typeface="Times New Roman" panose="02020603050405020304" pitchFamily="18" charset="0"/>
                <a:cs typeface="Times New Roman" panose="02020603050405020304" pitchFamily="18" charset="0"/>
              </a:rPr>
              <a:t>We downloaded the Python 3.9.1 Windows 64-bit installer.</a:t>
            </a:r>
          </a:p>
          <a:p>
            <a:r>
              <a:rPr lang="en-US" sz="1400" dirty="0">
                <a:latin typeface="Times New Roman" panose="02020603050405020304" pitchFamily="18" charset="0"/>
                <a:cs typeface="Times New Roman" panose="02020603050405020304" pitchFamily="18" charset="0"/>
              </a:rPr>
              <a:t>Run the installer. Make sure to select both the checkboxes at the bottom and then click Install New.</a:t>
            </a:r>
          </a:p>
          <a:p>
            <a:r>
              <a:rPr lang="en-US" sz="1400" b="1" dirty="0">
                <a:latin typeface="Times New Roman" panose="02020603050405020304" pitchFamily="18" charset="0"/>
                <a:cs typeface="Times New Roman" panose="02020603050405020304" pitchFamily="18" charset="0"/>
              </a:rPr>
              <a:t>Step 4 </a:t>
            </a:r>
            <a:r>
              <a:rPr lang="en-US" sz="1400" dirty="0">
                <a:latin typeface="Times New Roman" panose="02020603050405020304" pitchFamily="18" charset="0"/>
                <a:cs typeface="Times New Roman" panose="02020603050405020304" pitchFamily="18" charset="0"/>
              </a:rPr>
              <a:t>− Verify Python is installed on Windows</a:t>
            </a:r>
          </a:p>
          <a:p>
            <a:r>
              <a:rPr lang="en-US" sz="1400" dirty="0">
                <a:latin typeface="Times New Roman" panose="02020603050405020304" pitchFamily="18" charset="0"/>
                <a:cs typeface="Times New Roman" panose="02020603050405020304" pitchFamily="18" charset="0"/>
              </a:rPr>
              <a:t>To ensure that Python is successfully installed on your system. Follow the given steps −</a:t>
            </a:r>
          </a:p>
          <a:p>
            <a:r>
              <a:rPr lang="en-US" sz="1400" dirty="0">
                <a:latin typeface="Times New Roman" panose="02020603050405020304" pitchFamily="18" charset="0"/>
                <a:cs typeface="Times New Roman" panose="02020603050405020304" pitchFamily="18" charset="0"/>
              </a:rPr>
              <a:t>Open the command prompt.</a:t>
            </a:r>
          </a:p>
          <a:p>
            <a:r>
              <a:rPr lang="en-US" sz="1400" dirty="0">
                <a:latin typeface="Times New Roman" panose="02020603050405020304" pitchFamily="18" charset="0"/>
                <a:cs typeface="Times New Roman" panose="02020603050405020304" pitchFamily="18" charset="0"/>
              </a:rPr>
              <a:t>Type ‘python’ and press enter.</a:t>
            </a:r>
          </a:p>
          <a:p>
            <a:r>
              <a:rPr lang="en-US" sz="1400" dirty="0">
                <a:latin typeface="Times New Roman" panose="02020603050405020304" pitchFamily="18" charset="0"/>
                <a:cs typeface="Times New Roman" panose="02020603050405020304" pitchFamily="18" charset="0"/>
              </a:rPr>
              <a:t>The version of the python which you have installed will be displayed if the python is successfully installed on your windows.</a:t>
            </a:r>
          </a:p>
          <a:p>
            <a:endParaRPr lang="en-IN" sz="1400" dirty="0"/>
          </a:p>
        </p:txBody>
      </p:sp>
      <p:sp>
        <p:nvSpPr>
          <p:cNvPr id="4"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HOW TO INSTALL PYTHON IN WINDOWS </a:t>
            </a:r>
          </a:p>
        </p:txBody>
      </p:sp>
    </p:spTree>
    <p:extLst>
      <p:ext uri="{BB962C8B-B14F-4D97-AF65-F5344CB8AC3E}">
        <p14:creationId xmlns:p14="http://schemas.microsoft.com/office/powerpoint/2010/main" val="383830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11506199" cy="541020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Knowledge on below concepts of any programming language will be useful.</a:t>
            </a:r>
          </a:p>
          <a:p>
            <a:pPr algn="just"/>
            <a:r>
              <a:rPr lang="en-US" dirty="0">
                <a:latin typeface="Times New Roman" panose="02020603050405020304" pitchFamily="18" charset="0"/>
                <a:cs typeface="Times New Roman" panose="02020603050405020304" pitchFamily="18" charset="0"/>
              </a:rPr>
              <a:t>Identifiers and keywords</a:t>
            </a:r>
          </a:p>
          <a:p>
            <a:pPr algn="just"/>
            <a:r>
              <a:rPr lang="en-US" dirty="0">
                <a:latin typeface="Times New Roman" panose="02020603050405020304" pitchFamily="18" charset="0"/>
                <a:cs typeface="Times New Roman" panose="02020603050405020304" pitchFamily="18" charset="0"/>
              </a:rPr>
              <a:t>Variables</a:t>
            </a:r>
          </a:p>
          <a:p>
            <a:pPr algn="just"/>
            <a:r>
              <a:rPr lang="en-US" dirty="0">
                <a:latin typeface="Times New Roman" panose="02020603050405020304" pitchFamily="18" charset="0"/>
                <a:cs typeface="Times New Roman" panose="02020603050405020304" pitchFamily="18" charset="0"/>
              </a:rPr>
              <a:t>Data types</a:t>
            </a:r>
          </a:p>
          <a:p>
            <a:pPr algn="just"/>
            <a:r>
              <a:rPr lang="en-US" dirty="0">
                <a:latin typeface="Times New Roman" panose="02020603050405020304" pitchFamily="18" charset="0"/>
                <a:cs typeface="Times New Roman" panose="02020603050405020304" pitchFamily="18" charset="0"/>
              </a:rPr>
              <a:t>Branching statements</a:t>
            </a:r>
          </a:p>
          <a:p>
            <a:pPr algn="just"/>
            <a:r>
              <a:rPr lang="en-US" dirty="0">
                <a:latin typeface="Times New Roman" panose="02020603050405020304" pitchFamily="18" charset="0"/>
                <a:cs typeface="Times New Roman" panose="02020603050405020304" pitchFamily="18" charset="0"/>
              </a:rPr>
              <a:t>Looping statements</a:t>
            </a:r>
          </a:p>
          <a:p>
            <a:pPr algn="just"/>
            <a:r>
              <a:rPr lang="en-US" dirty="0">
                <a:latin typeface="Times New Roman" panose="02020603050405020304" pitchFamily="18" charset="0"/>
                <a:cs typeface="Times New Roman" panose="02020603050405020304" pitchFamily="18" charset="0"/>
              </a:rPr>
              <a:t>Functions</a:t>
            </a:r>
          </a:p>
          <a:p>
            <a:pPr algn="just"/>
            <a:r>
              <a:rPr lang="en-US" dirty="0">
                <a:latin typeface="Times New Roman" panose="02020603050405020304" pitchFamily="18" charset="0"/>
                <a:cs typeface="Times New Roman" panose="02020603050405020304" pitchFamily="18" charset="0"/>
              </a:rPr>
              <a:t>Type conversion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7777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33400"/>
            <a:ext cx="11353800" cy="5410200"/>
          </a:xfrm>
        </p:spPr>
        <p:txBody>
          <a:bodyPr>
            <a:noAutofit/>
          </a:bodyPr>
          <a:lstStyle/>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Identifiers </a:t>
            </a:r>
          </a:p>
          <a:p>
            <a:pPr algn="just"/>
            <a:r>
              <a:rPr lang="en-US" dirty="0">
                <a:latin typeface="Times New Roman" panose="02020603050405020304" pitchFamily="18" charset="0"/>
                <a:cs typeface="Times New Roman" panose="02020603050405020304" pitchFamily="18" charset="0"/>
              </a:rPr>
              <a:t>In Python, variables, functions, classes, modules and objects are identified using a name known as an identifier. An identifier can start with an uppercase or lowercase character or an underscore (_) followed by any number of underscores, letters and digits. All identifiers in Python are case sensitive.</a:t>
            </a:r>
          </a:p>
          <a:p>
            <a:pPr algn="just"/>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weight=10</a:t>
            </a:r>
          </a:p>
          <a:p>
            <a:pPr algn="just"/>
            <a:r>
              <a:rPr lang="en-US" dirty="0">
                <a:latin typeface="Times New Roman" panose="02020603050405020304" pitchFamily="18" charset="0"/>
                <a:cs typeface="Times New Roman" panose="02020603050405020304" pitchFamily="18" charset="0"/>
              </a:rPr>
              <a:t>In the above example, </a:t>
            </a:r>
            <a:r>
              <a:rPr lang="en-US" i="1" dirty="0">
                <a:latin typeface="Times New Roman" panose="02020603050405020304" pitchFamily="18" charset="0"/>
                <a:cs typeface="Times New Roman" panose="02020603050405020304" pitchFamily="18" charset="0"/>
              </a:rPr>
              <a:t>weight</a:t>
            </a:r>
            <a:r>
              <a:rPr lang="en-US" dirty="0">
                <a:latin typeface="Times New Roman" panose="02020603050405020304" pitchFamily="18" charset="0"/>
                <a:cs typeface="Times New Roman" panose="02020603050405020304" pitchFamily="18" charset="0"/>
              </a:rPr>
              <a:t> is an identifier.</a:t>
            </a:r>
          </a:p>
          <a:p>
            <a:pPr algn="just"/>
            <a:r>
              <a:rPr lang="en-US" b="1" dirty="0">
                <a:latin typeface="Times New Roman" panose="02020603050405020304" pitchFamily="18" charset="0"/>
                <a:cs typeface="Times New Roman" panose="02020603050405020304" pitchFamily="18" charset="0"/>
              </a:rPr>
              <a:t>Keywords:</a:t>
            </a:r>
          </a:p>
          <a:p>
            <a:pPr algn="just"/>
            <a:r>
              <a:rPr lang="en-US" dirty="0">
                <a:latin typeface="Times New Roman" panose="02020603050405020304" pitchFamily="18" charset="0"/>
                <a:cs typeface="Times New Roman" panose="02020603050405020304" pitchFamily="18" charset="0"/>
              </a:rPr>
              <a:t>Keywords are the </a:t>
            </a:r>
            <a:r>
              <a:rPr lang="en-US" b="1" dirty="0">
                <a:latin typeface="Times New Roman" panose="02020603050405020304" pitchFamily="18" charset="0"/>
                <a:cs typeface="Times New Roman" panose="02020603050405020304" pitchFamily="18" charset="0"/>
              </a:rPr>
              <a:t>reserved words</a:t>
            </a:r>
            <a:r>
              <a:rPr lang="en-US" dirty="0">
                <a:latin typeface="Times New Roman" panose="02020603050405020304" pitchFamily="18" charset="0"/>
                <a:cs typeface="Times New Roman" panose="02020603050405020304" pitchFamily="18" charset="0"/>
              </a:rPr>
              <a:t> in Python. So keywords cannot be used as identifiers or to name variables and functions. Few of the keywords are listed below.</a:t>
            </a:r>
          </a:p>
          <a:p>
            <a:pPr algn="just"/>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if, else, </a:t>
            </a:r>
            <a:r>
              <a:rPr lang="en-US" dirty="0" err="1">
                <a:latin typeface="Times New Roman" panose="02020603050405020304" pitchFamily="18" charset="0"/>
                <a:cs typeface="Times New Roman" panose="02020603050405020304" pitchFamily="18" charset="0"/>
              </a:rPr>
              <a:t>elif</a:t>
            </a:r>
            <a:r>
              <a:rPr lang="en-US" dirty="0">
                <a:latin typeface="Times New Roman" panose="02020603050405020304" pitchFamily="18" charset="0"/>
                <a:cs typeface="Times New Roman" panose="02020603050405020304" pitchFamily="18" charset="0"/>
              </a:rPr>
              <a:t>, for, where, break, continue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3069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11658600" cy="5334000"/>
          </a:xfrm>
        </p:spPr>
        <p:txBody>
          <a:bodyPr>
            <a:normAutofit/>
          </a:bodyPr>
          <a:lstStyle/>
          <a:p>
            <a:r>
              <a:rPr lang="en-IN" b="1" dirty="0">
                <a:latin typeface="Times New Roman" panose="02020603050405020304" pitchFamily="18" charset="0"/>
                <a:cs typeface="Times New Roman" panose="02020603050405020304" pitchFamily="18" charset="0"/>
              </a:rPr>
              <a:t>Variable:</a:t>
            </a:r>
          </a:p>
          <a:p>
            <a:r>
              <a:rPr lang="en-US" dirty="0">
                <a:latin typeface="Times New Roman" panose="02020603050405020304" pitchFamily="18" charset="0"/>
                <a:cs typeface="Times New Roman" panose="02020603050405020304" pitchFamily="18" charset="0"/>
              </a:rPr>
              <a:t>Variables are containers for storing data values.</a:t>
            </a:r>
          </a:p>
          <a:p>
            <a:r>
              <a:rPr lang="en-US" b="1" dirty="0">
                <a:latin typeface="Times New Roman" panose="02020603050405020304" pitchFamily="18" charset="0"/>
                <a:cs typeface="Times New Roman" panose="02020603050405020304" pitchFamily="18" charset="0"/>
              </a:rPr>
              <a:t>Creating a Variable:</a:t>
            </a:r>
          </a:p>
          <a:p>
            <a:r>
              <a:rPr lang="en-US" dirty="0">
                <a:latin typeface="Times New Roman" panose="02020603050405020304" pitchFamily="18" charset="0"/>
                <a:cs typeface="Times New Roman" panose="02020603050405020304" pitchFamily="18" charset="0"/>
              </a:rPr>
              <a:t>Python has no command for declaring a variable.</a:t>
            </a:r>
          </a:p>
          <a:p>
            <a:r>
              <a:rPr lang="en-US" dirty="0">
                <a:latin typeface="Times New Roman" panose="02020603050405020304" pitchFamily="18" charset="0"/>
                <a:cs typeface="Times New Roman" panose="02020603050405020304" pitchFamily="18" charset="0"/>
              </a:rPr>
              <a:t>A variable is created the moment you first assign a value to it.</a:t>
            </a:r>
          </a:p>
          <a:p>
            <a:r>
              <a:rPr lang="en-IN" dirty="0">
                <a:latin typeface="Times New Roman" panose="02020603050405020304" pitchFamily="18" charset="0"/>
                <a:cs typeface="Times New Roman" panose="02020603050405020304" pitchFamily="18" charset="0"/>
              </a:rPr>
              <a:t>x = 50</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y = “</a:t>
            </a:r>
            <a:r>
              <a:rPr lang="en-US" dirty="0"/>
              <a:t>KLH-BOWREMPET</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Z=5.5</a:t>
            </a:r>
            <a:br>
              <a:rPr lang="en-IN"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Variables do not need to be declared with any particular </a:t>
            </a:r>
            <a:r>
              <a:rPr lang="en-US" i="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and can even change type after they have been set</a:t>
            </a:r>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990600"/>
            <a:ext cx="4900108" cy="2359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1084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11582399" cy="5334000"/>
          </a:xfrm>
        </p:spPr>
        <p:txBody>
          <a:bodyPr>
            <a:normAutofit fontScale="85000" lnSpcReduction="20000"/>
          </a:bodyPr>
          <a:lstStyle/>
          <a:p>
            <a:r>
              <a:rPr lang="en-IN" b="1" dirty="0">
                <a:latin typeface="Times New Roman" panose="02020603050405020304" pitchFamily="18" charset="0"/>
                <a:cs typeface="Times New Roman" panose="02020603050405020304" pitchFamily="18" charset="0"/>
              </a:rPr>
              <a:t>Variable Names:</a:t>
            </a:r>
          </a:p>
          <a:p>
            <a:r>
              <a:rPr lang="en-US" dirty="0">
                <a:latin typeface="Times New Roman" panose="02020603050405020304" pitchFamily="18" charset="0"/>
                <a:cs typeface="Times New Roman" panose="02020603050405020304" pitchFamily="18" charset="0"/>
              </a:rPr>
              <a:t>A variable can have a short name (like x and y) or a more descriptive name (age, </a:t>
            </a:r>
            <a:r>
              <a:rPr lang="en-US" dirty="0" err="1">
                <a:latin typeface="Times New Roman" panose="02020603050405020304" pitchFamily="18" charset="0"/>
                <a:cs typeface="Times New Roman" panose="02020603050405020304" pitchFamily="18" charset="0"/>
              </a:rPr>
              <a:t>carname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total_volume</a:t>
            </a:r>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Rules for Python variables: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variable name must start with a letter or the underscore character</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variable name cannot start with a number</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variable name can only contain alpha-numeric characters and underscores (A-z,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0-9, and _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Variable names are case-sensitive (age, Age, and AGE are three different variables)</a:t>
            </a:r>
          </a:p>
          <a:p>
            <a:r>
              <a:rPr lang="en-IN" b="1" dirty="0"/>
              <a:t>Example:</a:t>
            </a:r>
          </a:p>
          <a:p>
            <a:r>
              <a:rPr lang="en-IN" dirty="0"/>
              <a:t>	</a:t>
            </a:r>
            <a:r>
              <a:rPr lang="en-US" dirty="0" err="1"/>
              <a:t>myvar</a:t>
            </a:r>
            <a:r>
              <a:rPr lang="en-US" dirty="0"/>
              <a:t> = “KLH-BOWREMPET"</a:t>
            </a:r>
            <a:br>
              <a:rPr lang="en-US" dirty="0"/>
            </a:br>
            <a:r>
              <a:rPr lang="en-US" dirty="0"/>
              <a:t>	</a:t>
            </a:r>
            <a:r>
              <a:rPr lang="en-US" dirty="0" err="1"/>
              <a:t>my_var</a:t>
            </a:r>
            <a:r>
              <a:rPr lang="en-US" dirty="0"/>
              <a:t> = " KLH-BOWREMPET "</a:t>
            </a:r>
            <a:br>
              <a:rPr lang="en-US" dirty="0"/>
            </a:br>
            <a:r>
              <a:rPr lang="en-US" dirty="0"/>
              <a:t>	_</a:t>
            </a:r>
            <a:r>
              <a:rPr lang="en-US" dirty="0" err="1"/>
              <a:t>my_var</a:t>
            </a:r>
            <a:r>
              <a:rPr lang="en-US" dirty="0"/>
              <a:t> = " KLH-BOWREMPET "</a:t>
            </a:r>
            <a:br>
              <a:rPr lang="en-US" dirty="0"/>
            </a:br>
            <a:r>
              <a:rPr lang="en-US" dirty="0"/>
              <a:t>	</a:t>
            </a:r>
            <a:r>
              <a:rPr lang="en-US" dirty="0" err="1"/>
              <a:t>myVar</a:t>
            </a:r>
            <a:r>
              <a:rPr lang="en-US" dirty="0"/>
              <a:t> = " KLH-BOWREMPET "</a:t>
            </a:r>
            <a:br>
              <a:rPr lang="en-US" dirty="0"/>
            </a:br>
            <a:r>
              <a:rPr lang="en-US" dirty="0"/>
              <a:t>	MYVAR = " KLH-BOWREMPET "</a:t>
            </a:r>
            <a:br>
              <a:rPr lang="en-US" dirty="0"/>
            </a:br>
            <a:r>
              <a:rPr lang="en-US" dirty="0"/>
              <a:t>	myvar2 = " KLH-BOWREMPET "</a:t>
            </a:r>
            <a:endParaRPr lang="en-IN" dirty="0"/>
          </a:p>
          <a:p>
            <a:endParaRPr lang="en-IN" dirty="0"/>
          </a:p>
        </p:txBody>
      </p:sp>
    </p:spTree>
    <p:extLst>
      <p:ext uri="{BB962C8B-B14F-4D97-AF65-F5344CB8AC3E}">
        <p14:creationId xmlns:p14="http://schemas.microsoft.com/office/powerpoint/2010/main" val="1731153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11506200" cy="5257800"/>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Many Values to Multiple Variables:</a:t>
            </a:r>
          </a:p>
          <a:p>
            <a:r>
              <a:rPr lang="en-US" dirty="0">
                <a:latin typeface="Times New Roman" panose="02020603050405020304" pitchFamily="18" charset="0"/>
                <a:cs typeface="Times New Roman" panose="02020603050405020304" pitchFamily="18" charset="0"/>
              </a:rPr>
              <a:t>Python allows you to assign values to multiple variables in one line:</a:t>
            </a:r>
          </a:p>
          <a:p>
            <a:r>
              <a:rPr lang="en-IN" dirty="0">
                <a:latin typeface="Times New Roman" panose="02020603050405020304" pitchFamily="18" charset="0"/>
                <a:cs typeface="Times New Roman" panose="02020603050405020304" pitchFamily="18" charset="0"/>
              </a:rPr>
              <a:t>x, y, z = "Orange", "Banana", "Cherry“</a:t>
            </a:r>
          </a:p>
          <a:p>
            <a:r>
              <a:rPr lang="en-US" b="1" dirty="0">
                <a:latin typeface="Times New Roman" panose="02020603050405020304" pitchFamily="18" charset="0"/>
                <a:cs typeface="Times New Roman" panose="02020603050405020304" pitchFamily="18" charset="0"/>
              </a:rPr>
              <a:t>One Value to Multiple Variables:</a:t>
            </a:r>
          </a:p>
          <a:p>
            <a:r>
              <a:rPr lang="en-US" dirty="0">
                <a:latin typeface="Times New Roman" panose="02020603050405020304" pitchFamily="18" charset="0"/>
                <a:cs typeface="Times New Roman" panose="02020603050405020304" pitchFamily="18" charset="0"/>
              </a:rPr>
              <a:t>Python allows you to assign value to multiple variables in one line:</a:t>
            </a:r>
          </a:p>
          <a:p>
            <a:r>
              <a:rPr lang="en-IN" dirty="0">
                <a:latin typeface="Times New Roman" panose="02020603050405020304" pitchFamily="18" charset="0"/>
                <a:cs typeface="Times New Roman" panose="02020603050405020304" pitchFamily="18" charset="0"/>
              </a:rPr>
              <a:t> x = y = z = "Orange“</a:t>
            </a:r>
          </a:p>
          <a:p>
            <a:r>
              <a:rPr lang="en-US" b="1" dirty="0">
                <a:latin typeface="Times New Roman" panose="02020603050405020304" pitchFamily="18" charset="0"/>
                <a:cs typeface="Times New Roman" panose="02020603050405020304" pitchFamily="18" charset="0"/>
              </a:rPr>
              <a:t>Example:</a:t>
            </a:r>
          </a:p>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name=“Ravi”</a:t>
            </a:r>
          </a:p>
          <a:p>
            <a:r>
              <a:rPr lang="en-US" dirty="0">
                <a:latin typeface="Times New Roman" panose="02020603050405020304" pitchFamily="18" charset="0"/>
                <a:cs typeface="Times New Roman" panose="02020603050405020304" pitchFamily="18" charset="0"/>
              </a:rPr>
              <a:t>	AGE=20</a:t>
            </a:r>
          </a:p>
          <a:p>
            <a:r>
              <a:rPr lang="en-US" dirty="0">
                <a:latin typeface="Times New Roman" panose="02020603050405020304" pitchFamily="18" charset="0"/>
                <a:cs typeface="Times New Roman" panose="02020603050405020304" pitchFamily="18" charset="0"/>
              </a:rPr>
              <a:t>	Height=5.5</a:t>
            </a:r>
          </a:p>
          <a:p>
            <a:r>
              <a:rPr lang="en-US" dirty="0">
                <a:latin typeface="Times New Roman" panose="02020603050405020304" pitchFamily="18" charset="0"/>
                <a:cs typeface="Times New Roman" panose="02020603050405020304" pitchFamily="18" charset="0"/>
              </a:rPr>
              <a:t>	print(name)</a:t>
            </a:r>
          </a:p>
          <a:p>
            <a:r>
              <a:rPr lang="en-US" dirty="0">
                <a:latin typeface="Times New Roman" panose="02020603050405020304" pitchFamily="18" charset="0"/>
                <a:cs typeface="Times New Roman" panose="02020603050405020304" pitchFamily="18" charset="0"/>
              </a:rPr>
              <a:t>	print(AGE)</a:t>
            </a:r>
          </a:p>
          <a:p>
            <a:r>
              <a:rPr lang="en-US" dirty="0">
                <a:latin typeface="Times New Roman" panose="02020603050405020304" pitchFamily="18" charset="0"/>
                <a:cs typeface="Times New Roman" panose="02020603050405020304" pitchFamily="18" charset="0"/>
              </a:rPr>
              <a:t>	print(Height)</a:t>
            </a:r>
            <a:endParaRPr lang="en-US" dirty="0"/>
          </a:p>
          <a:p>
            <a:endParaRPr lang="en-IN" dirty="0"/>
          </a:p>
        </p:txBody>
      </p:sp>
    </p:spTree>
    <p:extLst>
      <p:ext uri="{BB962C8B-B14F-4D97-AF65-F5344CB8AC3E}">
        <p14:creationId xmlns:p14="http://schemas.microsoft.com/office/powerpoint/2010/main" val="1392026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11277599" cy="5181600"/>
          </a:xfrm>
        </p:spPr>
        <p:txBody>
          <a:bodyPr>
            <a:noAutofit/>
          </a:bodyPr>
          <a:lstStyle/>
          <a:p>
            <a:r>
              <a:rPr lang="en-US" sz="1900" dirty="0">
                <a:latin typeface="Times New Roman" panose="02020603050405020304" pitchFamily="18" charset="0"/>
                <a:cs typeface="Times New Roman" panose="02020603050405020304" pitchFamily="18" charset="0"/>
              </a:rPr>
              <a:t>Print statement in python:</a:t>
            </a:r>
          </a:p>
          <a:p>
            <a:r>
              <a:rPr lang="en-US" sz="1900" dirty="0">
                <a:latin typeface="Times New Roman" panose="02020603050405020304" pitchFamily="18" charset="0"/>
                <a:cs typeface="Times New Roman" panose="02020603050405020304" pitchFamily="18" charset="0"/>
              </a:rPr>
              <a:t>a=24</a:t>
            </a:r>
          </a:p>
          <a:p>
            <a:r>
              <a:rPr lang="en-US" sz="1900" dirty="0">
                <a:latin typeface="Times New Roman" panose="02020603050405020304" pitchFamily="18" charset="0"/>
                <a:cs typeface="Times New Roman" panose="02020603050405020304" pitchFamily="18" charset="0"/>
              </a:rPr>
              <a:t>b=25</a:t>
            </a:r>
          </a:p>
          <a:p>
            <a:r>
              <a:rPr lang="en-US" sz="1900" dirty="0">
                <a:latin typeface="Times New Roman" panose="02020603050405020304" pitchFamily="18" charset="0"/>
                <a:cs typeface="Times New Roman" panose="02020603050405020304" pitchFamily="18" charset="0"/>
              </a:rPr>
              <a:t>Print(</a:t>
            </a:r>
            <a:r>
              <a:rPr lang="en-US" sz="1900" dirty="0" err="1">
                <a:latin typeface="Times New Roman" panose="02020603050405020304" pitchFamily="18" charset="0"/>
                <a:cs typeface="Times New Roman" panose="02020603050405020304" pitchFamily="18" charset="0"/>
              </a:rPr>
              <a:t>a+b</a:t>
            </a:r>
            <a:r>
              <a:rPr lang="en-US" sz="1900" dirty="0">
                <a:latin typeface="Times New Roman" panose="02020603050405020304" pitchFamily="18" charset="0"/>
                <a:cs typeface="Times New Roman" panose="02020603050405020304" pitchFamily="18" charset="0"/>
              </a:rPr>
              <a:t>)</a:t>
            </a:r>
          </a:p>
          <a:p>
            <a:r>
              <a:rPr lang="en-US" sz="1900" dirty="0">
                <a:latin typeface="Times New Roman" panose="02020603050405020304" pitchFamily="18" charset="0"/>
                <a:cs typeface="Times New Roman" panose="02020603050405020304" pitchFamily="18" charset="0"/>
              </a:rPr>
              <a:t>Syntax:</a:t>
            </a:r>
          </a:p>
          <a:p>
            <a:r>
              <a:rPr lang="en-US" sz="1900" dirty="0">
                <a:latin typeface="Times New Roman" panose="02020603050405020304" pitchFamily="18" charset="0"/>
                <a:cs typeface="Times New Roman" panose="02020603050405020304" pitchFamily="18" charset="0"/>
              </a:rPr>
              <a:t>print</a:t>
            </a:r>
            <a:r>
              <a:rPr lang="en-US" sz="1900" i="1" dirty="0">
                <a:latin typeface="Times New Roman" panose="02020603050405020304" pitchFamily="18" charset="0"/>
                <a:cs typeface="Times New Roman" panose="02020603050405020304" pitchFamily="18" charset="0"/>
              </a:rPr>
              <a:t>(object(s)</a:t>
            </a:r>
            <a:r>
              <a:rPr lang="en-US" sz="1900" dirty="0">
                <a:latin typeface="Times New Roman" panose="02020603050405020304" pitchFamily="18" charset="0"/>
                <a:cs typeface="Times New Roman" panose="02020603050405020304" pitchFamily="18" charset="0"/>
              </a:rPr>
              <a:t>, </a:t>
            </a:r>
            <a:r>
              <a:rPr lang="en-US" sz="1900" dirty="0" err="1">
                <a:latin typeface="Times New Roman" panose="02020603050405020304" pitchFamily="18" charset="0"/>
                <a:cs typeface="Times New Roman" panose="02020603050405020304" pitchFamily="18" charset="0"/>
              </a:rPr>
              <a:t>sep</a:t>
            </a:r>
            <a:r>
              <a:rPr lang="en-US" sz="1900" dirty="0">
                <a:latin typeface="Times New Roman" panose="02020603050405020304" pitchFamily="18" charset="0"/>
                <a:cs typeface="Times New Roman" panose="02020603050405020304" pitchFamily="18" charset="0"/>
              </a:rPr>
              <a:t>=</a:t>
            </a:r>
            <a:r>
              <a:rPr lang="en-US" sz="1900" i="1" dirty="0">
                <a:latin typeface="Times New Roman" panose="02020603050405020304" pitchFamily="18" charset="0"/>
                <a:cs typeface="Times New Roman" panose="02020603050405020304" pitchFamily="18" charset="0"/>
              </a:rPr>
              <a:t>separator</a:t>
            </a:r>
            <a:r>
              <a:rPr lang="en-US" sz="1900" dirty="0">
                <a:latin typeface="Times New Roman" panose="02020603050405020304" pitchFamily="18" charset="0"/>
                <a:cs typeface="Times New Roman" panose="02020603050405020304" pitchFamily="18" charset="0"/>
              </a:rPr>
              <a:t>, end=</a:t>
            </a:r>
            <a:r>
              <a:rPr lang="en-US" sz="1900" i="1" dirty="0">
                <a:latin typeface="Times New Roman" panose="02020603050405020304" pitchFamily="18" charset="0"/>
                <a:cs typeface="Times New Roman" panose="02020603050405020304" pitchFamily="18" charset="0"/>
              </a:rPr>
              <a:t>end)</a:t>
            </a:r>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Parameter		Description	</a:t>
            </a:r>
          </a:p>
          <a:p>
            <a:r>
              <a:rPr lang="en-US" sz="1900" i="1" dirty="0">
                <a:latin typeface="Times New Roman" panose="02020603050405020304" pitchFamily="18" charset="0"/>
                <a:cs typeface="Times New Roman" panose="02020603050405020304" pitchFamily="18" charset="0"/>
              </a:rPr>
              <a:t>object(s)		</a:t>
            </a:r>
            <a:r>
              <a:rPr lang="en-US" sz="1900" dirty="0">
                <a:latin typeface="Times New Roman" panose="02020603050405020304" pitchFamily="18" charset="0"/>
                <a:cs typeface="Times New Roman" panose="02020603050405020304" pitchFamily="18" charset="0"/>
              </a:rPr>
              <a:t>Any object, and as many as you like. Will be converted to string before printed</a:t>
            </a:r>
          </a:p>
          <a:p>
            <a:r>
              <a:rPr lang="en-US" sz="1900" dirty="0" err="1">
                <a:latin typeface="Times New Roman" panose="02020603050405020304" pitchFamily="18" charset="0"/>
                <a:cs typeface="Times New Roman" panose="02020603050405020304" pitchFamily="18" charset="0"/>
              </a:rPr>
              <a:t>sep</a:t>
            </a:r>
            <a:r>
              <a:rPr lang="en-US" sz="1900" dirty="0">
                <a:latin typeface="Times New Roman" panose="02020603050405020304" pitchFamily="18" charset="0"/>
                <a:cs typeface="Times New Roman" panose="02020603050405020304" pitchFamily="18" charset="0"/>
              </a:rPr>
              <a:t>='</a:t>
            </a:r>
            <a:r>
              <a:rPr lang="en-US" sz="1900" i="1" dirty="0">
                <a:latin typeface="Times New Roman" panose="02020603050405020304" pitchFamily="18" charset="0"/>
                <a:cs typeface="Times New Roman" panose="02020603050405020304" pitchFamily="18" charset="0"/>
              </a:rPr>
              <a:t>separator</a:t>
            </a:r>
            <a:r>
              <a:rPr lang="en-US" sz="1900" dirty="0">
                <a:latin typeface="Times New Roman" panose="02020603050405020304" pitchFamily="18" charset="0"/>
                <a:cs typeface="Times New Roman" panose="02020603050405020304" pitchFamily="18" charset="0"/>
              </a:rPr>
              <a:t>‘	Optional. Specify how to separate the objects, if there is 	more than one. 						Default is ' ‘</a:t>
            </a:r>
          </a:p>
          <a:p>
            <a:r>
              <a:rPr lang="en-US" sz="1900" dirty="0">
                <a:latin typeface="Times New Roman" panose="02020603050405020304" pitchFamily="18" charset="0"/>
                <a:cs typeface="Times New Roman" panose="02020603050405020304" pitchFamily="18" charset="0"/>
              </a:rPr>
              <a:t>end='</a:t>
            </a:r>
            <a:r>
              <a:rPr lang="en-US" sz="1900" i="1" dirty="0">
                <a:latin typeface="Times New Roman" panose="02020603050405020304" pitchFamily="18" charset="0"/>
                <a:cs typeface="Times New Roman" panose="02020603050405020304" pitchFamily="18" charset="0"/>
              </a:rPr>
              <a:t>end</a:t>
            </a:r>
            <a:r>
              <a:rPr lang="en-US" sz="1900" dirty="0">
                <a:latin typeface="Times New Roman" panose="02020603050405020304" pitchFamily="18" charset="0"/>
                <a:cs typeface="Times New Roman" panose="02020603050405020304" pitchFamily="18" charset="0"/>
              </a:rPr>
              <a:t>‘		Optional. Specify what to print at the end. Default is '\n' 	(line feed)</a:t>
            </a:r>
          </a:p>
          <a:p>
            <a:r>
              <a:rPr lang="en-US" sz="1900" dirty="0">
                <a:latin typeface="Times New Roman" panose="02020603050405020304" pitchFamily="18" charset="0"/>
                <a:cs typeface="Times New Roman" panose="02020603050405020304" pitchFamily="18" charset="0"/>
              </a:rPr>
              <a:t> </a:t>
            </a:r>
            <a:endParaRPr lang="en-IN" sz="19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464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11201399" cy="5257800"/>
          </a:xfrm>
        </p:spPr>
        <p:txBody>
          <a:bodyPr>
            <a:normAutofit/>
          </a:bodyPr>
          <a:lstStyle/>
          <a:p>
            <a:r>
              <a:rPr lang="en-US" dirty="0">
                <a:latin typeface="Times New Roman" panose="02020603050405020304" pitchFamily="18" charset="0"/>
                <a:cs typeface="Times New Roman" panose="02020603050405020304" pitchFamily="18" charset="0"/>
              </a:rPr>
              <a:t>print("Hello", "how are you?")</a:t>
            </a:r>
          </a:p>
          <a:p>
            <a:r>
              <a:rPr lang="en-US" dirty="0">
                <a:latin typeface="Times New Roman" panose="02020603050405020304" pitchFamily="18" charset="0"/>
                <a:cs typeface="Times New Roman" panose="02020603050405020304" pitchFamily="18" charset="0"/>
              </a:rPr>
              <a:t>o/p : Hello how are you?</a:t>
            </a:r>
          </a:p>
          <a:p>
            <a:r>
              <a:rPr lang="en-US" dirty="0">
                <a:latin typeface="Times New Roman" panose="02020603050405020304" pitchFamily="18" charset="0"/>
                <a:cs typeface="Times New Roman" panose="02020603050405020304" pitchFamily="18" charset="0"/>
              </a:rPr>
              <a:t>Print two messages, and specify the separator:</a:t>
            </a:r>
          </a:p>
          <a:p>
            <a:r>
              <a:rPr lang="en-US" dirty="0">
                <a:latin typeface="Times New Roman" panose="02020603050405020304" pitchFamily="18" charset="0"/>
                <a:cs typeface="Times New Roman" panose="02020603050405020304" pitchFamily="18" charset="0"/>
              </a:rPr>
              <a:t>print("Hello", "how are you?", </a:t>
            </a:r>
            <a:r>
              <a:rPr lang="en-US" dirty="0" err="1">
                <a:latin typeface="Times New Roman" panose="02020603050405020304" pitchFamily="18" charset="0"/>
                <a:cs typeface="Times New Roman" panose="02020603050405020304" pitchFamily="18" charset="0"/>
              </a:rPr>
              <a:t>sep</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o/p:  Hello---how are you?</a:t>
            </a:r>
          </a:p>
          <a:p>
            <a:r>
              <a:rPr lang="en-US" dirty="0">
                <a:latin typeface="Times New Roman" panose="02020603050405020304" pitchFamily="18" charset="0"/>
                <a:cs typeface="Times New Roman" panose="02020603050405020304" pitchFamily="18" charset="0"/>
              </a:rPr>
              <a:t>print("hi","</a:t>
            </a:r>
            <a:r>
              <a:rPr lang="en-US" dirty="0" err="1">
                <a:latin typeface="Times New Roman" panose="02020603050405020304" pitchFamily="18" charset="0"/>
                <a:cs typeface="Times New Roman" panose="02020603050405020304" pitchFamily="18" charset="0"/>
              </a:rPr>
              <a:t>hel</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hru</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sep</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o/p:  hi**</a:t>
            </a:r>
            <a:r>
              <a:rPr lang="en-US" dirty="0" err="1">
                <a:latin typeface="Times New Roman" panose="02020603050405020304" pitchFamily="18" charset="0"/>
                <a:cs typeface="Times New Roman" panose="02020603050405020304" pitchFamily="18" charset="0"/>
              </a:rPr>
              <a:t>hel</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hru</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40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11201399" cy="5181600"/>
          </a:xfrm>
        </p:spPr>
        <p:txBody>
          <a:bodyPr>
            <a:normAutofit/>
          </a:bodyPr>
          <a:lstStyle/>
          <a:p>
            <a:pPr algn="just"/>
            <a:r>
              <a:rPr lang="en-US" b="1" dirty="0">
                <a:latin typeface="Times New Roman" panose="02020603050405020304" pitchFamily="18" charset="0"/>
                <a:cs typeface="Times New Roman" panose="02020603050405020304" pitchFamily="18" charset="0"/>
              </a:rPr>
              <a:t>The input() function:</a:t>
            </a:r>
          </a:p>
          <a:p>
            <a:pPr algn="just"/>
            <a:r>
              <a:rPr lang="en-US" dirty="0">
                <a:latin typeface="Times New Roman" panose="02020603050405020304" pitchFamily="18" charset="0"/>
                <a:cs typeface="Times New Roman" panose="02020603050405020304" pitchFamily="18" charset="0"/>
              </a:rPr>
              <a:t>Python provides the </a:t>
            </a:r>
            <a:r>
              <a:rPr lang="en-US" b="1" dirty="0">
                <a:latin typeface="Times New Roman" panose="02020603050405020304" pitchFamily="18" charset="0"/>
                <a:cs typeface="Times New Roman" panose="02020603050405020304" pitchFamily="18" charset="0"/>
              </a:rPr>
              <a:t>input()</a:t>
            </a:r>
            <a:r>
              <a:rPr lang="en-US" dirty="0">
                <a:latin typeface="Times New Roman" panose="02020603050405020304" pitchFamily="18" charset="0"/>
                <a:cs typeface="Times New Roman" panose="02020603050405020304" pitchFamily="18" charset="0"/>
              </a:rPr>
              <a:t> built-in function to read an input from the user using the standard input device (i.e. keyboard). The input() function always returns string data irrespective of the type of data entered through the keyboard.</a:t>
            </a:r>
          </a:p>
          <a:p>
            <a:pPr algn="just"/>
            <a:r>
              <a:rPr lang="en-US" b="1" dirty="0">
                <a:latin typeface="Times New Roman" panose="02020603050405020304" pitchFamily="18" charset="0"/>
                <a:cs typeface="Times New Roman" panose="02020603050405020304" pitchFamily="18" charset="0"/>
              </a:rPr>
              <a:t>Syntax: </a:t>
            </a:r>
            <a:r>
              <a:rPr lang="en-US" dirty="0" err="1">
                <a:latin typeface="Times New Roman" panose="02020603050405020304" pitchFamily="18" charset="0"/>
                <a:cs typeface="Times New Roman" panose="02020603050405020304" pitchFamily="18" charset="0"/>
              </a:rPr>
              <a:t>var_name</a:t>
            </a:r>
            <a:r>
              <a:rPr lang="en-US" dirty="0">
                <a:latin typeface="Times New Roman" panose="02020603050405020304" pitchFamily="18" charset="0"/>
                <a:cs typeface="Times New Roman" panose="02020603050405020304" pitchFamily="18" charset="0"/>
              </a:rPr>
              <a:t> = input([“interactive statement”])</a:t>
            </a:r>
          </a:p>
          <a:p>
            <a:pPr algn="just"/>
            <a:r>
              <a:rPr lang="en-US" dirty="0">
                <a:latin typeface="Times New Roman" panose="02020603050405020304" pitchFamily="18" charset="0"/>
                <a:cs typeface="Times New Roman" panose="02020603050405020304" pitchFamily="18" charset="0"/>
              </a:rPr>
              <a:t>where,</a:t>
            </a:r>
          </a:p>
          <a:p>
            <a:pPr algn="just"/>
            <a:r>
              <a:rPr lang="en-US" b="1" dirty="0" err="1">
                <a:latin typeface="Times New Roman" panose="02020603050405020304" pitchFamily="18" charset="0"/>
                <a:cs typeface="Times New Roman" panose="02020603050405020304" pitchFamily="18" charset="0"/>
              </a:rPr>
              <a:t>var_name</a:t>
            </a:r>
            <a:r>
              <a:rPr lang="en-US" dirty="0">
                <a:latin typeface="Times New Roman" panose="02020603050405020304" pitchFamily="18" charset="0"/>
                <a:cs typeface="Times New Roman" panose="02020603050405020304" pitchFamily="18" charset="0"/>
              </a:rPr>
              <a:t> is the variable assigned with the string value which is read using input method.</a:t>
            </a:r>
          </a:p>
          <a:p>
            <a:pPr algn="just"/>
            <a:r>
              <a:rPr lang="en-US" b="1" dirty="0">
                <a:latin typeface="Times New Roman" panose="02020603050405020304" pitchFamily="18" charset="0"/>
                <a:cs typeface="Times New Roman" panose="02020603050405020304" pitchFamily="18" charset="0"/>
              </a:rPr>
              <a:t>Interactive statement</a:t>
            </a:r>
            <a:r>
              <a:rPr lang="en-US" dirty="0">
                <a:latin typeface="Times New Roman" panose="02020603050405020304" pitchFamily="18" charset="0"/>
                <a:cs typeface="Times New Roman" panose="02020603050405020304" pitchFamily="18" charset="0"/>
              </a:rPr>
              <a:t> is the statement displayed to the user expecting the response from them.</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00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11658600" cy="5334000"/>
          </a:xfrm>
        </p:spPr>
        <p:txBody>
          <a:bodyPr>
            <a:noAutofit/>
          </a:bodyPr>
          <a:lstStyle/>
          <a:p>
            <a:r>
              <a:rPr lang="en-US" sz="1700" dirty="0">
                <a:latin typeface="Times New Roman" panose="02020603050405020304" pitchFamily="18" charset="0"/>
                <a:cs typeface="Times New Roman" panose="02020603050405020304" pitchFamily="18" charset="0"/>
              </a:rPr>
              <a:t>Python Indentation</a:t>
            </a:r>
          </a:p>
          <a:p>
            <a:r>
              <a:rPr lang="en-US" sz="1700" dirty="0">
                <a:latin typeface="Times New Roman" panose="02020603050405020304" pitchFamily="18" charset="0"/>
                <a:cs typeface="Times New Roman" panose="02020603050405020304" pitchFamily="18" charset="0"/>
              </a:rPr>
              <a:t>Indentation refers to the spaces at the beginning of a code line.</a:t>
            </a:r>
          </a:p>
          <a:p>
            <a:r>
              <a:rPr lang="en-US" sz="1700" dirty="0">
                <a:latin typeface="Times New Roman" panose="02020603050405020304" pitchFamily="18" charset="0"/>
                <a:cs typeface="Times New Roman" panose="02020603050405020304" pitchFamily="18" charset="0"/>
              </a:rPr>
              <a:t>Where in other programming languages the indentation in code is for readability only, the 	indentation in Python is very important.</a:t>
            </a:r>
          </a:p>
          <a:p>
            <a:r>
              <a:rPr lang="en-US" sz="1700" dirty="0">
                <a:latin typeface="Times New Roman" panose="02020603050405020304" pitchFamily="18" charset="0"/>
                <a:cs typeface="Times New Roman" panose="02020603050405020304" pitchFamily="18" charset="0"/>
              </a:rPr>
              <a:t>Python uses indentation to indicate a block of code.</a:t>
            </a:r>
          </a:p>
          <a:p>
            <a:r>
              <a:rPr lang="en-US" sz="1700" dirty="0">
                <a:latin typeface="Times New Roman" panose="02020603050405020304" pitchFamily="18" charset="0"/>
                <a:cs typeface="Times New Roman" panose="02020603050405020304" pitchFamily="18" charset="0"/>
              </a:rPr>
              <a:t>if 5 &gt; 2:</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   print("Five is greater than two!")</a:t>
            </a:r>
          </a:p>
          <a:p>
            <a:r>
              <a:rPr lang="en-US" sz="1700" dirty="0">
                <a:latin typeface="Times New Roman" panose="02020603050405020304" pitchFamily="18" charset="0"/>
                <a:cs typeface="Times New Roman" panose="02020603050405020304" pitchFamily="18" charset="0"/>
              </a:rPr>
              <a:t>o/p: Five is greater than two!</a:t>
            </a:r>
          </a:p>
          <a:p>
            <a:r>
              <a:rPr lang="en-US" sz="1700" dirty="0">
                <a:latin typeface="Times New Roman" panose="02020603050405020304" pitchFamily="18" charset="0"/>
                <a:cs typeface="Times New Roman" panose="02020603050405020304" pitchFamily="18" charset="0"/>
              </a:rPr>
              <a:t>Python will give you an error if you skip the indentation:</a:t>
            </a:r>
          </a:p>
          <a:p>
            <a:r>
              <a:rPr lang="en-US" sz="1700" dirty="0">
                <a:latin typeface="Times New Roman" panose="02020603050405020304" pitchFamily="18" charset="0"/>
                <a:cs typeface="Times New Roman" panose="02020603050405020304" pitchFamily="18" charset="0"/>
              </a:rPr>
              <a:t>if 5 &gt; 2:</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print("Five is greater than two!")</a:t>
            </a:r>
          </a:p>
          <a:p>
            <a:r>
              <a:rPr lang="en-US" sz="1700" dirty="0">
                <a:solidFill>
                  <a:srgbClr val="FF0000"/>
                </a:solidFill>
                <a:latin typeface="Times New Roman" panose="02020603050405020304" pitchFamily="18" charset="0"/>
                <a:cs typeface="Times New Roman" panose="02020603050405020304" pitchFamily="18" charset="0"/>
              </a:rPr>
              <a:t>o/p: File "demo_indentation_test.py", line 2</a:t>
            </a:r>
            <a:br>
              <a:rPr lang="en-US" sz="1700" dirty="0">
                <a:solidFill>
                  <a:srgbClr val="FF0000"/>
                </a:solidFill>
                <a:latin typeface="Times New Roman" panose="02020603050405020304" pitchFamily="18" charset="0"/>
                <a:cs typeface="Times New Roman" panose="02020603050405020304" pitchFamily="18" charset="0"/>
              </a:rPr>
            </a:br>
            <a:r>
              <a:rPr lang="en-US" sz="1700" dirty="0">
                <a:solidFill>
                  <a:srgbClr val="FF0000"/>
                </a:solidFill>
                <a:latin typeface="Times New Roman" panose="02020603050405020304" pitchFamily="18" charset="0"/>
                <a:cs typeface="Times New Roman" panose="02020603050405020304" pitchFamily="18" charset="0"/>
              </a:rPr>
              <a:t>    print("Five is greater than two!")</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        ^</a:t>
            </a:r>
            <a:r>
              <a:rPr lang="en-US" sz="1700" dirty="0">
                <a:solidFill>
                  <a:srgbClr val="FF0000"/>
                </a:solidFill>
                <a:latin typeface="Times New Roman" panose="02020603050405020304" pitchFamily="18" charset="0"/>
                <a:cs typeface="Times New Roman" panose="02020603050405020304" pitchFamily="18" charset="0"/>
              </a:rPr>
              <a:t>Indentation Error: expected an indented block</a:t>
            </a:r>
          </a:p>
          <a:p>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1136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11201399" cy="5334000"/>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if 5 &gt; 2:</a:t>
            </a:r>
          </a:p>
          <a:p>
            <a:r>
              <a:rPr lang="en-US" dirty="0">
                <a:latin typeface="Times New Roman" panose="02020603050405020304" pitchFamily="18" charset="0"/>
                <a:cs typeface="Times New Roman" panose="02020603050405020304" pitchFamily="18" charset="0"/>
              </a:rPr>
              <a:t> print("Five is greater than two!")  </a:t>
            </a:r>
          </a:p>
          <a:p>
            <a:r>
              <a:rPr lang="en-US" dirty="0">
                <a:latin typeface="Times New Roman" panose="02020603050405020304" pitchFamily="18" charset="0"/>
                <a:cs typeface="Times New Roman" panose="02020603050405020304" pitchFamily="18" charset="0"/>
              </a:rPr>
              <a:t>if 5 &gt; 2:</a:t>
            </a:r>
          </a:p>
          <a:p>
            <a:r>
              <a:rPr lang="en-US" dirty="0">
                <a:latin typeface="Times New Roman" panose="02020603050405020304" pitchFamily="18" charset="0"/>
                <a:cs typeface="Times New Roman" panose="02020603050405020304" pitchFamily="18" charset="0"/>
              </a:rPr>
              <a:t>	print("Five is greater than two!") </a:t>
            </a:r>
          </a:p>
          <a:p>
            <a:r>
              <a:rPr lang="en-US" dirty="0">
                <a:latin typeface="Times New Roman" panose="02020603050405020304" pitchFamily="18" charset="0"/>
                <a:cs typeface="Times New Roman" panose="02020603050405020304" pitchFamily="18" charset="0"/>
              </a:rPr>
              <a:t>The number of spaces is up to you as a programmer, the most common use is four, but it has to be at least one.</a:t>
            </a:r>
          </a:p>
          <a:p>
            <a:r>
              <a:rPr lang="en-US" dirty="0">
                <a:latin typeface="Times New Roman" panose="02020603050405020304" pitchFamily="18" charset="0"/>
                <a:cs typeface="Times New Roman" panose="02020603050405020304" pitchFamily="18" charset="0"/>
              </a:rPr>
              <a:t>You have to use the same number of spaces in the same block of code,   otherwise Python will give you an error:</a:t>
            </a:r>
          </a:p>
          <a:p>
            <a:r>
              <a:rPr lang="en-US" dirty="0">
                <a:latin typeface="Times New Roman" panose="02020603050405020304" pitchFamily="18" charset="0"/>
                <a:cs typeface="Times New Roman" panose="02020603050405020304" pitchFamily="18" charset="0"/>
              </a:rPr>
              <a:t>if 5 &gt;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print("Five is greater than two!")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print("Five is greater than two!")</a:t>
            </a:r>
          </a:p>
          <a:p>
            <a:r>
              <a:rPr lang="en-US" dirty="0">
                <a:latin typeface="Times New Roman" panose="02020603050405020304" pitchFamily="18" charset="0"/>
                <a:cs typeface="Times New Roman" panose="02020603050405020304" pitchFamily="18" charset="0"/>
              </a:rPr>
              <a:t>Syntax error</a:t>
            </a:r>
          </a:p>
          <a:p>
            <a:r>
              <a:rPr lang="en-US" dirty="0">
                <a:latin typeface="Times New Roman" panose="02020603050405020304" pitchFamily="18" charset="0"/>
                <a:cs typeface="Times New Roman" panose="02020603050405020304" pitchFamily="18" charset="0"/>
              </a:rPr>
              <a:t>if 5 &gt;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print("Five is greater than two!")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print("Five is greater than two!")</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359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11277600" cy="5257800"/>
          </a:xfrm>
        </p:spPr>
        <p:txBody>
          <a:bodyPr>
            <a:noAutofit/>
          </a:bodyPr>
          <a:lstStyle/>
          <a:p>
            <a:r>
              <a:rPr lang="en-US" sz="1600" dirty="0">
                <a:latin typeface="Times New Roman" panose="02020603050405020304" pitchFamily="18" charset="0"/>
                <a:cs typeface="Times New Roman" panose="02020603050405020304" pitchFamily="18" charset="0"/>
              </a:rPr>
              <a:t>Python Comments</a:t>
            </a:r>
          </a:p>
          <a:p>
            <a:r>
              <a:rPr lang="en-US" sz="1600" dirty="0">
                <a:latin typeface="Times New Roman" panose="02020603050405020304" pitchFamily="18" charset="0"/>
                <a:cs typeface="Times New Roman" panose="02020603050405020304" pitchFamily="18" charset="0"/>
              </a:rPr>
              <a:t>Comments can be used to explain Python code.</a:t>
            </a:r>
          </a:p>
          <a:p>
            <a:r>
              <a:rPr lang="en-US" sz="1600" dirty="0">
                <a:latin typeface="Times New Roman" panose="02020603050405020304" pitchFamily="18" charset="0"/>
                <a:cs typeface="Times New Roman" panose="02020603050405020304" pitchFamily="18" charset="0"/>
              </a:rPr>
              <a:t>Comments can be used to make the code more readable.</a:t>
            </a:r>
          </a:p>
          <a:p>
            <a:r>
              <a:rPr lang="en-US" sz="1600" dirty="0">
                <a:latin typeface="Times New Roman" panose="02020603050405020304" pitchFamily="18" charset="0"/>
                <a:cs typeface="Times New Roman" panose="02020603050405020304" pitchFamily="18" charset="0"/>
              </a:rPr>
              <a:t>Comments can be used to prevent execution when testing code.</a:t>
            </a:r>
          </a:p>
          <a:p>
            <a:r>
              <a:rPr lang="en-US" sz="1600" b="1" dirty="0">
                <a:latin typeface="Times New Roman" panose="02020603050405020304" pitchFamily="18" charset="0"/>
                <a:cs typeface="Times New Roman" panose="02020603050405020304" pitchFamily="18" charset="0"/>
              </a:rPr>
              <a:t>Creating a Comment</a:t>
            </a:r>
          </a:p>
          <a:p>
            <a:r>
              <a:rPr lang="en-US" sz="1600" dirty="0">
                <a:latin typeface="Times New Roman" panose="02020603050405020304" pitchFamily="18" charset="0"/>
                <a:cs typeface="Times New Roman" panose="02020603050405020304" pitchFamily="18" charset="0"/>
              </a:rPr>
              <a:t>Comments starts with a # and Python will ignore them:</a:t>
            </a:r>
          </a:p>
          <a:p>
            <a:r>
              <a:rPr lang="en-US" sz="1600" dirty="0">
                <a:latin typeface="Times New Roman" panose="02020603050405020304" pitchFamily="18" charset="0"/>
                <a:cs typeface="Times New Roman" panose="02020603050405020304" pitchFamily="18" charset="0"/>
              </a:rPr>
              <a:t>Comments can be placed at the end of a line, and Python will ignore the rest of the line:</a:t>
            </a:r>
          </a:p>
          <a:p>
            <a:r>
              <a:rPr lang="en-US" sz="1600" dirty="0">
                <a:latin typeface="Times New Roman" panose="02020603050405020304" pitchFamily="18" charset="0"/>
                <a:cs typeface="Times New Roman" panose="02020603050405020304" pitchFamily="18" charset="0"/>
              </a:rPr>
              <a:t>print("Hello, World!") #This is a comment</a:t>
            </a:r>
          </a:p>
          <a:p>
            <a:endParaRPr lang="en-US"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93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11125199" cy="5257800"/>
          </a:xfrm>
        </p:spPr>
        <p:txBody>
          <a:bodyPr>
            <a:normAutofit/>
          </a:bodyPr>
          <a:lstStyle/>
          <a:p>
            <a:r>
              <a:rPr lang="en-US" dirty="0">
                <a:latin typeface="Times New Roman" panose="02020603050405020304" pitchFamily="18" charset="0"/>
                <a:cs typeface="Times New Roman" panose="02020603050405020304" pitchFamily="18" charset="0"/>
              </a:rPr>
              <a:t>Multiline Comments</a:t>
            </a:r>
          </a:p>
          <a:p>
            <a:r>
              <a:rPr lang="en-US" dirty="0">
                <a:latin typeface="Times New Roman" panose="02020603050405020304" pitchFamily="18" charset="0"/>
                <a:cs typeface="Times New Roman" panose="02020603050405020304" pitchFamily="18" charset="0"/>
              </a:rPr>
              <a:t>Python does not really have a syntax for multiline comments.</a:t>
            </a:r>
          </a:p>
          <a:p>
            <a:r>
              <a:rPr lang="en-US" dirty="0">
                <a:latin typeface="Times New Roman" panose="02020603050405020304" pitchFamily="18" charset="0"/>
                <a:cs typeface="Times New Roman" panose="02020603050405020304" pitchFamily="18" charset="0"/>
              </a:rPr>
              <a:t>To add a multiline comment you could insert a # for each line:</a:t>
            </a:r>
          </a:p>
          <a:p>
            <a:r>
              <a:rPr lang="en-US" dirty="0">
                <a:latin typeface="Times New Roman" panose="02020603050405020304" pitchFamily="18" charset="0"/>
                <a:cs typeface="Times New Roman" panose="02020603050405020304" pitchFamily="18" charset="0"/>
              </a:rPr>
              <a:t>#This is a comment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#written in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#more than just one line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print("Hello, World!")</a:t>
            </a:r>
          </a:p>
          <a:p>
            <a:r>
              <a:rPr lang="en-US" dirty="0">
                <a:latin typeface="Times New Roman" panose="02020603050405020304" pitchFamily="18" charset="0"/>
                <a:cs typeface="Times New Roman" panose="02020603050405020304" pitchFamily="18" charset="0"/>
              </a:rPr>
              <a:t>“””This is a comment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written in more than just one line"""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print("Hello, World!")</a:t>
            </a:r>
          </a:p>
          <a:p>
            <a:endParaRPr lang="en-IN" dirty="0"/>
          </a:p>
        </p:txBody>
      </p:sp>
    </p:spTree>
    <p:extLst>
      <p:ext uri="{BB962C8B-B14F-4D97-AF65-F5344CB8AC3E}">
        <p14:creationId xmlns:p14="http://schemas.microsoft.com/office/powerpoint/2010/main" val="2807006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066800"/>
            <a:ext cx="5334000" cy="4572000"/>
          </a:xfrm>
        </p:spPr>
        <p:txBody>
          <a:bodyPr>
            <a:norm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Variables can store data of different types, and different types can do different things.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Python has the following data types built in by default.</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data type is set when you assign a value to a variable</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verify the type of any object in Python, use the type() function.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Type with one of the two built-in values , True or False.</a:t>
            </a:r>
          </a:p>
          <a:p>
            <a:endParaRPr lang="en-IN" dirty="0"/>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DATA TYPES IN PYTHON</a:t>
            </a:r>
            <a:endParaRPr lang="en-US" sz="2400" dirty="0"/>
          </a:p>
        </p:txBody>
      </p:sp>
      <p:pic>
        <p:nvPicPr>
          <p:cNvPr id="6" name="Picture 5"/>
          <p:cNvPicPr>
            <a:picLocks noChangeAspect="1"/>
          </p:cNvPicPr>
          <p:nvPr/>
        </p:nvPicPr>
        <p:blipFill>
          <a:blip r:embed="rId2"/>
          <a:stretch>
            <a:fillRect/>
          </a:stretch>
        </p:blipFill>
        <p:spPr>
          <a:xfrm>
            <a:off x="6490928" y="1075853"/>
            <a:ext cx="4977172" cy="4181947"/>
          </a:xfrm>
          <a:prstGeom prst="rect">
            <a:avLst/>
          </a:prstGeom>
        </p:spPr>
      </p:pic>
    </p:spTree>
    <p:extLst>
      <p:ext uri="{BB962C8B-B14F-4D97-AF65-F5344CB8AC3E}">
        <p14:creationId xmlns:p14="http://schemas.microsoft.com/office/powerpoint/2010/main" val="1278366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0896599" cy="4876800"/>
          </a:xfrm>
        </p:spPr>
        <p:txBody>
          <a:bodyPr>
            <a:normAutofit/>
          </a:bodyPr>
          <a:lstStyle/>
          <a:p>
            <a:r>
              <a:rPr lang="en-US" dirty="0">
                <a:latin typeface="Times New Roman" panose="02020603050405020304" pitchFamily="18" charset="0"/>
                <a:cs typeface="Times New Roman" panose="02020603050405020304" pitchFamily="18" charset="0"/>
              </a:rPr>
              <a:t>There are three numeric types in Python:</a:t>
            </a:r>
          </a:p>
          <a:p>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float</a:t>
            </a:r>
          </a:p>
          <a:p>
            <a:r>
              <a:rPr lang="en-US" dirty="0">
                <a:latin typeface="Times New Roman" panose="02020603050405020304" pitchFamily="18" charset="0"/>
                <a:cs typeface="Times New Roman" panose="02020603050405020304" pitchFamily="18" charset="0"/>
              </a:rPr>
              <a:t>complex</a:t>
            </a:r>
          </a:p>
          <a:p>
            <a:r>
              <a:rPr lang="en-US" dirty="0">
                <a:latin typeface="Times New Roman" panose="02020603050405020304" pitchFamily="18" charset="0"/>
                <a:cs typeface="Times New Roman" panose="02020603050405020304" pitchFamily="18" charset="0"/>
              </a:rPr>
              <a:t>Variables of numeric types are created when you assign a value to them:</a:t>
            </a:r>
          </a:p>
          <a:p>
            <a:r>
              <a:rPr lang="en-US" dirty="0">
                <a:latin typeface="Times New Roman" panose="02020603050405020304" pitchFamily="18" charset="0"/>
                <a:cs typeface="Times New Roman" panose="02020603050405020304" pitchFamily="18" charset="0"/>
              </a:rPr>
              <a:t>x = 1    # </a:t>
            </a:r>
            <a:r>
              <a:rPr lang="en-US" dirty="0" err="1">
                <a:latin typeface="Times New Roman" panose="02020603050405020304" pitchFamily="18" charset="0"/>
                <a:cs typeface="Times New Roman" panose="02020603050405020304" pitchFamily="18" charset="0"/>
              </a:rPr>
              <a:t>int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 = 2.8  # float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z = 1j   # complex</a:t>
            </a:r>
          </a:p>
          <a:p>
            <a:r>
              <a:rPr lang="en-US" dirty="0">
                <a:latin typeface="Times New Roman" panose="02020603050405020304" pitchFamily="18" charset="0"/>
                <a:cs typeface="Times New Roman" panose="02020603050405020304" pitchFamily="18" charset="0"/>
              </a:rPr>
              <a:t>To verify the type of any object in Python, use the </a:t>
            </a:r>
            <a:r>
              <a:rPr lang="en-US" b="1" dirty="0">
                <a:latin typeface="Times New Roman" panose="02020603050405020304" pitchFamily="18" charset="0"/>
                <a:cs typeface="Times New Roman" panose="02020603050405020304" pitchFamily="18" charset="0"/>
              </a:rPr>
              <a:t>type() </a:t>
            </a:r>
            <a:r>
              <a:rPr lang="en-US" dirty="0">
                <a:latin typeface="Times New Roman" panose="02020603050405020304" pitchFamily="18" charset="0"/>
                <a:cs typeface="Times New Roman" panose="02020603050405020304" pitchFamily="18" charset="0"/>
              </a:rPr>
              <a:t>function: print(type(x))</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print(type(y))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print(type(z))</a:t>
            </a:r>
          </a:p>
          <a:p>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PYTHON NUMBERS</a:t>
            </a:r>
            <a:endParaRPr lang="en-US" sz="2400" dirty="0"/>
          </a:p>
        </p:txBody>
      </p:sp>
    </p:spTree>
    <p:extLst>
      <p:ext uri="{BB962C8B-B14F-4D97-AF65-F5344CB8AC3E}">
        <p14:creationId xmlns:p14="http://schemas.microsoft.com/office/powerpoint/2010/main" val="2455450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1" y="762000"/>
            <a:ext cx="10521454" cy="4704345"/>
          </a:xfrm>
        </p:spPr>
        <p:txBody>
          <a:bodyPr>
            <a:normAutofit/>
          </a:bodyPr>
          <a:lstStyle/>
          <a:p>
            <a:r>
              <a:rPr lang="en-US" dirty="0">
                <a:latin typeface="Times New Roman" panose="02020603050405020304" pitchFamily="18" charset="0"/>
                <a:cs typeface="Times New Roman" panose="02020603050405020304" pitchFamily="18" charset="0"/>
              </a:rPr>
              <a:t>Float</a:t>
            </a:r>
          </a:p>
          <a:p>
            <a:r>
              <a:rPr lang="en-US" dirty="0">
                <a:latin typeface="Times New Roman" panose="02020603050405020304" pitchFamily="18" charset="0"/>
                <a:cs typeface="Times New Roman" panose="02020603050405020304" pitchFamily="18" charset="0"/>
              </a:rPr>
              <a:t>Float, or "floating point number" is a number, positive or negative, containing one or more decimals.</a:t>
            </a:r>
          </a:p>
          <a:p>
            <a:r>
              <a:rPr lang="fr-FR" dirty="0">
                <a:latin typeface="Times New Roman" panose="02020603050405020304" pitchFamily="18" charset="0"/>
                <a:cs typeface="Times New Roman" panose="02020603050405020304" pitchFamily="18" charset="0"/>
              </a:rPr>
              <a:t>x = 1.10</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y = 1.0</a:t>
            </a:r>
            <a:br>
              <a:rPr lang="fr-FR" dirty="0">
                <a:latin typeface="Times New Roman" panose="02020603050405020304" pitchFamily="18" charset="0"/>
                <a:cs typeface="Times New Roman" panose="02020603050405020304" pitchFamily="18" charset="0"/>
              </a:rPr>
            </a:br>
            <a:r>
              <a:rPr lang="fr-FR" dirty="0">
                <a:latin typeface="Times New Roman" panose="02020603050405020304" pitchFamily="18" charset="0"/>
                <a:cs typeface="Times New Roman" panose="02020603050405020304" pitchFamily="18" charset="0"/>
              </a:rPr>
              <a:t>z = -35.59</a:t>
            </a:r>
            <a:br>
              <a:rPr lang="fr-FR" dirty="0">
                <a:latin typeface="Times New Roman" panose="02020603050405020304" pitchFamily="18" charset="0"/>
                <a:cs typeface="Times New Roman" panose="02020603050405020304" pitchFamily="18" charset="0"/>
              </a:rPr>
            </a:br>
            <a:r>
              <a:rPr lang="fr-FR" dirty="0" err="1">
                <a:latin typeface="Times New Roman" panose="02020603050405020304" pitchFamily="18" charset="0"/>
                <a:cs typeface="Times New Roman" panose="02020603050405020304" pitchFamily="18" charset="0"/>
              </a:rPr>
              <a:t>print</a:t>
            </a:r>
            <a:r>
              <a:rPr lang="fr-FR" dirty="0">
                <a:latin typeface="Times New Roman" panose="02020603050405020304" pitchFamily="18" charset="0"/>
                <a:cs typeface="Times New Roman" panose="02020603050405020304" pitchFamily="18" charset="0"/>
              </a:rPr>
              <a:t>(type(x))</a:t>
            </a:r>
            <a:br>
              <a:rPr lang="fr-FR" dirty="0">
                <a:latin typeface="Times New Roman" panose="02020603050405020304" pitchFamily="18" charset="0"/>
                <a:cs typeface="Times New Roman" panose="02020603050405020304" pitchFamily="18" charset="0"/>
              </a:rPr>
            </a:br>
            <a:r>
              <a:rPr lang="fr-FR" dirty="0" err="1">
                <a:latin typeface="Times New Roman" panose="02020603050405020304" pitchFamily="18" charset="0"/>
                <a:cs typeface="Times New Roman" panose="02020603050405020304" pitchFamily="18" charset="0"/>
              </a:rPr>
              <a:t>print</a:t>
            </a:r>
            <a:r>
              <a:rPr lang="fr-FR" dirty="0">
                <a:latin typeface="Times New Roman" panose="02020603050405020304" pitchFamily="18" charset="0"/>
                <a:cs typeface="Times New Roman" panose="02020603050405020304" pitchFamily="18" charset="0"/>
              </a:rPr>
              <a:t>(type(y))</a:t>
            </a:r>
            <a:br>
              <a:rPr lang="fr-FR" dirty="0">
                <a:latin typeface="Times New Roman" panose="02020603050405020304" pitchFamily="18" charset="0"/>
                <a:cs typeface="Times New Roman" panose="02020603050405020304" pitchFamily="18" charset="0"/>
              </a:rPr>
            </a:br>
            <a:r>
              <a:rPr lang="fr-FR" dirty="0" err="1">
                <a:latin typeface="Times New Roman" panose="02020603050405020304" pitchFamily="18" charset="0"/>
                <a:cs typeface="Times New Roman" panose="02020603050405020304" pitchFamily="18" charset="0"/>
              </a:rPr>
              <a:t>print</a:t>
            </a:r>
            <a:r>
              <a:rPr lang="fr-FR" dirty="0">
                <a:latin typeface="Times New Roman" panose="02020603050405020304" pitchFamily="18" charset="0"/>
                <a:cs typeface="Times New Roman" panose="02020603050405020304" pitchFamily="18" charset="0"/>
              </a:rPr>
              <a:t>(type(z))</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477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11277599" cy="5257800"/>
          </a:xfrm>
        </p:spPr>
        <p:txBody>
          <a:bodyPr>
            <a:noAutofit/>
          </a:bodyPr>
          <a:lstStyle/>
          <a:p>
            <a:r>
              <a:rPr lang="fr-FR" dirty="0">
                <a:latin typeface="Times New Roman" panose="02020603050405020304" pitchFamily="18" charset="0"/>
                <a:cs typeface="Times New Roman" panose="02020603050405020304" pitchFamily="18" charset="0"/>
              </a:rPr>
              <a:t>Casting in python Can </a:t>
            </a:r>
            <a:r>
              <a:rPr lang="fr-FR" dirty="0" err="1">
                <a:latin typeface="Times New Roman" panose="02020603050405020304" pitchFamily="18" charset="0"/>
                <a:cs typeface="Times New Roman" panose="02020603050405020304" pitchFamily="18" charset="0"/>
              </a:rPr>
              <a:t>be</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done</a:t>
            </a:r>
            <a:r>
              <a:rPr lang="fr-FR" dirty="0">
                <a:latin typeface="Times New Roman" panose="02020603050405020304" pitchFamily="18" charset="0"/>
                <a:cs typeface="Times New Roman" panose="02020603050405020304" pitchFamily="18" charset="0"/>
              </a:rPr>
              <a:t> by </a:t>
            </a:r>
            <a:r>
              <a:rPr lang="fr-FR" dirty="0" err="1">
                <a:latin typeface="Times New Roman" panose="02020603050405020304" pitchFamily="18" charset="0"/>
                <a:cs typeface="Times New Roman" panose="02020603050405020304" pitchFamily="18" charset="0"/>
              </a:rPr>
              <a:t>using</a:t>
            </a:r>
            <a:r>
              <a:rPr lang="fr-FR" dirty="0">
                <a:latin typeface="Times New Roman" panose="02020603050405020304" pitchFamily="18" charset="0"/>
                <a:cs typeface="Times New Roman" panose="02020603050405020304" pitchFamily="18" charset="0"/>
              </a:rPr>
              <a:t> the </a:t>
            </a:r>
            <a:r>
              <a:rPr lang="fr-FR" dirty="0" err="1">
                <a:latin typeface="Times New Roman" panose="02020603050405020304" pitchFamily="18" charset="0"/>
                <a:cs typeface="Times New Roman" panose="02020603050405020304" pitchFamily="18" charset="0"/>
              </a:rPr>
              <a:t>following</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functions</a:t>
            </a:r>
            <a:endParaRPr lang="fr-FR"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 constructs an integer number from an integer literal, a float literal (by removing all decimals), or a string literal (providing the string represents a whole number)</a:t>
            </a:r>
          </a:p>
          <a:p>
            <a:r>
              <a:rPr lang="en-US" dirty="0">
                <a:latin typeface="Times New Roman" panose="02020603050405020304" pitchFamily="18" charset="0"/>
                <a:cs typeface="Times New Roman" panose="02020603050405020304" pitchFamily="18" charset="0"/>
              </a:rPr>
              <a:t>float() - constructs a float number from an integer literal, a float literal or a string literal (providing the string represents a float or an integer)</a:t>
            </a:r>
          </a:p>
          <a:p>
            <a:r>
              <a:rPr lang="en-US" dirty="0" err="1">
                <a:latin typeface="Times New Roman" panose="02020603050405020304" pitchFamily="18" charset="0"/>
                <a:cs typeface="Times New Roman" panose="02020603050405020304" pitchFamily="18" charset="0"/>
              </a:rPr>
              <a:t>str</a:t>
            </a:r>
            <a:r>
              <a:rPr lang="en-US" dirty="0">
                <a:latin typeface="Times New Roman" panose="02020603050405020304" pitchFamily="18" charset="0"/>
                <a:cs typeface="Times New Roman" panose="02020603050405020304" pitchFamily="18" charset="0"/>
              </a:rPr>
              <a:t>() - constructs a string from a wide variety of data types, including strings, integer literals and float literals</a:t>
            </a:r>
          </a:p>
          <a:p>
            <a:r>
              <a:rPr lang="en-US" dirty="0">
                <a:latin typeface="Times New Roman" panose="02020603050405020304" pitchFamily="18" charset="0"/>
                <a:cs typeface="Times New Roman" panose="02020603050405020304" pitchFamily="18" charset="0"/>
              </a:rPr>
              <a:t>example</a:t>
            </a:r>
          </a:p>
          <a:p>
            <a:r>
              <a:rPr lang="en-US" dirty="0">
                <a:latin typeface="Times New Roman" panose="02020603050405020304" pitchFamily="18" charset="0"/>
                <a:cs typeface="Times New Roman" panose="02020603050405020304" pitchFamily="18" charset="0"/>
              </a:rPr>
              <a:t>x =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(1)   # x will be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 =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(2.8) # y will be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z =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("3")  # z will be 3</a:t>
            </a:r>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PYTHON CASTING</a:t>
            </a:r>
            <a:endParaRPr lang="en-US" sz="2400" dirty="0"/>
          </a:p>
        </p:txBody>
      </p:sp>
    </p:spTree>
    <p:extLst>
      <p:ext uri="{BB962C8B-B14F-4D97-AF65-F5344CB8AC3E}">
        <p14:creationId xmlns:p14="http://schemas.microsoft.com/office/powerpoint/2010/main" val="3712557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762000"/>
            <a:ext cx="11201400" cy="5029200"/>
          </a:xfrm>
        </p:spPr>
        <p:txBody>
          <a:bodyPr/>
          <a:lstStyle/>
          <a:p>
            <a:r>
              <a:rPr lang="en-US" dirty="0">
                <a:latin typeface="Times New Roman" panose="02020603050405020304" pitchFamily="18" charset="0"/>
                <a:cs typeface="Times New Roman" panose="02020603050405020304" pitchFamily="18" charset="0"/>
              </a:rPr>
              <a:t>x = float(1)     # x will be 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 = float(2.8)   # y will be 2.8</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z = float("3")   # z will be 3.0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 = float("4.2") # w will be 4.2</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x = </a:t>
            </a:r>
            <a:r>
              <a:rPr lang="en-US" dirty="0" err="1">
                <a:latin typeface="Times New Roman" panose="02020603050405020304" pitchFamily="18" charset="0"/>
                <a:cs typeface="Times New Roman" panose="02020603050405020304" pitchFamily="18" charset="0"/>
              </a:rPr>
              <a:t>str</a:t>
            </a:r>
            <a:r>
              <a:rPr lang="en-US" dirty="0">
                <a:latin typeface="Times New Roman" panose="02020603050405020304" pitchFamily="18" charset="0"/>
                <a:cs typeface="Times New Roman" panose="02020603050405020304" pitchFamily="18" charset="0"/>
              </a:rPr>
              <a:t>("s1") # x will be 's1'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 = </a:t>
            </a:r>
            <a:r>
              <a:rPr lang="en-US" dirty="0" err="1">
                <a:latin typeface="Times New Roman" panose="02020603050405020304" pitchFamily="18" charset="0"/>
                <a:cs typeface="Times New Roman" panose="02020603050405020304" pitchFamily="18" charset="0"/>
              </a:rPr>
              <a:t>str</a:t>
            </a:r>
            <a:r>
              <a:rPr lang="en-US" dirty="0">
                <a:latin typeface="Times New Roman" panose="02020603050405020304" pitchFamily="18" charset="0"/>
                <a:cs typeface="Times New Roman" panose="02020603050405020304" pitchFamily="18" charset="0"/>
              </a:rPr>
              <a:t>(2)    # y will be '2'</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z = </a:t>
            </a:r>
            <a:r>
              <a:rPr lang="en-US" dirty="0" err="1">
                <a:latin typeface="Times New Roman" panose="02020603050405020304" pitchFamily="18" charset="0"/>
                <a:cs typeface="Times New Roman" panose="02020603050405020304" pitchFamily="18" charset="0"/>
              </a:rPr>
              <a:t>str</a:t>
            </a:r>
            <a:r>
              <a:rPr lang="en-US" dirty="0">
                <a:latin typeface="Times New Roman" panose="02020603050405020304" pitchFamily="18" charset="0"/>
                <a:cs typeface="Times New Roman" panose="02020603050405020304" pitchFamily="18" charset="0"/>
              </a:rPr>
              <a:t>(3.0)  # z will be '3.0'</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45820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201400" cy="5105400"/>
          </a:xfrm>
        </p:spPr>
        <p:txBody>
          <a:bodyPr>
            <a:noAutofit/>
          </a:bodyPr>
          <a:lstStyle/>
          <a:p>
            <a:r>
              <a:rPr lang="en-US" dirty="0">
                <a:latin typeface="Times New Roman" panose="02020603050405020304" pitchFamily="18" charset="0"/>
                <a:cs typeface="Times New Roman" panose="02020603050405020304" pitchFamily="18" charset="0"/>
              </a:rPr>
              <a:t>Strings in python are surrounded by either single quotation marks, or double quotation marks.</a:t>
            </a:r>
          </a:p>
          <a:p>
            <a:r>
              <a:rPr lang="en-US" dirty="0">
                <a:latin typeface="Times New Roman" panose="02020603050405020304" pitchFamily="18" charset="0"/>
                <a:cs typeface="Times New Roman" panose="02020603050405020304" pitchFamily="18" charset="0"/>
              </a:rPr>
              <a:t>'hello'  is the same as  "hello".</a:t>
            </a:r>
          </a:p>
          <a:p>
            <a:r>
              <a:rPr lang="en-US" dirty="0">
                <a:latin typeface="Times New Roman" panose="02020603050405020304" pitchFamily="18" charset="0"/>
                <a:cs typeface="Times New Roman" panose="02020603050405020304" pitchFamily="18" charset="0"/>
              </a:rPr>
              <a:t>You can display a string literal with the print() function:</a:t>
            </a:r>
          </a:p>
          <a:p>
            <a:r>
              <a:rPr lang="en-US" dirty="0">
                <a:latin typeface="Times New Roman" panose="02020603050405020304" pitchFamily="18" charset="0"/>
                <a:cs typeface="Times New Roman" panose="02020603050405020304" pitchFamily="18" charset="0"/>
              </a:rPr>
              <a:t>print("Hello")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print('Hello')</a:t>
            </a:r>
          </a:p>
          <a:p>
            <a:r>
              <a:rPr lang="en-US" dirty="0">
                <a:latin typeface="Times New Roman" panose="02020603050405020304" pitchFamily="18" charset="0"/>
                <a:cs typeface="Times New Roman" panose="02020603050405020304" pitchFamily="18" charset="0"/>
              </a:rPr>
              <a:t>Assign String to a Variable</a:t>
            </a:r>
          </a:p>
          <a:p>
            <a:r>
              <a:rPr lang="en-US" dirty="0">
                <a:latin typeface="Times New Roman" panose="02020603050405020304" pitchFamily="18" charset="0"/>
                <a:cs typeface="Times New Roman" panose="02020603050405020304" pitchFamily="18" charset="0"/>
              </a:rPr>
              <a:t>a = "Hello"</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print(a)</a:t>
            </a:r>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PYTHON STRINGS</a:t>
            </a:r>
            <a:endParaRPr lang="en-US" sz="2400" dirty="0"/>
          </a:p>
        </p:txBody>
      </p:sp>
    </p:spTree>
    <p:extLst>
      <p:ext uri="{BB962C8B-B14F-4D97-AF65-F5344CB8AC3E}">
        <p14:creationId xmlns:p14="http://schemas.microsoft.com/office/powerpoint/2010/main" val="2270806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0"/>
            <a:ext cx="10972800" cy="4800600"/>
          </a:xfrm>
        </p:spPr>
        <p:txBody>
          <a:bodyPr/>
          <a:lstStyle/>
          <a:p>
            <a:r>
              <a:rPr lang="en-US" dirty="0">
                <a:latin typeface="Times New Roman" panose="02020603050405020304" pitchFamily="18" charset="0"/>
                <a:cs typeface="Times New Roman" panose="02020603050405020304" pitchFamily="18" charset="0"/>
              </a:rPr>
              <a:t>Multiline Strings</a:t>
            </a:r>
          </a:p>
          <a:p>
            <a:r>
              <a:rPr lang="en-US" dirty="0">
                <a:latin typeface="Times New Roman" panose="02020603050405020304" pitchFamily="18" charset="0"/>
                <a:cs typeface="Times New Roman" panose="02020603050405020304" pitchFamily="18" charset="0"/>
              </a:rPr>
              <a:t>You can assign a multiline string to a variable by using three quotes Or three single quotes:</a:t>
            </a:r>
          </a:p>
          <a:p>
            <a:r>
              <a:rPr lang="en-US" dirty="0">
                <a:latin typeface="Times New Roman" panose="02020603050405020304" pitchFamily="18" charset="0"/>
                <a:cs typeface="Times New Roman" panose="02020603050405020304" pitchFamily="18" charset="0"/>
              </a:rPr>
              <a:t>a = "“” Strings in python are surrounded by either</a:t>
            </a:r>
          </a:p>
          <a:p>
            <a:pPr>
              <a:buNone/>
            </a:pPr>
            <a:r>
              <a:rPr lang="en-US" dirty="0">
                <a:latin typeface="Times New Roman" panose="02020603050405020304" pitchFamily="18" charset="0"/>
                <a:cs typeface="Times New Roman" panose="02020603050405020304" pitchFamily="18" charset="0"/>
              </a:rPr>
              <a:t> single quotation marks, or </a:t>
            </a:r>
          </a:p>
          <a:p>
            <a:pPr>
              <a:buNone/>
            </a:pPr>
            <a:r>
              <a:rPr lang="en-US" dirty="0">
                <a:latin typeface="Times New Roman" panose="02020603050405020304" pitchFamily="18" charset="0"/>
                <a:cs typeface="Times New Roman" panose="02020603050405020304" pitchFamily="18" charset="0"/>
              </a:rPr>
              <a:t>double quotation marks.."""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print(a)</a:t>
            </a:r>
            <a:endParaRPr lang="fr-FR"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17483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0"/>
            <a:ext cx="10972799" cy="5410200"/>
          </a:xfrm>
        </p:spPr>
        <p:txBody>
          <a:bodyPr>
            <a:normAutofit fontScale="77500" lnSpcReduction="20000"/>
          </a:bodyPr>
          <a:lstStyle/>
          <a:p>
            <a:r>
              <a:rPr lang="en-US" dirty="0"/>
              <a:t>Specify the start index and the end index, separated by a colon, to return a part of the string.</a:t>
            </a:r>
          </a:p>
          <a:p>
            <a:r>
              <a:rPr lang="en-US" dirty="0"/>
              <a:t>Get the characters from position 2 to position 5 (not included):</a:t>
            </a:r>
          </a:p>
          <a:p>
            <a:r>
              <a:rPr lang="en-US" dirty="0"/>
              <a:t>b = ”KLH BOWREMPET"</a:t>
            </a:r>
            <a:br>
              <a:rPr lang="en-US" dirty="0"/>
            </a:br>
            <a:r>
              <a:rPr lang="en-US" dirty="0"/>
              <a:t>print(b[2:5])</a:t>
            </a:r>
          </a:p>
          <a:p>
            <a:r>
              <a:rPr lang="en-US" dirty="0"/>
              <a:t>o/p H B</a:t>
            </a:r>
          </a:p>
          <a:p>
            <a:pPr>
              <a:buNone/>
            </a:pPr>
            <a:r>
              <a:rPr lang="en-US" b="1" dirty="0"/>
              <a:t>Slice From the Start</a:t>
            </a:r>
          </a:p>
          <a:p>
            <a:r>
              <a:rPr lang="en-US" dirty="0"/>
              <a:t>By leaving out the start index, the range will start at the first character:</a:t>
            </a:r>
          </a:p>
          <a:p>
            <a:r>
              <a:rPr lang="en-US" dirty="0"/>
              <a:t>b = ”KLH BOWREMPET"</a:t>
            </a:r>
            <a:br>
              <a:rPr lang="en-US" dirty="0"/>
            </a:br>
            <a:r>
              <a:rPr lang="en-US" dirty="0"/>
              <a:t>print(b[:8])</a:t>
            </a:r>
          </a:p>
          <a:p>
            <a:pPr>
              <a:buNone/>
            </a:pPr>
            <a:r>
              <a:rPr lang="en-US" dirty="0"/>
              <a:t>o/</a:t>
            </a:r>
            <a:r>
              <a:rPr lang="en-US" dirty="0" err="1"/>
              <a:t>pKLH</a:t>
            </a:r>
            <a:r>
              <a:rPr lang="en-US" dirty="0"/>
              <a:t> BOWR</a:t>
            </a:r>
          </a:p>
          <a:p>
            <a:pPr>
              <a:buNone/>
            </a:pPr>
            <a:r>
              <a:rPr lang="en-US" b="1" dirty="0"/>
              <a:t>Slice To the End</a:t>
            </a:r>
          </a:p>
          <a:p>
            <a:pPr>
              <a:buNone/>
            </a:pPr>
            <a:r>
              <a:rPr lang="en-US" dirty="0"/>
              <a:t>By leaving out the </a:t>
            </a:r>
            <a:r>
              <a:rPr lang="en-US" i="1" dirty="0"/>
              <a:t>end </a:t>
            </a:r>
            <a:r>
              <a:rPr lang="en-US" dirty="0"/>
              <a:t>index</a:t>
            </a:r>
          </a:p>
          <a:p>
            <a:pPr>
              <a:buNone/>
            </a:pPr>
            <a:r>
              <a:rPr lang="en-US" dirty="0"/>
              <a:t>b = ” KLH BOWREMPET“</a:t>
            </a:r>
          </a:p>
          <a:p>
            <a:pPr>
              <a:buNone/>
            </a:pPr>
            <a:r>
              <a:rPr lang="en-US" dirty="0"/>
              <a:t>print(b[5:])</a:t>
            </a:r>
          </a:p>
          <a:p>
            <a:pPr>
              <a:buNone/>
            </a:pPr>
            <a:r>
              <a:rPr lang="en-US" dirty="0"/>
              <a:t>o/p: WREMPET</a:t>
            </a:r>
          </a:p>
          <a:p>
            <a:endParaRPr lang="en-IN" dirty="0"/>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SLICING STRINGS</a:t>
            </a:r>
            <a:endParaRPr lang="en-US" sz="2400" dirty="0"/>
          </a:p>
        </p:txBody>
      </p:sp>
    </p:spTree>
    <p:extLst>
      <p:ext uri="{BB962C8B-B14F-4D97-AF65-F5344CB8AC3E}">
        <p14:creationId xmlns:p14="http://schemas.microsoft.com/office/powerpoint/2010/main" val="103258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11506199" cy="5410200"/>
          </a:xfrm>
        </p:spPr>
        <p:txBody>
          <a:bodyPr>
            <a:noAutofit/>
          </a:bodyPr>
          <a:lstStyle/>
          <a:p>
            <a:r>
              <a:rPr lang="en-US" dirty="0">
                <a:latin typeface="Times New Roman" panose="02020603050405020304" pitchFamily="18" charset="0"/>
                <a:cs typeface="Times New Roman" panose="02020603050405020304" pitchFamily="18" charset="0"/>
              </a:rPr>
              <a:t>Negative Indexing</a:t>
            </a:r>
          </a:p>
          <a:p>
            <a:r>
              <a:rPr lang="en-US" dirty="0">
                <a:latin typeface="Times New Roman" panose="02020603050405020304" pitchFamily="18" charset="0"/>
                <a:cs typeface="Times New Roman" panose="02020603050405020304" pitchFamily="18" charset="0"/>
              </a:rPr>
              <a:t>Use negative indexes to start the slice from the end of the string:</a:t>
            </a:r>
          </a:p>
          <a:p>
            <a:pPr>
              <a:buNone/>
            </a:pPr>
            <a:r>
              <a:rPr lang="en-US" b="1" dirty="0">
                <a:latin typeface="Times New Roman" panose="02020603050405020304" pitchFamily="18" charset="0"/>
                <a:cs typeface="Times New Roman" panose="02020603050405020304" pitchFamily="18" charset="0"/>
              </a:rPr>
              <a:t>b ="</a:t>
            </a:r>
            <a:r>
              <a:rPr lang="en-US" dirty="0">
                <a:latin typeface="Times New Roman" panose="02020603050405020304" pitchFamily="18" charset="0"/>
                <a:cs typeface="Times New Roman" panose="02020603050405020304" pitchFamily="18" charset="0"/>
              </a:rPr>
              <a:t> KONERU LAKSHMAIAHA EDUCATIONAL FOUNDATION </a:t>
            </a:r>
            <a:r>
              <a:rPr lang="en-US" b="1" dirty="0">
                <a:latin typeface="Times New Roman" panose="02020603050405020304" pitchFamily="18" charset="0"/>
                <a:cs typeface="Times New Roman" panose="02020603050405020304" pitchFamily="18" charset="0"/>
              </a:rPr>
              <a:t>"</a:t>
            </a:r>
          </a:p>
          <a:p>
            <a:pPr>
              <a:buNone/>
            </a:pPr>
            <a:r>
              <a:rPr lang="en-US" b="1" dirty="0">
                <a:latin typeface="Times New Roman" panose="02020603050405020304" pitchFamily="18" charset="0"/>
                <a:cs typeface="Times New Roman" panose="02020603050405020304" pitchFamily="18" charset="0"/>
              </a:rPr>
              <a:t>print(b[-10:-4])</a:t>
            </a:r>
          </a:p>
          <a:p>
            <a:pPr>
              <a:buNone/>
            </a:pPr>
            <a:r>
              <a:rPr lang="en-US" b="1" dirty="0">
                <a:latin typeface="Times New Roman" panose="02020603050405020304" pitchFamily="18" charset="0"/>
                <a:cs typeface="Times New Roman" panose="02020603050405020304" pitchFamily="18" charset="0"/>
              </a:rPr>
              <a:t>o/p: </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String Methods</a:t>
            </a:r>
          </a:p>
          <a:p>
            <a:pPr>
              <a:buNone/>
            </a:pPr>
            <a:r>
              <a:rPr lang="en-US" b="1" dirty="0">
                <a:latin typeface="Times New Roman" panose="02020603050405020304" pitchFamily="18" charset="0"/>
                <a:cs typeface="Times New Roman" panose="02020603050405020304" pitchFamily="18" charset="0"/>
              </a:rPr>
              <a:t>Method					Description</a:t>
            </a:r>
          </a:p>
          <a:p>
            <a:pPr>
              <a:buNone/>
            </a:pPr>
            <a:r>
              <a:rPr lang="en-US" dirty="0">
                <a:latin typeface="Times New Roman" panose="02020603050405020304" pitchFamily="18" charset="0"/>
                <a:cs typeface="Times New Roman" panose="02020603050405020304" pitchFamily="18" charset="0"/>
                <a:hlinkClick r:id="rId2"/>
              </a:rPr>
              <a:t>capitalize()</a:t>
            </a:r>
            <a:r>
              <a:rPr lang="en-US" dirty="0">
                <a:latin typeface="Times New Roman" panose="02020603050405020304" pitchFamily="18" charset="0"/>
                <a:cs typeface="Times New Roman" panose="02020603050405020304" pitchFamily="18" charset="0"/>
              </a:rPr>
              <a:t>				Converts the first character to upper case</a:t>
            </a:r>
          </a:p>
          <a:p>
            <a:pPr>
              <a:buNone/>
            </a:pPr>
            <a:r>
              <a:rPr lang="en-US" dirty="0" err="1">
                <a:latin typeface="Times New Roman" panose="02020603050405020304" pitchFamily="18" charset="0"/>
                <a:cs typeface="Times New Roman" panose="02020603050405020304" pitchFamily="18" charset="0"/>
                <a:hlinkClick r:id="rId3"/>
              </a:rPr>
              <a:t>casefold</a:t>
            </a:r>
            <a:r>
              <a:rPr lang="en-US" dirty="0">
                <a:latin typeface="Times New Roman" panose="02020603050405020304" pitchFamily="18" charset="0"/>
                <a:cs typeface="Times New Roman" panose="02020603050405020304" pitchFamily="18" charset="0"/>
                <a:hlinkClick r:id="rId3"/>
              </a:rPr>
              <a:t>()</a:t>
            </a:r>
            <a:r>
              <a:rPr lang="en-US" dirty="0">
                <a:latin typeface="Times New Roman" panose="02020603050405020304" pitchFamily="18" charset="0"/>
                <a:cs typeface="Times New Roman" panose="02020603050405020304" pitchFamily="18" charset="0"/>
              </a:rPr>
              <a:t>				Converts string into lower case</a:t>
            </a:r>
          </a:p>
          <a:p>
            <a:pPr>
              <a:buNone/>
            </a:pPr>
            <a:r>
              <a:rPr lang="en-US" dirty="0">
                <a:latin typeface="Times New Roman" panose="02020603050405020304" pitchFamily="18" charset="0"/>
                <a:cs typeface="Times New Roman" panose="02020603050405020304" pitchFamily="18" charset="0"/>
                <a:hlinkClick r:id="rId4"/>
              </a:rPr>
              <a:t>center()</a:t>
            </a:r>
            <a:r>
              <a:rPr lang="en-US" dirty="0">
                <a:latin typeface="Times New Roman" panose="02020603050405020304" pitchFamily="18" charset="0"/>
                <a:cs typeface="Times New Roman" panose="02020603050405020304" pitchFamily="18" charset="0"/>
              </a:rPr>
              <a:t>					Returns a centered string</a:t>
            </a:r>
          </a:p>
          <a:p>
            <a:pPr>
              <a:buNone/>
            </a:pPr>
            <a:r>
              <a:rPr lang="en-US" dirty="0">
                <a:latin typeface="Times New Roman" panose="02020603050405020304" pitchFamily="18" charset="0"/>
                <a:cs typeface="Times New Roman" panose="02020603050405020304" pitchFamily="18" charset="0"/>
                <a:hlinkClick r:id="rId5"/>
              </a:rPr>
              <a:t>count()</a:t>
            </a:r>
            <a:r>
              <a:rPr lang="en-US" dirty="0">
                <a:latin typeface="Times New Roman" panose="02020603050405020304" pitchFamily="18" charset="0"/>
                <a:cs typeface="Times New Roman" panose="02020603050405020304" pitchFamily="18" charset="0"/>
              </a:rPr>
              <a:t>					Returns the number of times a specified value occurs in a string</a:t>
            </a:r>
          </a:p>
        </p:txBody>
      </p:sp>
    </p:spTree>
    <p:extLst>
      <p:ext uri="{BB962C8B-B14F-4D97-AF65-F5344CB8AC3E}">
        <p14:creationId xmlns:p14="http://schemas.microsoft.com/office/powerpoint/2010/main" val="838526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11430000" cy="5181600"/>
          </a:xfrm>
        </p:spPr>
        <p:txBody>
          <a:bodyPr>
            <a:normAutofit fontScale="92500" lnSpcReduction="10000"/>
          </a:bodyPr>
          <a:lstStyle/>
          <a:p>
            <a:pPr algn="just">
              <a:buNone/>
            </a:pPr>
            <a:r>
              <a:rPr lang="en-US" dirty="0">
                <a:latin typeface="Times New Roman" panose="02020603050405020304" pitchFamily="18" charset="0"/>
                <a:cs typeface="Times New Roman" panose="02020603050405020304" pitchFamily="18" charset="0"/>
                <a:hlinkClick r:id="rId2"/>
              </a:rPr>
              <a:t>find()</a:t>
            </a:r>
            <a:r>
              <a:rPr lang="en-US" dirty="0">
                <a:latin typeface="Times New Roman" panose="02020603050405020304" pitchFamily="18" charset="0"/>
                <a:cs typeface="Times New Roman" panose="02020603050405020304" pitchFamily="18" charset="0"/>
              </a:rPr>
              <a:t>			Searches the string for a specified value and returns the position of where it was found</a:t>
            </a:r>
          </a:p>
          <a:p>
            <a:pPr algn="just">
              <a:buNone/>
            </a:pPr>
            <a:r>
              <a:rPr lang="en-US" dirty="0">
                <a:latin typeface="Times New Roman" panose="02020603050405020304" pitchFamily="18" charset="0"/>
                <a:cs typeface="Times New Roman" panose="02020603050405020304" pitchFamily="18" charset="0"/>
                <a:hlinkClick r:id="rId3"/>
              </a:rPr>
              <a:t>index()</a:t>
            </a:r>
            <a:r>
              <a:rPr lang="en-US" dirty="0">
                <a:latin typeface="Times New Roman" panose="02020603050405020304" pitchFamily="18" charset="0"/>
                <a:cs typeface="Times New Roman" panose="02020603050405020304" pitchFamily="18" charset="0"/>
              </a:rPr>
              <a:t>			Searches the string for a specified value and returns the position of where it was found</a:t>
            </a:r>
            <a:endParaRPr lang="en-US" dirty="0">
              <a:latin typeface="Times New Roman" panose="02020603050405020304" pitchFamily="18" charset="0"/>
              <a:cs typeface="Times New Roman" panose="02020603050405020304" pitchFamily="18" charset="0"/>
              <a:hlinkClick r:id="rId4"/>
            </a:endParaRPr>
          </a:p>
          <a:p>
            <a:pPr algn="just">
              <a:buNone/>
            </a:pPr>
            <a:r>
              <a:rPr lang="en-US" dirty="0" err="1">
                <a:latin typeface="Times New Roman" panose="02020603050405020304" pitchFamily="18" charset="0"/>
                <a:cs typeface="Times New Roman" panose="02020603050405020304" pitchFamily="18" charset="0"/>
                <a:hlinkClick r:id="rId5"/>
              </a:rPr>
              <a:t>islower</a:t>
            </a:r>
            <a:r>
              <a:rPr lang="en-US" dirty="0">
                <a:latin typeface="Times New Roman" panose="02020603050405020304" pitchFamily="18" charset="0"/>
                <a:cs typeface="Times New Roman" panose="02020603050405020304" pitchFamily="18" charset="0"/>
                <a:hlinkClick r:id="rId5"/>
              </a:rPr>
              <a:t>()</a:t>
            </a:r>
            <a:r>
              <a:rPr lang="en-US" dirty="0">
                <a:latin typeface="Times New Roman" panose="02020603050405020304" pitchFamily="18" charset="0"/>
                <a:cs typeface="Times New Roman" panose="02020603050405020304" pitchFamily="18" charset="0"/>
              </a:rPr>
              <a:t>			Returns True if all characters in the string are lower case</a:t>
            </a:r>
          </a:p>
          <a:p>
            <a:pPr algn="just">
              <a:buNone/>
            </a:pPr>
            <a:r>
              <a:rPr lang="en-US" dirty="0" err="1">
                <a:latin typeface="Times New Roman" panose="02020603050405020304" pitchFamily="18" charset="0"/>
                <a:cs typeface="Times New Roman" panose="02020603050405020304" pitchFamily="18" charset="0"/>
                <a:hlinkClick r:id="rId6"/>
              </a:rPr>
              <a:t>isupper</a:t>
            </a:r>
            <a:r>
              <a:rPr lang="en-US" dirty="0">
                <a:latin typeface="Times New Roman" panose="02020603050405020304" pitchFamily="18" charset="0"/>
                <a:cs typeface="Times New Roman" panose="02020603050405020304" pitchFamily="18" charset="0"/>
                <a:hlinkClick r:id="rId6"/>
              </a:rPr>
              <a:t>()</a:t>
            </a:r>
            <a:r>
              <a:rPr lang="en-US" dirty="0">
                <a:latin typeface="Times New Roman" panose="02020603050405020304" pitchFamily="18" charset="0"/>
                <a:cs typeface="Times New Roman" panose="02020603050405020304" pitchFamily="18" charset="0"/>
              </a:rPr>
              <a:t>			Returns True if all characters in the string are upper case</a:t>
            </a:r>
          </a:p>
          <a:p>
            <a:pPr algn="just">
              <a:buNone/>
            </a:pPr>
            <a:r>
              <a:rPr lang="en-US" dirty="0">
                <a:latin typeface="Times New Roman" panose="02020603050405020304" pitchFamily="18" charset="0"/>
                <a:cs typeface="Times New Roman" panose="02020603050405020304" pitchFamily="18" charset="0"/>
                <a:hlinkClick r:id="rId7"/>
              </a:rPr>
              <a:t>join()</a:t>
            </a:r>
            <a:r>
              <a:rPr lang="en-US" dirty="0">
                <a:latin typeface="Times New Roman" panose="02020603050405020304" pitchFamily="18" charset="0"/>
                <a:cs typeface="Times New Roman" panose="02020603050405020304" pitchFamily="18" charset="0"/>
              </a:rPr>
              <a:t>			Joins the elements of an </a:t>
            </a:r>
            <a:r>
              <a:rPr lang="en-US" dirty="0" err="1">
                <a:latin typeface="Times New Roman" panose="02020603050405020304" pitchFamily="18" charset="0"/>
                <a:cs typeface="Times New Roman" panose="02020603050405020304" pitchFamily="18" charset="0"/>
              </a:rPr>
              <a:t>iterable</a:t>
            </a:r>
            <a:r>
              <a:rPr lang="en-US" dirty="0">
                <a:latin typeface="Times New Roman" panose="02020603050405020304" pitchFamily="18" charset="0"/>
                <a:cs typeface="Times New Roman" panose="02020603050405020304" pitchFamily="18" charset="0"/>
              </a:rPr>
              <a:t> to the end of the </a:t>
            </a:r>
            <a:r>
              <a:rPr lang="en-US" dirty="0" err="1">
                <a:latin typeface="Times New Roman" panose="02020603050405020304" pitchFamily="18" charset="0"/>
                <a:cs typeface="Times New Roman" panose="02020603050405020304" pitchFamily="18" charset="0"/>
              </a:rPr>
              <a:t>stringl</a:t>
            </a:r>
            <a:endParaRPr lang="en-US" dirty="0">
              <a:latin typeface="Times New Roman" panose="02020603050405020304" pitchFamily="18" charset="0"/>
              <a:cs typeface="Times New Roman" panose="02020603050405020304" pitchFamily="18" charset="0"/>
            </a:endParaRPr>
          </a:p>
          <a:p>
            <a:pPr algn="just">
              <a:buNone/>
            </a:pPr>
            <a:r>
              <a:rPr lang="en-US" dirty="0">
                <a:latin typeface="Times New Roman" panose="02020603050405020304" pitchFamily="18" charset="0"/>
                <a:cs typeface="Times New Roman" panose="02020603050405020304" pitchFamily="18" charset="0"/>
                <a:hlinkClick r:id="rId8"/>
              </a:rPr>
              <a:t>lower()</a:t>
            </a:r>
            <a:r>
              <a:rPr lang="en-US" dirty="0">
                <a:latin typeface="Times New Roman" panose="02020603050405020304" pitchFamily="18" charset="0"/>
                <a:cs typeface="Times New Roman" panose="02020603050405020304" pitchFamily="18" charset="0"/>
              </a:rPr>
              <a:t>			Converts a string into lower case</a:t>
            </a:r>
          </a:p>
          <a:p>
            <a:pPr algn="just">
              <a:buNone/>
            </a:pPr>
            <a:r>
              <a:rPr lang="en-US" dirty="0">
                <a:latin typeface="Times New Roman" panose="02020603050405020304" pitchFamily="18" charset="0"/>
                <a:cs typeface="Times New Roman" panose="02020603050405020304" pitchFamily="18" charset="0"/>
                <a:hlinkClick r:id="rId9"/>
              </a:rPr>
              <a:t>replace()</a:t>
            </a:r>
            <a:r>
              <a:rPr lang="en-US" dirty="0">
                <a:latin typeface="Times New Roman" panose="02020603050405020304" pitchFamily="18" charset="0"/>
                <a:cs typeface="Times New Roman" panose="02020603050405020304" pitchFamily="18" charset="0"/>
              </a:rPr>
              <a:t>			Returns a string where a specified value is replaced with a specified</a:t>
            </a:r>
          </a:p>
          <a:p>
            <a:pPr algn="just">
              <a:buNone/>
            </a:pPr>
            <a:r>
              <a:rPr lang="en-US" dirty="0" err="1">
                <a:latin typeface="Times New Roman" panose="02020603050405020304" pitchFamily="18" charset="0"/>
                <a:cs typeface="Times New Roman" panose="02020603050405020304" pitchFamily="18" charset="0"/>
                <a:hlinkClick r:id="rId10"/>
              </a:rPr>
              <a:t>swapcase</a:t>
            </a:r>
            <a:r>
              <a:rPr lang="en-US" dirty="0">
                <a:latin typeface="Times New Roman" panose="02020603050405020304" pitchFamily="18" charset="0"/>
                <a:cs typeface="Times New Roman" panose="02020603050405020304" pitchFamily="18" charset="0"/>
                <a:hlinkClick r:id="rId10"/>
              </a:rPr>
              <a:t>()</a:t>
            </a:r>
            <a:r>
              <a:rPr lang="en-US" dirty="0">
                <a:latin typeface="Times New Roman" panose="02020603050405020304" pitchFamily="18" charset="0"/>
                <a:cs typeface="Times New Roman" panose="02020603050405020304" pitchFamily="18" charset="0"/>
              </a:rPr>
              <a:t>		Swaps cases, lower case becomes upper case and vice versa</a:t>
            </a:r>
          </a:p>
          <a:p>
            <a:pPr algn="just">
              <a:buNone/>
            </a:pPr>
            <a:r>
              <a:rPr lang="en-US" dirty="0">
                <a:latin typeface="Times New Roman" panose="02020603050405020304" pitchFamily="18" charset="0"/>
                <a:cs typeface="Times New Roman" panose="02020603050405020304" pitchFamily="18" charset="0"/>
                <a:hlinkClick r:id="rId11"/>
              </a:rPr>
              <a:t>title()</a:t>
            </a:r>
            <a:r>
              <a:rPr lang="en-US" dirty="0">
                <a:latin typeface="Times New Roman" panose="02020603050405020304" pitchFamily="18" charset="0"/>
                <a:cs typeface="Times New Roman" panose="02020603050405020304" pitchFamily="18" charset="0"/>
              </a:rPr>
              <a:t>  			Converts the first character of each word to upper case	</a:t>
            </a:r>
          </a:p>
          <a:p>
            <a:pPr algn="just">
              <a:buNone/>
            </a:pPr>
            <a:r>
              <a:rPr lang="en-US" dirty="0">
                <a:latin typeface="Times New Roman" panose="02020603050405020304" pitchFamily="18" charset="0"/>
                <a:cs typeface="Times New Roman" panose="02020603050405020304" pitchFamily="18" charset="0"/>
                <a:hlinkClick r:id="rId12"/>
              </a:rPr>
              <a:t>upper()</a:t>
            </a:r>
            <a:r>
              <a:rPr lang="en-US" dirty="0">
                <a:latin typeface="Times New Roman" panose="02020603050405020304" pitchFamily="18" charset="0"/>
                <a:cs typeface="Times New Roman" panose="02020603050405020304" pitchFamily="18" charset="0"/>
              </a:rPr>
              <a:t>			Converts a string into upper case</a:t>
            </a:r>
          </a:p>
          <a:p>
            <a:pPr algn="just">
              <a:buNone/>
            </a:pPr>
            <a:r>
              <a:rPr lang="en-US" dirty="0" err="1">
                <a:latin typeface="Times New Roman" panose="02020603050405020304" pitchFamily="18" charset="0"/>
                <a:cs typeface="Times New Roman" panose="02020603050405020304" pitchFamily="18" charset="0"/>
                <a:hlinkClick r:id="rId13"/>
              </a:rPr>
              <a:t>zfill</a:t>
            </a:r>
            <a:r>
              <a:rPr lang="en-US" dirty="0">
                <a:latin typeface="Times New Roman" panose="02020603050405020304" pitchFamily="18" charset="0"/>
                <a:cs typeface="Times New Roman" panose="02020603050405020304" pitchFamily="18" charset="0"/>
                <a:hlinkClick r:id="rId13"/>
              </a:rPr>
              <a:t>()</a:t>
            </a:r>
            <a:r>
              <a:rPr lang="en-US" dirty="0">
                <a:latin typeface="Times New Roman" panose="02020603050405020304" pitchFamily="18" charset="0"/>
                <a:cs typeface="Times New Roman" panose="02020603050405020304" pitchFamily="18" charset="0"/>
              </a:rPr>
              <a:t>			Fills the string with a specified number of 0 values at the beginning</a:t>
            </a:r>
            <a:endParaRPr lang="en-US" b="1"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9819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11048999" cy="5867400"/>
          </a:xfrm>
        </p:spPr>
        <p:txBody>
          <a:bodyPr>
            <a:normAutofit fontScale="92500" lnSpcReduction="10000"/>
          </a:bodyPr>
          <a:lstStyle/>
          <a:p>
            <a:pPr>
              <a:buNone/>
            </a:pPr>
            <a:r>
              <a:rPr lang="en-US" dirty="0">
                <a:latin typeface="Times New Roman" panose="02020603050405020304" pitchFamily="18" charset="0"/>
                <a:cs typeface="Times New Roman" panose="02020603050405020304" pitchFamily="18" charset="0"/>
              </a:rPr>
              <a:t>A=" KONERU LAKSHMAIAHA EDUCATIONAL FOUNDATION "</a:t>
            </a:r>
          </a:p>
          <a:p>
            <a:pPr>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A.lower</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A.find</a:t>
            </a:r>
            <a:r>
              <a:rPr lang="en-US" dirty="0">
                <a:latin typeface="Times New Roman" panose="02020603050405020304" pitchFamily="18" charset="0"/>
                <a:cs typeface="Times New Roman" panose="02020603050405020304" pitchFamily="18" charset="0"/>
              </a:rPr>
              <a:t>('I'))</a:t>
            </a:r>
          </a:p>
          <a:p>
            <a:pPr>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A.capitalize</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A.swapcase</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A.title</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Print(</a:t>
            </a:r>
            <a:r>
              <a:rPr lang="en-US" dirty="0" err="1">
                <a:latin typeface="Times New Roman" panose="02020603050405020304" pitchFamily="18" charset="0"/>
                <a:cs typeface="Times New Roman" panose="02020603050405020304" pitchFamily="18" charset="0"/>
              </a:rPr>
              <a:t>len</a:t>
            </a:r>
            <a:r>
              <a:rPr lang="en-US" dirty="0">
                <a:latin typeface="Times New Roman" panose="02020603050405020304" pitchFamily="18" charset="0"/>
                <a:cs typeface="Times New Roman" panose="02020603050405020304" pitchFamily="18" charset="0"/>
              </a:rPr>
              <a:t>(A))</a:t>
            </a:r>
          </a:p>
          <a:p>
            <a:pPr>
              <a:buNone/>
            </a:pPr>
            <a:r>
              <a:rPr lang="en-US" dirty="0">
                <a:latin typeface="Times New Roman" panose="02020603050405020304" pitchFamily="18" charset="0"/>
                <a:cs typeface="Times New Roman" panose="02020603050405020304" pitchFamily="18" charset="0"/>
              </a:rPr>
              <a:t>o/p: </a:t>
            </a:r>
            <a:r>
              <a:rPr lang="en-US" dirty="0" err="1">
                <a:latin typeface="Times New Roman" panose="02020603050405020304" pitchFamily="18" charset="0"/>
                <a:cs typeface="Times New Roman" panose="02020603050405020304" pitchFamily="18" charset="0"/>
              </a:rPr>
              <a:t>koneru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lakshmaiaha</a:t>
            </a:r>
            <a:r>
              <a:rPr lang="en-US" dirty="0">
                <a:latin typeface="Times New Roman" panose="02020603050405020304" pitchFamily="18" charset="0"/>
                <a:cs typeface="Times New Roman" panose="02020603050405020304" pitchFamily="18" charset="0"/>
              </a:rPr>
              <a:t> educational foundation </a:t>
            </a:r>
          </a:p>
          <a:p>
            <a:pPr>
              <a:buNone/>
            </a:pPr>
            <a:r>
              <a:rPr lang="en-US" dirty="0">
                <a:latin typeface="Times New Roman" panose="02020603050405020304" pitchFamily="18" charset="0"/>
                <a:cs typeface="Times New Roman" panose="02020603050405020304" pitchFamily="18" charset="0"/>
              </a:rPr>
              <a:t>        5 </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koneru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lakshmaiaha</a:t>
            </a:r>
            <a:r>
              <a:rPr lang="en-US" dirty="0">
                <a:latin typeface="Times New Roman" panose="02020603050405020304" pitchFamily="18" charset="0"/>
                <a:cs typeface="Times New Roman" panose="02020603050405020304" pitchFamily="18" charset="0"/>
              </a:rPr>
              <a:t> educational foundation</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koneru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lakshmaiaha</a:t>
            </a:r>
            <a:r>
              <a:rPr lang="en-US" dirty="0">
                <a:latin typeface="Times New Roman" panose="02020603050405020304" pitchFamily="18" charset="0"/>
                <a:cs typeface="Times New Roman" panose="02020603050405020304" pitchFamily="18" charset="0"/>
              </a:rPr>
              <a:t> educational foundation</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koneru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lakshmaiaha</a:t>
            </a:r>
            <a:r>
              <a:rPr lang="en-US" dirty="0">
                <a:latin typeface="Times New Roman" panose="02020603050405020304" pitchFamily="18" charset="0"/>
                <a:cs typeface="Times New Roman" panose="02020603050405020304" pitchFamily="18" charset="0"/>
              </a:rPr>
              <a:t> educational foundation</a:t>
            </a:r>
          </a:p>
          <a:p>
            <a:pPr>
              <a:buNone/>
            </a:pPr>
            <a:r>
              <a:rPr lang="en-US" dirty="0">
                <a:latin typeface="Times New Roman" panose="02020603050405020304" pitchFamily="18" charset="0"/>
                <a:cs typeface="Times New Roman" panose="02020603050405020304" pitchFamily="18" charset="0"/>
              </a:rPr>
              <a:t>		   55</a:t>
            </a:r>
            <a:endParaRPr lang="fr-FR"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2302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11201399" cy="4953000"/>
          </a:xfrm>
        </p:spPr>
        <p:txBody>
          <a:bodyPr/>
          <a:lstStyle/>
          <a:p>
            <a:pPr>
              <a:buNone/>
            </a:pPr>
            <a:r>
              <a:rPr lang="en-US" dirty="0">
                <a:latin typeface="Times New Roman" panose="02020603050405020304" pitchFamily="18" charset="0"/>
                <a:cs typeface="Times New Roman" panose="02020603050405020304" pitchFamily="18" charset="0"/>
              </a:rPr>
              <a:t>FOR CONCATENATING 2 STRINGS WE HAVE TO USE + SYMBOL</a:t>
            </a:r>
          </a:p>
          <a:p>
            <a:pPr>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klh</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 = “BOWREMPET"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 = a + b</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print(c)</a:t>
            </a:r>
          </a:p>
          <a:p>
            <a:pPr>
              <a:buNone/>
            </a:pPr>
            <a:r>
              <a:rPr lang="en-US" dirty="0">
                <a:latin typeface="Times New Roman" panose="02020603050405020304" pitchFamily="18" charset="0"/>
                <a:cs typeface="Times New Roman" panose="02020603050405020304" pitchFamily="18" charset="0"/>
              </a:rPr>
              <a:t>    c=a+” “ +b</a:t>
            </a:r>
          </a:p>
          <a:p>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SLICING STRING CONCATENATION</a:t>
            </a:r>
            <a:endParaRPr lang="en-US" sz="2400" dirty="0"/>
          </a:p>
        </p:txBody>
      </p:sp>
    </p:spTree>
    <p:extLst>
      <p:ext uri="{BB962C8B-B14F-4D97-AF65-F5344CB8AC3E}">
        <p14:creationId xmlns:p14="http://schemas.microsoft.com/office/powerpoint/2010/main" val="1587819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11506200" cy="5029200"/>
          </a:xfrm>
        </p:spPr>
        <p:txBody>
          <a:bodyPr>
            <a:normAutofit fontScale="85000" lnSpcReduction="20000"/>
          </a:bodyPr>
          <a:lstStyle/>
          <a:p>
            <a:pPr marL="0" indent="0">
              <a:buNone/>
            </a:pPr>
            <a:r>
              <a:rPr lang="en-US" dirty="0">
                <a:latin typeface="Times New Roman" panose="02020603050405020304" pitchFamily="18" charset="0"/>
                <a:cs typeface="Times New Roman" panose="02020603050405020304" pitchFamily="18" charset="0"/>
              </a:rPr>
              <a:t>The format() method formats the specified value and insert them inside the string’s place holder. The placeholder is defined using curly brackets:{}</a:t>
            </a:r>
          </a:p>
          <a:p>
            <a:pPr>
              <a:buNone/>
            </a:pPr>
            <a:r>
              <a:rPr lang="en-IN" dirty="0">
                <a:latin typeface="Times New Roman" panose="02020603050405020304" pitchFamily="18" charset="0"/>
                <a:cs typeface="Times New Roman" panose="02020603050405020304" pitchFamily="18" charset="0"/>
              </a:rPr>
              <a:t>Syntax:</a:t>
            </a:r>
          </a:p>
          <a:p>
            <a:pPr>
              <a:buNone/>
            </a:pPr>
            <a:r>
              <a:rPr lang="en-US" i="1" dirty="0" err="1">
                <a:latin typeface="Times New Roman" panose="02020603050405020304" pitchFamily="18" charset="0"/>
                <a:cs typeface="Times New Roman" panose="02020603050405020304" pitchFamily="18" charset="0"/>
              </a:rPr>
              <a:t>string</a:t>
            </a:r>
            <a:r>
              <a:rPr lang="en-US" dirty="0" err="1">
                <a:latin typeface="Times New Roman" panose="02020603050405020304" pitchFamily="18" charset="0"/>
                <a:cs typeface="Times New Roman" panose="02020603050405020304" pitchFamily="18" charset="0"/>
              </a:rPr>
              <a:t>.format</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value1, value2...</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     txt1 = "My name is {</a:t>
            </a:r>
            <a:r>
              <a:rPr lang="en-US" dirty="0" err="1">
                <a:latin typeface="Times New Roman" panose="02020603050405020304" pitchFamily="18" charset="0"/>
                <a:cs typeface="Times New Roman" panose="02020603050405020304" pitchFamily="18" charset="0"/>
              </a:rPr>
              <a:t>fname</a:t>
            </a:r>
            <a:r>
              <a:rPr lang="en-US" dirty="0">
                <a:latin typeface="Times New Roman" panose="02020603050405020304" pitchFamily="18" charset="0"/>
                <a:cs typeface="Times New Roman" panose="02020603050405020304" pitchFamily="18" charset="0"/>
              </a:rPr>
              <a:t>}, I'm {age}".format(</a:t>
            </a:r>
            <a:r>
              <a:rPr lang="en-US" dirty="0" err="1">
                <a:latin typeface="Times New Roman" panose="02020603050405020304" pitchFamily="18" charset="0"/>
                <a:cs typeface="Times New Roman" panose="02020603050405020304" pitchFamily="18" charset="0"/>
              </a:rPr>
              <a:t>fname</a:t>
            </a:r>
            <a:r>
              <a:rPr lang="en-US" dirty="0">
                <a:latin typeface="Times New Roman" panose="02020603050405020304" pitchFamily="18" charset="0"/>
                <a:cs typeface="Times New Roman" panose="02020603050405020304" pitchFamily="18" charset="0"/>
              </a:rPr>
              <a:t> = "John", age = 36)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txt2 = "My name is {0}, I'm {1}".format("John",36)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txt3 = "My name is {}, I'm {}".format("John",36)</a:t>
            </a:r>
            <a:endParaRPr lang="en-IN"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:&lt;				Left aligns the result (within the available space)</a:t>
            </a:r>
          </a:p>
          <a:p>
            <a:pPr>
              <a:buNone/>
            </a:pPr>
            <a:r>
              <a:rPr lang="en-US" dirty="0">
                <a:latin typeface="Times New Roman" panose="02020603050405020304" pitchFamily="18" charset="0"/>
                <a:cs typeface="Times New Roman" panose="02020603050405020304" pitchFamily="18" charset="0"/>
              </a:rPr>
              <a:t>:&gt;				Right aligns the result (within the available space)</a:t>
            </a:r>
          </a:p>
          <a:p>
            <a:pPr>
              <a:buNone/>
            </a:pPr>
            <a:r>
              <a:rPr lang="en-US" dirty="0">
                <a:latin typeface="Times New Roman" panose="02020603050405020304" pitchFamily="18" charset="0"/>
                <a:cs typeface="Times New Roman" panose="02020603050405020304" pitchFamily="18" charset="0"/>
              </a:rPr>
              <a:t>:^				Center aligns the result (within the available space)</a:t>
            </a:r>
          </a:p>
          <a:p>
            <a:pPr>
              <a:buNone/>
            </a:pPr>
            <a:r>
              <a:rPr lang="en-US" dirty="0">
                <a:latin typeface="Times New Roman" panose="02020603050405020304" pitchFamily="18" charset="0"/>
                <a:cs typeface="Times New Roman" panose="02020603050405020304" pitchFamily="18" charset="0"/>
              </a:rPr>
              <a:t>:=				Places the sign to the left most position</a:t>
            </a:r>
          </a:p>
          <a:p>
            <a:pPr>
              <a:buNone/>
            </a:pPr>
            <a:r>
              <a:rPr lang="en-US" dirty="0">
                <a:latin typeface="Times New Roman" panose="02020603050405020304" pitchFamily="18" charset="0"/>
                <a:cs typeface="Times New Roman" panose="02020603050405020304" pitchFamily="18" charset="0"/>
              </a:rPr>
              <a:t>:+				Use a plus sign to indicate if the result is positive or negative</a:t>
            </a:r>
          </a:p>
          <a:p>
            <a:pPr>
              <a:buNone/>
            </a:pPr>
            <a:r>
              <a:rPr lang="en-US" dirty="0">
                <a:latin typeface="Times New Roman" panose="02020603050405020304" pitchFamily="18" charset="0"/>
                <a:cs typeface="Times New Roman" panose="02020603050405020304" pitchFamily="18" charset="0"/>
              </a:rPr>
              <a:t>:-				Use a minus sign for negative values only</a:t>
            </a:r>
          </a:p>
          <a:p>
            <a:pPr>
              <a:buNone/>
            </a:pPr>
            <a:r>
              <a:rPr lang="en-US" dirty="0">
                <a:latin typeface="Times New Roman" panose="02020603050405020304" pitchFamily="18" charset="0"/>
                <a:cs typeface="Times New Roman" panose="02020603050405020304" pitchFamily="18" charset="0"/>
              </a:rPr>
              <a:t>:f				Fix point number format</a:t>
            </a:r>
          </a:p>
          <a:p>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STRING FORMAT() METHOD</a:t>
            </a:r>
            <a:endParaRPr lang="en-US" sz="2400" dirty="0"/>
          </a:p>
        </p:txBody>
      </p:sp>
    </p:spTree>
    <p:extLst>
      <p:ext uri="{BB962C8B-B14F-4D97-AF65-F5344CB8AC3E}">
        <p14:creationId xmlns:p14="http://schemas.microsoft.com/office/powerpoint/2010/main" val="1575273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10972800" cy="4800600"/>
          </a:xfrm>
        </p:spPr>
        <p:txBody>
          <a:bodyPr>
            <a:normAutofit/>
          </a:bodyPr>
          <a:lstStyle/>
          <a:p>
            <a:pPr algn="just"/>
            <a:r>
              <a:rPr lang="en-US" dirty="0">
                <a:latin typeface="Times New Roman" panose="02020603050405020304" pitchFamily="18" charset="0"/>
                <a:cs typeface="Times New Roman" panose="02020603050405020304" pitchFamily="18" charset="0"/>
              </a:rPr>
              <a:t>Arithmetic operators : ( +,-,*,/, %, **, //)</a:t>
            </a:r>
          </a:p>
          <a:p>
            <a:pPr algn="just"/>
            <a:r>
              <a:rPr lang="en-US" dirty="0">
                <a:latin typeface="Times New Roman" panose="02020603050405020304" pitchFamily="18" charset="0"/>
                <a:cs typeface="Times New Roman" panose="02020603050405020304" pitchFamily="18" charset="0"/>
              </a:rPr>
              <a:t>Assignment operators : (+,+=,-= ………….)</a:t>
            </a:r>
          </a:p>
          <a:p>
            <a:pPr algn="just"/>
            <a:r>
              <a:rPr lang="en-US" dirty="0">
                <a:latin typeface="Times New Roman" panose="02020603050405020304" pitchFamily="18" charset="0"/>
                <a:cs typeface="Times New Roman" panose="02020603050405020304" pitchFamily="18" charset="0"/>
              </a:rPr>
              <a:t>Comparison operators : (==,!=,&gt;=,&lt;=, &lt;,&gt;)</a:t>
            </a:r>
          </a:p>
          <a:p>
            <a:pPr algn="just"/>
            <a:r>
              <a:rPr lang="en-US" dirty="0">
                <a:latin typeface="Times New Roman" panose="02020603050405020304" pitchFamily="18" charset="0"/>
                <a:cs typeface="Times New Roman" panose="02020603050405020304" pitchFamily="18" charset="0"/>
              </a:rPr>
              <a:t>Logical operators : (and, </a:t>
            </a:r>
            <a:r>
              <a:rPr lang="en-US" dirty="0" err="1">
                <a:latin typeface="Times New Roman" panose="02020603050405020304" pitchFamily="18" charset="0"/>
                <a:cs typeface="Times New Roman" panose="02020603050405020304" pitchFamily="18" charset="0"/>
              </a:rPr>
              <a:t>or,not</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Identity operators : (is, is not)</a:t>
            </a:r>
          </a:p>
          <a:p>
            <a:pPr algn="just"/>
            <a:r>
              <a:rPr lang="en-US" dirty="0">
                <a:latin typeface="Times New Roman" panose="02020603050405020304" pitchFamily="18" charset="0"/>
                <a:cs typeface="Times New Roman" panose="02020603050405020304" pitchFamily="18" charset="0"/>
              </a:rPr>
              <a:t>Membership operators : (in, not in)</a:t>
            </a:r>
          </a:p>
          <a:p>
            <a:pPr algn="just"/>
            <a:r>
              <a:rPr lang="en-US" dirty="0">
                <a:latin typeface="Times New Roman" panose="02020603050405020304" pitchFamily="18" charset="0"/>
                <a:cs typeface="Times New Roman" panose="02020603050405020304" pitchFamily="18" charset="0"/>
              </a:rPr>
              <a:t>Bitwise operators : (and &amp;,or |,</a:t>
            </a:r>
            <a:r>
              <a:rPr lang="en-US" dirty="0" err="1">
                <a:latin typeface="Times New Roman" panose="02020603050405020304" pitchFamily="18" charset="0"/>
                <a:cs typeface="Times New Roman" panose="02020603050405020304" pitchFamily="18" charset="0"/>
              </a:rPr>
              <a:t>xor</a:t>
            </a:r>
            <a:r>
              <a:rPr lang="en-US" dirty="0">
                <a:latin typeface="Times New Roman" panose="02020603050405020304" pitchFamily="18" charset="0"/>
                <a:cs typeface="Times New Roman" panose="02020603050405020304" pitchFamily="18" charset="0"/>
              </a:rPr>
              <a:t> ^,not ~)</a:t>
            </a:r>
          </a:p>
          <a:p>
            <a:pPr algn="just"/>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PYTHON OPERATORS </a:t>
            </a:r>
            <a:endParaRPr lang="en-US" sz="2400" dirty="0"/>
          </a:p>
        </p:txBody>
      </p:sp>
    </p:spTree>
    <p:extLst>
      <p:ext uri="{BB962C8B-B14F-4D97-AF65-F5344CB8AC3E}">
        <p14:creationId xmlns:p14="http://schemas.microsoft.com/office/powerpoint/2010/main" val="20201534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11201400" cy="5105400"/>
          </a:xfrm>
        </p:spPr>
        <p:txBody>
          <a:bodyPr>
            <a:normAutofit/>
          </a:bodyPr>
          <a:lstStyle/>
          <a:p>
            <a:pPr marL="0" indent="0">
              <a:buNone/>
            </a:pPr>
            <a:r>
              <a:rPr lang="en-US" sz="3200" b="1" dirty="0">
                <a:latin typeface="Times New Roman" panose="02020603050405020304" pitchFamily="18" charset="0"/>
                <a:cs typeface="Times New Roman" panose="02020603050405020304" pitchFamily="18" charset="0"/>
              </a:rPr>
              <a:t>Conditional Statements:</a:t>
            </a:r>
          </a:p>
          <a:p>
            <a:pPr marL="0" indent="0">
              <a:buNone/>
            </a:pPr>
            <a:r>
              <a:rPr lang="en-US" b="1" dirty="0">
                <a:latin typeface="Times New Roman" panose="02020603050405020304" pitchFamily="18" charset="0"/>
                <a:cs typeface="Times New Roman" panose="02020603050405020304" pitchFamily="18" charset="0"/>
              </a:rPr>
              <a:t>An "if statement" is written by using the if keyword.</a:t>
            </a:r>
          </a:p>
          <a:p>
            <a:pPr marL="0" indent="0">
              <a:buNone/>
            </a:pPr>
            <a:r>
              <a:rPr lang="en-US" b="1" dirty="0">
                <a:latin typeface="Times New Roman" panose="02020603050405020304" pitchFamily="18" charset="0"/>
                <a:cs typeface="Times New Roman" panose="02020603050405020304" pitchFamily="18" charset="0"/>
              </a:rPr>
              <a:t>Syntax :  if condition :</a:t>
            </a:r>
          </a:p>
          <a:p>
            <a:pPr marL="0" indent="0">
              <a:buNone/>
            </a:pPr>
            <a:r>
              <a:rPr lang="en-US" b="1" dirty="0">
                <a:latin typeface="Times New Roman" panose="02020603050405020304" pitchFamily="18" charset="0"/>
                <a:cs typeface="Times New Roman" panose="02020603050405020304" pitchFamily="18" charset="0"/>
              </a:rPr>
              <a:t>                     true statements</a:t>
            </a:r>
          </a:p>
          <a:p>
            <a:pPr marL="0" indent="0">
              <a:buNone/>
            </a:pPr>
            <a:r>
              <a:rPr lang="en-US" dirty="0">
                <a:latin typeface="Times New Roman" panose="02020603050405020304" pitchFamily="18" charset="0"/>
                <a:cs typeface="Times New Roman" panose="02020603050405020304" pitchFamily="18" charset="0"/>
              </a:rPr>
              <a:t>Ex:  a = 33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 = 200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if b &gt; 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print("b is greater than a")</a:t>
            </a:r>
          </a:p>
          <a:p>
            <a:endParaRPr lang="en-IN" dirty="0"/>
          </a:p>
        </p:txBody>
      </p:sp>
      <p:sp>
        <p:nvSpPr>
          <p:cNvPr id="4"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CONDITIONAL STATEMENTS</a:t>
            </a:r>
            <a:endParaRPr lang="en-US" sz="2400" dirty="0"/>
          </a:p>
        </p:txBody>
      </p:sp>
    </p:spTree>
    <p:extLst>
      <p:ext uri="{BB962C8B-B14F-4D97-AF65-F5344CB8AC3E}">
        <p14:creationId xmlns:p14="http://schemas.microsoft.com/office/powerpoint/2010/main" val="3632577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1" y="914400"/>
            <a:ext cx="10445254" cy="4551945"/>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We can also use else with if condition.</a:t>
            </a:r>
          </a:p>
          <a:p>
            <a:pPr marL="0" indent="0">
              <a:buNone/>
            </a:pPr>
            <a:r>
              <a:rPr lang="en-US" b="1" dirty="0">
                <a:latin typeface="Times New Roman" panose="02020603050405020304" pitchFamily="18" charset="0"/>
                <a:cs typeface="Times New Roman" panose="02020603050405020304" pitchFamily="18" charset="0"/>
              </a:rPr>
              <a:t>Syntax :  if condition :</a:t>
            </a:r>
          </a:p>
          <a:p>
            <a:pPr marL="0" indent="0">
              <a:buNone/>
            </a:pPr>
            <a:r>
              <a:rPr lang="en-US" b="1" dirty="0">
                <a:latin typeface="Times New Roman" panose="02020603050405020304" pitchFamily="18" charset="0"/>
                <a:cs typeface="Times New Roman" panose="02020603050405020304" pitchFamily="18" charset="0"/>
              </a:rPr>
              <a:t>                     true statements</a:t>
            </a:r>
          </a:p>
          <a:p>
            <a:pPr marL="0" indent="0">
              <a:buNone/>
            </a:pPr>
            <a:r>
              <a:rPr lang="en-US" b="1" dirty="0">
                <a:latin typeface="Times New Roman" panose="02020603050405020304" pitchFamily="18" charset="0"/>
                <a:cs typeface="Times New Roman" panose="02020603050405020304" pitchFamily="18" charset="0"/>
              </a:rPr>
              <a:t>	  else:</a:t>
            </a:r>
          </a:p>
          <a:p>
            <a:pPr marL="0" indent="0">
              <a:buNone/>
            </a:pPr>
            <a:r>
              <a:rPr lang="en-US" b="1" dirty="0">
                <a:latin typeface="Times New Roman" panose="02020603050405020304" pitchFamily="18" charset="0"/>
                <a:cs typeface="Times New Roman" panose="02020603050405020304" pitchFamily="18" charset="0"/>
              </a:rPr>
              <a:t>                     False statements</a:t>
            </a:r>
          </a:p>
          <a:p>
            <a:pPr marL="0" indent="0">
              <a:buNone/>
            </a:pPr>
            <a:r>
              <a:rPr lang="en-US" dirty="0">
                <a:latin typeface="Times New Roman" panose="02020603050405020304" pitchFamily="18" charset="0"/>
                <a:cs typeface="Times New Roman" panose="02020603050405020304" pitchFamily="18" charset="0"/>
              </a:rPr>
              <a:t>	a = 200,	b = 33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if b &gt; 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print("b is greater than 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else: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print("b is not greater than a")</a:t>
            </a:r>
          </a:p>
          <a:p>
            <a:endParaRPr lang="en-IN" dirty="0"/>
          </a:p>
        </p:txBody>
      </p:sp>
    </p:spTree>
    <p:extLst>
      <p:ext uri="{BB962C8B-B14F-4D97-AF65-F5344CB8AC3E}">
        <p14:creationId xmlns:p14="http://schemas.microsoft.com/office/powerpoint/2010/main" val="880394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85800"/>
            <a:ext cx="11811000" cy="533400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The </a:t>
            </a:r>
            <a:r>
              <a:rPr lang="en-US" b="1" dirty="0" err="1">
                <a:latin typeface="Times New Roman" panose="02020603050405020304" pitchFamily="18" charset="0"/>
                <a:cs typeface="Times New Roman" panose="02020603050405020304" pitchFamily="18" charset="0"/>
              </a:rPr>
              <a:t>elif</a:t>
            </a:r>
            <a:r>
              <a:rPr lang="en-US" b="1" dirty="0">
                <a:latin typeface="Times New Roman" panose="02020603050405020304" pitchFamily="18" charset="0"/>
                <a:cs typeface="Times New Roman" panose="02020603050405020304" pitchFamily="18" charset="0"/>
              </a:rPr>
              <a:t> keyword is pythons way of saying "if the previous conditions were not true, then try this condition".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Syntax :  if condition :</a:t>
            </a:r>
          </a:p>
          <a:p>
            <a:pPr marL="0" indent="0">
              <a:buNone/>
            </a:pPr>
            <a:r>
              <a:rPr lang="en-US" b="1" dirty="0">
                <a:latin typeface="Times New Roman" panose="02020603050405020304" pitchFamily="18" charset="0"/>
                <a:cs typeface="Times New Roman" panose="02020603050405020304" pitchFamily="18" charset="0"/>
              </a:rPr>
              <a:t>                                 true statements</a:t>
            </a:r>
          </a:p>
          <a:p>
            <a:pPr marL="0" indent="0">
              <a:buNone/>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elif</a:t>
            </a:r>
            <a:r>
              <a:rPr lang="en-US" b="1" dirty="0">
                <a:latin typeface="Times New Roman" panose="02020603050405020304" pitchFamily="18" charset="0"/>
                <a:cs typeface="Times New Roman" panose="02020603050405020304" pitchFamily="18" charset="0"/>
              </a:rPr>
              <a:t> condition :</a:t>
            </a:r>
          </a:p>
          <a:p>
            <a:pPr marL="0" indent="0">
              <a:buNone/>
            </a:pPr>
            <a:r>
              <a:rPr lang="en-US" b="1" dirty="0">
                <a:latin typeface="Times New Roman" panose="02020603050405020304" pitchFamily="18" charset="0"/>
                <a:cs typeface="Times New Roman" panose="02020603050405020304" pitchFamily="18" charset="0"/>
              </a:rPr>
              <a:t>                                  true statements</a:t>
            </a:r>
          </a:p>
          <a:p>
            <a:pPr marL="0" indent="0">
              <a:buNone/>
            </a:pPr>
            <a:r>
              <a:rPr lang="en-US" b="1" dirty="0">
                <a:latin typeface="Times New Roman" panose="02020603050405020304" pitchFamily="18" charset="0"/>
                <a:cs typeface="Times New Roman" panose="02020603050405020304" pitchFamily="18" charset="0"/>
              </a:rPr>
              <a:t>                               else :</a:t>
            </a:r>
          </a:p>
          <a:p>
            <a:pPr marL="0" indent="0">
              <a:buNone/>
            </a:pPr>
            <a:r>
              <a:rPr lang="en-US" b="1" dirty="0">
                <a:latin typeface="Times New Roman" panose="02020603050405020304" pitchFamily="18" charset="0"/>
                <a:cs typeface="Times New Roman" panose="02020603050405020304" pitchFamily="18" charset="0"/>
              </a:rPr>
              <a:t>		    false statements</a:t>
            </a:r>
          </a:p>
          <a:p>
            <a:pPr marL="0" indent="0">
              <a:buNone/>
            </a:pPr>
            <a:r>
              <a:rPr lang="en-US" b="1"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if b &gt; a:		 #a=33 ,b=33</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print("b is greater than 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elif</a:t>
            </a:r>
            <a:r>
              <a:rPr lang="en-US" dirty="0">
                <a:latin typeface="Times New Roman" panose="02020603050405020304" pitchFamily="18" charset="0"/>
                <a:cs typeface="Times New Roman" panose="02020603050405020304" pitchFamily="18" charset="0"/>
              </a:rPr>
              <a:t> a == b:</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print("a and b are equal")</a:t>
            </a:r>
          </a:p>
          <a:p>
            <a:endParaRPr lang="en-IN" dirty="0"/>
          </a:p>
        </p:txBody>
      </p:sp>
    </p:spTree>
    <p:extLst>
      <p:ext uri="{BB962C8B-B14F-4D97-AF65-F5344CB8AC3E}">
        <p14:creationId xmlns:p14="http://schemas.microsoft.com/office/powerpoint/2010/main" val="3280306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063257"/>
            <a:ext cx="8596668" cy="4978106"/>
          </a:xfrm>
        </p:spPr>
        <p:txBody>
          <a:bodyPr>
            <a:normAutofit/>
          </a:bodyPr>
          <a:lstStyle/>
          <a:p>
            <a:r>
              <a:rPr lang="en-US" dirty="0"/>
              <a:t>Write a program to check whether the given number is even or not</a:t>
            </a:r>
          </a:p>
          <a:p>
            <a:r>
              <a:rPr lang="en-US" dirty="0"/>
              <a:t>Write a program to find the biggest of 3 numbers.</a:t>
            </a:r>
          </a:p>
          <a:p>
            <a:r>
              <a:rPr lang="en-US" dirty="0"/>
              <a:t>Write a program to find the grade of a student by inputting  3 subjects marks.</a:t>
            </a:r>
          </a:p>
          <a:p>
            <a:endParaRPr lang="en-US" dirty="0"/>
          </a:p>
        </p:txBody>
      </p:sp>
    </p:spTree>
    <p:extLst>
      <p:ext uri="{BB962C8B-B14F-4D97-AF65-F5344CB8AC3E}">
        <p14:creationId xmlns:p14="http://schemas.microsoft.com/office/powerpoint/2010/main" val="1290058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11658600" cy="5181600"/>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A for loop is used for iterating over a sequence (that is either a list, a tuple, a dictionary, a set, or a string).</a:t>
            </a:r>
          </a:p>
          <a:p>
            <a:r>
              <a:rPr lang="en-US" dirty="0">
                <a:latin typeface="Times New Roman" panose="02020603050405020304" pitchFamily="18" charset="0"/>
                <a:cs typeface="Times New Roman" panose="02020603050405020304" pitchFamily="18" charset="0"/>
              </a:rPr>
              <a:t>This is less like the </a:t>
            </a:r>
            <a:r>
              <a:rPr lang="en-US" b="1" dirty="0">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keyword in other programming languages and works more like an iterator method as found in other object-orientated programming languages.</a:t>
            </a:r>
          </a:p>
          <a:p>
            <a:r>
              <a:rPr lang="en-US" dirty="0">
                <a:latin typeface="Times New Roman" panose="02020603050405020304" pitchFamily="18" charset="0"/>
                <a:cs typeface="Times New Roman" panose="02020603050405020304" pitchFamily="18" charset="0"/>
              </a:rPr>
              <a:t>With the for loop, we can execute a set of statements, once for each item in a list, tuple, set, etc.</a:t>
            </a:r>
          </a:p>
          <a:p>
            <a:pPr marL="0" indent="0">
              <a:buNone/>
            </a:pPr>
            <a:r>
              <a:rPr lang="en-US" dirty="0">
                <a:latin typeface="Times New Roman" panose="02020603050405020304" pitchFamily="18" charset="0"/>
                <a:cs typeface="Times New Roman" panose="02020603050405020304" pitchFamily="18" charset="0"/>
              </a:rPr>
              <a:t>	fruits = ["apple", "banana", "cherry"]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for x in fruits: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print(x)</a:t>
            </a:r>
          </a:p>
          <a:p>
            <a:pPr marL="0" indent="0">
              <a:buNone/>
            </a:pPr>
            <a:r>
              <a:rPr lang="en-IN" b="1" dirty="0">
                <a:latin typeface="Times New Roman" panose="02020603050405020304" pitchFamily="18" charset="0"/>
                <a:cs typeface="Times New Roman" panose="02020603050405020304" pitchFamily="18" charset="0"/>
              </a:rPr>
              <a:t>range() Function:</a:t>
            </a:r>
          </a:p>
          <a:p>
            <a:pPr marL="0" indent="0">
              <a:buNone/>
            </a:pPr>
            <a:r>
              <a:rPr lang="en-US" dirty="0">
                <a:latin typeface="Times New Roman" panose="02020603050405020304" pitchFamily="18" charset="0"/>
                <a:cs typeface="Times New Roman" panose="02020603050405020304" pitchFamily="18" charset="0"/>
              </a:rPr>
              <a:t>	The range() function returns a sequence of numbers, starting from 0 by default, increments by 1 (by default), and ends at a specified number.</a:t>
            </a:r>
          </a:p>
          <a:p>
            <a:pPr marL="0" indent="0">
              <a:buNone/>
            </a:pPr>
            <a:r>
              <a:rPr lang="en-US" dirty="0">
                <a:latin typeface="Times New Roman" panose="02020603050405020304" pitchFamily="18" charset="0"/>
                <a:cs typeface="Times New Roman" panose="02020603050405020304" pitchFamily="18" charset="0"/>
              </a:rPr>
              <a:t>for x in range(6):</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print(x)</a:t>
            </a:r>
            <a:endParaRPr lang="en-IN"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for x in range(2, 30, 3):   #start value, end value, increment by value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print(x)</a:t>
            </a:r>
          </a:p>
          <a:p>
            <a:pPr marL="0" indent="0">
              <a:buNone/>
            </a:pPr>
            <a:r>
              <a:rPr lang="en-US" dirty="0">
                <a:latin typeface="Times New Roman" panose="02020603050405020304" pitchFamily="18" charset="0"/>
                <a:cs typeface="Times New Roman" panose="02020603050405020304" pitchFamily="18" charset="0"/>
              </a:rPr>
              <a:t>To print the numbers in the reverse order</a:t>
            </a:r>
          </a:p>
          <a:p>
            <a:pPr marL="0" indent="0">
              <a:buNone/>
            </a:pPr>
            <a:r>
              <a:rPr lang="en-US" dirty="0">
                <a:latin typeface="Times New Roman" panose="02020603050405020304" pitchFamily="18" charset="0"/>
                <a:cs typeface="Times New Roman" panose="02020603050405020304" pitchFamily="18" charset="0"/>
              </a:rPr>
              <a:t>For x in range(50,5,-5)</a:t>
            </a:r>
          </a:p>
          <a:p>
            <a:pPr marL="0" indent="0">
              <a:buNone/>
            </a:pPr>
            <a:r>
              <a:rPr lang="en-US" dirty="0" err="1">
                <a:latin typeface="Times New Roman" panose="02020603050405020304" pitchFamily="18" charset="0"/>
                <a:cs typeface="Times New Roman" panose="02020603050405020304" pitchFamily="18" charset="0"/>
              </a:rPr>
              <a:t>Pritnt</a:t>
            </a:r>
            <a:r>
              <a:rPr lang="en-US" dirty="0">
                <a:latin typeface="Times New Roman" panose="02020603050405020304" pitchFamily="18" charset="0"/>
                <a:cs typeface="Times New Roman" panose="02020603050405020304" pitchFamily="18" charset="0"/>
              </a:rPr>
              <a:t>(x)</a:t>
            </a:r>
          </a:p>
          <a:p>
            <a:endParaRPr lang="en-IN" dirty="0"/>
          </a:p>
        </p:txBody>
      </p:sp>
      <p:sp>
        <p:nvSpPr>
          <p:cNvPr id="5"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FOR LOOP</a:t>
            </a:r>
            <a:endParaRPr lang="en-US" sz="2400" dirty="0"/>
          </a:p>
        </p:txBody>
      </p:sp>
    </p:spTree>
    <p:extLst>
      <p:ext uri="{BB962C8B-B14F-4D97-AF65-F5344CB8AC3E}">
        <p14:creationId xmlns:p14="http://schemas.microsoft.com/office/powerpoint/2010/main" val="399819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914400"/>
            <a:ext cx="8596668" cy="4648498"/>
          </a:xfrm>
        </p:spPr>
        <p:txBody>
          <a:bodyPr/>
          <a:lstStyle/>
          <a:p>
            <a:r>
              <a:rPr lang="en-US" dirty="0">
                <a:latin typeface="Times New Roman" panose="02020603050405020304" pitchFamily="18" charset="0"/>
                <a:cs typeface="Times New Roman" panose="02020603050405020304" pitchFamily="18" charset="0"/>
              </a:rPr>
              <a:t>Write a program to print the even numbers from 1 to 100</a:t>
            </a:r>
          </a:p>
          <a:p>
            <a:r>
              <a:rPr lang="en-US" dirty="0">
                <a:latin typeface="Times New Roman" panose="02020603050405020304" pitchFamily="18" charset="0"/>
                <a:cs typeface="Times New Roman" panose="02020603050405020304" pitchFamily="18" charset="0"/>
              </a:rPr>
              <a:t>Write a program to check whether the given number is palindrome or not.</a:t>
            </a:r>
          </a:p>
          <a:p>
            <a:r>
              <a:rPr lang="en-US" dirty="0">
                <a:latin typeface="Times New Roman" panose="02020603050405020304" pitchFamily="18" charset="0"/>
                <a:cs typeface="Times New Roman" panose="02020603050405020304" pitchFamily="18" charset="0"/>
              </a:rPr>
              <a:t>Write a program to check whether the given number is prime not.</a:t>
            </a:r>
          </a:p>
        </p:txBody>
      </p:sp>
    </p:spTree>
    <p:extLst>
      <p:ext uri="{BB962C8B-B14F-4D97-AF65-F5344CB8AC3E}">
        <p14:creationId xmlns:p14="http://schemas.microsoft.com/office/powerpoint/2010/main" val="2660745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11289112" cy="4974562"/>
          </a:xfrm>
        </p:spPr>
        <p:txBody>
          <a:bodyPr>
            <a:noAutofit/>
          </a:bodyPr>
          <a:lstStyle/>
          <a:p>
            <a:pPr marL="0" indent="0">
              <a:buNone/>
            </a:pPr>
            <a:r>
              <a:rPr lang="en-US" b="1" dirty="0">
                <a:latin typeface="Times New Roman" panose="02020603050405020304" pitchFamily="18" charset="0"/>
                <a:cs typeface="Times New Roman" panose="02020603050405020304" pitchFamily="18" charset="0"/>
              </a:rPr>
              <a:t>With the while loop we can execute a set of statements as long as a condition is true.</a:t>
            </a:r>
          </a:p>
          <a:p>
            <a:pPr marL="0" indent="0">
              <a:buNone/>
            </a:pPr>
            <a:r>
              <a:rPr lang="en-US" dirty="0">
                <a:latin typeface="Times New Roman" panose="02020603050405020304" pitchFamily="18" charset="0"/>
                <a:cs typeface="Times New Roman" panose="02020603050405020304" pitchFamily="18" charset="0"/>
              </a:rPr>
              <a:t>	</a:t>
            </a:r>
            <a:r>
              <a:rPr lang="nn-NO" dirty="0">
                <a:latin typeface="Times New Roman" panose="02020603050405020304" pitchFamily="18" charset="0"/>
                <a:cs typeface="Times New Roman" panose="02020603050405020304" pitchFamily="18" charset="0"/>
              </a:rPr>
              <a:t>i = 1</a:t>
            </a:r>
            <a:br>
              <a:rPr lang="nn-NO" dirty="0">
                <a:latin typeface="Times New Roman" panose="02020603050405020304" pitchFamily="18" charset="0"/>
                <a:cs typeface="Times New Roman" panose="02020603050405020304" pitchFamily="18" charset="0"/>
              </a:rPr>
            </a:br>
            <a:r>
              <a:rPr lang="nn-NO" dirty="0">
                <a:latin typeface="Times New Roman" panose="02020603050405020304" pitchFamily="18" charset="0"/>
                <a:cs typeface="Times New Roman" panose="02020603050405020304" pitchFamily="18" charset="0"/>
              </a:rPr>
              <a:t>	while i &lt; 6:</a:t>
            </a:r>
            <a:br>
              <a:rPr lang="nn-NO" dirty="0">
                <a:latin typeface="Times New Roman" panose="02020603050405020304" pitchFamily="18" charset="0"/>
                <a:cs typeface="Times New Roman" panose="02020603050405020304" pitchFamily="18" charset="0"/>
              </a:rPr>
            </a:br>
            <a:r>
              <a:rPr lang="nn-NO" dirty="0">
                <a:latin typeface="Times New Roman" panose="02020603050405020304" pitchFamily="18" charset="0"/>
                <a:cs typeface="Times New Roman" panose="02020603050405020304" pitchFamily="18" charset="0"/>
              </a:rPr>
              <a:t> 	  print(i)</a:t>
            </a:r>
            <a:br>
              <a:rPr lang="nn-NO" dirty="0">
                <a:latin typeface="Times New Roman" panose="02020603050405020304" pitchFamily="18" charset="0"/>
                <a:cs typeface="Times New Roman" panose="02020603050405020304" pitchFamily="18" charset="0"/>
              </a:rPr>
            </a:br>
            <a:r>
              <a:rPr lang="nn-NO" dirty="0">
                <a:latin typeface="Times New Roman" panose="02020603050405020304" pitchFamily="18" charset="0"/>
                <a:cs typeface="Times New Roman" panose="02020603050405020304" pitchFamily="18" charset="0"/>
              </a:rPr>
              <a:t>	  i += 1</a:t>
            </a:r>
          </a:p>
          <a:p>
            <a:pPr marL="0" indent="0">
              <a:buNone/>
            </a:pPr>
            <a:r>
              <a:rPr lang="en-US" b="1" dirty="0">
                <a:latin typeface="Times New Roman" panose="02020603050405020304" pitchFamily="18" charset="0"/>
                <a:cs typeface="Times New Roman" panose="02020603050405020304" pitchFamily="18" charset="0"/>
              </a:rPr>
              <a:t>With the break statement, we can stop the loop even if the while condition is true.</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while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6:</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print(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if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break</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a:t>
            </a:r>
          </a:p>
          <a:p>
            <a:pPr marL="0" indent="0">
              <a:buNone/>
            </a:pP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a16="http://schemas.microsoft.com/office/drawing/2014/main" id="{978A528D-FBDF-73B4-7991-604D89DCAB64}"/>
              </a:ext>
            </a:extLst>
          </p:cNvPr>
          <p:cNvSpPr/>
          <p:nvPr/>
        </p:nvSpPr>
        <p:spPr>
          <a:xfrm>
            <a:off x="3048000" y="7620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WHILE LOOP</a:t>
            </a:r>
            <a:endParaRPr lang="en-US" sz="2400" dirty="0"/>
          </a:p>
        </p:txBody>
      </p:sp>
    </p:spTree>
    <p:extLst>
      <p:ext uri="{BB962C8B-B14F-4D97-AF65-F5344CB8AC3E}">
        <p14:creationId xmlns:p14="http://schemas.microsoft.com/office/powerpoint/2010/main" val="394434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11049000" cy="4953000"/>
          </a:xfrm>
        </p:spPr>
        <p:txBody>
          <a:bodyPr/>
          <a:lstStyle/>
          <a:p>
            <a:pPr marL="0" indent="0">
              <a:buNone/>
            </a:pPr>
            <a:r>
              <a:rPr lang="en-US" b="1" dirty="0">
                <a:latin typeface="Times New Roman" panose="02020603050405020304" pitchFamily="18" charset="0"/>
                <a:cs typeface="Times New Roman" panose="02020603050405020304" pitchFamily="18" charset="0"/>
              </a:rPr>
              <a:t>With the continue statement we can stop the current iteration, and continue with the next</a:t>
            </a:r>
          </a:p>
          <a:p>
            <a:pPr marL="0" indent="0">
              <a:buNone/>
            </a:pP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while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6:</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if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3: continue print(</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426509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838200"/>
            <a:ext cx="9044194" cy="5072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ounded Rectangle 17">
            <a:extLst>
              <a:ext uri="{FF2B5EF4-FFF2-40B4-BE49-F238E27FC236}">
                <a16:creationId xmlns:a16="http://schemas.microsoft.com/office/drawing/2014/main" id="{978A528D-FBDF-73B4-7991-604D89DCAB64}"/>
              </a:ext>
            </a:extLst>
          </p:cNvPr>
          <p:cNvSpPr/>
          <p:nvPr/>
        </p:nvSpPr>
        <p:spPr>
          <a:xfrm>
            <a:off x="2933240" y="1041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FUNCTIONS IN PYTHON</a:t>
            </a:r>
            <a:endParaRPr lang="en-US" sz="2400" dirty="0"/>
          </a:p>
        </p:txBody>
      </p:sp>
    </p:spTree>
    <p:extLst>
      <p:ext uri="{BB962C8B-B14F-4D97-AF65-F5344CB8AC3E}">
        <p14:creationId xmlns:p14="http://schemas.microsoft.com/office/powerpoint/2010/main" val="1801607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44057"/>
            <a:ext cx="10752666" cy="5375743"/>
          </a:xfrm>
        </p:spPr>
        <p:txBody>
          <a:bodyPr/>
          <a:lstStyle/>
          <a:p>
            <a:r>
              <a:rPr lang="en-US" dirty="0" err="1"/>
              <a:t>def</a:t>
            </a:r>
            <a:r>
              <a:rPr lang="en-US" dirty="0"/>
              <a:t> </a:t>
            </a:r>
            <a:r>
              <a:rPr lang="en-US" dirty="0" err="1"/>
              <a:t>find_square</a:t>
            </a:r>
            <a:r>
              <a:rPr lang="en-US" dirty="0"/>
              <a:t>(n):</a:t>
            </a:r>
          </a:p>
          <a:p>
            <a:r>
              <a:rPr lang="en-US" dirty="0"/>
              <a:t>    return n * n</a:t>
            </a:r>
          </a:p>
          <a:p>
            <a:pPr marL="0" indent="0">
              <a:buNone/>
            </a:pPr>
            <a:r>
              <a:rPr lang="en-US" dirty="0"/>
              <a:t>    </a:t>
            </a:r>
            <a:r>
              <a:rPr lang="en-US" dirty="0" err="1"/>
              <a:t>numb_to_square</a:t>
            </a:r>
            <a:r>
              <a:rPr lang="en-US" dirty="0"/>
              <a:t> = input()  </a:t>
            </a:r>
          </a:p>
          <a:p>
            <a:pPr marL="0" indent="0">
              <a:buNone/>
            </a:pPr>
            <a:r>
              <a:rPr lang="en-US" dirty="0"/>
              <a:t>    square = </a:t>
            </a:r>
            <a:r>
              <a:rPr lang="en-US" dirty="0" err="1"/>
              <a:t>find_square</a:t>
            </a:r>
            <a:r>
              <a:rPr lang="en-US" dirty="0"/>
              <a:t>(int(</a:t>
            </a:r>
            <a:r>
              <a:rPr lang="en-US" dirty="0" err="1"/>
              <a:t>numb_to_square</a:t>
            </a:r>
            <a:r>
              <a:rPr lang="en-US" dirty="0"/>
              <a:t>))	</a:t>
            </a:r>
          </a:p>
          <a:p>
            <a:pPr marL="0" indent="0">
              <a:buNone/>
            </a:pPr>
            <a:r>
              <a:rPr lang="en-US" dirty="0"/>
              <a:t>    print(</a:t>
            </a:r>
            <a:r>
              <a:rPr lang="en-US" dirty="0" err="1"/>
              <a:t>f"The</a:t>
            </a:r>
            <a:r>
              <a:rPr lang="en-US" dirty="0"/>
              <a:t> square of {</a:t>
            </a:r>
            <a:r>
              <a:rPr lang="en-US" dirty="0" err="1"/>
              <a:t>numb_to_square</a:t>
            </a:r>
            <a:r>
              <a:rPr lang="en-US" dirty="0"/>
              <a:t>} is {square}")</a:t>
            </a:r>
          </a:p>
          <a:p>
            <a:endParaRPr lang="en-IN" dirty="0"/>
          </a:p>
        </p:txBody>
      </p:sp>
    </p:spTree>
    <p:extLst>
      <p:ext uri="{BB962C8B-B14F-4D97-AF65-F5344CB8AC3E}">
        <p14:creationId xmlns:p14="http://schemas.microsoft.com/office/powerpoint/2010/main" val="2913987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11582400" cy="5387174"/>
          </a:xfrm>
        </p:spPr>
        <p:txBody>
          <a:bodyPr/>
          <a:lstStyle/>
          <a:p>
            <a:pPr algn="just"/>
            <a:r>
              <a:rPr lang="en-US" sz="2800" b="1" dirty="0">
                <a:latin typeface="Times New Roman" panose="02020603050405020304" pitchFamily="18" charset="0"/>
                <a:cs typeface="Times New Roman" panose="02020603050405020304" pitchFamily="18" charset="0"/>
              </a:rPr>
              <a:t>Numeric-Python</a:t>
            </a: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Numpy</a:t>
            </a:r>
            <a:r>
              <a:rPr lang="en-US" sz="2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a Python library that is used for numeric and scientific operations. It serves as a building block for many libraries available in Python.</a:t>
            </a:r>
          </a:p>
          <a:p>
            <a:pPr algn="just"/>
            <a:r>
              <a:rPr lang="en-US" b="1" dirty="0">
                <a:latin typeface="Times New Roman" panose="02020603050405020304" pitchFamily="18" charset="0"/>
                <a:cs typeface="Times New Roman" panose="02020603050405020304" pitchFamily="18" charset="0"/>
              </a:rPr>
              <a:t>Data structures in </a:t>
            </a:r>
            <a:r>
              <a:rPr lang="en-US" b="1" dirty="0" err="1">
                <a:latin typeface="Times New Roman" panose="02020603050405020304" pitchFamily="18" charset="0"/>
                <a:cs typeface="Times New Roman" panose="02020603050405020304" pitchFamily="18" charset="0"/>
              </a:rPr>
              <a:t>Numpy</a:t>
            </a:r>
            <a:endParaRPr lang="en-US" b="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main data structure of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is the </a:t>
            </a:r>
            <a:r>
              <a:rPr lang="en-US" dirty="0" err="1">
                <a:latin typeface="Times New Roman" panose="02020603050405020304" pitchFamily="18" charset="0"/>
                <a:cs typeface="Times New Roman" panose="02020603050405020304" pitchFamily="18" charset="0"/>
              </a:rPr>
              <a:t>ndarray</a:t>
            </a:r>
            <a:r>
              <a:rPr lang="en-US" dirty="0">
                <a:latin typeface="Times New Roman" panose="02020603050405020304" pitchFamily="18" charset="0"/>
                <a:cs typeface="Times New Roman" panose="02020603050405020304" pitchFamily="18" charset="0"/>
              </a:rPr>
              <a:t> or n-dimensional array.</a:t>
            </a: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ndarray</a:t>
            </a:r>
            <a:r>
              <a:rPr lang="en-US" dirty="0">
                <a:latin typeface="Times New Roman" panose="02020603050405020304" pitchFamily="18" charset="0"/>
                <a:cs typeface="Times New Roman" panose="02020603050405020304" pitchFamily="18" charset="0"/>
              </a:rPr>
              <a:t> is a multidimensional container of elements of the </a:t>
            </a:r>
            <a:r>
              <a:rPr lang="en-US" b="1" dirty="0">
                <a:latin typeface="Times New Roman" panose="02020603050405020304" pitchFamily="18" charset="0"/>
                <a:cs typeface="Times New Roman" panose="02020603050405020304" pitchFamily="18" charset="0"/>
              </a:rPr>
              <a:t>same type</a:t>
            </a:r>
            <a:r>
              <a:rPr lang="en-US" dirty="0">
                <a:latin typeface="Times New Roman" panose="02020603050405020304" pitchFamily="18" charset="0"/>
                <a:cs typeface="Times New Roman" panose="02020603050405020304" pitchFamily="18" charset="0"/>
              </a:rPr>
              <a:t> as depicted below. It can easily deal with </a:t>
            </a:r>
            <a:r>
              <a:rPr lang="en-US" b="1" dirty="0">
                <a:latin typeface="Times New Roman" panose="02020603050405020304" pitchFamily="18" charset="0"/>
                <a:cs typeface="Times New Roman" panose="02020603050405020304" pitchFamily="18" charset="0"/>
              </a:rPr>
              <a:t>matrix and vector operations.</a:t>
            </a:r>
            <a:endParaRPr lang="en-US" dirty="0">
              <a:latin typeface="Times New Roman" panose="02020603050405020304" pitchFamily="18" charset="0"/>
              <a:cs typeface="Times New Roman" panose="02020603050405020304" pitchFamily="18" charset="0"/>
            </a:endParaRPr>
          </a:p>
          <a:p>
            <a:pPr algn="just"/>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288" y="3466768"/>
            <a:ext cx="7381585" cy="2530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le 17">
            <a:extLst>
              <a:ext uri="{FF2B5EF4-FFF2-40B4-BE49-F238E27FC236}">
                <a16:creationId xmlns:a16="http://schemas.microsoft.com/office/drawing/2014/main" id="{978A528D-FBDF-73B4-7991-604D89DCAB64}"/>
              </a:ext>
            </a:extLst>
          </p:cNvPr>
          <p:cNvSpPr/>
          <p:nvPr/>
        </p:nvSpPr>
        <p:spPr>
          <a:xfrm>
            <a:off x="2933240" y="10417"/>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latin typeface="Times New Roman" panose="02020603050405020304" pitchFamily="18" charset="0"/>
                <a:cs typeface="Times New Roman" panose="02020603050405020304" pitchFamily="18" charset="0"/>
              </a:rPr>
              <a:t>NUMPY</a:t>
            </a:r>
            <a:endParaRPr lang="en-US" sz="2400" dirty="0"/>
          </a:p>
        </p:txBody>
      </p:sp>
    </p:spTree>
    <p:extLst>
      <p:ext uri="{BB962C8B-B14F-4D97-AF65-F5344CB8AC3E}">
        <p14:creationId xmlns:p14="http://schemas.microsoft.com/office/powerpoint/2010/main" val="16267676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540689"/>
            <a:ext cx="11209866" cy="5402911"/>
          </a:xfrm>
        </p:spPr>
        <p:txBody>
          <a:bodyPr>
            <a:normAutofit fontScale="85000" lnSpcReduction="20000"/>
          </a:bodyPr>
          <a:lstStyle/>
          <a:p>
            <a:r>
              <a:rPr lang="en-US" b="1" dirty="0"/>
              <a:t>Following are the benefits of using </a:t>
            </a:r>
            <a:r>
              <a:rPr lang="en-US" b="1" dirty="0" err="1"/>
              <a:t>Numpy</a:t>
            </a:r>
            <a:r>
              <a:rPr lang="en-US" b="1" dirty="0"/>
              <a:t>:</a:t>
            </a:r>
          </a:p>
          <a:p>
            <a:r>
              <a:rPr lang="en-US" dirty="0"/>
              <a:t>As the array size increases, </a:t>
            </a:r>
            <a:r>
              <a:rPr lang="en-US" dirty="0" err="1"/>
              <a:t>Numpy</a:t>
            </a:r>
            <a:r>
              <a:rPr lang="en-US" dirty="0"/>
              <a:t> can execute more parallel operations, thereby making computation faster. </a:t>
            </a:r>
          </a:p>
          <a:p>
            <a:r>
              <a:rPr lang="en-US" dirty="0" err="1"/>
              <a:t>NumPy</a:t>
            </a:r>
            <a:r>
              <a:rPr lang="en-US" dirty="0"/>
              <a:t> has many optimized built-in mathematical functions. </a:t>
            </a:r>
          </a:p>
          <a:p>
            <a:r>
              <a:rPr lang="en-US" dirty="0"/>
              <a:t>Another great feature of </a:t>
            </a:r>
            <a:r>
              <a:rPr lang="en-US" dirty="0" err="1"/>
              <a:t>NumPy</a:t>
            </a:r>
            <a:r>
              <a:rPr lang="en-US" dirty="0"/>
              <a:t> is that it has multidimensional array data structures that can represent vectors and matrices.  </a:t>
            </a:r>
          </a:p>
          <a:p>
            <a:r>
              <a:rPr lang="en-US" b="1" dirty="0" err="1"/>
              <a:t>Numpy</a:t>
            </a:r>
            <a:r>
              <a:rPr lang="en-US" b="1" dirty="0"/>
              <a:t> allows you to perform the following operations on Arrays</a:t>
            </a:r>
          </a:p>
          <a:p>
            <a:r>
              <a:rPr lang="en-US" dirty="0">
                <a:latin typeface="Times New Roman" panose="02020603050405020304" pitchFamily="18" charset="0"/>
                <a:cs typeface="Times New Roman" panose="02020603050405020304" pitchFamily="18" charset="0"/>
              </a:rPr>
              <a:t>An array is a special variable, which can hold more than one value at a time.</a:t>
            </a:r>
          </a:p>
          <a:p>
            <a:r>
              <a:rPr lang="en-US" dirty="0">
                <a:latin typeface="Times New Roman" panose="02020603050405020304" pitchFamily="18" charset="0"/>
                <a:cs typeface="Times New Roman" panose="02020603050405020304" pitchFamily="18" charset="0"/>
              </a:rPr>
              <a:t>Arrays are used to store multiple values in one single variable</a:t>
            </a:r>
          </a:p>
          <a:p>
            <a:r>
              <a:rPr lang="en-US" dirty="0">
                <a:latin typeface="Times New Roman" panose="02020603050405020304" pitchFamily="18" charset="0"/>
                <a:cs typeface="Times New Roman" panose="02020603050405020304" pitchFamily="18" charset="0"/>
              </a:rPr>
              <a:t>An array can hold many values under a single name, and you can access the values by referring to an index number</a:t>
            </a:r>
            <a:endParaRPr lang="en-US" b="1" dirty="0"/>
          </a:p>
          <a:p>
            <a:r>
              <a:rPr lang="en-US" dirty="0"/>
              <a:t>Arrays Slicing</a:t>
            </a:r>
          </a:p>
          <a:p>
            <a:r>
              <a:rPr lang="en-US" dirty="0"/>
              <a:t>Array Join</a:t>
            </a:r>
          </a:p>
          <a:p>
            <a:r>
              <a:rPr lang="en-US" dirty="0"/>
              <a:t>Array Split</a:t>
            </a:r>
          </a:p>
          <a:p>
            <a:r>
              <a:rPr lang="en-US" dirty="0"/>
              <a:t>Array Reshaping</a:t>
            </a:r>
          </a:p>
          <a:p>
            <a:r>
              <a:rPr lang="en-US" dirty="0"/>
              <a:t>Array Filter</a:t>
            </a:r>
          </a:p>
          <a:p>
            <a:endParaRPr lang="en-US" b="1" dirty="0"/>
          </a:p>
          <a:p>
            <a:endParaRPr lang="en-IN" sz="2400" dirty="0"/>
          </a:p>
        </p:txBody>
      </p:sp>
    </p:spTree>
    <p:extLst>
      <p:ext uri="{BB962C8B-B14F-4D97-AF65-F5344CB8AC3E}">
        <p14:creationId xmlns:p14="http://schemas.microsoft.com/office/powerpoint/2010/main" val="6452011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85800"/>
            <a:ext cx="11201400" cy="5257800"/>
          </a:xfrm>
        </p:spPr>
        <p:txBody>
          <a:bodyPr/>
          <a:lstStyle/>
          <a:p>
            <a:r>
              <a:rPr lang="en-US" b="1" dirty="0">
                <a:latin typeface="Times New Roman" panose="02020603050405020304" pitchFamily="18" charset="0"/>
                <a:cs typeface="Times New Roman" panose="02020603050405020304" pitchFamily="18" charset="0"/>
              </a:rPr>
              <a:t>Importing </a:t>
            </a:r>
            <a:r>
              <a:rPr lang="en-US" b="1" dirty="0" err="1">
                <a:latin typeface="Times New Roman" panose="02020603050405020304" pitchFamily="18" charset="0"/>
                <a:cs typeface="Times New Roman" panose="02020603050405020304" pitchFamily="18" charset="0"/>
              </a:rPr>
              <a:t>Numpy</a:t>
            </a:r>
            <a:endParaRPr lang="en-US" b="1"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library needs to be imported in the environment before it can be used as shown below. '</a:t>
            </a:r>
            <a:r>
              <a:rPr lang="en-US" dirty="0" err="1">
                <a:latin typeface="Times New Roman" panose="02020603050405020304" pitchFamily="18" charset="0"/>
                <a:cs typeface="Times New Roman" panose="02020603050405020304" pitchFamily="18" charset="0"/>
              </a:rPr>
              <a:t>np</a:t>
            </a:r>
            <a:r>
              <a:rPr lang="en-US" dirty="0">
                <a:latin typeface="Times New Roman" panose="02020603050405020304" pitchFamily="18" charset="0"/>
                <a:cs typeface="Times New Roman" panose="02020603050405020304" pitchFamily="18" charset="0"/>
              </a:rPr>
              <a:t>' is the standard alias used for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a:t>
            </a:r>
          </a:p>
          <a:p>
            <a:r>
              <a:rPr lang="en-IN" b="1" dirty="0">
                <a:latin typeface="Times New Roman" panose="02020603050405020304" pitchFamily="18" charset="0"/>
                <a:cs typeface="Times New Roman" panose="02020603050405020304" pitchFamily="18" charset="0"/>
              </a:rPr>
              <a:t>import </a:t>
            </a:r>
            <a:r>
              <a:rPr lang="en-IN" b="1" dirty="0" err="1">
                <a:latin typeface="Times New Roman" panose="02020603050405020304" pitchFamily="18" charset="0"/>
                <a:cs typeface="Times New Roman" panose="02020603050405020304" pitchFamily="18" charset="0"/>
              </a:rPr>
              <a:t>numpy</a:t>
            </a:r>
            <a:r>
              <a:rPr lang="en-IN" b="1" dirty="0">
                <a:latin typeface="Times New Roman" panose="02020603050405020304" pitchFamily="18" charset="0"/>
                <a:cs typeface="Times New Roman" panose="02020603050405020304" pitchFamily="18" charset="0"/>
              </a:rPr>
              <a:t> as </a:t>
            </a:r>
            <a:r>
              <a:rPr lang="en-IN" b="1" dirty="0" err="1">
                <a:latin typeface="Times New Roman" panose="02020603050405020304" pitchFamily="18" charset="0"/>
                <a:cs typeface="Times New Roman" panose="02020603050405020304" pitchFamily="18" charset="0"/>
              </a:rPr>
              <a:t>np</a:t>
            </a:r>
            <a:endParaRPr lang="en-IN" b="1"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Numpy</a:t>
            </a:r>
            <a:r>
              <a:rPr lang="en-US" b="1" dirty="0">
                <a:latin typeface="Times New Roman" panose="02020603050405020304" pitchFamily="18" charset="0"/>
                <a:cs typeface="Times New Roman" panose="02020603050405020304" pitchFamily="18" charset="0"/>
              </a:rPr>
              <a:t> object creation</a:t>
            </a:r>
          </a:p>
          <a:p>
            <a:r>
              <a:rPr lang="en-US" b="1" dirty="0">
                <a:latin typeface="Times New Roman" panose="02020603050405020304" pitchFamily="18" charset="0"/>
                <a:cs typeface="Times New Roman" panose="02020603050405020304" pitchFamily="18" charset="0"/>
              </a:rPr>
              <a:t>Arrays can be crested by passing tuples and </a:t>
            </a:r>
            <a:r>
              <a:rPr lang="en-US" b="1" dirty="0" err="1">
                <a:latin typeface="Times New Roman" panose="02020603050405020304" pitchFamily="18" charset="0"/>
                <a:cs typeface="Times New Roman" panose="02020603050405020304" pitchFamily="18" charset="0"/>
              </a:rPr>
              <a:t>lsits</a:t>
            </a:r>
            <a:endParaRPr lang="en-US" b="1"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array can be created by using array() function. The array() function in </a:t>
            </a:r>
            <a:r>
              <a:rPr lang="en-US" dirty="0" err="1">
                <a:latin typeface="Times New Roman" panose="02020603050405020304" pitchFamily="18" charset="0"/>
                <a:cs typeface="Times New Roman" panose="02020603050405020304" pitchFamily="18" charset="0"/>
              </a:rPr>
              <a:t>Numpy</a:t>
            </a:r>
            <a:r>
              <a:rPr lang="en-US" dirty="0">
                <a:latin typeface="Times New Roman" panose="02020603050405020304" pitchFamily="18" charset="0"/>
                <a:cs typeface="Times New Roman" panose="02020603050405020304" pitchFamily="18" charset="0"/>
              </a:rPr>
              <a:t> returns an array object named </a:t>
            </a:r>
            <a:r>
              <a:rPr lang="en-US" dirty="0" err="1">
                <a:latin typeface="Times New Roman" panose="02020603050405020304" pitchFamily="18" charset="0"/>
                <a:cs typeface="Times New Roman" panose="02020603050405020304" pitchFamily="18" charset="0"/>
              </a:rPr>
              <a:t>ndarray</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Syntax: </a:t>
            </a:r>
            <a:r>
              <a:rPr lang="en-US" b="1" dirty="0" err="1">
                <a:latin typeface="Times New Roman" panose="02020603050405020304" pitchFamily="18" charset="0"/>
                <a:cs typeface="Times New Roman" panose="02020603050405020304" pitchFamily="18" charset="0"/>
              </a:rPr>
              <a:t>var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np.array</a:t>
            </a:r>
            <a:r>
              <a:rPr lang="en-US" b="1" dirty="0">
                <a:latin typeface="Times New Roman" panose="02020603050405020304" pitchFamily="18" charset="0"/>
                <a:cs typeface="Times New Roman" panose="02020603050405020304" pitchFamily="18" charset="0"/>
              </a:rPr>
              <a:t>(object)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object – A python object(for example, a tuple or list)</a:t>
            </a:r>
          </a:p>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24577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1"/>
            <a:ext cx="11201400" cy="5181600"/>
          </a:xfrm>
        </p:spPr>
        <p:txBody>
          <a:bodyPr>
            <a:normAutofit fontScale="77500" lnSpcReduction="20000"/>
          </a:bodyPr>
          <a:lstStyle/>
          <a:p>
            <a:r>
              <a:rPr lang="en-US" dirty="0"/>
              <a:t>Import </a:t>
            </a:r>
            <a:r>
              <a:rPr lang="en-US" dirty="0" err="1"/>
              <a:t>numpy</a:t>
            </a:r>
            <a:r>
              <a:rPr lang="en-US" dirty="0"/>
              <a:t> as </a:t>
            </a:r>
            <a:r>
              <a:rPr lang="en-US" dirty="0" err="1"/>
              <a:t>np</a:t>
            </a:r>
            <a:endParaRPr lang="en-US" dirty="0"/>
          </a:p>
          <a:p>
            <a:r>
              <a:rPr lang="en-US" dirty="0"/>
              <a:t>N=</a:t>
            </a:r>
            <a:r>
              <a:rPr lang="en-US" dirty="0" err="1"/>
              <a:t>np.array</a:t>
            </a:r>
            <a:r>
              <a:rPr lang="en-US" dirty="0"/>
              <a:t>([10,12,13,14])</a:t>
            </a:r>
          </a:p>
          <a:p>
            <a:r>
              <a:rPr lang="en-US" dirty="0"/>
              <a:t>Print(type(N))</a:t>
            </a:r>
          </a:p>
          <a:p>
            <a:endParaRPr lang="en-US" dirty="0"/>
          </a:p>
          <a:p>
            <a:r>
              <a:rPr lang="en-US" dirty="0"/>
              <a:t>By passing lists</a:t>
            </a:r>
          </a:p>
          <a:p>
            <a:r>
              <a:rPr lang="en-US" dirty="0"/>
              <a:t>N=</a:t>
            </a:r>
            <a:r>
              <a:rPr lang="en-US" dirty="0" err="1"/>
              <a:t>np.array</a:t>
            </a:r>
            <a:r>
              <a:rPr lang="en-US" dirty="0"/>
              <a:t>([1,2,3])</a:t>
            </a:r>
          </a:p>
          <a:p>
            <a:endParaRPr lang="en-US" dirty="0"/>
          </a:p>
          <a:p>
            <a:r>
              <a:rPr lang="en-US" dirty="0"/>
              <a:t>Dimensions in Arrays:</a:t>
            </a:r>
          </a:p>
          <a:p>
            <a:r>
              <a:rPr lang="en-US" dirty="0"/>
              <a:t>0 dimension</a:t>
            </a:r>
          </a:p>
          <a:p>
            <a:r>
              <a:rPr lang="en-US" dirty="0"/>
              <a:t>1 or 2 Dimension</a:t>
            </a:r>
          </a:p>
          <a:p>
            <a:r>
              <a:rPr lang="en-US" dirty="0"/>
              <a:t>We have to use  </a:t>
            </a:r>
            <a:r>
              <a:rPr lang="en-US" b="1" dirty="0" err="1"/>
              <a:t>ndarray.ndim</a:t>
            </a:r>
            <a:r>
              <a:rPr lang="en-US" dirty="0"/>
              <a:t> attribute</a:t>
            </a:r>
          </a:p>
          <a:p>
            <a:pPr marL="0" indent="0">
              <a:buNone/>
            </a:pPr>
            <a:r>
              <a:rPr lang="en-US" dirty="0"/>
              <a:t>     n=</a:t>
            </a:r>
            <a:r>
              <a:rPr lang="en-US" dirty="0" err="1"/>
              <a:t>np.array</a:t>
            </a:r>
            <a:r>
              <a:rPr lang="en-US" dirty="0"/>
              <a:t>(23)</a:t>
            </a:r>
          </a:p>
          <a:p>
            <a:pPr marL="0" indent="0">
              <a:buNone/>
            </a:pPr>
            <a:r>
              <a:rPr lang="en-US" dirty="0"/>
              <a:t>     Print(</a:t>
            </a:r>
            <a:r>
              <a:rPr lang="en-US" dirty="0" err="1"/>
              <a:t>n.ndim</a:t>
            </a:r>
            <a:r>
              <a:rPr lang="en-US" dirty="0"/>
              <a:t>)</a:t>
            </a:r>
          </a:p>
          <a:p>
            <a:pPr marL="0" indent="0">
              <a:buNone/>
            </a:pPr>
            <a:r>
              <a:rPr lang="en-US" dirty="0"/>
              <a:t>o/p:= 0</a:t>
            </a:r>
            <a:endParaRPr lang="en-IN" dirty="0"/>
          </a:p>
        </p:txBody>
      </p:sp>
    </p:spTree>
    <p:extLst>
      <p:ext uri="{BB962C8B-B14F-4D97-AF65-F5344CB8AC3E}">
        <p14:creationId xmlns:p14="http://schemas.microsoft.com/office/powerpoint/2010/main" val="32747202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11049000" cy="5257800"/>
          </a:xfrm>
        </p:spPr>
        <p:txBody>
          <a:bodyPr>
            <a:normAutofit fontScale="55000" lnSpcReduction="20000"/>
          </a:bodyPr>
          <a:lstStyle/>
          <a:p>
            <a:r>
              <a:rPr lang="en-US" dirty="0"/>
              <a:t>N=</a:t>
            </a:r>
            <a:r>
              <a:rPr lang="en-US" dirty="0" err="1"/>
              <a:t>np.array</a:t>
            </a:r>
            <a:r>
              <a:rPr lang="en-US" dirty="0"/>
              <a:t>([1,2,3,4,5,6])</a:t>
            </a:r>
          </a:p>
          <a:p>
            <a:r>
              <a:rPr lang="en-US" dirty="0"/>
              <a:t>Print(N)</a:t>
            </a:r>
          </a:p>
          <a:p>
            <a:r>
              <a:rPr lang="en-US" dirty="0"/>
              <a:t>P=</a:t>
            </a:r>
            <a:r>
              <a:rPr lang="en-US" dirty="0" err="1"/>
              <a:t>np.array</a:t>
            </a:r>
            <a:r>
              <a:rPr lang="en-US" dirty="0"/>
              <a:t>([1,2,3],[4,5,6])</a:t>
            </a:r>
          </a:p>
          <a:p>
            <a:r>
              <a:rPr lang="en-US" dirty="0"/>
              <a:t>Print(p)</a:t>
            </a:r>
          </a:p>
          <a:p>
            <a:r>
              <a:rPr lang="en-US" dirty="0"/>
              <a:t>Print(</a:t>
            </a:r>
            <a:r>
              <a:rPr lang="en-US" dirty="0" err="1"/>
              <a:t>N.ndim</a:t>
            </a:r>
            <a:r>
              <a:rPr lang="en-US" dirty="0"/>
              <a:t>)</a:t>
            </a:r>
          </a:p>
          <a:p>
            <a:endParaRPr lang="en-US" dirty="0"/>
          </a:p>
          <a:p>
            <a:r>
              <a:rPr lang="en-US" sz="2000" b="1" dirty="0"/>
              <a:t>Initialize </a:t>
            </a:r>
            <a:r>
              <a:rPr lang="en-US" sz="2000" b="1" dirty="0" err="1"/>
              <a:t>numpy</a:t>
            </a:r>
            <a:r>
              <a:rPr lang="en-US" sz="2000" b="1" dirty="0"/>
              <a:t> arrays</a:t>
            </a:r>
          </a:p>
          <a:p>
            <a:r>
              <a:rPr lang="en-US" sz="2000" b="1" dirty="0"/>
              <a:t>P=</a:t>
            </a:r>
            <a:r>
              <a:rPr lang="en-US" b="1" dirty="0" err="1"/>
              <a:t>n</a:t>
            </a:r>
            <a:r>
              <a:rPr lang="en-US" sz="2000" b="1" dirty="0" err="1"/>
              <a:t>p.zeros</a:t>
            </a:r>
            <a:r>
              <a:rPr lang="en-US" sz="2000" b="1" dirty="0"/>
              <a:t>([1])         </a:t>
            </a:r>
          </a:p>
          <a:p>
            <a:r>
              <a:rPr lang="en-US" sz="2000" b="1" dirty="0"/>
              <a:t>N=</a:t>
            </a:r>
            <a:r>
              <a:rPr lang="en-US" sz="2000" b="1" dirty="0" err="1"/>
              <a:t>np.zeros</a:t>
            </a:r>
            <a:r>
              <a:rPr lang="en-US" sz="2000" b="1" dirty="0"/>
              <a:t>([3,4])</a:t>
            </a:r>
          </a:p>
          <a:p>
            <a:r>
              <a:rPr lang="en-US" sz="2000" b="1" dirty="0"/>
              <a:t>Print(N)</a:t>
            </a:r>
          </a:p>
          <a:p>
            <a:r>
              <a:rPr lang="en-US" sz="2000" b="1" dirty="0"/>
              <a:t>Print(type(N)</a:t>
            </a:r>
          </a:p>
          <a:p>
            <a:r>
              <a:rPr lang="en-US" sz="2000" b="1" dirty="0"/>
              <a:t>o/p </a:t>
            </a:r>
            <a:r>
              <a:rPr lang="en-IN" sz="2000" dirty="0"/>
              <a:t> dimensions 0 [[0. 0. 0. 0.] [0. 0. 0. 0.] [0. 0. 0. 0.]] </a:t>
            </a:r>
          </a:p>
          <a:p>
            <a:r>
              <a:rPr lang="en-IN" sz="2000" dirty="0"/>
              <a:t>&lt;class '</a:t>
            </a:r>
            <a:r>
              <a:rPr lang="en-IN" sz="2000" dirty="0" err="1"/>
              <a:t>numpy.ndarray</a:t>
            </a:r>
            <a:r>
              <a:rPr lang="en-IN" sz="2000" dirty="0"/>
              <a:t>’&gt;</a:t>
            </a:r>
          </a:p>
          <a:p>
            <a:r>
              <a:rPr lang="en-US" b="1" dirty="0"/>
              <a:t>P=</a:t>
            </a:r>
            <a:r>
              <a:rPr lang="en-US" b="1" dirty="0" err="1"/>
              <a:t>np.ones</a:t>
            </a:r>
            <a:r>
              <a:rPr lang="en-US" b="1" dirty="0"/>
              <a:t>([1])         </a:t>
            </a:r>
          </a:p>
          <a:p>
            <a:r>
              <a:rPr lang="en-US" b="1" dirty="0"/>
              <a:t>N=</a:t>
            </a:r>
            <a:r>
              <a:rPr lang="en-US" b="1" dirty="0" err="1"/>
              <a:t>np.ones</a:t>
            </a:r>
            <a:r>
              <a:rPr lang="en-US" b="1" dirty="0"/>
              <a:t>([3,4])</a:t>
            </a:r>
          </a:p>
          <a:p>
            <a:r>
              <a:rPr lang="en-US" b="1" dirty="0"/>
              <a:t>Print(N)</a:t>
            </a:r>
          </a:p>
          <a:p>
            <a:r>
              <a:rPr lang="en-US" b="1" dirty="0"/>
              <a:t>Print(type(N)</a:t>
            </a:r>
          </a:p>
          <a:p>
            <a:endParaRPr lang="en-IN" sz="2000" b="1" dirty="0"/>
          </a:p>
        </p:txBody>
      </p:sp>
    </p:spTree>
    <p:extLst>
      <p:ext uri="{BB962C8B-B14F-4D97-AF65-F5344CB8AC3E}">
        <p14:creationId xmlns:p14="http://schemas.microsoft.com/office/powerpoint/2010/main" val="31800772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6400800" cy="5257800"/>
          </a:xfrm>
        </p:spPr>
        <p:txBody>
          <a:bodyPr>
            <a:normAutofit fontScale="70000" lnSpcReduction="20000"/>
          </a:bodyPr>
          <a:lstStyle/>
          <a:p>
            <a:r>
              <a:rPr lang="en-US" b="1" dirty="0"/>
              <a:t>Array Indexing</a:t>
            </a:r>
          </a:p>
          <a:p>
            <a:r>
              <a:rPr lang="en-US" dirty="0"/>
              <a:t>We can slice 1D ,2D array </a:t>
            </a:r>
          </a:p>
          <a:p>
            <a:r>
              <a:rPr lang="en-US" dirty="0"/>
              <a:t>Import </a:t>
            </a:r>
            <a:r>
              <a:rPr lang="en-US" dirty="0" err="1"/>
              <a:t>numpy</a:t>
            </a:r>
            <a:r>
              <a:rPr lang="en-US" dirty="0"/>
              <a:t> as </a:t>
            </a:r>
            <a:r>
              <a:rPr lang="en-US" dirty="0" err="1"/>
              <a:t>np</a:t>
            </a:r>
            <a:endParaRPr lang="en-US" dirty="0"/>
          </a:p>
          <a:p>
            <a:r>
              <a:rPr lang="en-US" dirty="0"/>
              <a:t>P=</a:t>
            </a:r>
            <a:r>
              <a:rPr lang="en-US" dirty="0" err="1"/>
              <a:t>np.array</a:t>
            </a:r>
            <a:r>
              <a:rPr lang="en-US" dirty="0"/>
              <a:t>([12,23,34,45,56,67,78])</a:t>
            </a:r>
          </a:p>
          <a:p>
            <a:r>
              <a:rPr lang="en-US" dirty="0"/>
              <a:t>Print(p[0])</a:t>
            </a:r>
          </a:p>
          <a:p>
            <a:r>
              <a:rPr lang="en-US" dirty="0"/>
              <a:t>Print(p[5])</a:t>
            </a:r>
          </a:p>
          <a:p>
            <a:r>
              <a:rPr lang="en-US" dirty="0"/>
              <a:t>Q=</a:t>
            </a:r>
            <a:r>
              <a:rPr lang="en-US" dirty="0" err="1"/>
              <a:t>np.array</a:t>
            </a:r>
            <a:r>
              <a:rPr lang="en-US" dirty="0"/>
              <a:t>([1,2,3],[6,7,8])</a:t>
            </a:r>
          </a:p>
          <a:p>
            <a:pPr marL="0" indent="0">
              <a:buNone/>
            </a:pPr>
            <a:r>
              <a:rPr lang="en-US" dirty="0"/>
              <a:t>Print	Q[0,0]      1  dim1 element 1  1                 	q[1,0]        6</a:t>
            </a:r>
          </a:p>
          <a:p>
            <a:pPr marL="0" indent="0">
              <a:buNone/>
            </a:pPr>
            <a:r>
              <a:rPr lang="en-US" dirty="0"/>
              <a:t>		Q[0,1]      2								q[1,1]        7</a:t>
            </a:r>
          </a:p>
          <a:p>
            <a:pPr marL="0" indent="0">
              <a:buNone/>
            </a:pPr>
            <a:r>
              <a:rPr lang="en-US" dirty="0"/>
              <a:t>		Q[0,2]      3								q[1,2]        8</a:t>
            </a:r>
          </a:p>
          <a:p>
            <a:r>
              <a:rPr lang="en-US" dirty="0"/>
              <a:t>S=</a:t>
            </a:r>
            <a:r>
              <a:rPr lang="en-US" dirty="0" err="1"/>
              <a:t>np.array</a:t>
            </a:r>
            <a:r>
              <a:rPr lang="en-US" dirty="0"/>
              <a:t>([[[1,2,3],[4,5,6],[[6,7,8],[9,7,8]]]])</a:t>
            </a:r>
          </a:p>
          <a:p>
            <a:r>
              <a:rPr lang="en-US" dirty="0"/>
              <a:t>S[0,0,1]</a:t>
            </a:r>
          </a:p>
          <a:p>
            <a:r>
              <a:rPr lang="en-US" dirty="0"/>
              <a:t>S[0,0,2]</a:t>
            </a:r>
            <a:endParaRPr lang="en-IN" dirty="0"/>
          </a:p>
        </p:txBody>
      </p:sp>
    </p:spTree>
    <p:extLst>
      <p:ext uri="{BB962C8B-B14F-4D97-AF65-F5344CB8AC3E}">
        <p14:creationId xmlns:p14="http://schemas.microsoft.com/office/powerpoint/2010/main" val="18594187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95131"/>
            <a:ext cx="8596668" cy="5246232"/>
          </a:xfrm>
        </p:spPr>
        <p:txBody>
          <a:bodyPr>
            <a:normAutofit fontScale="92500" lnSpcReduction="10000"/>
          </a:bodyPr>
          <a:lstStyle/>
          <a:p>
            <a:r>
              <a:rPr lang="en-US" b="1" dirty="0"/>
              <a:t>Negative indexing:</a:t>
            </a:r>
          </a:p>
          <a:p>
            <a:r>
              <a:rPr lang="en-US" dirty="0"/>
              <a:t>P=</a:t>
            </a:r>
            <a:r>
              <a:rPr lang="en-US" dirty="0" err="1"/>
              <a:t>np.array</a:t>
            </a:r>
            <a:r>
              <a:rPr lang="en-US" dirty="0"/>
              <a:t>([1,2,3,4,5])</a:t>
            </a:r>
          </a:p>
          <a:p>
            <a:r>
              <a:rPr lang="en-US" dirty="0"/>
              <a:t>Print(P[-1])</a:t>
            </a:r>
          </a:p>
          <a:p>
            <a:r>
              <a:rPr lang="en-US" dirty="0"/>
              <a:t>P=</a:t>
            </a:r>
            <a:r>
              <a:rPr lang="en-US" dirty="0" err="1"/>
              <a:t>np.array</a:t>
            </a:r>
            <a:r>
              <a:rPr lang="en-US" dirty="0"/>
              <a:t>([[1,2,3],[4,5,6]])</a:t>
            </a:r>
          </a:p>
          <a:p>
            <a:r>
              <a:rPr lang="en-US" dirty="0"/>
              <a:t>Print(P[-1,-1])   #prints 3</a:t>
            </a:r>
          </a:p>
          <a:p>
            <a:r>
              <a:rPr lang="en-US" sz="2800" b="1" dirty="0"/>
              <a:t>Array slicing  </a:t>
            </a:r>
          </a:p>
          <a:p>
            <a:r>
              <a:rPr lang="en-US" dirty="0"/>
              <a:t>Print(p[2:5]   #it includes element at index 2 but excludes element at 5</a:t>
            </a:r>
          </a:p>
          <a:p>
            <a:r>
              <a:rPr lang="en-US" dirty="0"/>
              <a:t>Print(p[:5])   # from first element </a:t>
            </a:r>
            <a:r>
              <a:rPr lang="en-US" dirty="0" err="1"/>
              <a:t>upto</a:t>
            </a:r>
            <a:r>
              <a:rPr lang="en-US" dirty="0"/>
              <a:t> 4</a:t>
            </a:r>
            <a:r>
              <a:rPr lang="en-US" baseline="30000" dirty="0"/>
              <a:t>th</a:t>
            </a:r>
            <a:r>
              <a:rPr lang="en-US" dirty="0"/>
              <a:t> index</a:t>
            </a:r>
          </a:p>
          <a:p>
            <a:r>
              <a:rPr lang="en-US" dirty="0"/>
              <a:t>Print(p[4:])   #starting from 4</a:t>
            </a:r>
            <a:r>
              <a:rPr lang="en-US" baseline="30000" dirty="0"/>
              <a:t>th</a:t>
            </a:r>
            <a:r>
              <a:rPr lang="en-US" dirty="0"/>
              <a:t> index to last index</a:t>
            </a:r>
          </a:p>
          <a:p>
            <a:r>
              <a:rPr lang="en-US" dirty="0"/>
              <a:t>We can also include step</a:t>
            </a:r>
          </a:p>
          <a:p>
            <a:r>
              <a:rPr lang="en-US" dirty="0"/>
              <a:t>Array([</a:t>
            </a:r>
            <a:r>
              <a:rPr lang="en-US" dirty="0" err="1"/>
              <a:t>start:end:step</a:t>
            </a:r>
            <a:r>
              <a:rPr lang="en-US" dirty="0"/>
              <a:t>])</a:t>
            </a:r>
          </a:p>
          <a:p>
            <a:endParaRPr lang="en-IN" dirty="0"/>
          </a:p>
        </p:txBody>
      </p:sp>
    </p:spTree>
    <p:extLst>
      <p:ext uri="{BB962C8B-B14F-4D97-AF65-F5344CB8AC3E}">
        <p14:creationId xmlns:p14="http://schemas.microsoft.com/office/powerpoint/2010/main" val="1743449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23569"/>
            <a:ext cx="8596668" cy="5317793"/>
          </a:xfrm>
        </p:spPr>
        <p:txBody>
          <a:bodyPr>
            <a:normAutofit fontScale="70000" lnSpcReduction="20000"/>
          </a:bodyPr>
          <a:lstStyle/>
          <a:p>
            <a:r>
              <a:rPr lang="en-US" dirty="0"/>
              <a:t>Slicing 2D array</a:t>
            </a:r>
          </a:p>
          <a:p>
            <a:r>
              <a:rPr lang="en-US" dirty="0"/>
              <a:t>N=</a:t>
            </a:r>
            <a:r>
              <a:rPr lang="en-US" dirty="0" err="1"/>
              <a:t>np.array</a:t>
            </a:r>
            <a:r>
              <a:rPr lang="en-US" dirty="0"/>
              <a:t>([1,2,3,4,5],[6,7,8,9,0])</a:t>
            </a:r>
          </a:p>
          <a:p>
            <a:r>
              <a:rPr lang="en-US" dirty="0"/>
              <a:t>Print(N[0,2:4])</a:t>
            </a:r>
          </a:p>
          <a:p>
            <a:r>
              <a:rPr lang="en-IN" dirty="0"/>
              <a:t>p=</a:t>
            </a:r>
            <a:r>
              <a:rPr lang="en-IN" dirty="0" err="1"/>
              <a:t>np.array</a:t>
            </a:r>
            <a:r>
              <a:rPr lang="en-IN" dirty="0"/>
              <a:t>([[1,2,3,4,5,6],[6,7,8,9,3,2]])</a:t>
            </a:r>
          </a:p>
          <a:p>
            <a:r>
              <a:rPr lang="en-IN" dirty="0"/>
              <a:t>print(p[0:2,2:5])</a:t>
            </a:r>
          </a:p>
          <a:p>
            <a:r>
              <a:rPr lang="en-US" dirty="0"/>
              <a:t>o/p : </a:t>
            </a:r>
            <a:r>
              <a:rPr lang="en-IN" dirty="0"/>
              <a:t>[[3 4 5] [8 9 3]]</a:t>
            </a:r>
          </a:p>
          <a:p>
            <a:r>
              <a:rPr lang="en-US" sz="2000" b="1" dirty="0" err="1"/>
              <a:t>Numpy</a:t>
            </a:r>
            <a:r>
              <a:rPr lang="en-US" sz="2000" b="1" dirty="0"/>
              <a:t> array shape    The number of elements in each dimension of an array is called the shape.</a:t>
            </a:r>
          </a:p>
          <a:p>
            <a:r>
              <a:rPr lang="en-US" sz="2000" b="1" dirty="0"/>
              <a:t>#gives the number of elements</a:t>
            </a:r>
          </a:p>
          <a:p>
            <a:r>
              <a:rPr lang="en-US" dirty="0"/>
              <a:t>N=</a:t>
            </a:r>
            <a:r>
              <a:rPr lang="en-US" dirty="0" err="1"/>
              <a:t>np.array</a:t>
            </a:r>
            <a:r>
              <a:rPr lang="en-US" dirty="0"/>
              <a:t>([1,2,3,4,5])</a:t>
            </a:r>
          </a:p>
          <a:p>
            <a:r>
              <a:rPr lang="en-US" dirty="0"/>
              <a:t>Print(n)</a:t>
            </a:r>
          </a:p>
          <a:p>
            <a:r>
              <a:rPr lang="en-US" dirty="0"/>
              <a:t>Print(</a:t>
            </a:r>
            <a:r>
              <a:rPr lang="en-US" dirty="0" err="1"/>
              <a:t>n.ndim</a:t>
            </a:r>
            <a:r>
              <a:rPr lang="en-US" dirty="0"/>
              <a:t>)           #0</a:t>
            </a:r>
          </a:p>
          <a:p>
            <a:r>
              <a:rPr lang="en-US" dirty="0"/>
              <a:t>Print(</a:t>
            </a:r>
            <a:r>
              <a:rPr lang="en-US" dirty="0" err="1"/>
              <a:t>n.shape</a:t>
            </a:r>
            <a:r>
              <a:rPr lang="en-US" dirty="0"/>
              <a:t>)         #5 </a:t>
            </a:r>
          </a:p>
          <a:p>
            <a:r>
              <a:rPr lang="en-IN" dirty="0"/>
              <a:t>p=</a:t>
            </a:r>
            <a:r>
              <a:rPr lang="en-IN" dirty="0" err="1"/>
              <a:t>np.array</a:t>
            </a:r>
            <a:r>
              <a:rPr lang="en-IN" dirty="0"/>
              <a:t>([[1,2,3,4,5,6],[6,7,8,9,3,2]])</a:t>
            </a:r>
          </a:p>
          <a:p>
            <a:r>
              <a:rPr lang="en-US" dirty="0"/>
              <a:t>Print(</a:t>
            </a:r>
            <a:r>
              <a:rPr lang="en-US" dirty="0" err="1"/>
              <a:t>p.shape</a:t>
            </a:r>
            <a:r>
              <a:rPr lang="en-US" dirty="0"/>
              <a:t>)    #(2,6)</a:t>
            </a:r>
          </a:p>
        </p:txBody>
      </p:sp>
    </p:spTree>
    <p:extLst>
      <p:ext uri="{BB962C8B-B14F-4D97-AF65-F5344CB8AC3E}">
        <p14:creationId xmlns:p14="http://schemas.microsoft.com/office/powerpoint/2010/main" val="5427842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930303"/>
            <a:ext cx="8596668" cy="5111059"/>
          </a:xfrm>
        </p:spPr>
        <p:txBody>
          <a:bodyPr>
            <a:normAutofit fontScale="92500" lnSpcReduction="10000"/>
          </a:bodyPr>
          <a:lstStyle/>
          <a:p>
            <a:r>
              <a:rPr lang="en-US" b="1" dirty="0"/>
              <a:t>Array Reshape:</a:t>
            </a:r>
          </a:p>
          <a:p>
            <a:r>
              <a:rPr lang="en-US" b="1" dirty="0"/>
              <a:t>The reshape the number of </a:t>
            </a:r>
            <a:r>
              <a:rPr lang="en-US" b="1" dirty="0" err="1"/>
              <a:t>dimensions,we</a:t>
            </a:r>
            <a:r>
              <a:rPr lang="en-US" b="1" dirty="0"/>
              <a:t> use the </a:t>
            </a:r>
            <a:r>
              <a:rPr lang="en-US" b="1" dirty="0" err="1"/>
              <a:t>numpy.reshape</a:t>
            </a:r>
            <a:r>
              <a:rPr lang="en-US" b="1" dirty="0"/>
              <a:t>() method in python.</a:t>
            </a:r>
          </a:p>
          <a:p>
            <a:r>
              <a:rPr lang="en-US" b="1" dirty="0"/>
              <a:t>Reshape allows us to edit the number of elements in a </a:t>
            </a:r>
            <a:r>
              <a:rPr lang="en-US" b="1" dirty="0" err="1"/>
              <a:t>dimension.with</a:t>
            </a:r>
            <a:r>
              <a:rPr lang="en-US" b="1" dirty="0"/>
              <a:t> reshape we can add or remove dimensions.</a:t>
            </a:r>
          </a:p>
          <a:p>
            <a:r>
              <a:rPr lang="en-US" b="1" dirty="0"/>
              <a:t>Reshape from 1D to 2D</a:t>
            </a:r>
          </a:p>
          <a:p>
            <a:r>
              <a:rPr lang="en-IN" dirty="0"/>
              <a:t>n=</a:t>
            </a:r>
            <a:r>
              <a:rPr lang="en-IN" dirty="0" err="1"/>
              <a:t>np.array</a:t>
            </a:r>
            <a:r>
              <a:rPr lang="en-IN" dirty="0"/>
              <a:t>([1,2,3,4,5,6])</a:t>
            </a:r>
          </a:p>
          <a:p>
            <a:r>
              <a:rPr lang="en-IN" dirty="0"/>
              <a:t>print(</a:t>
            </a:r>
            <a:r>
              <a:rPr lang="en-IN" dirty="0" err="1"/>
              <a:t>n.shape</a:t>
            </a:r>
            <a:r>
              <a:rPr lang="en-IN" dirty="0"/>
              <a:t>)                   #(6,)</a:t>
            </a:r>
          </a:p>
          <a:p>
            <a:r>
              <a:rPr lang="en-IN" dirty="0"/>
              <a:t>print(</a:t>
            </a:r>
            <a:r>
              <a:rPr lang="en-IN" dirty="0" err="1"/>
              <a:t>n.reshape</a:t>
            </a:r>
            <a:r>
              <a:rPr lang="en-IN" dirty="0"/>
              <a:t>(2,3))         #[[1 2 3] [4 5 6]]</a:t>
            </a:r>
          </a:p>
          <a:p>
            <a:r>
              <a:rPr lang="en-IN" dirty="0"/>
              <a:t>print(</a:t>
            </a:r>
            <a:r>
              <a:rPr lang="en-IN" dirty="0" err="1"/>
              <a:t>n.reshape</a:t>
            </a:r>
            <a:r>
              <a:rPr lang="en-IN" dirty="0"/>
              <a:t>(3,2))          #[[1 2] [3 4] [5 6]]</a:t>
            </a:r>
          </a:p>
          <a:p>
            <a:r>
              <a:rPr lang="en-US" dirty="0"/>
              <a:t>Reshape from 3D array to 1D array</a:t>
            </a:r>
          </a:p>
          <a:p>
            <a:r>
              <a:rPr lang="en-US" dirty="0" err="1"/>
              <a:t>N.reshape</a:t>
            </a:r>
            <a:r>
              <a:rPr lang="en-US" dirty="0"/>
              <a:t>(-1)</a:t>
            </a:r>
          </a:p>
          <a:p>
            <a:endParaRPr lang="en-IN" dirty="0"/>
          </a:p>
          <a:p>
            <a:endParaRPr lang="en-IN" dirty="0"/>
          </a:p>
          <a:p>
            <a:endParaRPr lang="en-US" b="1" dirty="0"/>
          </a:p>
          <a:p>
            <a:endParaRPr lang="en-US" b="1" dirty="0"/>
          </a:p>
          <a:p>
            <a:endParaRPr lang="en-IN" dirty="0"/>
          </a:p>
        </p:txBody>
      </p:sp>
    </p:spTree>
    <p:extLst>
      <p:ext uri="{BB962C8B-B14F-4D97-AF65-F5344CB8AC3E}">
        <p14:creationId xmlns:p14="http://schemas.microsoft.com/office/powerpoint/2010/main" val="20028297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175657"/>
            <a:ext cx="8596668" cy="4865705"/>
          </a:xfrm>
        </p:spPr>
        <p:txBody>
          <a:bodyPr>
            <a:normAutofit/>
          </a:bodyPr>
          <a:lstStyle/>
          <a:p>
            <a:pPr marL="0" indent="0">
              <a:buNone/>
            </a:pPr>
            <a:r>
              <a:rPr lang="en-IN" b="1" dirty="0">
                <a:latin typeface="Times New Roman" panose="02020603050405020304" pitchFamily="18" charset="0"/>
                <a:cs typeface="Times New Roman" panose="02020603050405020304" pitchFamily="18" charset="0"/>
              </a:rPr>
              <a:t>Looping 1DArray Elements:</a:t>
            </a:r>
          </a:p>
          <a:p>
            <a:r>
              <a:rPr lang="en-US" dirty="0"/>
              <a:t>import </a:t>
            </a:r>
            <a:r>
              <a:rPr lang="en-US" dirty="0" err="1"/>
              <a:t>numpy</a:t>
            </a:r>
            <a:r>
              <a:rPr lang="en-US" dirty="0"/>
              <a:t> as </a:t>
            </a:r>
            <a:r>
              <a:rPr lang="en-US" dirty="0" err="1"/>
              <a:t>np</a:t>
            </a:r>
            <a:endParaRPr lang="en-US" dirty="0"/>
          </a:p>
          <a:p>
            <a:r>
              <a:rPr lang="en-US" dirty="0"/>
              <a:t>n=</a:t>
            </a:r>
            <a:r>
              <a:rPr lang="en-US" dirty="0" err="1"/>
              <a:t>np.array</a:t>
            </a:r>
            <a:r>
              <a:rPr lang="en-US" dirty="0"/>
              <a:t>([1,2,3,4,5,6])</a:t>
            </a:r>
          </a:p>
          <a:p>
            <a:r>
              <a:rPr lang="en-US" dirty="0"/>
              <a:t>for x in n:</a:t>
            </a:r>
          </a:p>
          <a:p>
            <a:r>
              <a:rPr lang="en-US" dirty="0"/>
              <a:t>  print(x)</a:t>
            </a:r>
          </a:p>
          <a:p>
            <a:pPr marL="0" indent="0">
              <a:buNone/>
            </a:pPr>
            <a:r>
              <a:rPr lang="en-US" dirty="0"/>
              <a:t>Looping 2D array</a:t>
            </a:r>
          </a:p>
          <a:p>
            <a:r>
              <a:rPr lang="en-US" dirty="0"/>
              <a:t>p=</a:t>
            </a:r>
            <a:r>
              <a:rPr lang="en-US" dirty="0" err="1"/>
              <a:t>np.array</a:t>
            </a:r>
            <a:r>
              <a:rPr lang="en-US" dirty="0"/>
              <a:t>([[1,2,3],[4,5,6],[7,8,9]])</a:t>
            </a:r>
          </a:p>
          <a:p>
            <a:r>
              <a:rPr lang="en-US" dirty="0"/>
              <a:t>for a in p:</a:t>
            </a:r>
          </a:p>
          <a:p>
            <a:r>
              <a:rPr lang="en-US" dirty="0"/>
              <a:t>  print(a)</a:t>
            </a:r>
          </a:p>
          <a:p>
            <a:endParaRPr lang="en-US" dirty="0"/>
          </a:p>
          <a:p>
            <a:pPr marL="0" indent="0">
              <a:buNone/>
            </a:pPr>
            <a:endParaRPr lang="en-US" b="1"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458878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152400"/>
            <a:ext cx="8596668" cy="5867400"/>
          </a:xfrm>
        </p:spPr>
        <p:txBody>
          <a:bodyPr>
            <a:normAutofit fontScale="92500" lnSpcReduction="20000"/>
          </a:bodyPr>
          <a:lstStyle/>
          <a:p>
            <a:r>
              <a:rPr lang="en-US" b="1" dirty="0"/>
              <a:t>Joining arrays: it is possible to join 2 arrays into a single new array</a:t>
            </a:r>
          </a:p>
          <a:p>
            <a:r>
              <a:rPr lang="en-US" b="1" dirty="0"/>
              <a:t>Concatenate() </a:t>
            </a:r>
          </a:p>
          <a:p>
            <a:r>
              <a:rPr lang="pt-BR" dirty="0"/>
              <a:t>import numpy as np</a:t>
            </a:r>
          </a:p>
          <a:p>
            <a:r>
              <a:rPr lang="pt-BR" dirty="0"/>
              <a:t>n1=np.array([1,2,3,4])</a:t>
            </a:r>
          </a:p>
          <a:p>
            <a:r>
              <a:rPr lang="pt-BR" dirty="0"/>
              <a:t>n2=np.array([4,5,6,7,])</a:t>
            </a:r>
          </a:p>
          <a:p>
            <a:r>
              <a:rPr lang="pt-BR" dirty="0"/>
              <a:t>n3=np.concatenate((n1,n2))</a:t>
            </a:r>
          </a:p>
          <a:p>
            <a:r>
              <a:rPr lang="pt-BR" dirty="0"/>
              <a:t>print(n3)         o/p: </a:t>
            </a:r>
            <a:r>
              <a:rPr lang="en-IN" dirty="0"/>
              <a:t>[1 2 3 4 4 5 6 7]</a:t>
            </a:r>
            <a:endParaRPr lang="pt-BR" dirty="0"/>
          </a:p>
          <a:p>
            <a:endParaRPr lang="en-US" b="1" dirty="0"/>
          </a:p>
          <a:p>
            <a:r>
              <a:rPr lang="en-US" b="1" dirty="0"/>
              <a:t>Split </a:t>
            </a:r>
            <a:r>
              <a:rPr lang="en-US" b="1" dirty="0" err="1"/>
              <a:t>numpy</a:t>
            </a:r>
            <a:r>
              <a:rPr lang="en-US" b="1" dirty="0"/>
              <a:t> array: </a:t>
            </a:r>
            <a:r>
              <a:rPr lang="en-US" b="1" dirty="0" err="1"/>
              <a:t>array_split</a:t>
            </a:r>
            <a:r>
              <a:rPr lang="en-US" b="1" dirty="0"/>
              <a:t>(</a:t>
            </a:r>
            <a:r>
              <a:rPr lang="en-US" b="1" dirty="0" err="1"/>
              <a:t>arrname,number</a:t>
            </a:r>
            <a:r>
              <a:rPr lang="en-US" b="1" dirty="0"/>
              <a:t>)</a:t>
            </a:r>
            <a:endParaRPr lang="en-US" dirty="0"/>
          </a:p>
          <a:p>
            <a:r>
              <a:rPr lang="pt-BR" dirty="0"/>
              <a:t>n1=np.array([1,2,3,4])</a:t>
            </a:r>
          </a:p>
          <a:p>
            <a:r>
              <a:rPr lang="pt-BR" dirty="0"/>
              <a:t>n2=np.array([4,5,6,7,])</a:t>
            </a:r>
          </a:p>
          <a:p>
            <a:r>
              <a:rPr lang="pt-BR" dirty="0"/>
              <a:t>n3=np.concatenate((n1,n2))</a:t>
            </a:r>
          </a:p>
          <a:p>
            <a:r>
              <a:rPr lang="pt-BR" dirty="0"/>
              <a:t>print(np.array_split(n3,4))</a:t>
            </a:r>
          </a:p>
          <a:p>
            <a:r>
              <a:rPr lang="en-US" dirty="0"/>
              <a:t>o/p : [array([1, 2]), array([3, 4]), array([4, 5]), array([6, 7])]</a:t>
            </a:r>
            <a:endParaRPr lang="en-IN" dirty="0"/>
          </a:p>
        </p:txBody>
      </p:sp>
    </p:spTree>
    <p:extLst>
      <p:ext uri="{BB962C8B-B14F-4D97-AF65-F5344CB8AC3E}">
        <p14:creationId xmlns:p14="http://schemas.microsoft.com/office/powerpoint/2010/main" val="14205680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739471"/>
            <a:ext cx="8596668" cy="5301891"/>
          </a:xfrm>
        </p:spPr>
        <p:txBody>
          <a:bodyPr>
            <a:normAutofit fontScale="92500" lnSpcReduction="20000"/>
          </a:bodyPr>
          <a:lstStyle/>
          <a:p>
            <a:r>
              <a:rPr lang="en-US" dirty="0" err="1"/>
              <a:t>Aceesing</a:t>
            </a:r>
            <a:r>
              <a:rPr lang="en-US" dirty="0"/>
              <a:t> individual arrays after splitting</a:t>
            </a:r>
          </a:p>
          <a:p>
            <a:r>
              <a:rPr lang="en-IN" dirty="0"/>
              <a:t>n1=</a:t>
            </a:r>
            <a:r>
              <a:rPr lang="en-IN" dirty="0" err="1"/>
              <a:t>np.array</a:t>
            </a:r>
            <a:r>
              <a:rPr lang="en-IN" dirty="0"/>
              <a:t>([1,2,3,4])</a:t>
            </a:r>
          </a:p>
          <a:p>
            <a:r>
              <a:rPr lang="en-IN" dirty="0"/>
              <a:t>n2=</a:t>
            </a:r>
            <a:r>
              <a:rPr lang="en-IN" dirty="0" err="1"/>
              <a:t>np.array</a:t>
            </a:r>
            <a:r>
              <a:rPr lang="en-IN" dirty="0"/>
              <a:t>([4,5,6,7,])</a:t>
            </a:r>
          </a:p>
          <a:p>
            <a:r>
              <a:rPr lang="en-IN" dirty="0"/>
              <a:t>n3=</a:t>
            </a:r>
            <a:r>
              <a:rPr lang="en-IN" dirty="0" err="1"/>
              <a:t>np.concatenate</a:t>
            </a:r>
            <a:r>
              <a:rPr lang="en-IN" dirty="0"/>
              <a:t>((n1,n2))</a:t>
            </a:r>
          </a:p>
          <a:p>
            <a:r>
              <a:rPr lang="en-IN" dirty="0" err="1"/>
              <a:t>sp</a:t>
            </a:r>
            <a:r>
              <a:rPr lang="en-IN" dirty="0"/>
              <a:t>=</a:t>
            </a:r>
            <a:r>
              <a:rPr lang="en-IN" dirty="0" err="1"/>
              <a:t>np.array_split</a:t>
            </a:r>
            <a:r>
              <a:rPr lang="en-IN" dirty="0"/>
              <a:t>(n3,4)</a:t>
            </a:r>
          </a:p>
          <a:p>
            <a:r>
              <a:rPr lang="en-IN" dirty="0"/>
              <a:t>print(</a:t>
            </a:r>
            <a:r>
              <a:rPr lang="en-IN" dirty="0" err="1"/>
              <a:t>sp</a:t>
            </a:r>
            <a:r>
              <a:rPr lang="en-IN" dirty="0"/>
              <a:t>[0])     # [1 2]</a:t>
            </a:r>
          </a:p>
          <a:p>
            <a:r>
              <a:rPr lang="en-US" dirty="0"/>
              <a:t>import </a:t>
            </a:r>
            <a:r>
              <a:rPr lang="en-US" dirty="0" err="1"/>
              <a:t>numpy</a:t>
            </a:r>
            <a:r>
              <a:rPr lang="en-US" dirty="0"/>
              <a:t> as </a:t>
            </a:r>
            <a:r>
              <a:rPr lang="en-US" dirty="0" err="1"/>
              <a:t>np</a:t>
            </a:r>
            <a:endParaRPr lang="en-US" dirty="0"/>
          </a:p>
          <a:p>
            <a:r>
              <a:rPr lang="en-US" dirty="0"/>
              <a:t>n1=</a:t>
            </a:r>
            <a:r>
              <a:rPr lang="en-US" dirty="0" err="1"/>
              <a:t>np.array</a:t>
            </a:r>
            <a:r>
              <a:rPr lang="en-US" dirty="0"/>
              <a:t>([[1,2,3],[4,5,6]])</a:t>
            </a:r>
          </a:p>
          <a:p>
            <a:r>
              <a:rPr lang="en-US" dirty="0"/>
              <a:t>x=</a:t>
            </a:r>
            <a:r>
              <a:rPr lang="en-US" dirty="0" err="1"/>
              <a:t>np.array_split</a:t>
            </a:r>
            <a:r>
              <a:rPr lang="en-US" dirty="0"/>
              <a:t>(n1,2)</a:t>
            </a:r>
          </a:p>
          <a:p>
            <a:r>
              <a:rPr lang="en-US" dirty="0"/>
              <a:t>print(x)</a:t>
            </a:r>
          </a:p>
          <a:p>
            <a:r>
              <a:rPr lang="en-US" dirty="0"/>
              <a:t>print(x[0])</a:t>
            </a:r>
          </a:p>
          <a:p>
            <a:r>
              <a:rPr lang="en-US" dirty="0"/>
              <a:t>print(x[1])</a:t>
            </a:r>
          </a:p>
          <a:p>
            <a:endParaRPr lang="en-IN" dirty="0"/>
          </a:p>
          <a:p>
            <a:endParaRPr lang="en-IN" dirty="0"/>
          </a:p>
        </p:txBody>
      </p:sp>
    </p:spTree>
    <p:extLst>
      <p:ext uri="{BB962C8B-B14F-4D97-AF65-F5344CB8AC3E}">
        <p14:creationId xmlns:p14="http://schemas.microsoft.com/office/powerpoint/2010/main" val="387164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28153"/>
            <a:ext cx="8596668" cy="5413209"/>
          </a:xfrm>
        </p:spPr>
        <p:txBody>
          <a:bodyPr>
            <a:normAutofit fontScale="92500" lnSpcReduction="20000"/>
          </a:bodyPr>
          <a:lstStyle/>
          <a:p>
            <a:r>
              <a:rPr lang="en-US" b="1" dirty="0"/>
              <a:t>Searching in an array </a:t>
            </a:r>
            <a:r>
              <a:rPr lang="en-US" dirty="0"/>
              <a:t>: we can search for an element in an array using </a:t>
            </a:r>
            <a:r>
              <a:rPr lang="en-US" b="1" dirty="0"/>
              <a:t>where() </a:t>
            </a:r>
            <a:r>
              <a:rPr lang="en-US" dirty="0"/>
              <a:t>method.</a:t>
            </a:r>
          </a:p>
          <a:p>
            <a:r>
              <a:rPr lang="en-US" dirty="0"/>
              <a:t>import </a:t>
            </a:r>
            <a:r>
              <a:rPr lang="en-US" dirty="0" err="1"/>
              <a:t>numpy</a:t>
            </a:r>
            <a:r>
              <a:rPr lang="en-US" dirty="0"/>
              <a:t> as </a:t>
            </a:r>
            <a:r>
              <a:rPr lang="en-US" dirty="0" err="1"/>
              <a:t>np</a:t>
            </a:r>
            <a:endParaRPr lang="en-US" dirty="0"/>
          </a:p>
          <a:p>
            <a:r>
              <a:rPr lang="en-US" dirty="0"/>
              <a:t>n1=</a:t>
            </a:r>
            <a:r>
              <a:rPr lang="en-US" dirty="0" err="1"/>
              <a:t>np.array</a:t>
            </a:r>
            <a:r>
              <a:rPr lang="en-US" dirty="0"/>
              <a:t>([4,2,3,4])</a:t>
            </a:r>
          </a:p>
          <a:p>
            <a:r>
              <a:rPr lang="en-US" dirty="0"/>
              <a:t>p=</a:t>
            </a:r>
            <a:r>
              <a:rPr lang="en-US" dirty="0" err="1"/>
              <a:t>np.where</a:t>
            </a:r>
            <a:r>
              <a:rPr lang="en-US" dirty="0"/>
              <a:t>(n1==4)</a:t>
            </a:r>
          </a:p>
          <a:p>
            <a:r>
              <a:rPr lang="en-US" dirty="0"/>
              <a:t>print(p)</a:t>
            </a:r>
          </a:p>
          <a:p>
            <a:r>
              <a:rPr lang="en-US" b="1" dirty="0"/>
              <a:t>Sorting array: we have to use sort() method.</a:t>
            </a:r>
          </a:p>
          <a:p>
            <a:r>
              <a:rPr lang="en-US" dirty="0"/>
              <a:t>n1=</a:t>
            </a:r>
            <a:r>
              <a:rPr lang="en-US" dirty="0" err="1"/>
              <a:t>np.array</a:t>
            </a:r>
            <a:r>
              <a:rPr lang="en-US" dirty="0"/>
              <a:t>([4,2,3,1])</a:t>
            </a:r>
          </a:p>
          <a:p>
            <a:r>
              <a:rPr lang="en-US" dirty="0"/>
              <a:t>p=</a:t>
            </a:r>
            <a:r>
              <a:rPr lang="en-US" dirty="0" err="1"/>
              <a:t>np.sort</a:t>
            </a:r>
            <a:r>
              <a:rPr lang="en-US" dirty="0"/>
              <a:t>(n1)</a:t>
            </a:r>
          </a:p>
          <a:p>
            <a:r>
              <a:rPr lang="en-US" dirty="0"/>
              <a:t>print(p)</a:t>
            </a:r>
          </a:p>
          <a:p>
            <a:r>
              <a:rPr lang="en-IN" dirty="0"/>
              <a:t>import </a:t>
            </a:r>
            <a:r>
              <a:rPr lang="en-IN" dirty="0" err="1"/>
              <a:t>numpy</a:t>
            </a:r>
            <a:r>
              <a:rPr lang="en-IN" dirty="0"/>
              <a:t> as </a:t>
            </a:r>
            <a:r>
              <a:rPr lang="en-IN" dirty="0" err="1"/>
              <a:t>np</a:t>
            </a:r>
            <a:r>
              <a:rPr lang="en-IN" dirty="0"/>
              <a:t>  #sorting string array</a:t>
            </a:r>
          </a:p>
          <a:p>
            <a:r>
              <a:rPr lang="en-IN" dirty="0"/>
              <a:t>n=</a:t>
            </a:r>
            <a:r>
              <a:rPr lang="en-IN" dirty="0" err="1"/>
              <a:t>np.array</a:t>
            </a:r>
            <a:r>
              <a:rPr lang="en-IN" dirty="0"/>
              <a:t>(['hi','java','</a:t>
            </a:r>
            <a:r>
              <a:rPr lang="en-IN" dirty="0" err="1"/>
              <a:t>pyth</a:t>
            </a:r>
            <a:r>
              <a:rPr lang="en-IN" dirty="0"/>
              <a:t>','app'])</a:t>
            </a:r>
          </a:p>
          <a:p>
            <a:r>
              <a:rPr lang="en-IN" dirty="0"/>
              <a:t>print(</a:t>
            </a:r>
            <a:r>
              <a:rPr lang="en-IN" dirty="0" err="1"/>
              <a:t>np.sort</a:t>
            </a:r>
            <a:r>
              <a:rPr lang="en-IN" dirty="0"/>
              <a:t>(n))</a:t>
            </a:r>
          </a:p>
          <a:p>
            <a:endParaRPr lang="en-US" b="1" dirty="0"/>
          </a:p>
          <a:p>
            <a:endParaRPr lang="en-IN" b="1" dirty="0"/>
          </a:p>
        </p:txBody>
      </p:sp>
    </p:spTree>
    <p:extLst>
      <p:ext uri="{BB962C8B-B14F-4D97-AF65-F5344CB8AC3E}">
        <p14:creationId xmlns:p14="http://schemas.microsoft.com/office/powerpoint/2010/main" val="13785625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930303"/>
            <a:ext cx="8596668" cy="5111059"/>
          </a:xfrm>
        </p:spPr>
        <p:txBody>
          <a:bodyPr>
            <a:normAutofit fontScale="92500" lnSpcReduction="20000"/>
          </a:bodyPr>
          <a:lstStyle/>
          <a:p>
            <a:r>
              <a:rPr lang="en-US" dirty="0"/>
              <a:t>Arithmetic operations on arrays</a:t>
            </a:r>
          </a:p>
          <a:p>
            <a:r>
              <a:rPr lang="en-US" dirty="0"/>
              <a:t>Sum(): adding all </a:t>
            </a:r>
            <a:r>
              <a:rPr lang="en-US" dirty="0" err="1"/>
              <a:t>elemets</a:t>
            </a:r>
            <a:r>
              <a:rPr lang="en-US" dirty="0"/>
              <a:t> in the array</a:t>
            </a:r>
          </a:p>
          <a:p>
            <a:r>
              <a:rPr lang="pt-BR" dirty="0"/>
              <a:t>n1=np.array([1,2,3,4])</a:t>
            </a:r>
          </a:p>
          <a:p>
            <a:r>
              <a:rPr lang="pt-BR" dirty="0"/>
              <a:t>n2=np.array([4,5,6,7,])</a:t>
            </a:r>
          </a:p>
          <a:p>
            <a:r>
              <a:rPr lang="pt-BR" dirty="0"/>
              <a:t>print(np.sum([n1,n2]))</a:t>
            </a:r>
          </a:p>
          <a:p>
            <a:r>
              <a:rPr lang="en-US" dirty="0"/>
              <a:t>o/p : 32</a:t>
            </a:r>
          </a:p>
          <a:p>
            <a:r>
              <a:rPr lang="pt-BR" dirty="0"/>
              <a:t>n1=np.array([1,2,3,4])</a:t>
            </a:r>
          </a:p>
          <a:p>
            <a:r>
              <a:rPr lang="pt-BR" dirty="0"/>
              <a:t>n2=np.array([4,5,6,7,])</a:t>
            </a:r>
          </a:p>
          <a:p>
            <a:r>
              <a:rPr lang="pt-BR" dirty="0"/>
              <a:t>print(np.sum([n1,n2],axis=1))  adds row wise elements  :  10, 22</a:t>
            </a:r>
          </a:p>
          <a:p>
            <a:r>
              <a:rPr lang="pt-BR" dirty="0"/>
              <a:t>n1=np.array([1,2,3,4])</a:t>
            </a:r>
          </a:p>
          <a:p>
            <a:r>
              <a:rPr lang="pt-BR" dirty="0"/>
              <a:t>n2=np.array([4,5,6,7,])</a:t>
            </a:r>
          </a:p>
          <a:p>
            <a:r>
              <a:rPr lang="pt-BR" dirty="0"/>
              <a:t>print(np.sum([n1,n2],axis=0)) adds colums wise</a:t>
            </a:r>
          </a:p>
          <a:p>
            <a:endParaRPr lang="pt-BR" dirty="0"/>
          </a:p>
          <a:p>
            <a:endParaRPr lang="en-IN" dirty="0"/>
          </a:p>
        </p:txBody>
      </p:sp>
    </p:spTree>
    <p:extLst>
      <p:ext uri="{BB962C8B-B14F-4D97-AF65-F5344CB8AC3E}">
        <p14:creationId xmlns:p14="http://schemas.microsoft.com/office/powerpoint/2010/main" val="41350449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03083"/>
            <a:ext cx="8596668" cy="5238280"/>
          </a:xfrm>
        </p:spPr>
        <p:txBody>
          <a:bodyPr/>
          <a:lstStyle/>
          <a:p>
            <a:r>
              <a:rPr lang="en-IN" dirty="0"/>
              <a:t>print(</a:t>
            </a:r>
            <a:r>
              <a:rPr lang="en-IN" dirty="0" err="1"/>
              <a:t>np.subtract</a:t>
            </a:r>
            <a:r>
              <a:rPr lang="en-IN" dirty="0"/>
              <a:t>(n1,n2))</a:t>
            </a:r>
          </a:p>
          <a:p>
            <a:r>
              <a:rPr lang="en-IN" dirty="0"/>
              <a:t>print(</a:t>
            </a:r>
            <a:r>
              <a:rPr lang="en-IN" dirty="0" err="1"/>
              <a:t>np.multiply</a:t>
            </a:r>
            <a:r>
              <a:rPr lang="en-IN" dirty="0"/>
              <a:t>(n1,n2))</a:t>
            </a:r>
          </a:p>
          <a:p>
            <a:r>
              <a:rPr lang="en-IN"/>
              <a:t>print(</a:t>
            </a:r>
            <a:r>
              <a:rPr lang="en-IN" dirty="0" err="1"/>
              <a:t>np.divide</a:t>
            </a:r>
            <a:r>
              <a:rPr lang="en-IN" dirty="0"/>
              <a:t>(n1,n2))</a:t>
            </a:r>
          </a:p>
          <a:p>
            <a:endParaRPr lang="en-IN" dirty="0"/>
          </a:p>
          <a:p>
            <a:endParaRPr lang="en-IN" dirty="0"/>
          </a:p>
        </p:txBody>
      </p:sp>
    </p:spTree>
    <p:extLst>
      <p:ext uri="{BB962C8B-B14F-4D97-AF65-F5344CB8AC3E}">
        <p14:creationId xmlns:p14="http://schemas.microsoft.com/office/powerpoint/2010/main" val="11151340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DAV</Template>
  <TotalTime>3036</TotalTime>
  <Words>5280</Words>
  <Application>Microsoft Office PowerPoint</Application>
  <PresentationFormat>Widescreen</PresentationFormat>
  <Paragraphs>492</Paragraphs>
  <Slides>57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BioRhyme ExtraBold</vt:lpstr>
      <vt:lpstr>Calibri</vt:lpstr>
      <vt:lpstr>Gill Sans MT</vt:lpstr>
      <vt:lpstr>Poppins</vt:lpstr>
      <vt:lpstr>Times New Roman</vt:lpstr>
      <vt:lpstr>Wingdings</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VOCABULARY</dc:title>
  <dc:creator>ramesh babu padamata</dc:creator>
  <cp:lastModifiedBy>sunanda nalajala</cp:lastModifiedBy>
  <cp:revision>131</cp:revision>
  <dcterms:created xsi:type="dcterms:W3CDTF">2023-10-26T04:57:25Z</dcterms:created>
  <dcterms:modified xsi:type="dcterms:W3CDTF">2026-08-05T09:59:17Z</dcterms:modified>
</cp:coreProperties>
</file>