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3" r:id="rId5"/>
    <p:sldId id="264" r:id="rId6"/>
    <p:sldId id="265" r:id="rId7"/>
    <p:sldId id="266" r:id="rId8"/>
    <p:sldId id="259" r:id="rId9"/>
    <p:sldId id="260" r:id="rId10"/>
    <p:sldId id="268" r:id="rId11"/>
    <p:sldId id="269" r:id="rId12"/>
    <p:sldId id="270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735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192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0644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Course: Data Science (24AD3107), A.Y. 2026-2027. Team: Bingi Nageshwari (2420030426), Remani Sri Ananya (2420030086), Ch. Harini (2420030629). Guide: Dr. N. Sunanda. Department of CSE, KLEF.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Motivation: transaction tables are too large for manual review; a multidimensional behavioral view is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Primary goal: from raw data to interpretable customer segments and visual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K-Means: partitions data into K clusters where each observation belongs to the cluster with the nearest mean.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from the research paper: six clusters differ substantially in spending, frequency, and order value. Cluster 1 is the largest (178 customers); Cluster 4 has the highest mean spending; Cluster 2 the highest frequency; Cluster 3 the highest order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Fig. 2: K-Means customer segmentation output for K=6 with cluster statistics and pairwise behavioral plots.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Fig.. 1: Customer segmentation dashboard containing RFM indicators, segment distribution, heatmap, and analytical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Download: https://www.kaggle.com/datasets/vivek468/superstore-dataset-final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Pipeline: Customer Transaction Data → Cleaning → Feature Construction → EDA → K-Means → Cluster Profiling → Visual Analytics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Statistical summaries + clustering + visualization = a complete, interpretable analytics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extensions connect descriptive customer analytics with predictive and prescriptive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References: Wu et al. (2021); Li et al. ((2022); Wu et al.((2022); Gomes &amp; Meisen ((2023); Mehta &amp; Sehgal ((2024).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inimalist for Business template artwor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3771"/>
            <a:ext cx="12192000" cy="6858000"/>
          </a:xfrm>
          <a:prstGeom prst="rect">
            <a:avLst/>
          </a:prstGeom>
        </p:spPr>
      </p:pic>
      <p:pic>
        <p:nvPicPr>
          <p:cNvPr id="3" name="Image 1" descr="Laptop displaying e-commerce analytics"/>
          <p:cNvPicPr>
            <a:picLocks noChangeAspect="1"/>
          </p:cNvPicPr>
          <p:nvPr/>
        </p:nvPicPr>
        <p:blipFill>
          <a:blip r:embed="rId4"/>
          <a:srcRect l="28547" r="28547"/>
          <a:stretch/>
        </p:blipFill>
        <p:spPr>
          <a:xfrm>
            <a:off x="304800" y="311150"/>
            <a:ext cx="4013200" cy="62357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62500" y="438150"/>
            <a:ext cx="5949950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20000"/>
              </a:lnSpc>
              <a:buNone/>
            </a:pPr>
            <a:endParaRPr lang="en-US" sz="4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79D81F-4A50-AD9C-255C-ABCE2298CF5D}"/>
              </a:ext>
            </a:extLst>
          </p:cNvPr>
          <p:cNvSpPr txBox="1"/>
          <p:nvPr/>
        </p:nvSpPr>
        <p:spPr>
          <a:xfrm>
            <a:off x="5584053" y="311150"/>
            <a:ext cx="5572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 Science </a:t>
            </a:r>
          </a:p>
          <a:p>
            <a:pPr algn="ctr"/>
            <a:r>
              <a:rPr lang="en-US" dirty="0"/>
              <a:t>(24AD3107)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7EECB7-DF94-779F-6FE1-C93813DAB50A}"/>
              </a:ext>
            </a:extLst>
          </p:cNvPr>
          <p:cNvSpPr txBox="1"/>
          <p:nvPr/>
        </p:nvSpPr>
        <p:spPr>
          <a:xfrm>
            <a:off x="4762500" y="4942522"/>
            <a:ext cx="285238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Team members :</a:t>
            </a:r>
          </a:p>
          <a:p>
            <a:r>
              <a:rPr lang="en-US" dirty="0"/>
              <a:t>B Nageshwari – 2420030426</a:t>
            </a:r>
          </a:p>
          <a:p>
            <a:r>
              <a:rPr lang="en-US" dirty="0"/>
              <a:t>R Ananya – 2420030086</a:t>
            </a:r>
          </a:p>
          <a:p>
            <a:r>
              <a:rPr lang="en-US" dirty="0"/>
              <a:t>Harini - 2420030629</a:t>
            </a:r>
            <a:br>
              <a:rPr lang="en-US" dirty="0"/>
            </a:b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C65992-858C-8DDD-6D8C-715403CDB9B7}"/>
              </a:ext>
            </a:extLst>
          </p:cNvPr>
          <p:cNvSpPr txBox="1"/>
          <p:nvPr/>
        </p:nvSpPr>
        <p:spPr>
          <a:xfrm>
            <a:off x="5063313" y="1962300"/>
            <a:ext cx="661437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/>
              <a:t>Project title :</a:t>
            </a:r>
          </a:p>
          <a:p>
            <a:r>
              <a:rPr lang="en-US" sz="3000" b="1" dirty="0"/>
              <a:t> </a:t>
            </a:r>
          </a:p>
          <a:p>
            <a:r>
              <a:rPr lang="en-IN" sz="3000" b="1" dirty="0"/>
              <a:t>E-Commerce Customer &amp; Sales Analytics</a:t>
            </a:r>
            <a:endParaRPr lang="en-US" sz="3000" b="1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inimalist for Business template artwor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erson holding business charts and graphs"/>
          <p:cNvPicPr>
            <a:picLocks noChangeAspect="1"/>
          </p:cNvPicPr>
          <p:nvPr/>
        </p:nvPicPr>
        <p:blipFill>
          <a:blip r:embed="rId4"/>
          <a:srcRect l="28686" r="28686"/>
          <a:stretch/>
        </p:blipFill>
        <p:spPr>
          <a:xfrm>
            <a:off x="304800" y="311150"/>
            <a:ext cx="4013200" cy="62357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62500" y="438150"/>
            <a:ext cx="5949950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500" dirty="0">
                <a:solidFill>
                  <a:srgbClr val="191919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Introduction</a:t>
            </a:r>
            <a:endParaRPr lang="en-US" sz="4500" dirty="0"/>
          </a:p>
        </p:txBody>
      </p:sp>
      <p:sp>
        <p:nvSpPr>
          <p:cNvPr id="5" name="Text 1"/>
          <p:cNvSpPr/>
          <p:nvPr/>
        </p:nvSpPr>
        <p:spPr>
          <a:xfrm>
            <a:off x="4762500" y="1943100"/>
            <a:ext cx="5949950" cy="448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30000"/>
              </a:lnSpc>
              <a:spcAft>
                <a:spcPts val="2250"/>
              </a:spcAft>
              <a:buSzPct val="100000"/>
              <a:buChar char="•"/>
            </a:pPr>
            <a:r>
              <a:rPr lang="en-US" sz="20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Converts customer histories into behavioral indicators instead of treating transactions independently</a:t>
            </a:r>
            <a:endParaRPr lang="en-US" sz="2000" dirty="0"/>
          </a:p>
          <a:p>
            <a:pPr marL="279400" indent="-279400" algn="l">
              <a:lnSpc>
                <a:spcPct val="130000"/>
              </a:lnSpc>
              <a:spcAft>
                <a:spcPts val="2250"/>
              </a:spcAft>
              <a:buSzPct val="100000"/>
              <a:buChar char="•"/>
            </a:pPr>
            <a:r>
              <a:rPr lang="en-US" sz="20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Describes customer value using Annual Spending, Purchase Frequency, and Average Order Value</a:t>
            </a:r>
            <a:endParaRPr lang="en-US" sz="2000" dirty="0"/>
          </a:p>
          <a:p>
            <a:pPr marL="279400" indent="-279400" algn="l">
              <a:lnSpc>
                <a:spcPct val="130000"/>
              </a:lnSpc>
              <a:spcAft>
                <a:spcPts val="2250"/>
              </a:spcAft>
              <a:buSzPct val="100000"/>
              <a:buChar char="•"/>
            </a:pPr>
            <a:r>
              <a:rPr lang="en-US" sz="20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Applies K-Means clustering to discover behavioral segments</a:t>
            </a:r>
            <a:endParaRPr lang="en-US" sz="2000" dirty="0"/>
          </a:p>
          <a:p>
            <a:pPr marL="279400" indent="-279400" algn="l">
              <a:lnSpc>
                <a:spcPct val="130000"/>
              </a:lnSpc>
              <a:spcAft>
                <a:spcPts val="2250"/>
              </a:spcAft>
              <a:buSzPct val="100000"/>
              <a:buChar char="•"/>
            </a:pPr>
            <a:r>
              <a:rPr lang="en-US" sz="20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Communicates results through an RFM-based interactive dashboard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inimalist for Business template artwor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5450" y="438150"/>
            <a:ext cx="10287000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500" dirty="0">
                <a:solidFill>
                  <a:srgbClr val="191919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Project Objectives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425450" y="1943100"/>
            <a:ext cx="10287000" cy="448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21310" indent="-321310" algn="l">
              <a:lnSpc>
                <a:spcPct val="130000"/>
              </a:lnSpc>
              <a:spcAft>
                <a:spcPts val="1350"/>
              </a:spcAft>
              <a:buSzPct val="100000"/>
              <a:buChar char="•"/>
            </a:pPr>
            <a:r>
              <a:rPr lang="en-US" sz="23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Analyze customer behavior and sales performance from historical order data</a:t>
            </a:r>
            <a:endParaRPr lang="en-US" sz="2300" dirty="0"/>
          </a:p>
          <a:p>
            <a:pPr marL="321310" indent="-321310" algn="l">
              <a:lnSpc>
                <a:spcPct val="130000"/>
              </a:lnSpc>
              <a:spcAft>
                <a:spcPts val="1350"/>
              </a:spcAft>
              <a:buSzPct val="100000"/>
              <a:buChar char="•"/>
            </a:pPr>
            <a:r>
              <a:rPr lang="en-US" sz="23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Engineer customer-level features that capture spending, frequency, and order value</a:t>
            </a:r>
            <a:endParaRPr lang="en-US" sz="2300" dirty="0"/>
          </a:p>
          <a:p>
            <a:pPr marL="321310" indent="-321310" algn="l">
              <a:lnSpc>
                <a:spcPct val="130000"/>
              </a:lnSpc>
              <a:spcAft>
                <a:spcPts val="1350"/>
              </a:spcAft>
              <a:buSzPct val="100000"/>
              <a:buChar char="•"/>
            </a:pPr>
            <a:r>
              <a:rPr lang="en-US" sz="23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Segment customers into behavioral groups using unsupervised learning</a:t>
            </a:r>
            <a:endParaRPr lang="en-US" sz="2300" dirty="0"/>
          </a:p>
          <a:p>
            <a:pPr marL="321310" indent="-321310" algn="l">
              <a:lnSpc>
                <a:spcPct val="130000"/>
              </a:lnSpc>
              <a:spcAft>
                <a:spcPts val="1350"/>
              </a:spcAft>
              <a:buSzPct val="100000"/>
              <a:buChar char="•"/>
            </a:pPr>
            <a:r>
              <a:rPr lang="en-US" sz="23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visual reports and dashboards to make large datasets easy to interpret</a:t>
            </a:r>
            <a:endParaRPr lang="en-US" sz="2300" dirty="0"/>
          </a:p>
          <a:p>
            <a:pPr marL="321310" indent="-321310" algn="l">
              <a:lnSpc>
                <a:spcPct val="130000"/>
              </a:lnSpc>
              <a:spcAft>
                <a:spcPts val="1350"/>
              </a:spcAft>
              <a:buSzPct val="100000"/>
              <a:buChar char="•"/>
            </a:pPr>
            <a:r>
              <a:rPr lang="en-US" sz="23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 data-driven decisions to increase sales and improve customer satisfaction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inimalist for Business template artwor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5450" y="438150"/>
            <a:ext cx="10287000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500" dirty="0">
                <a:solidFill>
                  <a:srgbClr val="191919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K-Means Customer Segmentation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425450" y="1943100"/>
            <a:ext cx="10287000" cy="448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21310" indent="-321310" algn="l">
              <a:lnSpc>
                <a:spcPct val="130000"/>
              </a:lnSpc>
              <a:spcAft>
                <a:spcPts val="1350"/>
              </a:spcAft>
              <a:buSzPct val="100000"/>
              <a:buChar char="•"/>
            </a:pPr>
            <a:r>
              <a:rPr lang="en-US" sz="23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K-Means assigns customers to groups by minimizing within-cluster variation around centroids</a:t>
            </a:r>
            <a:endParaRPr lang="en-US" sz="2300" dirty="0"/>
          </a:p>
          <a:p>
            <a:pPr marL="321310" indent="-321310" algn="l">
              <a:lnSpc>
                <a:spcPct val="130000"/>
              </a:lnSpc>
              <a:spcAft>
                <a:spcPts val="1350"/>
              </a:spcAft>
              <a:buSzPct val="100000"/>
              <a:buChar char="•"/>
            </a:pPr>
            <a:r>
              <a:rPr lang="en-US" sz="23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implemented analysis produces six clusters (K = 6)</a:t>
            </a:r>
            <a:endParaRPr lang="en-US" sz="2300" dirty="0"/>
          </a:p>
          <a:p>
            <a:pPr marL="321310" indent="-321310" algn="l">
              <a:lnSpc>
                <a:spcPct val="130000"/>
              </a:lnSpc>
              <a:spcAft>
                <a:spcPts val="1350"/>
              </a:spcAft>
              <a:buSzPct val="100000"/>
              <a:buChar char="•"/>
            </a:pPr>
            <a:r>
              <a:rPr lang="en-US" sz="23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cluster is summarized using its size and mean behavioral measurements</a:t>
            </a:r>
            <a:endParaRPr lang="en-US" sz="2300" dirty="0"/>
          </a:p>
          <a:p>
            <a:pPr marL="321310" indent="-321310" algn="l">
              <a:lnSpc>
                <a:spcPct val="130000"/>
              </a:lnSpc>
              <a:spcAft>
                <a:spcPts val="1350"/>
              </a:spcAft>
              <a:buSzPct val="100000"/>
              <a:buChar char="•"/>
            </a:pPr>
            <a:r>
              <a:rPr lang="en-US" sz="23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Cluster statistics allow groups to be compared without relying on individual observations</a:t>
            </a:r>
            <a:endParaRPr lang="en-US" sz="2300" dirty="0"/>
          </a:p>
          <a:p>
            <a:pPr marL="321310" indent="-321310" algn="l">
              <a:lnSpc>
                <a:spcPct val="130000"/>
              </a:lnSpc>
              <a:spcAft>
                <a:spcPts val="1350"/>
              </a:spcAft>
              <a:buSzPct val="100000"/>
              <a:buChar char="•"/>
            </a:pPr>
            <a:r>
              <a:rPr lang="en-US" sz="23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Segments reveal differences in customer value that revenue alone cannot show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inimalist for Business template artwor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2650" y="812800"/>
            <a:ext cx="104267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400" dirty="0">
                <a:solidFill>
                  <a:srgbClr val="191919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Cluster Results — K =  ​6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82650" y="1905000"/>
          <a:ext cx="10426700" cy="3810002"/>
        </p:xfrm>
        <a:graphic>
          <a:graphicData uri="http://schemas.openxmlformats.org/drawingml/2006/table">
            <a:tbl>
              <a:tblPr/>
              <a:tblGrid>
                <a:gridCol w="2085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5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5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5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5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42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9191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Cluster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32657" marR="32657" marT="32657" marB="32657">
                    <a:lnL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B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9191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Size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32657" marR="32657" marT="32657" marB="32657">
                    <a:lnL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B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9191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Avg Spending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32657" marR="32657" marT="32657" marB="32657">
                    <a:lnL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B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9191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Avg Frequency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32657" marR="32657" marT="32657" marB="32657">
                    <a:lnL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B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9191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Avg Order Value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32657" marR="32657" marT="32657" marB="32657">
                    <a:lnL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B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9191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Cluster 0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32657" marR="32657" marT="32657" marB="32657">
                    <a:lnL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B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9191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119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32657" marR="32657" marT="32657" marB="32657">
                    <a:lnL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B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9191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44,154.64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32657" marR="32657" marT="32657" marB="32657">
                    <a:lnL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B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9191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27.12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32657" marR="32657" marT="32657" marB="32657">
                    <a:lnL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B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9191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122.57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32657" marR="32657" marT="32657" marB="32657">
                    <a:lnL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B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9191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Cluster 1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32657" marR="32657" marT="32657" marB="32657">
                    <a:lnL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B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9191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178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32657" marR="32657" marT="32657" marB="32657">
                    <a:lnL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B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9191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33,587.68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32657" marR="32657" marT="32657" marB="32657">
                    <a:lnL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B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9191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—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32657" marR="32657" marT="32657" marB="32657">
                    <a:lnL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B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9191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203.45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32657" marR="32657" marT="32657" marB="32657">
                    <a:lnL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B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9191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Cluster 2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32657" marR="32657" marT="32657" marB="32657">
                    <a:lnL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B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9191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—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32657" marR="32657" marT="32657" marB="32657">
                    <a:lnL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B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9191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45,121.93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32657" marR="32657" marT="32657" marB="32657">
                    <a:lnL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B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9191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34.40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32657" marR="32657" marT="32657" marB="32657">
                    <a:lnL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B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9191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—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32657" marR="32657" marT="32657" marB="32657">
                    <a:lnL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B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9191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Cluster 3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32657" marR="32657" marT="32657" marB="32657">
                    <a:lnL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B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9191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—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32657" marR="32657" marT="32657" marB="32657">
                    <a:lnL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B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9191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56,361.96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32657" marR="32657" marT="32657" marB="32657">
                    <a:lnL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B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9191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—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32657" marR="32657" marT="32657" marB="32657">
                    <a:lnL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B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9191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266.78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32657" marR="32657" marT="32657" marB="32657">
                    <a:lnL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B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9191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Cluster 4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32657" marR="32657" marT="32657" marB="32657">
                    <a:lnL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B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9191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—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32657" marR="32657" marT="32657" marB="32657">
                    <a:lnL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B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9191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65,693.59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32657" marR="32657" marT="32657" marB="32657">
                    <a:lnL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B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9191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—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32657" marR="32657" marT="32657" marB="32657">
                    <a:lnL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B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9191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—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32657" marR="32657" marT="32657" marB="32657">
                    <a:lnL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B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9191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Cluster 5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32657" marR="32657" marT="32657" marB="32657">
                    <a:lnL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B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9191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—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32657" marR="32657" marT="32657" marB="32657">
                    <a:lnL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B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9191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58,854.61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32657" marR="32657" marT="32657" marB="32657">
                    <a:lnL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B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9191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13.75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32657" marR="32657" marT="32657" marB="32657">
                    <a:lnL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B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9191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—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32657" marR="32657" marT="32657" marB="32657">
                    <a:lnL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B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inimalist for Business template artwor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Data science Python code on screen"/>
          <p:cNvPicPr>
            <a:picLocks noChangeAspect="1"/>
          </p:cNvPicPr>
          <p:nvPr/>
        </p:nvPicPr>
        <p:blipFill>
          <a:blip r:embed="rId4"/>
          <a:srcRect l="25866" r="25866"/>
          <a:stretch/>
        </p:blipFill>
        <p:spPr>
          <a:xfrm>
            <a:off x="304800" y="311150"/>
            <a:ext cx="4013200" cy="62357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62500" y="438150"/>
            <a:ext cx="5949950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200" dirty="0">
                <a:solidFill>
                  <a:srgbClr val="191919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Cluster Visualization</a:t>
            </a:r>
            <a:endParaRPr lang="en-US" sz="4200" dirty="0"/>
          </a:p>
        </p:txBody>
      </p:sp>
      <p:sp>
        <p:nvSpPr>
          <p:cNvPr id="5" name="Text 1"/>
          <p:cNvSpPr/>
          <p:nvPr/>
        </p:nvSpPr>
        <p:spPr>
          <a:xfrm>
            <a:off x="4762500" y="1943100"/>
            <a:ext cx="5949950" cy="448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3370" indent="-293370" algn="l">
              <a:lnSpc>
                <a:spcPct val="130000"/>
              </a:lnSpc>
              <a:spcAft>
                <a:spcPts val="1750"/>
              </a:spcAft>
              <a:buSzPct val="100000"/>
              <a:buChar char="•"/>
            </a:pPr>
            <a:r>
              <a:rPr lang="en-US" sz="21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Spending vs Purchase Frequency — how purchasing intensity varies with customer spending</a:t>
            </a:r>
            <a:endParaRPr lang="en-US" sz="2100" dirty="0"/>
          </a:p>
          <a:p>
            <a:pPr marL="293370" indent="-293370" algn="l">
              <a:lnSpc>
                <a:spcPct val="130000"/>
              </a:lnSpc>
              <a:spcAft>
                <a:spcPts val="1750"/>
              </a:spcAft>
              <a:buSzPct val="100000"/>
              <a:buChar char="•"/>
            </a:pPr>
            <a:r>
              <a:rPr lang="en-US" sz="21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Spending vs Average Order Value — where financial contribution comes from larger orders</a:t>
            </a:r>
            <a:endParaRPr lang="en-US" sz="2100" dirty="0"/>
          </a:p>
          <a:p>
            <a:pPr marL="293370" indent="-293370" algn="l">
              <a:lnSpc>
                <a:spcPct val="130000"/>
              </a:lnSpc>
              <a:spcAft>
                <a:spcPts val="1750"/>
              </a:spcAft>
              <a:buSzPct val="100000"/>
              <a:buChar char="•"/>
            </a:pPr>
            <a:r>
              <a:rPr lang="en-US" sz="21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Frequency vs Average Order Value — another perspective on purchasing style</a:t>
            </a:r>
            <a:endParaRPr lang="en-US" sz="2100" dirty="0"/>
          </a:p>
          <a:p>
            <a:pPr marL="293370" indent="-293370" algn="l">
              <a:lnSpc>
                <a:spcPct val="130000"/>
              </a:lnSpc>
              <a:spcAft>
                <a:spcPts val="1750"/>
              </a:spcAft>
              <a:buSzPct val="100000"/>
              <a:buChar char="•"/>
            </a:pPr>
            <a:r>
              <a:rPr lang="en-US" sz="21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Partial overlap between clusters is expected when behavior varies continuously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inimalist for Business template artwor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5450" y="438150"/>
            <a:ext cx="10287000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500" dirty="0">
                <a:solidFill>
                  <a:srgbClr val="191919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Customer Segmentation Dashboard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425450" y="1943100"/>
            <a:ext cx="10287000" cy="448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5130" indent="-405130" algn="l">
              <a:lnSpc>
                <a:spcPct val="130000"/>
              </a:lnSpc>
              <a:spcAft>
                <a:spcPts val="1700"/>
              </a:spcAft>
              <a:buSzPct val="100000"/>
              <a:buChar char="•"/>
            </a:pPr>
            <a:r>
              <a:rPr lang="en-US" sz="29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Summarizes Recency, Frequency, and Monetary (RFM) indicators</a:t>
            </a:r>
            <a:endParaRPr lang="en-US" sz="2900" dirty="0"/>
          </a:p>
          <a:p>
            <a:pPr marL="405130" indent="-405130" algn="l">
              <a:lnSpc>
                <a:spcPct val="130000"/>
              </a:lnSpc>
              <a:spcAft>
                <a:spcPts val="1700"/>
              </a:spcAft>
              <a:buSzPct val="100000"/>
              <a:buChar char="•"/>
            </a:pPr>
            <a:r>
              <a:rPr lang="en-US" sz="29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Displays customer segments using a distribution chart</a:t>
            </a:r>
            <a:endParaRPr lang="en-US" sz="2900" dirty="0"/>
          </a:p>
          <a:p>
            <a:pPr marL="405130" indent="-405130" algn="l">
              <a:lnSpc>
                <a:spcPct val="130000"/>
              </a:lnSpc>
              <a:spcAft>
                <a:spcPts val="1700"/>
              </a:spcAft>
              <a:buSzPct val="100000"/>
              <a:buChar char="•"/>
            </a:pPr>
            <a:r>
              <a:rPr lang="en-US" sz="29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Includes an RFM score heatmap for quick pattern recognition</a:t>
            </a:r>
            <a:endParaRPr lang="en-US" sz="2900" dirty="0"/>
          </a:p>
          <a:p>
            <a:pPr marL="405130" indent="-405130" algn="l">
              <a:lnSpc>
                <a:spcPct val="130000"/>
              </a:lnSpc>
              <a:spcAft>
                <a:spcPts val="1700"/>
              </a:spcAft>
              <a:buSzPct val="100000"/>
              <a:buChar char="•"/>
            </a:pPr>
            <a:r>
              <a:rPr lang="en-US" sz="29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Insights panel highlights selected segment-level observations</a:t>
            </a:r>
            <a:endParaRPr lang="en-US" sz="2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inimalist for Business template artwor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5450" y="438150"/>
            <a:ext cx="10287000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500" dirty="0">
                <a:solidFill>
                  <a:srgbClr val="191919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Dataset Overview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425450" y="1943100"/>
            <a:ext cx="10287000" cy="448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63220" indent="-363220" algn="l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Contains orders, customers, products, sales, profit, quantity, discounts, and regions</a:t>
            </a:r>
            <a:endParaRPr lang="en-US" sz="2600" dirty="0"/>
          </a:p>
          <a:p>
            <a:pPr marL="363220" indent="-363220" algn="l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Provides the transaction history needed to compute customer-level indicators</a:t>
            </a:r>
            <a:endParaRPr lang="en-US" sz="2600" dirty="0"/>
          </a:p>
          <a:p>
            <a:pPr marL="363220" indent="-363220" algn="l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Suitable for demonstrating real-world data analysis techniques in the retail industry</a:t>
            </a:r>
            <a:endParaRPr lang="en-US" sz="2600" dirty="0"/>
          </a:p>
          <a:p>
            <a:pPr marL="363220" indent="-363220" algn="l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26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Source: Kaggle — Superstore Dataset (Final)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inimalist for Business template artwor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5450" y="438150"/>
            <a:ext cx="10287000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500" dirty="0">
                <a:solidFill>
                  <a:srgbClr val="191919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Proposed Methodology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425450" y="1943100"/>
            <a:ext cx="10287000" cy="448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37490" indent="-237490" algn="l">
              <a:lnSpc>
                <a:spcPct val="130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Collection — e-commerce customer and purchase information</a:t>
            </a:r>
            <a:endParaRPr lang="en-US" sz="1700" dirty="0"/>
          </a:p>
          <a:p>
            <a:pPr marL="237490" indent="-237490" algn="l">
              <a:lnSpc>
                <a:spcPct val="130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Preprocessing — cleaning incomplete, repeated, inconsistent, and extreme records</a:t>
            </a:r>
            <a:endParaRPr lang="en-US" sz="1700" dirty="0"/>
          </a:p>
          <a:p>
            <a:pPr marL="237490" indent="-237490" algn="l">
              <a:lnSpc>
                <a:spcPct val="130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Exploratory Data Analysis — inspect spending and purchasing distributions</a:t>
            </a:r>
            <a:endParaRPr lang="en-US" sz="1700" dirty="0"/>
          </a:p>
          <a:p>
            <a:pPr marL="237490" indent="-237490" algn="l">
              <a:lnSpc>
                <a:spcPct val="130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Customer-Level Feature Engineering — Annual Spending, Purchase Frequency, Average Order Value</a:t>
            </a:r>
            <a:endParaRPr lang="en-US" sz="1700" dirty="0"/>
          </a:p>
          <a:p>
            <a:pPr marL="237490" indent="-237490" algn="l">
              <a:lnSpc>
                <a:spcPct val="130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K-Means Segmentation — group customers into six behavioral clusters</a:t>
            </a:r>
            <a:endParaRPr lang="en-US" sz="1700" dirty="0"/>
          </a:p>
          <a:p>
            <a:pPr marL="237490" indent="-237490" algn="l">
              <a:lnSpc>
                <a:spcPct val="130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Cluster Evaluation &amp; Interpretation — summary statistics and pairwise scatter plots</a:t>
            </a:r>
            <a:endParaRPr lang="en-US" sz="1700" dirty="0"/>
          </a:p>
          <a:p>
            <a:pPr marL="237490" indent="-237490" algn="l">
              <a:lnSpc>
                <a:spcPct val="130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Interactive Dashboard — RFM indicators, segment counts, heatmap, insights panel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inimalist for Business template artwor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5450" y="438150"/>
            <a:ext cx="10287000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500" dirty="0">
                <a:solidFill>
                  <a:srgbClr val="191919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Conclusion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425450" y="1943100"/>
            <a:ext cx="10287000" cy="448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35280" indent="-335280" algn="l">
              <a:lnSpc>
                <a:spcPct val="130000"/>
              </a:lnSpc>
              <a:spcAft>
                <a:spcPts val="1350"/>
              </a:spcAft>
              <a:buSzPct val="100000"/>
              <a:buChar char="•"/>
            </a:pPr>
            <a:r>
              <a:rPr lang="en-US" sz="24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Combines customer-level feature engineering with K-Means clustering to reveal six behavioral groups</a:t>
            </a:r>
            <a:endParaRPr lang="en-US" sz="2400" dirty="0"/>
          </a:p>
          <a:p>
            <a:pPr marL="335280" indent="-335280" algn="l">
              <a:lnSpc>
                <a:spcPct val="130000"/>
              </a:lnSpc>
              <a:spcAft>
                <a:spcPts val="1350"/>
              </a:spcAft>
              <a:buSzPct val="100000"/>
              <a:buChar char="•"/>
            </a:pPr>
            <a:r>
              <a:rPr lang="en-US" sz="24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Demonstrates that customer value is multidimensional — spending, frequency, and order value tell different stories</a:t>
            </a:r>
            <a:endParaRPr lang="en-US" sz="2400" dirty="0"/>
          </a:p>
          <a:p>
            <a:pPr marL="335280" indent="-335280" algn="l">
              <a:lnSpc>
                <a:spcPct val="130000"/>
              </a:lnSpc>
              <a:spcAft>
                <a:spcPts val="1350"/>
              </a:spcAft>
              <a:buSzPct val="100000"/>
              <a:buChar char="•"/>
            </a:pPr>
            <a:r>
              <a:rPr lang="en-US" sz="24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Dashboard provides a separate communication layer where RFM indicators and segment views are examined together</a:t>
            </a:r>
            <a:endParaRPr lang="en-US" sz="2400" dirty="0"/>
          </a:p>
          <a:p>
            <a:pPr marL="335280" indent="-335280" algn="l">
              <a:lnSpc>
                <a:spcPct val="130000"/>
              </a:lnSpc>
              <a:spcAft>
                <a:spcPts val="1350"/>
              </a:spcAft>
              <a:buSzPct val="100000"/>
              <a:buChar char="•"/>
            </a:pPr>
            <a:r>
              <a:rPr lang="en-US" sz="24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Forms a practical framework for exploring customer behavior in e-commerce datasets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inimalist for Business template artwor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5450" y="438150"/>
            <a:ext cx="10287000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500" dirty="0">
                <a:solidFill>
                  <a:srgbClr val="191919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Future Scope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425450" y="1943100"/>
            <a:ext cx="10287000" cy="448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9250" indent="-349250" algn="l">
              <a:lnSpc>
                <a:spcPct val="130000"/>
              </a:lnSpc>
              <a:spcAft>
                <a:spcPts val="2000"/>
              </a:spcAft>
              <a:buSzPct val="100000"/>
              <a:buChar char="•"/>
            </a:pPr>
            <a:r>
              <a:rPr lang="en-US" sz="25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Incorporate additional variables: product-category diversity, discount usage, return activity, customer lifetime value</a:t>
            </a:r>
            <a:endParaRPr lang="en-US" sz="2500" dirty="0"/>
          </a:p>
          <a:p>
            <a:pPr marL="349250" indent="-349250" algn="l">
              <a:lnSpc>
                <a:spcPct val="130000"/>
              </a:lnSpc>
              <a:spcAft>
                <a:spcPts val="2000"/>
              </a:spcAft>
              <a:buSzPct val="100000"/>
              <a:buChar char="•"/>
            </a:pPr>
            <a:r>
              <a:rPr lang="en-US" sz="25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Compare different cluster counts and alternative clustering algorithms</a:t>
            </a:r>
            <a:endParaRPr lang="en-US" sz="2500" dirty="0"/>
          </a:p>
          <a:p>
            <a:pPr marL="349250" indent="-349250" algn="l">
              <a:lnSpc>
                <a:spcPct val="130000"/>
              </a:lnSpc>
              <a:spcAft>
                <a:spcPts val="2000"/>
              </a:spcAft>
              <a:buSzPct val="100000"/>
              <a:buChar char="•"/>
            </a:pPr>
            <a:r>
              <a:rPr lang="en-US" sz="25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 demand forecasting, churn-risk analysis, and personalized product recommendation</a:t>
            </a:r>
            <a:endParaRPr lang="en-US" sz="2500" dirty="0"/>
          </a:p>
          <a:p>
            <a:pPr marL="349250" indent="-349250" algn="l">
              <a:lnSpc>
                <a:spcPct val="130000"/>
              </a:lnSpc>
              <a:spcAft>
                <a:spcPts val="2000"/>
              </a:spcAft>
              <a:buSzPct val="100000"/>
              <a:buChar char="•"/>
            </a:pPr>
            <a:r>
              <a:rPr lang="en-US" sz="25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customer-level drill-down pages and automated reporting</a:t>
            </a:r>
            <a:endParaRPr lang="en-US" sz="2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inimalist for Business template artwor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79500" y="1778000"/>
            <a:ext cx="9398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600" dirty="0">
                <a:solidFill>
                  <a:srgbClr val="191919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Text 1"/>
          <p:cNvSpPr/>
          <p:nvPr/>
        </p:nvSpPr>
        <p:spPr>
          <a:xfrm>
            <a:off x="1079500" y="3467100"/>
            <a:ext cx="8763000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2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Bingi Nageshwari (2420030426)</a:t>
            </a:r>
            <a:endParaRPr lang="en-US" sz="2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22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Remani Sri Ananya (2420030086)</a:t>
            </a:r>
            <a:endParaRPr lang="en-US" sz="2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22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Ch. Harini (2420030629)</a:t>
            </a:r>
            <a:endParaRPr lang="en-US" sz="2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2200" dirty="0">
                <a:solidFill>
                  <a:srgbClr val="19191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Guide: Dr. N. Sunanda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864</Words>
  <Application>Microsoft Macintosh PowerPoint</Application>
  <PresentationFormat>Widescreen</PresentationFormat>
  <Paragraphs>124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DM Sans</vt:lpstr>
      <vt:lpstr>Funnel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BINGI NAGESHWARI 2420030426</cp:lastModifiedBy>
  <cp:revision>2</cp:revision>
  <dcterms:created xsi:type="dcterms:W3CDTF">2026-09-22T03:56:43Z</dcterms:created>
  <dcterms:modified xsi:type="dcterms:W3CDTF">2026-09-22T04:13:58Z</dcterms:modified>
</cp:coreProperties>
</file>